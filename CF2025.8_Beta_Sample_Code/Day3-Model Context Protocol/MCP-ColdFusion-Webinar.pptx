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4"/>
  </p:notes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304" r:id="rId13"/>
    <p:sldId id="265" r:id="rId14"/>
    <p:sldId id="266" r:id="rId15"/>
    <p:sldId id="267" r:id="rId16"/>
    <p:sldId id="305" r:id="rId17"/>
    <p:sldId id="306" r:id="rId18"/>
    <p:sldId id="307" r:id="rId19"/>
    <p:sldId id="308" r:id="rId20"/>
    <p:sldId id="309" r:id="rId21"/>
    <p:sldId id="310" r:id="rId22"/>
    <p:sldId id="312" r:id="rId23"/>
    <p:sldId id="289" r:id="rId24"/>
    <p:sldId id="313" r:id="rId25"/>
    <p:sldId id="268" r:id="rId26"/>
    <p:sldId id="327" r:id="rId27"/>
    <p:sldId id="334" r:id="rId28"/>
    <p:sldId id="326" r:id="rId29"/>
    <p:sldId id="325" r:id="rId30"/>
    <p:sldId id="269" r:id="rId31"/>
    <p:sldId id="270" r:id="rId32"/>
    <p:sldId id="314" r:id="rId33"/>
    <p:sldId id="271" r:id="rId34"/>
    <p:sldId id="273" r:id="rId35"/>
    <p:sldId id="274" r:id="rId36"/>
    <p:sldId id="315" r:id="rId37"/>
    <p:sldId id="316" r:id="rId38"/>
    <p:sldId id="276" r:id="rId39"/>
    <p:sldId id="317" r:id="rId40"/>
    <p:sldId id="318" r:id="rId41"/>
    <p:sldId id="278" r:id="rId42"/>
    <p:sldId id="328" r:id="rId43"/>
    <p:sldId id="329" r:id="rId44"/>
    <p:sldId id="330" r:id="rId45"/>
    <p:sldId id="284" r:id="rId46"/>
    <p:sldId id="331" r:id="rId47"/>
    <p:sldId id="332" r:id="rId48"/>
    <p:sldId id="333" r:id="rId49"/>
    <p:sldId id="288" r:id="rId50"/>
    <p:sldId id="319" r:id="rId51"/>
    <p:sldId id="322" r:id="rId52"/>
    <p:sldId id="339" r:id="rId53"/>
    <p:sldId id="323" r:id="rId54"/>
    <p:sldId id="324" r:id="rId55"/>
    <p:sldId id="340" r:id="rId56"/>
    <p:sldId id="338" r:id="rId57"/>
    <p:sldId id="282" r:id="rId58"/>
    <p:sldId id="337" r:id="rId59"/>
    <p:sldId id="297" r:id="rId60"/>
    <p:sldId id="300" r:id="rId61"/>
    <p:sldId id="336" r:id="rId62"/>
    <p:sldId id="30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F3EB63-F5DF-69D1-2483-F6EB98255607}" name="Scott Benson" initials="SB" userId="S::sbenson@adobe.com::6f303af4-d7c5-44d2-a3ee-37dd900ea180" providerId="AD"/>
  <p188:author id="{5B678D75-604B-8512-6CEE-52F9F9A2F29B}" name="Julia Capeloto" initials="JC" userId="S::capeloto@adobe.com::95f4d369-df56-44d4-9eda-6675faac5294" providerId="AD"/>
  <p188:author id="{62FEEB9E-68E1-78F1-FA4D-5F43E3A99159}" name="Jason Franklin" initials="JF" userId="S::jafrankl@adobe.com::c87865dd-5e39-4fa6-b97b-9351161e8d13" providerId="AD"/>
  <p188:author id="{4FB0E6C2-01E0-902D-6EB3-355F2E61CDF0}" name="Wendy Grim" initials="WG" userId="S::wgrim@adobe.com::a6aac728-d695-48c0-b541-bdb4f8e8beac" providerId="AD"/>
  <p188:author id="{C7D0EEC7-1583-B5F0-D1CC-89CAF758F3AB}" name="Macie De Stefano" initials="" userId="S::mskipwit@adobe.com::b2abbf78-f550-46cd-8677-9f92780585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024"/>
    <a:srgbClr val="172762"/>
    <a:srgbClr val="0F4F55"/>
    <a:srgbClr val="644007"/>
    <a:srgbClr val="604E00"/>
    <a:srgbClr val="41245B"/>
    <a:srgbClr val="642850"/>
    <a:srgbClr val="FF66CC"/>
    <a:srgbClr val="A55BE8"/>
    <a:srgbClr val="3A63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96"/>
    <p:restoredTop sz="94628"/>
  </p:normalViewPr>
  <p:slideViewPr>
    <p:cSldViewPr snapToGrid="0" showGuides="1">
      <p:cViewPr varScale="1">
        <p:scale>
          <a:sx n="183" d="100"/>
          <a:sy n="183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F1930-641F-47E7-A0EC-FF19713D6D7E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B79AF-D22A-4E5D-9392-72114F6AB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1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B79AF-D22A-4E5D-9392-72114F6AB7F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08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77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 descr="A white letter o on a black background&#10;&#10;Description automatically generated">
            <a:extLst>
              <a:ext uri="{FF2B5EF4-FFF2-40B4-BE49-F238E27FC236}">
                <a16:creationId xmlns:a16="http://schemas.microsoft.com/office/drawing/2014/main" id="{E695AAB3-D968-696B-8D8D-3D752EF75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00" y="5997508"/>
            <a:ext cx="1316736" cy="31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46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77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1FEC818F-5FDE-7FC3-B076-F61506203A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25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77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D7C0ED63-3C6C-8868-F40A-8C33E7488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46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5400" spc="-12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3012926"/>
            <a:ext cx="5334002" cy="1655762"/>
          </a:xfrm>
        </p:spPr>
        <p:txBody>
          <a:bodyPr lIns="0" r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31B34F-5072-BCFE-838A-B26F9DFCB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wrap="none">
            <a:noAutofit/>
          </a:bodyPr>
          <a:lstStyle/>
          <a:p>
            <a:endParaRPr lang="en-US"/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ED10F1C0-9764-B3D2-72FA-D6F1835F5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4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8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77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00200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6B17-ECCD-E40D-70FD-EB994B569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 anchor="ctr" anchorCtr="0"/>
          <a:lstStyle>
            <a:lvl1pPr marL="4572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5400" b="1" i="0" spc="-50" baseline="0">
                <a:latin typeface="Adobe Clean Display Black" panose="020B0303020404020204" pitchFamily="34" charset="77"/>
              </a:defRPr>
            </a:lvl1pPr>
            <a:lvl2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3200"/>
            </a:lvl2pPr>
            <a:lvl3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3pPr>
            <a:lvl4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4pPr>
            <a:lvl5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26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572000" cy="4992624"/>
          </a:xfrm>
        </p:spPr>
        <p:txBody>
          <a:bodyPr lIns="0" rIns="0">
            <a:noAutofit/>
          </a:bodyPr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8705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38369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191919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1920240" cy="9188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657600" y="6583680"/>
            <a:ext cx="89768" cy="92333"/>
          </a:xfrm>
        </p:spPr>
        <p:txBody>
          <a:bodyPr>
            <a:noAutofit/>
          </a:bodyPr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D17E50-0ADF-43FB-8C34-0001133F6E68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2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4085"/>
            <a:ext cx="67665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191919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6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191919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503997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1FE3EA7-D92D-4A30-9EBB-F43D697D029C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74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06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7324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80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1456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0264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9072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75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9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75275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37901" y="1334324"/>
            <a:ext cx="1920240" cy="4992624"/>
          </a:xfrm>
        </p:spPr>
        <p:txBody>
          <a:bodyPr lIns="0" rIns="0"/>
          <a:lstStyle>
            <a:lvl1pPr marL="176213" indent="-17621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400527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3448685-45E7-5B8D-4E46-44FECC30A5E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663152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7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56A753F3-8E21-F8FC-F311-A7291271BB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493776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F64D60-75DD-D985-EFBC-9C173CDE2D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640" y="1335024"/>
            <a:ext cx="493776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33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68368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27136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15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044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3128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212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32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97886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5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3124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81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468362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12A0CEB-4B0D-60FD-031D-69EED3A4330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753600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0B501880-A94F-9D7D-8CC4-B3716FA977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53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1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3B074-3B07-0E57-B1EF-F6812220DF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49377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6A13A99-FC00-81A6-297A-C14D357F8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4640" y="2103120"/>
            <a:ext cx="49377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7FFA04-4266-EB76-C232-9C0E983840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A4A96-D9EB-6DDE-6A01-725F7AE44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191FE7-A8B5-682D-84C7-9F90280016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58BB68-9328-42B3-A0F9-3A3B083EF2BE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52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CA4403-228E-D982-11B8-71EFFDAB1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6F0AF-945D-1612-FEA8-992054B7A7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68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8368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2660DF-18E0-5445-7D6F-B1E2A46D4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7136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7136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21C368-1E72-48CA-929B-4401C8805A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EAA01-FDF7-EF7A-F41F-F69EBE76E1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DB4C55-EF9A-527B-C38E-033B2531579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64C30AB-BD82-4C8A-B585-5A50C442DF09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05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44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044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28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128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12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1AAD5D-057A-DD5F-90D3-857CDC599D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24F614-A8FC-DFE2-56F8-8E640DCA19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5A2DDEE-A8FC-94B8-B36F-64416131265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43547A-9664-4844-975D-62CB592093FC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03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5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5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1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816AF76-E218-238B-8714-A13AEDC0F5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153949DF-ED8E-0DEE-DBED-CB495FE60E4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53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1AAD5D-057A-DD5F-90D3-857CDC599D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24F614-A8FC-DFE2-56F8-8E640DCA19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5A2DDEE-A8FC-94B8-B36F-64416131265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43547A-9664-4844-975D-62CB592093FC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35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1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109728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A3878-7BE0-2310-A612-86078B4689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4CF29-7F88-6F4B-09E2-25D36FC00E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21AE2-4E9E-2DCA-4E42-C97521A817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EFE4BD-2DFA-4609-895D-EFEF7C6E5A3C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98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54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2547B6F-C04C-1B8A-023F-2328C702D3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840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3A551AC-B66E-B597-2080-FD4462C44E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840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54D71-8CDC-675B-86A7-C349163986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CD24B-DB8B-D332-CD41-DCE59AE976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B885C-55AF-9895-D16F-0BE3094261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62A065-523E-4F5D-A1E3-FF3942EE8A67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73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48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B2B2E44-F595-7BB6-29AF-8641CEDC7A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1FEECA-D863-9A52-B628-DC29A5E3A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1A3846-D263-B994-2288-4A3F6F2CC7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8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2B1270B-1E15-714E-4AFB-2507475C5E9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04BD34C-DD78-3227-60AB-175D7A656D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65964F-CA9C-418E-97E4-57D80C7DB8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D3BA94-A69C-4DF2-B5C9-A1C8B9BFC5A0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45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8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43630-6F53-6353-3B93-FFFD99FF0C79}"/>
              </a:ext>
            </a:extLst>
          </p:cNvPr>
          <p:cNvSpPr/>
          <p:nvPr userDrawn="1"/>
        </p:nvSpPr>
        <p:spPr>
          <a:xfrm>
            <a:off x="6096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2D3AC-53D5-3076-3C9D-96307BC52BBD}"/>
              </a:ext>
            </a:extLst>
          </p:cNvPr>
          <p:cNvSpPr/>
          <p:nvPr userDrawn="1"/>
        </p:nvSpPr>
        <p:spPr>
          <a:xfrm>
            <a:off x="19958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16C89-D2E6-5E44-2CA1-16056799EAD7}"/>
              </a:ext>
            </a:extLst>
          </p:cNvPr>
          <p:cNvSpPr/>
          <p:nvPr userDrawn="1"/>
        </p:nvSpPr>
        <p:spPr>
          <a:xfrm>
            <a:off x="338216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1FAF4-776F-A0E5-46E2-8CA95A136B6F}"/>
              </a:ext>
            </a:extLst>
          </p:cNvPr>
          <p:cNvSpPr/>
          <p:nvPr userDrawn="1"/>
        </p:nvSpPr>
        <p:spPr>
          <a:xfrm>
            <a:off x="476844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8878A-7B70-9407-FE72-405B0D281BF8}"/>
              </a:ext>
            </a:extLst>
          </p:cNvPr>
          <p:cNvSpPr/>
          <p:nvPr userDrawn="1"/>
        </p:nvSpPr>
        <p:spPr>
          <a:xfrm>
            <a:off x="615472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15169-7B14-3DC3-BD30-4687C6CEB050}"/>
              </a:ext>
            </a:extLst>
          </p:cNvPr>
          <p:cNvSpPr/>
          <p:nvPr userDrawn="1"/>
        </p:nvSpPr>
        <p:spPr>
          <a:xfrm>
            <a:off x="75410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D3CEB-CBC3-33AA-56E4-7243FBB670B8}"/>
              </a:ext>
            </a:extLst>
          </p:cNvPr>
          <p:cNvSpPr/>
          <p:nvPr userDrawn="1"/>
        </p:nvSpPr>
        <p:spPr>
          <a:xfrm>
            <a:off x="89272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6287BA-DFA2-9B21-DE8B-3FC50B70F90B}"/>
              </a:ext>
            </a:extLst>
          </p:cNvPr>
          <p:cNvSpPr/>
          <p:nvPr userDrawn="1"/>
        </p:nvSpPr>
        <p:spPr>
          <a:xfrm>
            <a:off x="10313559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2644A-5A85-01BD-2B03-DA2396CAD064}"/>
              </a:ext>
            </a:extLst>
          </p:cNvPr>
          <p:cNvSpPr/>
          <p:nvPr userDrawn="1"/>
        </p:nvSpPr>
        <p:spPr>
          <a:xfrm>
            <a:off x="6096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F6B678-B22E-6D11-FAB3-BADDBC694158}"/>
              </a:ext>
            </a:extLst>
          </p:cNvPr>
          <p:cNvSpPr/>
          <p:nvPr userDrawn="1"/>
        </p:nvSpPr>
        <p:spPr>
          <a:xfrm>
            <a:off x="19958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92A191-3E55-9BC4-EA76-F40BD4176E67}"/>
              </a:ext>
            </a:extLst>
          </p:cNvPr>
          <p:cNvSpPr/>
          <p:nvPr userDrawn="1"/>
        </p:nvSpPr>
        <p:spPr>
          <a:xfrm>
            <a:off x="338216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0F35C9-4070-9A2F-9698-B91A7341451D}"/>
              </a:ext>
            </a:extLst>
          </p:cNvPr>
          <p:cNvSpPr/>
          <p:nvPr userDrawn="1"/>
        </p:nvSpPr>
        <p:spPr>
          <a:xfrm>
            <a:off x="476844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5D6898-91DB-B3AC-F1DA-65D48A4A8502}"/>
              </a:ext>
            </a:extLst>
          </p:cNvPr>
          <p:cNvSpPr/>
          <p:nvPr userDrawn="1"/>
        </p:nvSpPr>
        <p:spPr>
          <a:xfrm>
            <a:off x="615472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AAB28-5748-F9AC-89F5-EB1C9348877F}"/>
              </a:ext>
            </a:extLst>
          </p:cNvPr>
          <p:cNvSpPr/>
          <p:nvPr userDrawn="1"/>
        </p:nvSpPr>
        <p:spPr>
          <a:xfrm>
            <a:off x="75410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A1D538-3EC1-8418-DDF3-D4704AE0706B}"/>
              </a:ext>
            </a:extLst>
          </p:cNvPr>
          <p:cNvSpPr/>
          <p:nvPr userDrawn="1"/>
        </p:nvSpPr>
        <p:spPr>
          <a:xfrm>
            <a:off x="89272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028C3C-E97E-B0C9-C4F0-1C06EF313AC9}"/>
              </a:ext>
            </a:extLst>
          </p:cNvPr>
          <p:cNvSpPr/>
          <p:nvPr userDrawn="1"/>
        </p:nvSpPr>
        <p:spPr>
          <a:xfrm>
            <a:off x="10313559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14B7B-0BBE-1B5D-432D-40A389F3FCCF}"/>
              </a:ext>
            </a:extLst>
          </p:cNvPr>
          <p:cNvSpPr/>
          <p:nvPr userDrawn="1"/>
        </p:nvSpPr>
        <p:spPr>
          <a:xfrm>
            <a:off x="6096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71FF21-A0D3-1C1A-B6F0-B38542FC16F3}"/>
              </a:ext>
            </a:extLst>
          </p:cNvPr>
          <p:cNvSpPr/>
          <p:nvPr userDrawn="1"/>
        </p:nvSpPr>
        <p:spPr>
          <a:xfrm>
            <a:off x="19958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E463DD-7CD5-9FB1-37AF-6EA3B554A5F6}"/>
              </a:ext>
            </a:extLst>
          </p:cNvPr>
          <p:cNvSpPr/>
          <p:nvPr userDrawn="1"/>
        </p:nvSpPr>
        <p:spPr>
          <a:xfrm>
            <a:off x="338216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C06218-BEF3-CB50-8EF6-EB54C5FCD4A5}"/>
              </a:ext>
            </a:extLst>
          </p:cNvPr>
          <p:cNvSpPr/>
          <p:nvPr userDrawn="1"/>
        </p:nvSpPr>
        <p:spPr>
          <a:xfrm>
            <a:off x="476844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D8E872-5127-7868-3A05-721AF6BA473C}"/>
              </a:ext>
            </a:extLst>
          </p:cNvPr>
          <p:cNvSpPr/>
          <p:nvPr userDrawn="1"/>
        </p:nvSpPr>
        <p:spPr>
          <a:xfrm>
            <a:off x="615472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707814-364C-ED34-E661-0B900D61D461}"/>
              </a:ext>
            </a:extLst>
          </p:cNvPr>
          <p:cNvSpPr/>
          <p:nvPr userDrawn="1"/>
        </p:nvSpPr>
        <p:spPr>
          <a:xfrm>
            <a:off x="75410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9A0626-4DF1-C03E-4100-AA6C8661D9FE}"/>
              </a:ext>
            </a:extLst>
          </p:cNvPr>
          <p:cNvSpPr/>
          <p:nvPr userDrawn="1"/>
        </p:nvSpPr>
        <p:spPr>
          <a:xfrm>
            <a:off x="89272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4521DB-B096-8091-3A9C-9A982F43D88A}"/>
              </a:ext>
            </a:extLst>
          </p:cNvPr>
          <p:cNvSpPr/>
          <p:nvPr userDrawn="1"/>
        </p:nvSpPr>
        <p:spPr>
          <a:xfrm>
            <a:off x="10313559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76CD2B-19F5-416D-DEDB-846A990C8639}"/>
              </a:ext>
            </a:extLst>
          </p:cNvPr>
          <p:cNvSpPr/>
          <p:nvPr userDrawn="1"/>
        </p:nvSpPr>
        <p:spPr>
          <a:xfrm>
            <a:off x="6096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7B7B08-16E6-D7D7-4798-5C0F7C0419FA}"/>
              </a:ext>
            </a:extLst>
          </p:cNvPr>
          <p:cNvSpPr/>
          <p:nvPr userDrawn="1"/>
        </p:nvSpPr>
        <p:spPr>
          <a:xfrm>
            <a:off x="19958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240E6E-B8E3-4433-FA1E-59F51736F9D6}"/>
              </a:ext>
            </a:extLst>
          </p:cNvPr>
          <p:cNvSpPr/>
          <p:nvPr userDrawn="1"/>
        </p:nvSpPr>
        <p:spPr>
          <a:xfrm>
            <a:off x="338216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4AA11C-3F23-0B4E-141A-199111885EA7}"/>
              </a:ext>
            </a:extLst>
          </p:cNvPr>
          <p:cNvSpPr/>
          <p:nvPr userDrawn="1"/>
        </p:nvSpPr>
        <p:spPr>
          <a:xfrm>
            <a:off x="476844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3AD8E4-435B-97B8-914E-D25CC5456285}"/>
              </a:ext>
            </a:extLst>
          </p:cNvPr>
          <p:cNvSpPr/>
          <p:nvPr userDrawn="1"/>
        </p:nvSpPr>
        <p:spPr>
          <a:xfrm>
            <a:off x="615472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0FE684-33AB-F095-B7EA-72178F993F53}"/>
              </a:ext>
            </a:extLst>
          </p:cNvPr>
          <p:cNvSpPr/>
          <p:nvPr userDrawn="1"/>
        </p:nvSpPr>
        <p:spPr>
          <a:xfrm>
            <a:off x="75410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489701-AA7F-0E3A-8312-681D092709AF}"/>
              </a:ext>
            </a:extLst>
          </p:cNvPr>
          <p:cNvSpPr/>
          <p:nvPr userDrawn="1"/>
        </p:nvSpPr>
        <p:spPr>
          <a:xfrm>
            <a:off x="89272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CFC289-BF79-2F3D-5FDF-6B40CC38857C}"/>
              </a:ext>
            </a:extLst>
          </p:cNvPr>
          <p:cNvSpPr/>
          <p:nvPr userDrawn="1"/>
        </p:nvSpPr>
        <p:spPr>
          <a:xfrm>
            <a:off x="10313559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9" name="row 1 Picture Placeholder 1">
            <a:extLst>
              <a:ext uri="{FF2B5EF4-FFF2-40B4-BE49-F238E27FC236}">
                <a16:creationId xmlns:a16="http://schemas.microsoft.com/office/drawing/2014/main" id="{85227A43-5C4D-89D4-E160-A1290BB35C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0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0" name="row 1 Picture Placeholder 2">
            <a:extLst>
              <a:ext uri="{FF2B5EF4-FFF2-40B4-BE49-F238E27FC236}">
                <a16:creationId xmlns:a16="http://schemas.microsoft.com/office/drawing/2014/main" id="{9566F144-B3C8-7936-839D-AC16AF52DC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34595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row 1 Picture Placeholder 3">
            <a:extLst>
              <a:ext uri="{FF2B5EF4-FFF2-40B4-BE49-F238E27FC236}">
                <a16:creationId xmlns:a16="http://schemas.microsoft.com/office/drawing/2014/main" id="{38732D4D-83B3-1F93-6FCC-5298384D9F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1781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row 1 Picture Placeholder 4">
            <a:extLst>
              <a:ext uri="{FF2B5EF4-FFF2-40B4-BE49-F238E27FC236}">
                <a16:creationId xmlns:a16="http://schemas.microsoft.com/office/drawing/2014/main" id="{9730AE84-83EF-0982-5104-F629973C19B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16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row 1 Picture Placeholder 5">
            <a:extLst>
              <a:ext uri="{FF2B5EF4-FFF2-40B4-BE49-F238E27FC236}">
                <a16:creationId xmlns:a16="http://schemas.microsoft.com/office/drawing/2014/main" id="{EEFEB949-3A10-F7A6-9FBE-5FCB94B66A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615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row 1 Picture Placeholder 6">
            <a:extLst>
              <a:ext uri="{FF2B5EF4-FFF2-40B4-BE49-F238E27FC236}">
                <a16:creationId xmlns:a16="http://schemas.microsoft.com/office/drawing/2014/main" id="{2CE4B71B-7112-B353-61F2-EBAE24BE1F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83340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row 1 Picture Placeholder 7">
            <a:extLst>
              <a:ext uri="{FF2B5EF4-FFF2-40B4-BE49-F238E27FC236}">
                <a16:creationId xmlns:a16="http://schemas.microsoft.com/office/drawing/2014/main" id="{4C5A0B2F-5A91-9643-DAA7-BE0BB2A8A1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0527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6" name="row 1 Picture Placeholder 8">
            <a:extLst>
              <a:ext uri="{FF2B5EF4-FFF2-40B4-BE49-F238E27FC236}">
                <a16:creationId xmlns:a16="http://schemas.microsoft.com/office/drawing/2014/main" id="{67D3AFDE-20B1-971A-47DD-2857ACC39B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5771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row 2 Picture Placeholder 1">
            <a:extLst>
              <a:ext uri="{FF2B5EF4-FFF2-40B4-BE49-F238E27FC236}">
                <a16:creationId xmlns:a16="http://schemas.microsoft.com/office/drawing/2014/main" id="{31380899-193D-8D5B-FA8D-2BE00660771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60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row 2 Picture Placeholder 2">
            <a:extLst>
              <a:ext uri="{FF2B5EF4-FFF2-40B4-BE49-F238E27FC236}">
                <a16:creationId xmlns:a16="http://schemas.microsoft.com/office/drawing/2014/main" id="{7B8CC7C2-EB24-E4BC-3521-F28289F3479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34595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row 2 Picture Placeholder 3">
            <a:extLst>
              <a:ext uri="{FF2B5EF4-FFF2-40B4-BE49-F238E27FC236}">
                <a16:creationId xmlns:a16="http://schemas.microsoft.com/office/drawing/2014/main" id="{EFD6C08E-A520-2F29-E386-E6C25BFE1DC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21781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row 2 Picture Placeholder 4">
            <a:extLst>
              <a:ext uri="{FF2B5EF4-FFF2-40B4-BE49-F238E27FC236}">
                <a16:creationId xmlns:a16="http://schemas.microsoft.com/office/drawing/2014/main" id="{9E409B64-BE44-35A7-5522-CD1CA05D7F2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1416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row 2 Picture Placeholder 5">
            <a:extLst>
              <a:ext uri="{FF2B5EF4-FFF2-40B4-BE49-F238E27FC236}">
                <a16:creationId xmlns:a16="http://schemas.microsoft.com/office/drawing/2014/main" id="{AD31BCC3-7CA0-F8E3-12BB-D29C067DB87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9615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row 2 Picture Placeholder 6">
            <a:extLst>
              <a:ext uri="{FF2B5EF4-FFF2-40B4-BE49-F238E27FC236}">
                <a16:creationId xmlns:a16="http://schemas.microsoft.com/office/drawing/2014/main" id="{04774E24-BE0E-4649-FF50-F6B3FEF0D6E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83340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row 2 Picture Placeholder 7">
            <a:extLst>
              <a:ext uri="{FF2B5EF4-FFF2-40B4-BE49-F238E27FC236}">
                <a16:creationId xmlns:a16="http://schemas.microsoft.com/office/drawing/2014/main" id="{45A8A087-E4BE-14C2-8362-83F49B8CAC1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0527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row 2 Picture Placeholder 8">
            <a:extLst>
              <a:ext uri="{FF2B5EF4-FFF2-40B4-BE49-F238E27FC236}">
                <a16:creationId xmlns:a16="http://schemas.microsoft.com/office/drawing/2014/main" id="{A6980176-7120-F9D6-7B2A-01D8BD184D9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35771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row 3 Picture Placeholder 1">
            <a:extLst>
              <a:ext uri="{FF2B5EF4-FFF2-40B4-BE49-F238E27FC236}">
                <a16:creationId xmlns:a16="http://schemas.microsoft.com/office/drawing/2014/main" id="{01052543-B91F-CF1D-C997-F322760047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260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row 3 Picture Placeholder 2">
            <a:extLst>
              <a:ext uri="{FF2B5EF4-FFF2-40B4-BE49-F238E27FC236}">
                <a16:creationId xmlns:a16="http://schemas.microsoft.com/office/drawing/2014/main" id="{70569A68-72F9-E2FE-E32D-819866ED0C3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034595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row 3 Picture Placeholder 3">
            <a:extLst>
              <a:ext uri="{FF2B5EF4-FFF2-40B4-BE49-F238E27FC236}">
                <a16:creationId xmlns:a16="http://schemas.microsoft.com/office/drawing/2014/main" id="{D2BD4873-307A-6A42-64CF-510EDD057A8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21781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8" name="row 3 Picture Placeholder 4">
            <a:extLst>
              <a:ext uri="{FF2B5EF4-FFF2-40B4-BE49-F238E27FC236}">
                <a16:creationId xmlns:a16="http://schemas.microsoft.com/office/drawing/2014/main" id="{654B3D41-F5AE-BC4D-CA7C-AE67AEE80F3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1416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row 3 Picture Placeholder 5">
            <a:extLst>
              <a:ext uri="{FF2B5EF4-FFF2-40B4-BE49-F238E27FC236}">
                <a16:creationId xmlns:a16="http://schemas.microsoft.com/office/drawing/2014/main" id="{2049E2F9-304E-BEA6-C347-8BE731201E1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9615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0" name="row 3 Picture Placeholder 6">
            <a:extLst>
              <a:ext uri="{FF2B5EF4-FFF2-40B4-BE49-F238E27FC236}">
                <a16:creationId xmlns:a16="http://schemas.microsoft.com/office/drawing/2014/main" id="{DA987F5A-D0BE-C880-0AB8-1EED29A441A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83340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1" name="row 3 Picture Placeholder 7">
            <a:extLst>
              <a:ext uri="{FF2B5EF4-FFF2-40B4-BE49-F238E27FC236}">
                <a16:creationId xmlns:a16="http://schemas.microsoft.com/office/drawing/2014/main" id="{9B4A1B9D-0A3A-2F81-8CED-F338B7A6E3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970527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2" name="row 3 Picture Placeholder 8">
            <a:extLst>
              <a:ext uri="{FF2B5EF4-FFF2-40B4-BE49-F238E27FC236}">
                <a16:creationId xmlns:a16="http://schemas.microsoft.com/office/drawing/2014/main" id="{6DF27D75-B058-220A-4405-64C938FF8F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35771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3" name="row 4 Picture Placeholder 1">
            <a:extLst>
              <a:ext uri="{FF2B5EF4-FFF2-40B4-BE49-F238E27FC236}">
                <a16:creationId xmlns:a16="http://schemas.microsoft.com/office/drawing/2014/main" id="{BB6EB70A-D535-38CE-382E-56A416834C4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260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4" name="row 4 Picture Placeholder 2">
            <a:extLst>
              <a:ext uri="{FF2B5EF4-FFF2-40B4-BE49-F238E27FC236}">
                <a16:creationId xmlns:a16="http://schemas.microsoft.com/office/drawing/2014/main" id="{F972114E-1368-BF87-A84F-E158424B35F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34595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5" name="row 4 Picture Placeholder 3">
            <a:extLst>
              <a:ext uri="{FF2B5EF4-FFF2-40B4-BE49-F238E27FC236}">
                <a16:creationId xmlns:a16="http://schemas.microsoft.com/office/drawing/2014/main" id="{278EFBC8-2747-F4D4-BC80-EDB3F561FDB4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21781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6" name="row 4 Picture Placeholder 4">
            <a:extLst>
              <a:ext uri="{FF2B5EF4-FFF2-40B4-BE49-F238E27FC236}">
                <a16:creationId xmlns:a16="http://schemas.microsoft.com/office/drawing/2014/main" id="{937E185F-2AC1-06ED-C749-94E4BD3D165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1416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7" name="row 4 Picture Placeholder 5">
            <a:extLst>
              <a:ext uri="{FF2B5EF4-FFF2-40B4-BE49-F238E27FC236}">
                <a16:creationId xmlns:a16="http://schemas.microsoft.com/office/drawing/2014/main" id="{C1D6FD23-AD0E-00F8-F84E-0A75AD27C4F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9615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8" name="row 4 Picture Placeholder 6">
            <a:extLst>
              <a:ext uri="{FF2B5EF4-FFF2-40B4-BE49-F238E27FC236}">
                <a16:creationId xmlns:a16="http://schemas.microsoft.com/office/drawing/2014/main" id="{98E69D93-6780-2C21-235D-AD050AA6C84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83340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69" name="row 4 Picture Placeholder 7">
            <a:extLst>
              <a:ext uri="{FF2B5EF4-FFF2-40B4-BE49-F238E27FC236}">
                <a16:creationId xmlns:a16="http://schemas.microsoft.com/office/drawing/2014/main" id="{951CAB42-3A74-8C1A-33D9-B956194E62C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970527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0" name="row 4 Picture Placeholder 8">
            <a:extLst>
              <a:ext uri="{FF2B5EF4-FFF2-40B4-BE49-F238E27FC236}">
                <a16:creationId xmlns:a16="http://schemas.microsoft.com/office/drawing/2014/main" id="{840EF6F4-48B1-B7EA-5C60-0375F6CADFB9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35771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A3878-7BE0-2310-A612-86078B4689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4CF29-7F88-6F4B-09E2-25D36FC00E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21AE2-4E9E-2DCA-4E42-C97521A817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EFE4BD-2DFA-4609-895D-EFEF7C6E5A3C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22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48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3012926"/>
            <a:ext cx="5334001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31B34F-5072-BCFE-838A-B26F9DFCB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wrap="non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3A473975-5274-ED6D-F50C-3F967FC2B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83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50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- Bottom Graphic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076A1818-04ED-68DC-92C5-98A4DB6D6F8F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D1D8-9BA5-4CA3-A987-D4ACB6D38028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03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00200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6B17-ECCD-E40D-70FD-EB994B569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 anchor="ctr" anchorCtr="0"/>
          <a:lstStyle>
            <a:lvl1pPr marL="4572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5400" b="1" i="0" spc="-50" baseline="0">
                <a:solidFill>
                  <a:schemeClr val="bg1"/>
                </a:solidFill>
                <a:latin typeface="Adobe Clean Display Black" panose="020B0303020404020204" pitchFamily="34" charset="77"/>
              </a:defRPr>
            </a:lvl1pPr>
            <a:lvl2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3200">
                <a:solidFill>
                  <a:schemeClr val="bg1"/>
                </a:solidFill>
              </a:defRPr>
            </a:lvl2pPr>
            <a:lvl3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3pPr>
            <a:lvl4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4pPr>
            <a:lvl5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4/16/26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FF0610E-338E-FF22-72CA-169EB8E0A5F9}"/>
              </a:ext>
            </a:extLst>
          </p:cNvPr>
          <p:cNvSpPr txBox="1"/>
          <p:nvPr userDrawn="1"/>
        </p:nvSpPr>
        <p:spPr>
          <a:xfrm>
            <a:off x="9873598" y="6583680"/>
            <a:ext cx="1708802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84966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2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5720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1920240" cy="91887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657600" y="6583680"/>
            <a:ext cx="89768" cy="92333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38369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3509"/>
            <a:ext cx="1748393" cy="2019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861FAB-3FDE-4C87-9308-E91AC57E0401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20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676656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3510"/>
            <a:ext cx="1748393" cy="2019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6C1D8EA-4650-4E5E-943B-91110B552664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88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9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58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75479F-3CBB-5D2A-4512-AE1310D885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1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1456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0264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9072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7DF4-91CF-55B7-3AA7-65526726F5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65DB8-BEAA-621B-BC19-2D34AB75BC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598055-59DC-88A9-9B38-40423C55EF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F063994-F7E1-75A7-CEC3-515566728D3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636199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75026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37404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399782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B82708F-B3F7-E5C0-481F-8B2177EAF19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662160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7DF4-91CF-55B7-3AA7-65526726F5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65DB8-BEAA-621B-BC19-2D34AB75BC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598055-59DC-88A9-9B38-40423C55EF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F063994-F7E1-75A7-CEC3-515566728D3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128260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44B0349E-3471-3051-A5B9-9681553EB9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4937760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42B398-0C77-E84A-DD6A-3B9AC2D5E3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640" y="1335024"/>
            <a:ext cx="4937760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51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F7FA6101-2BCD-3F7A-5BFE-9C338D8F8C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F35FB27-0B90-CA7E-FF2E-695B6A9CA1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68368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75479F-3CBB-5D2A-4512-AE1310D885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7A90959-8D39-E413-9AB9-75B5F74E177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27136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56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Imag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044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3128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212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6D79BAA0-8632-AD2C-292C-8F2B191F7D1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544682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Imag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97886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5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3124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81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468362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BE2B1C7-C0C6-88D0-FF18-EFB8EA2C628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753600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81BA51A-079B-3E84-046F-16707EFD3E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53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4/16/26</a:t>
            </a:fld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6D79BAA0-8632-AD2C-292C-8F2B191F7D1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679487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3B074-3B07-0E57-B1EF-F6812220DF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493776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6A13A99-FC00-81A6-297A-C14D357F8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4640" y="2103120"/>
            <a:ext cx="493776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47277-7A32-0B74-3121-513308B5D1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B1577F18-2EE9-48A5-C9F6-26D13C7A415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0626B-1616-3551-DB78-E30E2BEA44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DFF53-DA3C-5459-13CB-66ACAB1EF0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EF6CD1-9159-44AF-9B3E-C7AC0C13304D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107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CA4403-228E-D982-11B8-71EFFDAB1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6F0AF-945D-1612-FEA8-992054B7A7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68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8368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2660DF-18E0-5445-7D6F-B1E2A46D4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7136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7136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C05D25-57B4-0131-8D02-41BDA2225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861CF59B-700A-60A4-D14B-FB9B87B60D93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038FF-7BCA-3951-3D43-F22FDDDCEC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D0F27E-11AC-F723-B425-6B4C999314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363D66E-2377-4F68-BD8E-DC3D382E60FF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617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44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044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28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128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12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8D57720-7135-4F3C-DEEA-C27247DB4D1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BFC7988-7FAA-398C-930C-E596D1C799AC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8E7BE0-DA47-ECEF-0F48-3164312A54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15E1D6-9D19-3D32-1DF3-6D23F19EFA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3A5FDA7-3BA9-4E16-ABA0-3A8FCF7624A5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051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5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5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1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B1CE22D-7742-2553-0BC5-65F5E18C47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04FB2745-7A67-1B1D-6FE0-E5A68CD71D3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53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8D57720-7135-4F3C-DEEA-C27247DB4D1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BFC7988-7FAA-398C-930C-E596D1C799AC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8E7BE0-DA47-ECEF-0F48-3164312A54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15E1D6-9D19-3D32-1DF3-6D23F19EFA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3A5FDA7-3BA9-4E16-ABA0-3A8FCF7624A5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901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1x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10972800" cy="45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8FEA5-D82D-FEBA-BC6B-F712F94ADF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B0CFD409-FAB4-8D4C-DF26-12899C370EB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FE176-D609-C102-9210-1A0665ED40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8EAAE-6B19-EE89-F051-EA38D1ED64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79301B-1302-4B33-9C57-FD5EA730D9CA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39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2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54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2547B6F-C04C-1B8A-023F-2328C702D3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840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3A551AC-B66E-B597-2080-FD4462C44E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840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8B94F-08BB-377E-AE6E-61B7A9C9385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26C5F03B-42F9-6A59-3CCF-50EFC70FE135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E0779-5716-A672-960E-6B3AB7CCC5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4B95E-CC09-DA87-F49C-D0FD58732B1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29D3C5-7FDF-4810-8CE7-16EC6383A5D6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981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3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48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B2B2E44-F595-7BB6-29AF-8641CEDC7A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1FEECA-D863-9A52-B628-DC29A5E3A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1A3846-D263-B994-2288-4A3F6F2CC7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8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72CA8-A577-174B-FB2C-9B4EB53A31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8D13397-FD3B-0770-09A4-C48DDFDB7AB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042B7-6E1D-C52E-AA27-9C2FF0C0DD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CB33B-0DFA-0E46-569E-3A30D639B58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90D5A5-4AEE-444F-B6C9-C3F1538FF45D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84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8x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AA268-608E-203C-7A51-367C326D1570}"/>
              </a:ext>
            </a:extLst>
          </p:cNvPr>
          <p:cNvSpPr/>
          <p:nvPr userDrawn="1"/>
        </p:nvSpPr>
        <p:spPr>
          <a:xfrm>
            <a:off x="6096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9E7C4E-A950-5E7D-A0C2-FCEFEEFFD63B}"/>
              </a:ext>
            </a:extLst>
          </p:cNvPr>
          <p:cNvSpPr/>
          <p:nvPr userDrawn="1"/>
        </p:nvSpPr>
        <p:spPr>
          <a:xfrm>
            <a:off x="19958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8CC5C-6C7A-E3B3-012C-E9C0432BE08E}"/>
              </a:ext>
            </a:extLst>
          </p:cNvPr>
          <p:cNvSpPr/>
          <p:nvPr userDrawn="1"/>
        </p:nvSpPr>
        <p:spPr>
          <a:xfrm>
            <a:off x="338216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3573D4-E54C-C99F-F61B-CBC21CA91EED}"/>
              </a:ext>
            </a:extLst>
          </p:cNvPr>
          <p:cNvSpPr/>
          <p:nvPr userDrawn="1"/>
        </p:nvSpPr>
        <p:spPr>
          <a:xfrm>
            <a:off x="476844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6B734-342F-9A1D-45D0-D102A3F8E11C}"/>
              </a:ext>
            </a:extLst>
          </p:cNvPr>
          <p:cNvSpPr/>
          <p:nvPr userDrawn="1"/>
        </p:nvSpPr>
        <p:spPr>
          <a:xfrm>
            <a:off x="615472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AC3299-D9CC-DB39-2D3B-3F38400729B6}"/>
              </a:ext>
            </a:extLst>
          </p:cNvPr>
          <p:cNvSpPr/>
          <p:nvPr userDrawn="1"/>
        </p:nvSpPr>
        <p:spPr>
          <a:xfrm>
            <a:off x="75410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B7A0D9-63D4-923F-0B2C-2241DA938B85}"/>
              </a:ext>
            </a:extLst>
          </p:cNvPr>
          <p:cNvSpPr/>
          <p:nvPr userDrawn="1"/>
        </p:nvSpPr>
        <p:spPr>
          <a:xfrm>
            <a:off x="89272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BB5FA-838E-2F55-A783-CE18CFB555D4}"/>
              </a:ext>
            </a:extLst>
          </p:cNvPr>
          <p:cNvSpPr/>
          <p:nvPr userDrawn="1"/>
        </p:nvSpPr>
        <p:spPr>
          <a:xfrm>
            <a:off x="10313559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E21CC9-8607-D4B4-0A69-84E115EA1B4E}"/>
              </a:ext>
            </a:extLst>
          </p:cNvPr>
          <p:cNvSpPr/>
          <p:nvPr userDrawn="1"/>
        </p:nvSpPr>
        <p:spPr>
          <a:xfrm>
            <a:off x="6096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79D0A-A70C-E894-177D-EECF5FA284B5}"/>
              </a:ext>
            </a:extLst>
          </p:cNvPr>
          <p:cNvSpPr/>
          <p:nvPr userDrawn="1"/>
        </p:nvSpPr>
        <p:spPr>
          <a:xfrm>
            <a:off x="19958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A566EE-102B-BAE0-3B43-462B12F42154}"/>
              </a:ext>
            </a:extLst>
          </p:cNvPr>
          <p:cNvSpPr/>
          <p:nvPr userDrawn="1"/>
        </p:nvSpPr>
        <p:spPr>
          <a:xfrm>
            <a:off x="338216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A8B909-1FB7-2ECE-4CE5-D4CB1C6BB0CC}"/>
              </a:ext>
            </a:extLst>
          </p:cNvPr>
          <p:cNvSpPr/>
          <p:nvPr userDrawn="1"/>
        </p:nvSpPr>
        <p:spPr>
          <a:xfrm>
            <a:off x="476844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47EF83-4A21-DA0F-C923-796582EDAEED}"/>
              </a:ext>
            </a:extLst>
          </p:cNvPr>
          <p:cNvSpPr/>
          <p:nvPr userDrawn="1"/>
        </p:nvSpPr>
        <p:spPr>
          <a:xfrm>
            <a:off x="615472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B53162-80D6-1DB6-445D-F0BBEB4165AB}"/>
              </a:ext>
            </a:extLst>
          </p:cNvPr>
          <p:cNvSpPr/>
          <p:nvPr userDrawn="1"/>
        </p:nvSpPr>
        <p:spPr>
          <a:xfrm>
            <a:off x="75410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43A33A-2128-3B66-F13D-BC2C34FC5C9C}"/>
              </a:ext>
            </a:extLst>
          </p:cNvPr>
          <p:cNvSpPr/>
          <p:nvPr userDrawn="1"/>
        </p:nvSpPr>
        <p:spPr>
          <a:xfrm>
            <a:off x="89272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562438-B088-47C6-D95D-D104D74DC604}"/>
              </a:ext>
            </a:extLst>
          </p:cNvPr>
          <p:cNvSpPr/>
          <p:nvPr userDrawn="1"/>
        </p:nvSpPr>
        <p:spPr>
          <a:xfrm>
            <a:off x="10313559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C61161-4E67-459F-36FF-24C259411D06}"/>
              </a:ext>
            </a:extLst>
          </p:cNvPr>
          <p:cNvSpPr/>
          <p:nvPr userDrawn="1"/>
        </p:nvSpPr>
        <p:spPr>
          <a:xfrm>
            <a:off x="6096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75AF7F-E549-C9DD-4BD9-037177E7F735}"/>
              </a:ext>
            </a:extLst>
          </p:cNvPr>
          <p:cNvSpPr/>
          <p:nvPr userDrawn="1"/>
        </p:nvSpPr>
        <p:spPr>
          <a:xfrm>
            <a:off x="19958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738BA7-9D68-1ED9-04A0-99A171217587}"/>
              </a:ext>
            </a:extLst>
          </p:cNvPr>
          <p:cNvSpPr/>
          <p:nvPr userDrawn="1"/>
        </p:nvSpPr>
        <p:spPr>
          <a:xfrm>
            <a:off x="338216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51B5DB-1CA5-4B88-AC22-BE9FD9798353}"/>
              </a:ext>
            </a:extLst>
          </p:cNvPr>
          <p:cNvSpPr/>
          <p:nvPr userDrawn="1"/>
        </p:nvSpPr>
        <p:spPr>
          <a:xfrm>
            <a:off x="476844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7C6676-9FF0-FCE1-4305-AC9BA6E9220A}"/>
              </a:ext>
            </a:extLst>
          </p:cNvPr>
          <p:cNvSpPr/>
          <p:nvPr userDrawn="1"/>
        </p:nvSpPr>
        <p:spPr>
          <a:xfrm>
            <a:off x="615472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B257B7-9C16-9561-3AC1-D8314943FC74}"/>
              </a:ext>
            </a:extLst>
          </p:cNvPr>
          <p:cNvSpPr/>
          <p:nvPr userDrawn="1"/>
        </p:nvSpPr>
        <p:spPr>
          <a:xfrm>
            <a:off x="75410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ECCC7F-B9E9-3B8B-6F0D-FAA1040749DF}"/>
              </a:ext>
            </a:extLst>
          </p:cNvPr>
          <p:cNvSpPr/>
          <p:nvPr userDrawn="1"/>
        </p:nvSpPr>
        <p:spPr>
          <a:xfrm>
            <a:off x="89272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038EB-0E1A-05F1-2DFF-EA052237F7F6}"/>
              </a:ext>
            </a:extLst>
          </p:cNvPr>
          <p:cNvSpPr/>
          <p:nvPr userDrawn="1"/>
        </p:nvSpPr>
        <p:spPr>
          <a:xfrm>
            <a:off x="10313559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C02E06-B728-D76A-FEAA-446234F0F31F}"/>
              </a:ext>
            </a:extLst>
          </p:cNvPr>
          <p:cNvSpPr/>
          <p:nvPr userDrawn="1"/>
        </p:nvSpPr>
        <p:spPr>
          <a:xfrm>
            <a:off x="6096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06809-ECBD-19DD-3B50-1DBAD7BADF1F}"/>
              </a:ext>
            </a:extLst>
          </p:cNvPr>
          <p:cNvSpPr/>
          <p:nvPr userDrawn="1"/>
        </p:nvSpPr>
        <p:spPr>
          <a:xfrm>
            <a:off x="19958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6C519C-7E49-E916-FA16-159BABE49412}"/>
              </a:ext>
            </a:extLst>
          </p:cNvPr>
          <p:cNvSpPr/>
          <p:nvPr userDrawn="1"/>
        </p:nvSpPr>
        <p:spPr>
          <a:xfrm>
            <a:off x="338216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B91923-6A62-AD7F-31E0-673400D0EB1E}"/>
              </a:ext>
            </a:extLst>
          </p:cNvPr>
          <p:cNvSpPr/>
          <p:nvPr userDrawn="1"/>
        </p:nvSpPr>
        <p:spPr>
          <a:xfrm>
            <a:off x="476844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7D94D-DCFC-5DFD-EA77-925FCC34A4D7}"/>
              </a:ext>
            </a:extLst>
          </p:cNvPr>
          <p:cNvSpPr/>
          <p:nvPr userDrawn="1"/>
        </p:nvSpPr>
        <p:spPr>
          <a:xfrm>
            <a:off x="615472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CF9808-730A-9487-1316-4BBE4EB4937B}"/>
              </a:ext>
            </a:extLst>
          </p:cNvPr>
          <p:cNvSpPr/>
          <p:nvPr userDrawn="1"/>
        </p:nvSpPr>
        <p:spPr>
          <a:xfrm>
            <a:off x="75410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5A07D-9FF2-8979-5D57-8C122DB99FB7}"/>
              </a:ext>
            </a:extLst>
          </p:cNvPr>
          <p:cNvSpPr/>
          <p:nvPr userDrawn="1"/>
        </p:nvSpPr>
        <p:spPr>
          <a:xfrm>
            <a:off x="89272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263E6F-C1EE-9BCC-34DD-8FE8B2AE793A}"/>
              </a:ext>
            </a:extLst>
          </p:cNvPr>
          <p:cNvSpPr/>
          <p:nvPr userDrawn="1"/>
        </p:nvSpPr>
        <p:spPr>
          <a:xfrm>
            <a:off x="10313559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ow 1 Picture Placeholder 1">
            <a:extLst>
              <a:ext uri="{FF2B5EF4-FFF2-40B4-BE49-F238E27FC236}">
                <a16:creationId xmlns:a16="http://schemas.microsoft.com/office/drawing/2014/main" id="{F7FA6101-2BCD-3F7A-5BFE-9C338D8F8C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0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6" name="row 1 Picture Placeholder 2">
            <a:extLst>
              <a:ext uri="{FF2B5EF4-FFF2-40B4-BE49-F238E27FC236}">
                <a16:creationId xmlns:a16="http://schemas.microsoft.com/office/drawing/2014/main" id="{D4489A75-D166-8CF2-E0D8-0EDFD46D7A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34595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row 1 Picture Placeholder 3">
            <a:extLst>
              <a:ext uri="{FF2B5EF4-FFF2-40B4-BE49-F238E27FC236}">
                <a16:creationId xmlns:a16="http://schemas.microsoft.com/office/drawing/2014/main" id="{2F08C9C9-CDFB-BCD2-FB33-888CA3CCB0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1781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row 1 Picture Placeholder 4">
            <a:extLst>
              <a:ext uri="{FF2B5EF4-FFF2-40B4-BE49-F238E27FC236}">
                <a16:creationId xmlns:a16="http://schemas.microsoft.com/office/drawing/2014/main" id="{899B4827-9E43-021A-8937-A5828945843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16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row 1 Picture Placeholder 5">
            <a:extLst>
              <a:ext uri="{FF2B5EF4-FFF2-40B4-BE49-F238E27FC236}">
                <a16:creationId xmlns:a16="http://schemas.microsoft.com/office/drawing/2014/main" id="{B06F7986-6ED4-86E5-5E13-935D3BEE8F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6154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row 1 Picture Placeholder 6">
            <a:extLst>
              <a:ext uri="{FF2B5EF4-FFF2-40B4-BE49-F238E27FC236}">
                <a16:creationId xmlns:a16="http://schemas.microsoft.com/office/drawing/2014/main" id="{7C94F9B6-35CC-47D7-4715-2D9BDFED9D9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83340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row 1 Picture Placeholder 7">
            <a:extLst>
              <a:ext uri="{FF2B5EF4-FFF2-40B4-BE49-F238E27FC236}">
                <a16:creationId xmlns:a16="http://schemas.microsoft.com/office/drawing/2014/main" id="{D2A4DA41-8FCC-44A0-0C9D-A7CDFAC9620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0527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row 1 Picture Placeholder 8">
            <a:extLst>
              <a:ext uri="{FF2B5EF4-FFF2-40B4-BE49-F238E27FC236}">
                <a16:creationId xmlns:a16="http://schemas.microsoft.com/office/drawing/2014/main" id="{4137539C-29C3-8821-FFE4-1C210898C6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57713" y="1374235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row 2 Picture Placeholder 1">
            <a:extLst>
              <a:ext uri="{FF2B5EF4-FFF2-40B4-BE49-F238E27FC236}">
                <a16:creationId xmlns:a16="http://schemas.microsoft.com/office/drawing/2014/main" id="{3C1DEC0A-CFBB-A174-7825-D3E127900D3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60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ow 2 Picture Placeholder 2">
            <a:extLst>
              <a:ext uri="{FF2B5EF4-FFF2-40B4-BE49-F238E27FC236}">
                <a16:creationId xmlns:a16="http://schemas.microsoft.com/office/drawing/2014/main" id="{E7BAB826-4B9F-721B-9415-8435857190B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34595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row 2 Picture Placeholder 3">
            <a:extLst>
              <a:ext uri="{FF2B5EF4-FFF2-40B4-BE49-F238E27FC236}">
                <a16:creationId xmlns:a16="http://schemas.microsoft.com/office/drawing/2014/main" id="{FF2B11DB-3A14-D3C9-2C6D-B1CA3D622F9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21781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row 2 Picture Placeholder 4">
            <a:extLst>
              <a:ext uri="{FF2B5EF4-FFF2-40B4-BE49-F238E27FC236}">
                <a16:creationId xmlns:a16="http://schemas.microsoft.com/office/drawing/2014/main" id="{46336BAC-196F-BEEE-4E28-6A330A25A67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1416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ow 2 Picture Placeholder 5">
            <a:extLst>
              <a:ext uri="{FF2B5EF4-FFF2-40B4-BE49-F238E27FC236}">
                <a16:creationId xmlns:a16="http://schemas.microsoft.com/office/drawing/2014/main" id="{C2FFB65A-9236-4CE6-2307-E94FE71BB87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96154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row 2 Picture Placeholder 6">
            <a:extLst>
              <a:ext uri="{FF2B5EF4-FFF2-40B4-BE49-F238E27FC236}">
                <a16:creationId xmlns:a16="http://schemas.microsoft.com/office/drawing/2014/main" id="{4B9A60F2-7615-8938-B4B4-67C1CBF42CF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83340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7" name="row 2 Picture Placeholder 7">
            <a:extLst>
              <a:ext uri="{FF2B5EF4-FFF2-40B4-BE49-F238E27FC236}">
                <a16:creationId xmlns:a16="http://schemas.microsoft.com/office/drawing/2014/main" id="{3E419932-76A6-541D-128A-A84A5BEEC30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0527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8" name="row 2 Picture Placeholder 8">
            <a:extLst>
              <a:ext uri="{FF2B5EF4-FFF2-40B4-BE49-F238E27FC236}">
                <a16:creationId xmlns:a16="http://schemas.microsoft.com/office/drawing/2014/main" id="{758DFE5A-82A8-803E-2660-E9B48CD58C8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357713" y="2645822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79" name="row 3 Picture Placeholder 1">
            <a:extLst>
              <a:ext uri="{FF2B5EF4-FFF2-40B4-BE49-F238E27FC236}">
                <a16:creationId xmlns:a16="http://schemas.microsoft.com/office/drawing/2014/main" id="{9E32F521-6FD0-503D-9FF1-BBD7A8CA51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260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0" name="row 3 Picture Placeholder 2">
            <a:extLst>
              <a:ext uri="{FF2B5EF4-FFF2-40B4-BE49-F238E27FC236}">
                <a16:creationId xmlns:a16="http://schemas.microsoft.com/office/drawing/2014/main" id="{D836B38E-8809-B0C0-92F7-BD89C610B1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034595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1" name="row 3 Picture Placeholder 3">
            <a:extLst>
              <a:ext uri="{FF2B5EF4-FFF2-40B4-BE49-F238E27FC236}">
                <a16:creationId xmlns:a16="http://schemas.microsoft.com/office/drawing/2014/main" id="{6D54014E-0644-8A1E-AAFF-5E8A476ACC3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21781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2" name="row 3 Picture Placeholder 4">
            <a:extLst>
              <a:ext uri="{FF2B5EF4-FFF2-40B4-BE49-F238E27FC236}">
                <a16:creationId xmlns:a16="http://schemas.microsoft.com/office/drawing/2014/main" id="{C50DA082-240B-5F1B-A722-C64B3BA9FD4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1416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3" name="row 3 Picture Placeholder 5">
            <a:extLst>
              <a:ext uri="{FF2B5EF4-FFF2-40B4-BE49-F238E27FC236}">
                <a16:creationId xmlns:a16="http://schemas.microsoft.com/office/drawing/2014/main" id="{7F494D05-1215-155F-73B6-BF770FF811D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96154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4" name="row 3 Picture Placeholder 6">
            <a:extLst>
              <a:ext uri="{FF2B5EF4-FFF2-40B4-BE49-F238E27FC236}">
                <a16:creationId xmlns:a16="http://schemas.microsoft.com/office/drawing/2014/main" id="{D0EC0EE6-CC94-3C74-DDBA-56893AD1E43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83340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5" name="row 3 Picture Placeholder 7">
            <a:extLst>
              <a:ext uri="{FF2B5EF4-FFF2-40B4-BE49-F238E27FC236}">
                <a16:creationId xmlns:a16="http://schemas.microsoft.com/office/drawing/2014/main" id="{5FBD18F7-9E73-C66B-2846-56D8CEA15A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970527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6" name="row 3 Picture Placeholder 8">
            <a:extLst>
              <a:ext uri="{FF2B5EF4-FFF2-40B4-BE49-F238E27FC236}">
                <a16:creationId xmlns:a16="http://schemas.microsoft.com/office/drawing/2014/main" id="{7B5CFE7D-04C3-F349-69EC-8D436A9E920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357713" y="3924554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7" name="row 4 Picture Placeholder 1">
            <a:extLst>
              <a:ext uri="{FF2B5EF4-FFF2-40B4-BE49-F238E27FC236}">
                <a16:creationId xmlns:a16="http://schemas.microsoft.com/office/drawing/2014/main" id="{24399C3F-6491-6E43-B837-BD446D088A0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260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8" name="row 4 Picture Placeholder 2">
            <a:extLst>
              <a:ext uri="{FF2B5EF4-FFF2-40B4-BE49-F238E27FC236}">
                <a16:creationId xmlns:a16="http://schemas.microsoft.com/office/drawing/2014/main" id="{2036CAF2-E770-6062-EF33-0DD11CD01C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34595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89" name="row 4 Picture Placeholder 3">
            <a:extLst>
              <a:ext uri="{FF2B5EF4-FFF2-40B4-BE49-F238E27FC236}">
                <a16:creationId xmlns:a16="http://schemas.microsoft.com/office/drawing/2014/main" id="{30F775ED-4D01-9DC2-7605-D281FB771C2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21781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0" name="row 4 Picture Placeholder 4">
            <a:extLst>
              <a:ext uri="{FF2B5EF4-FFF2-40B4-BE49-F238E27FC236}">
                <a16:creationId xmlns:a16="http://schemas.microsoft.com/office/drawing/2014/main" id="{DEE28737-AC75-102C-4BA8-96E6F4330BB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1416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1" name="row 4 Picture Placeholder 5">
            <a:extLst>
              <a:ext uri="{FF2B5EF4-FFF2-40B4-BE49-F238E27FC236}">
                <a16:creationId xmlns:a16="http://schemas.microsoft.com/office/drawing/2014/main" id="{E6E43258-86B0-95D8-6166-424B9F61DE5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96154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2" name="row 4 Picture Placeholder 6">
            <a:extLst>
              <a:ext uri="{FF2B5EF4-FFF2-40B4-BE49-F238E27FC236}">
                <a16:creationId xmlns:a16="http://schemas.microsoft.com/office/drawing/2014/main" id="{0D08A575-C065-4FC0-28D7-6580F3156F6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83340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3" name="row 4 Picture Placeholder 7">
            <a:extLst>
              <a:ext uri="{FF2B5EF4-FFF2-40B4-BE49-F238E27FC236}">
                <a16:creationId xmlns:a16="http://schemas.microsoft.com/office/drawing/2014/main" id="{8C33A8F6-6489-D7B0-777C-E283A9697E4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970527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4" name="row 4 Picture Placeholder 8">
            <a:extLst>
              <a:ext uri="{FF2B5EF4-FFF2-40B4-BE49-F238E27FC236}">
                <a16:creationId xmlns:a16="http://schemas.microsoft.com/office/drawing/2014/main" id="{9DDE374E-5A99-C8F8-8E5C-A7201FBD4B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357713" y="5196141"/>
            <a:ext cx="1182832" cy="108810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3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with Thr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92CD-4DAB-B5A4-4603-43CD97AC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hread">
            <a:extLst>
              <a:ext uri="{FF2B5EF4-FFF2-40B4-BE49-F238E27FC236}">
                <a16:creationId xmlns:a16="http://schemas.microsoft.com/office/drawing/2014/main" id="{58DD8459-7A64-A5A2-A463-AE3780C871C4}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016" y="0"/>
            <a:ext cx="12063984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985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B8B6-68CD-E5CB-1299-D2EC1E13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09641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9EFD-0837-876E-D532-FF1DCD5D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20387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y end slide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0452-9AFC-7317-960A-0CE6F680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white letter o on a black background&#10;&#10;Description automatically generated">
            <a:extLst>
              <a:ext uri="{FF2B5EF4-FFF2-40B4-BE49-F238E27FC236}">
                <a16:creationId xmlns:a16="http://schemas.microsoft.com/office/drawing/2014/main" id="{E9BC6135-7D8D-B5DA-3E89-19048614E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642" y="2991905"/>
            <a:ext cx="3621024" cy="8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576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5347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Al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6824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12648" y="265176"/>
            <a:ext cx="10972800" cy="950976"/>
          </a:xfrm>
        </p:spPr>
        <p:txBody>
          <a:bodyPr wrap="square" lIns="0" tIns="0" rIns="0" bIns="0" anchor="ctr" anchorCtr="0">
            <a:noAutofit/>
          </a:bodyPr>
          <a:lstStyle>
            <a:lvl1pPr>
              <a:defRPr lang="en-US" sz="3200" b="1" i="0" kern="1200" spc="-50" baseline="0" dirty="0">
                <a:solidFill>
                  <a:schemeClr val="tx1"/>
                </a:solidFill>
                <a:latin typeface="Adobe Clean Display Black" panose="020B0303020404020204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9631ABC-0F20-4732-9A2E-F2D10704DBF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576873"/>
            <a:ext cx="10972800" cy="4504354"/>
          </a:xfrm>
        </p:spPr>
        <p:txBody>
          <a:bodyPr lIns="0" tIns="0" rIns="0" bIns="0"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D6601-D56B-2A71-FB4D-43D7BD6048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E4452-EFBC-927D-A192-3B5CAD318E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E59D4-EB98-505F-A399-102776DA74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18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 Ai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 lIns="0" rIns="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2940D-A5FF-4CEC-B24D-658D92D6E1F7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81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 Air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C5061511-419D-2059-0E83-6196212F928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B4F7-71D5-4F1C-A9CA-5E3A40F979B7}" type="datetime1">
              <a:rPr lang="en-US" smtClean="0"/>
              <a:t>4/16/26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03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557CE-52E6-1FB8-260F-4B9972B7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D5854-D623-623A-F51E-6C503DDDB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4324"/>
            <a:ext cx="10972800" cy="499027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4D4F-1B98-83B7-DAEA-EBD830B4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45920" y="6583680"/>
            <a:ext cx="7844778" cy="91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600">
                <a:solidFill>
                  <a:srgbClr val="191919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Copyright">
            <a:extLst>
              <a:ext uri="{FF2B5EF4-FFF2-40B4-BE49-F238E27FC236}">
                <a16:creationId xmlns:a16="http://schemas.microsoft.com/office/drawing/2014/main" id="{F00605C0-ED67-6D23-4441-6A67F9B2E445}"/>
              </a:ext>
            </a:extLst>
          </p:cNvPr>
          <p:cNvSpPr txBox="1"/>
          <p:nvPr userDrawn="1"/>
        </p:nvSpPr>
        <p:spPr>
          <a:xfrm>
            <a:off x="9835126" y="6583680"/>
            <a:ext cx="1747274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191919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B87A-A7CF-09CF-30ED-83C44A71A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2316" y="6583680"/>
            <a:ext cx="8976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lang="en-US" sz="600" baseline="0" smtClean="0">
                <a:solidFill>
                  <a:srgbClr val="191919"/>
                </a:solidFill>
                <a:latin typeface="Adobe Clean" panose="020B0503020404020204" pitchFamily="34" charset="0"/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8D59-8A23-698A-D678-69D2440D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" y="7035913"/>
            <a:ext cx="355867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69271-AB45-4F94-B977-1C39D03C236C}" type="datetime1">
              <a:rPr lang="en-US" smtClean="0"/>
              <a:t>4/16/26</a:t>
            </a:fld>
            <a:endParaRPr lang="en-US"/>
          </a:p>
        </p:txBody>
      </p:sp>
      <p:sp>
        <p:nvSpPr>
          <p:cNvPr id="9" name="1/4">
            <a:extLst>
              <a:ext uri="{FF2B5EF4-FFF2-40B4-BE49-F238E27FC236}">
                <a16:creationId xmlns:a16="http://schemas.microsoft.com/office/drawing/2014/main" id="{791B36FE-59D2-67F8-88FF-8BCBCAA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264969" y="-563502"/>
            <a:ext cx="1635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1/4</a:t>
            </a:r>
          </a:p>
        </p:txBody>
      </p:sp>
      <p:sp>
        <p:nvSpPr>
          <p:cNvPr id="10" name="2/4">
            <a:extLst>
              <a:ext uri="{FF2B5EF4-FFF2-40B4-BE49-F238E27FC236}">
                <a16:creationId xmlns:a16="http://schemas.microsoft.com/office/drawing/2014/main" id="{1D453459-F362-B9CD-880F-8901A7543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04629" y="-563502"/>
            <a:ext cx="182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2/4</a:t>
            </a:r>
          </a:p>
        </p:txBody>
      </p:sp>
      <p:sp>
        <p:nvSpPr>
          <p:cNvPr id="11" name="3/4">
            <a:extLst>
              <a:ext uri="{FF2B5EF4-FFF2-40B4-BE49-F238E27FC236}">
                <a16:creationId xmlns:a16="http://schemas.microsoft.com/office/drawing/2014/main" id="{8E72AC89-911C-7E96-6D33-BAF9B0DBE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5241" y="-563502"/>
            <a:ext cx="1843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3/4</a:t>
            </a:r>
          </a:p>
        </p:txBody>
      </p:sp>
      <p:cxnSp>
        <p:nvCxnSpPr>
          <p:cNvPr id="12" name="2/3 arrow">
            <a:extLst>
              <a:ext uri="{FF2B5EF4-FFF2-40B4-BE49-F238E27FC236}">
                <a16:creationId xmlns:a16="http://schemas.microsoft.com/office/drawing/2014/main" id="{425FBE88-470E-60C6-8016-0453814D1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23212" y="-336411"/>
            <a:ext cx="0" cy="236135"/>
          </a:xfrm>
          <a:prstGeom prst="line">
            <a:avLst/>
          </a:prstGeom>
          <a:ln w="12700">
            <a:solidFill>
              <a:srgbClr val="C8C1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/3 arrow">
            <a:extLst>
              <a:ext uri="{FF2B5EF4-FFF2-40B4-BE49-F238E27FC236}">
                <a16:creationId xmlns:a16="http://schemas.microsoft.com/office/drawing/2014/main" id="{B121034D-56B4-850B-095F-50226D1D6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66406" y="-336411"/>
            <a:ext cx="0" cy="236135"/>
          </a:xfrm>
          <a:prstGeom prst="line">
            <a:avLst/>
          </a:prstGeom>
          <a:ln w="12700">
            <a:solidFill>
              <a:srgbClr val="C8C1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2/3">
            <a:extLst>
              <a:ext uri="{FF2B5EF4-FFF2-40B4-BE49-F238E27FC236}">
                <a16:creationId xmlns:a16="http://schemas.microsoft.com/office/drawing/2014/main" id="{FC5A2A21-4D76-D3E5-F47D-FAAEDEFA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34245" y="-563502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A185B6"/>
                </a:solidFill>
                <a:latin typeface="+mj-lt"/>
              </a:rPr>
              <a:t>2/3</a:t>
            </a:r>
          </a:p>
        </p:txBody>
      </p:sp>
      <p:sp>
        <p:nvSpPr>
          <p:cNvPr id="15" name="1/3">
            <a:extLst>
              <a:ext uri="{FF2B5EF4-FFF2-40B4-BE49-F238E27FC236}">
                <a16:creationId xmlns:a16="http://schemas.microsoft.com/office/drawing/2014/main" id="{31DF4110-6679-C48B-A68B-23CCE2DC7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194051" y="-563502"/>
            <a:ext cx="15869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A185B6"/>
                </a:solidFill>
                <a:latin typeface="+mj-lt"/>
              </a:rPr>
              <a:t>1/3</a:t>
            </a:r>
          </a:p>
        </p:txBody>
      </p:sp>
      <p:cxnSp>
        <p:nvCxnSpPr>
          <p:cNvPr id="16" name="1/4 arrow">
            <a:extLst>
              <a:ext uri="{FF2B5EF4-FFF2-40B4-BE49-F238E27FC236}">
                <a16:creationId xmlns:a16="http://schemas.microsoft.com/office/drawing/2014/main" id="{654E8F9D-6C4E-05DA-FE73-546CD08C5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52205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2/4 arrow">
            <a:extLst>
              <a:ext uri="{FF2B5EF4-FFF2-40B4-BE49-F238E27FC236}">
                <a16:creationId xmlns:a16="http://schemas.microsoft.com/office/drawing/2014/main" id="{DA346B2B-DF35-381D-9BDC-1CDA53FCF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3/4 arrow">
            <a:extLst>
              <a:ext uri="{FF2B5EF4-FFF2-40B4-BE49-F238E27FC236}">
                <a16:creationId xmlns:a16="http://schemas.microsoft.com/office/drawing/2014/main" id="{79D2891A-8FC3-A6BB-6113-BF32856B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37414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id Instrux">
            <a:extLst>
              <a:ext uri="{FF2B5EF4-FFF2-40B4-BE49-F238E27FC236}">
                <a16:creationId xmlns:a16="http://schemas.microsoft.com/office/drawing/2014/main" id="{02CAB0F6-BA9D-DC91-B680-B8B29A06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57679" y="-549443"/>
            <a:ext cx="17649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Turn on Guides to see the custom grid.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Mac: Control-option-command-G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Win: Alt-F9 (or Alt-Fn-F9 on some laptops)</a:t>
            </a:r>
          </a:p>
        </p:txBody>
      </p:sp>
      <p:sp>
        <p:nvSpPr>
          <p:cNvPr id="7" name="Thread">
            <a:extLst>
              <a:ext uri="{FF2B5EF4-FFF2-40B4-BE49-F238E27FC236}">
                <a16:creationId xmlns:a16="http://schemas.microsoft.com/office/drawing/2014/main" id="{85D60DD5-372A-259D-1420-29F0B57C1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1/4">
            <a:extLst>
              <a:ext uri="{FF2B5EF4-FFF2-40B4-BE49-F238E27FC236}">
                <a16:creationId xmlns:a16="http://schemas.microsoft.com/office/drawing/2014/main" id="{424377ED-B64A-B4C7-0B71-A4CF8A90A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76881" y="2509117"/>
            <a:ext cx="16350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1/4</a:t>
            </a:r>
          </a:p>
        </p:txBody>
      </p:sp>
      <p:sp>
        <p:nvSpPr>
          <p:cNvPr id="33" name="2/4">
            <a:extLst>
              <a:ext uri="{FF2B5EF4-FFF2-40B4-BE49-F238E27FC236}">
                <a16:creationId xmlns:a16="http://schemas.microsoft.com/office/drawing/2014/main" id="{51F3C041-8ED9-0DA6-BEAB-D9FCBAB6C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86321" y="3754563"/>
            <a:ext cx="18274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2/4</a:t>
            </a:r>
          </a:p>
        </p:txBody>
      </p:sp>
      <p:sp>
        <p:nvSpPr>
          <p:cNvPr id="34" name="3/4">
            <a:extLst>
              <a:ext uri="{FF2B5EF4-FFF2-40B4-BE49-F238E27FC236}">
                <a16:creationId xmlns:a16="http://schemas.microsoft.com/office/drawing/2014/main" id="{F2D0D8E2-527A-4BB8-6B7E-6D57BEB7F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44053" y="4987532"/>
            <a:ext cx="1843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3/4</a:t>
            </a:r>
          </a:p>
        </p:txBody>
      </p:sp>
      <p:cxnSp>
        <p:nvCxnSpPr>
          <p:cNvPr id="35" name="1/4 arrow">
            <a:extLst>
              <a:ext uri="{FF2B5EF4-FFF2-40B4-BE49-F238E27FC236}">
                <a16:creationId xmlns:a16="http://schemas.microsoft.com/office/drawing/2014/main" id="{A418B525-C17C-C5AB-54B3-D48D2031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2580869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1/4 arrow">
            <a:extLst>
              <a:ext uri="{FF2B5EF4-FFF2-40B4-BE49-F238E27FC236}">
                <a16:creationId xmlns:a16="http://schemas.microsoft.com/office/drawing/2014/main" id="{9832C6B5-4860-2934-2206-0B5B7FF6B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1334324"/>
            <a:ext cx="22282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1/4 arrow">
            <a:extLst>
              <a:ext uri="{FF2B5EF4-FFF2-40B4-BE49-F238E27FC236}">
                <a16:creationId xmlns:a16="http://schemas.microsoft.com/office/drawing/2014/main" id="{0F8F2023-3069-3524-187F-DCC6A0F9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5073959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1/4 arrow">
            <a:extLst>
              <a:ext uri="{FF2B5EF4-FFF2-40B4-BE49-F238E27FC236}">
                <a16:creationId xmlns:a16="http://schemas.microsoft.com/office/drawing/2014/main" id="{A8ED2DAB-B3D9-1EA2-514C-8A23C045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3827414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1/4">
            <a:extLst>
              <a:ext uri="{FF2B5EF4-FFF2-40B4-BE49-F238E27FC236}">
                <a16:creationId xmlns:a16="http://schemas.microsoft.com/office/drawing/2014/main" id="{C8CA6760-80AA-0257-95D3-4B4DE6DE7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29254" y="1281863"/>
            <a:ext cx="29014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HEADER</a:t>
            </a:r>
          </a:p>
        </p:txBody>
      </p:sp>
      <p:cxnSp>
        <p:nvCxnSpPr>
          <p:cNvPr id="45" name="1/4 arrow">
            <a:extLst>
              <a:ext uri="{FF2B5EF4-FFF2-40B4-BE49-F238E27FC236}">
                <a16:creationId xmlns:a16="http://schemas.microsoft.com/office/drawing/2014/main" id="{74375429-3C84-68A9-2613-B48F5A529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6320504"/>
            <a:ext cx="22282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1/4">
            <a:extLst>
              <a:ext uri="{FF2B5EF4-FFF2-40B4-BE49-F238E27FC236}">
                <a16:creationId xmlns:a16="http://schemas.microsoft.com/office/drawing/2014/main" id="{1B81506B-B5BB-D6F5-CFE5-02E97E3AF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32460" y="6268043"/>
            <a:ext cx="2837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FOOTER</a:t>
            </a:r>
          </a:p>
        </p:txBody>
      </p:sp>
      <p:cxnSp>
        <p:nvCxnSpPr>
          <p:cNvPr id="24" name="1/4 arrow">
            <a:extLst>
              <a:ext uri="{FF2B5EF4-FFF2-40B4-BE49-F238E27FC236}">
                <a16:creationId xmlns:a16="http://schemas.microsoft.com/office/drawing/2014/main" id="{FA5D0519-5451-A608-D797-03460DF8E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-336411"/>
            <a:ext cx="0" cy="23613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3/4 arrow">
            <a:extLst>
              <a:ext uri="{FF2B5EF4-FFF2-40B4-BE49-F238E27FC236}">
                <a16:creationId xmlns:a16="http://schemas.microsoft.com/office/drawing/2014/main" id="{434EAFBE-DCAD-A7F5-09D7-04281AF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0018" y="-336411"/>
            <a:ext cx="0" cy="23613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1/4">
            <a:extLst>
              <a:ext uri="{FF2B5EF4-FFF2-40B4-BE49-F238E27FC236}">
                <a16:creationId xmlns:a16="http://schemas.microsoft.com/office/drawing/2014/main" id="{B26847F7-BAAC-4F5F-C73B-C98C0D60D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70753" y="-532724"/>
            <a:ext cx="47769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LEFT MARGIN</a:t>
            </a:r>
          </a:p>
        </p:txBody>
      </p:sp>
      <p:sp>
        <p:nvSpPr>
          <p:cNvPr id="28" name="1/4">
            <a:extLst>
              <a:ext uri="{FF2B5EF4-FFF2-40B4-BE49-F238E27FC236}">
                <a16:creationId xmlns:a16="http://schemas.microsoft.com/office/drawing/2014/main" id="{C37489DE-748C-5EF5-A2DC-16A403A0A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314721" y="-532724"/>
            <a:ext cx="530594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RIGHT MARGIN</a:t>
            </a:r>
          </a:p>
        </p:txBody>
      </p:sp>
      <p:pic>
        <p:nvPicPr>
          <p:cNvPr id="21" name="Picture 20" descr="A red and black number&#10;&#10;Description automatically generated">
            <a:extLst>
              <a:ext uri="{FF2B5EF4-FFF2-40B4-BE49-F238E27FC236}">
                <a16:creationId xmlns:a16="http://schemas.microsoft.com/office/drawing/2014/main" id="{90D99A4A-A7D4-0CC7-5FD2-1E4A30D358E9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518398"/>
            <a:ext cx="603504" cy="1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2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707" r:id="rId3"/>
    <p:sldLayoutId id="2147483661" r:id="rId4"/>
    <p:sldLayoutId id="2147483651" r:id="rId5"/>
    <p:sldLayoutId id="2147483650" r:id="rId6"/>
    <p:sldLayoutId id="2147483720" r:id="rId7"/>
    <p:sldLayoutId id="2147483697" r:id="rId8"/>
    <p:sldLayoutId id="2147483699" r:id="rId9"/>
    <p:sldLayoutId id="2147483703" r:id="rId10"/>
    <p:sldLayoutId id="2147483708" r:id="rId11"/>
    <p:sldLayoutId id="2147483712" r:id="rId12"/>
    <p:sldLayoutId id="2147483724" r:id="rId13"/>
    <p:sldLayoutId id="2147483718" r:id="rId14"/>
    <p:sldLayoutId id="2147483710" r:id="rId15"/>
    <p:sldLayoutId id="2147483713" r:id="rId16"/>
    <p:sldLayoutId id="2147483722" r:id="rId17"/>
    <p:sldLayoutId id="2147483683" r:id="rId18"/>
    <p:sldLayoutId id="2147483684" r:id="rId19"/>
    <p:sldLayoutId id="2147483685" r:id="rId20"/>
    <p:sldLayoutId id="2147483726" r:id="rId21"/>
    <p:sldLayoutId id="2147483682" r:id="rId22"/>
    <p:sldLayoutId id="2147483680" r:id="rId23"/>
    <p:sldLayoutId id="2147483677" r:id="rId24"/>
    <p:sldLayoutId id="2147483714" r:id="rId25"/>
    <p:sldLayoutId id="2147483662" r:id="rId26"/>
    <p:sldLayoutId id="2147483663" r:id="rId27"/>
    <p:sldLayoutId id="2147483664" r:id="rId28"/>
    <p:sldLayoutId id="2147483721" r:id="rId29"/>
    <p:sldLayoutId id="2147483698" r:id="rId30"/>
    <p:sldLayoutId id="2147483700" r:id="rId31"/>
    <p:sldLayoutId id="2147483704" r:id="rId32"/>
    <p:sldLayoutId id="2147483709" r:id="rId33"/>
    <p:sldLayoutId id="2147483716" r:id="rId34"/>
    <p:sldLayoutId id="2147483725" r:id="rId35"/>
    <p:sldLayoutId id="2147483719" r:id="rId36"/>
    <p:sldLayoutId id="2147483711" r:id="rId37"/>
    <p:sldLayoutId id="2147483717" r:id="rId38"/>
    <p:sldLayoutId id="2147483723" r:id="rId39"/>
    <p:sldLayoutId id="2147483688" r:id="rId40"/>
    <p:sldLayoutId id="2147483691" r:id="rId41"/>
    <p:sldLayoutId id="2147483694" r:id="rId42"/>
    <p:sldLayoutId id="2147483727" r:id="rId43"/>
    <p:sldLayoutId id="2147483686" r:id="rId44"/>
    <p:sldLayoutId id="2147483689" r:id="rId45"/>
    <p:sldLayoutId id="2147483692" r:id="rId46"/>
    <p:sldLayoutId id="2147483715" r:id="rId47"/>
    <p:sldLayoutId id="2147483706" r:id="rId48"/>
    <p:sldLayoutId id="2147483655" r:id="rId49"/>
    <p:sldLayoutId id="2147483695" r:id="rId50"/>
    <p:sldLayoutId id="2147483665" r:id="rId51"/>
    <p:sldLayoutId id="2147483701" r:id="rId52"/>
    <p:sldLayoutId id="2147483702" r:id="rId53"/>
    <p:sldLayoutId id="2147483705" r:id="rId54"/>
    <p:sldLayoutId id="2147483671" r:id="rId55"/>
    <p:sldLayoutId id="214748367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i="0" kern="1200" spc="-50" baseline="0">
          <a:solidFill>
            <a:schemeClr val="tx1"/>
          </a:solidFill>
          <a:latin typeface="Adobe Clean Display Black" panose="020B0303020404020204" pitchFamily="34" charset="77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2588" indent="-157163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81025" indent="-14287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69925" indent="-12382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46138" indent="-13017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0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398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rgbClr val="FFFFFF"/>
                </a:solidFill>
              </a:rPr>
              <a:t>MCP in ColdFusion
</a:t>
            </a:r>
            <a:r>
              <a:rPr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Building AI-Connected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CCCCCC"/>
                </a:solidFill>
              </a:rPr>
              <a:t>Piyush Nayak | </a:t>
            </a:r>
            <a:r>
              <a:rPr sz="2000" dirty="0">
                <a:solidFill>
                  <a:srgbClr val="CCCCCC"/>
                </a:solidFill>
              </a:rPr>
              <a:t>ColdFusion </a:t>
            </a:r>
            <a:r>
              <a:rPr lang="en-US" sz="2000" dirty="0">
                <a:solidFill>
                  <a:srgbClr val="CCCCCC"/>
                </a:solidFill>
              </a:rPr>
              <a:t>Engineering </a:t>
            </a:r>
            <a:endParaRPr sz="2000" dirty="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36612"/>
            <a:ext cx="10972800" cy="584775"/>
          </a:xfrm>
        </p:spPr>
        <p:txBody>
          <a:bodyPr/>
          <a:lstStyle/>
          <a:p>
            <a:r>
              <a:rPr sz="4000" b="1" dirty="0">
                <a:solidFill>
                  <a:srgbClr val="EB1000"/>
                </a:solidFill>
              </a:rPr>
              <a:t>Introduction &amp;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0218" y="1473275"/>
            <a:ext cx="665170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1</a:t>
            </a:r>
            <a:r>
              <a:rPr sz="2000" b="1" dirty="0">
                <a:solidFill>
                  <a:srgbClr val="EB1000"/>
                </a:solidFill>
              </a:rPr>
              <a:t>  </a:t>
            </a:r>
            <a:r>
              <a:rPr lang="en-US" sz="2000" b="1" dirty="0">
                <a:solidFill>
                  <a:srgbClr val="EB1000"/>
                </a:solidFill>
              </a:rPr>
              <a:t>  </a:t>
            </a:r>
            <a:r>
              <a:rPr sz="2000" dirty="0">
                <a:solidFill>
                  <a:srgbClr val="1A1A1A"/>
                </a:solidFill>
              </a:rPr>
              <a:t>Architecture: how MCP works</a:t>
            </a:r>
            <a:endParaRPr lang="en-US"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</a:pPr>
            <a:r>
              <a:rPr lang="en-IN" sz="2000" b="1" dirty="0">
                <a:solidFill>
                  <a:srgbClr val="EB1000"/>
                </a:solidFill>
              </a:rPr>
              <a:t>Section 2   </a:t>
            </a:r>
            <a:r>
              <a:rPr lang="en-IN" sz="2000" dirty="0">
                <a:solidFill>
                  <a:srgbClr val="1A1A1A"/>
                </a:solidFill>
              </a:rPr>
              <a:t>Your first server + client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3</a:t>
            </a:r>
            <a:r>
              <a:rPr sz="2000" b="1" dirty="0">
                <a:solidFill>
                  <a:srgbClr val="EB1000"/>
                </a:solidFill>
              </a:rPr>
              <a:t> </a:t>
            </a:r>
            <a:r>
              <a:rPr lang="en-US" sz="2000" b="1" dirty="0">
                <a:solidFill>
                  <a:srgbClr val="EB1000"/>
                </a:solidFill>
              </a:rPr>
              <a:t>  </a:t>
            </a:r>
            <a:r>
              <a:rPr lang="en-US" sz="2000" dirty="0">
                <a:solidFill>
                  <a:srgbClr val="1A1A1A"/>
                </a:solidFill>
              </a:rPr>
              <a:t>Server &amp; Client configuration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4   </a:t>
            </a:r>
            <a:r>
              <a:rPr lang="en-US" sz="2000" dirty="0">
                <a:solidFill>
                  <a:srgbClr val="1A1A1A"/>
                </a:solidFill>
              </a:rPr>
              <a:t>MCP Functions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5</a:t>
            </a:r>
            <a:r>
              <a:rPr sz="2000" b="1" dirty="0">
                <a:solidFill>
                  <a:srgbClr val="EB1000"/>
                </a:solidFill>
              </a:rPr>
              <a:t> </a:t>
            </a:r>
            <a:r>
              <a:rPr lang="en-US" sz="2000" b="1" dirty="0">
                <a:solidFill>
                  <a:srgbClr val="EB1000"/>
                </a:solidFill>
              </a:rPr>
              <a:t>  </a:t>
            </a:r>
            <a:r>
              <a:rPr lang="en-US" sz="2000" dirty="0">
                <a:solidFill>
                  <a:srgbClr val="1A1A1A"/>
                </a:solidFill>
              </a:rPr>
              <a:t>Tools : callable functions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6</a:t>
            </a:r>
            <a:r>
              <a:rPr sz="2000" b="1" dirty="0">
                <a:solidFill>
                  <a:srgbClr val="EB1000"/>
                </a:solidFill>
              </a:rPr>
              <a:t> </a:t>
            </a:r>
            <a:r>
              <a:rPr lang="en-US" sz="2000" b="1" dirty="0">
                <a:solidFill>
                  <a:srgbClr val="EB1000"/>
                </a:solidFill>
              </a:rPr>
              <a:t>  </a:t>
            </a:r>
            <a:r>
              <a:rPr lang="en-IN" sz="2000" dirty="0">
                <a:solidFill>
                  <a:srgbClr val="1A1A1A"/>
                </a:solidFill>
              </a:rPr>
              <a:t>Resources : data exposure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7</a:t>
            </a:r>
            <a:r>
              <a:rPr sz="2000" b="1" dirty="0">
                <a:solidFill>
                  <a:srgbClr val="EB1000"/>
                </a:solidFill>
              </a:rPr>
              <a:t> </a:t>
            </a:r>
            <a:r>
              <a:rPr lang="en-US" sz="2000" b="1" dirty="0">
                <a:solidFill>
                  <a:srgbClr val="EB1000"/>
                </a:solidFill>
              </a:rPr>
              <a:t>  </a:t>
            </a:r>
            <a:r>
              <a:rPr lang="en-IN" sz="2000" dirty="0">
                <a:solidFill>
                  <a:srgbClr val="1A1A1A"/>
                </a:solidFill>
              </a:rPr>
              <a:t>Prompts : reusable templates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8</a:t>
            </a:r>
            <a:r>
              <a:rPr sz="2000" dirty="0">
                <a:solidFill>
                  <a:srgbClr val="1A1A1A"/>
                </a:solidFill>
              </a:rPr>
              <a:t> </a:t>
            </a:r>
            <a:r>
              <a:rPr lang="en-US" sz="2000" dirty="0">
                <a:solidFill>
                  <a:srgbClr val="1A1A1A"/>
                </a:solidFill>
              </a:rPr>
              <a:t>  </a:t>
            </a:r>
            <a:r>
              <a:rPr lang="en-IN" sz="2000" dirty="0">
                <a:solidFill>
                  <a:srgbClr val="1A1A1A"/>
                </a:solidFill>
              </a:rPr>
              <a:t>Sampling : server-initiated AI requests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9</a:t>
            </a:r>
            <a:r>
              <a:rPr sz="2000" b="1" dirty="0">
                <a:solidFill>
                  <a:srgbClr val="EB1000"/>
                </a:solidFill>
              </a:rPr>
              <a:t>  </a:t>
            </a:r>
            <a:r>
              <a:rPr lang="en-US" sz="2000" b="1" dirty="0">
                <a:solidFill>
                  <a:srgbClr val="EB1000"/>
                </a:solidFill>
              </a:rPr>
              <a:t> </a:t>
            </a:r>
            <a:r>
              <a:rPr lang="en-US" sz="2000" dirty="0">
                <a:solidFill>
                  <a:srgbClr val="1A1A1A"/>
                </a:solidFill>
              </a:rPr>
              <a:t>L</a:t>
            </a:r>
            <a:r>
              <a:rPr lang="en-IN" sz="2000" dirty="0" err="1">
                <a:solidFill>
                  <a:srgbClr val="1A1A1A"/>
                </a:solidFill>
              </a:rPr>
              <a:t>ogging</a:t>
            </a:r>
            <a:r>
              <a:rPr lang="en-IN" sz="2000" dirty="0">
                <a:solidFill>
                  <a:srgbClr val="1A1A1A"/>
                </a:solidFill>
              </a:rPr>
              <a:t>, Elicitation &amp; Roots</a:t>
            </a:r>
            <a:endParaRPr sz="200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</a:pPr>
            <a:r>
              <a:rPr lang="en-IN" sz="2000" b="1" dirty="0">
                <a:solidFill>
                  <a:srgbClr val="EB1000"/>
                </a:solidFill>
              </a:rPr>
              <a:t>Section 10  </a:t>
            </a:r>
            <a:r>
              <a:rPr lang="en-IN" sz="2000" dirty="0">
                <a:solidFill>
                  <a:srgbClr val="1A1A1A"/>
                </a:solidFill>
              </a:rPr>
              <a:t>Security : </a:t>
            </a:r>
            <a:r>
              <a:rPr lang="en-IN" sz="2000" dirty="0" err="1">
                <a:solidFill>
                  <a:srgbClr val="1A1A1A"/>
                </a:solidFill>
              </a:rPr>
              <a:t>BasicAuth</a:t>
            </a:r>
            <a:r>
              <a:rPr lang="en-IN" sz="2000" dirty="0">
                <a:solidFill>
                  <a:srgbClr val="1A1A1A"/>
                </a:solidFill>
              </a:rPr>
              <a:t>, CORS</a:t>
            </a:r>
          </a:p>
          <a:p>
            <a:pPr>
              <a:spcBef>
                <a:spcPts val="400"/>
              </a:spcBef>
            </a:pPr>
            <a:r>
              <a:rPr lang="en-IN" sz="2000" b="1" dirty="0">
                <a:solidFill>
                  <a:srgbClr val="EB1000"/>
                </a:solidFill>
              </a:rPr>
              <a:t>Section 11   </a:t>
            </a:r>
            <a:r>
              <a:rPr lang="en-IN" sz="2000" dirty="0">
                <a:solidFill>
                  <a:srgbClr val="1A1A1A"/>
                </a:solidFill>
              </a:rPr>
              <a:t>MCP Server config : </a:t>
            </a:r>
            <a:r>
              <a:rPr lang="en-IN" sz="2000" dirty="0" err="1">
                <a:solidFill>
                  <a:srgbClr val="1A1A1A"/>
                </a:solidFill>
              </a:rPr>
              <a:t>BulkLoading</a:t>
            </a:r>
            <a:r>
              <a:rPr lang="en-IN" sz="2000" dirty="0">
                <a:solidFill>
                  <a:srgbClr val="1A1A1A"/>
                </a:solidFill>
              </a:rPr>
              <a:t> &amp; CF Admin</a:t>
            </a:r>
            <a:endParaRPr lang="en-US" sz="2000" b="1" dirty="0">
              <a:solidFill>
                <a:srgbClr val="EB1000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</a:t>
            </a:r>
            <a:r>
              <a:rPr lang="en-US" sz="2000" b="1" dirty="0">
                <a:solidFill>
                  <a:srgbClr val="EB1000"/>
                </a:solidFill>
              </a:rPr>
              <a:t>12</a:t>
            </a:r>
            <a:r>
              <a:rPr sz="2000" b="1" dirty="0">
                <a:solidFill>
                  <a:srgbClr val="EB1000"/>
                </a:solidFill>
              </a:rPr>
              <a:t>  </a:t>
            </a:r>
            <a:r>
              <a:rPr lang="en-US" sz="2000" dirty="0">
                <a:solidFill>
                  <a:srgbClr val="1A1A1A"/>
                </a:solidFill>
              </a:rPr>
              <a:t>Integrating MCP with LLM service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000" b="1" dirty="0">
                <a:solidFill>
                  <a:srgbClr val="EB1000"/>
                </a:solidFill>
              </a:rPr>
              <a:t>Section 1</a:t>
            </a:r>
            <a:r>
              <a:rPr lang="en-US" sz="2000" b="1" dirty="0">
                <a:solidFill>
                  <a:srgbClr val="EB1000"/>
                </a:solidFill>
              </a:rPr>
              <a:t>3</a:t>
            </a:r>
            <a:r>
              <a:rPr sz="2000" b="1" dirty="0">
                <a:solidFill>
                  <a:srgbClr val="EB1000"/>
                </a:solidFill>
              </a:rPr>
              <a:t>  </a:t>
            </a:r>
            <a:r>
              <a:rPr sz="2000" dirty="0">
                <a:solidFill>
                  <a:srgbClr val="1A1A1A"/>
                </a:solidFill>
              </a:rPr>
              <a:t>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89888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>
                <a:solidFill>
                  <a:srgbClr val="444444"/>
                </a:solidFill>
                <a:latin typeface="Adobe Clean"/>
              </a:rPr>
              <a:t>"Our support agents copy-paste the same answers 200 times a day."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444444"/>
              </a:solidFill>
              <a:latin typeface="Adobe Clean"/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</a:rPr>
              <a:t>500+ tickets/day — no AI in the loop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</a:rPr>
              <a:t>Knowledge base lives in static documents agents can't query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</a:rPr>
              <a:t>Every response is hand-written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</a:rPr>
              <a:t>Data is siloed: tickets in one system, docs in another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 b="1">
                <a:solidFill>
                  <a:srgbClr val="EB1000"/>
                </a:solidFill>
                <a:latin typeface="Adobe Clean"/>
              </a:rPr>
              <a:t>What if your ColdFusion app could talk to any AI model — and give it tools, data, and context?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1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3200" b="1" dirty="0">
                <a:solidFill>
                  <a:srgbClr val="EB1000"/>
                </a:solidFill>
              </a:rPr>
              <a:t>What Is MCP &amp; How It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anchor="ctr">
            <a:normAutofit/>
          </a:bodyPr>
          <a:lstStyle/>
          <a:p>
            <a:r>
              <a:rPr sz="2800" b="1"/>
              <a:t>What Is MCP?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250000"/>
            <a:ext cx="1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</a:rPr>
              <a:t>Model Context Protocol — an open standard for connecting AI models to external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9059" y="4191654"/>
            <a:ext cx="1140166" cy="723854"/>
          </a:xfrm>
          <a:prstGeom prst="roundRect">
            <a:avLst>
              <a:gd name="adj" fmla="val 80000"/>
            </a:avLst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4238" y="3646775"/>
            <a:ext cx="2043557" cy="5500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 Interface</a:t>
            </a:r>
          </a:p>
          <a:p>
            <a:pPr algn="ctr"/>
            <a:r>
              <a:rPr sz="900">
                <a:solidFill>
                  <a:srgbClr val="BBBBBB"/>
                </a:solidFill>
              </a:rPr>
              <a:t>Claude Desktop, LibreChat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4238" y="4308258"/>
            <a:ext cx="2043557" cy="5500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IDEs &amp; Code Editors</a:t>
            </a:r>
          </a:p>
          <a:p>
            <a:pPr algn="ctr"/>
            <a:r>
              <a:rPr sz="900">
                <a:solidFill>
                  <a:srgbClr val="BBBBBB"/>
                </a:solidFill>
              </a:rPr>
              <a:t>Claude Code, Goose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4237" y="4960294"/>
            <a:ext cx="2043557" cy="5500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Other AI Applications</a:t>
            </a:r>
          </a:p>
          <a:p>
            <a:pPr algn="ctr"/>
            <a:r>
              <a:rPr sz="900">
                <a:solidFill>
                  <a:srgbClr val="BBBBBB"/>
                </a:solidFill>
              </a:rPr>
              <a:t>5ire, Superinterface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96567" y="3679996"/>
            <a:ext cx="2194517" cy="5500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&amp; File Systems</a:t>
            </a:r>
          </a:p>
          <a:p>
            <a:pPr algn="ctr"/>
            <a:r>
              <a:rPr sz="900">
                <a:solidFill>
                  <a:srgbClr val="BBBBBB"/>
                </a:solidFill>
              </a:rPr>
              <a:t>PostgreSQL, SQLite, GDrive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6567" y="4299087"/>
            <a:ext cx="2194517" cy="5500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Development Tools</a:t>
            </a:r>
          </a:p>
          <a:p>
            <a:pPr algn="ctr"/>
            <a:r>
              <a:rPr sz="900">
                <a:solidFill>
                  <a:srgbClr val="BBBBBB"/>
                </a:solidFill>
              </a:rPr>
              <a:t>Git, Sentry,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6567" y="4951123"/>
            <a:ext cx="2194517" cy="5500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Productivity Tools</a:t>
            </a:r>
          </a:p>
          <a:p>
            <a:pPr algn="ctr"/>
            <a:r>
              <a:rPr sz="900">
                <a:solidFill>
                  <a:srgbClr val="BBBBBB"/>
                </a:solidFill>
              </a:rPr>
              <a:t>Slack, Google Maps, etc.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51853" y="4227386"/>
            <a:ext cx="551108" cy="350000"/>
          </a:xfrm>
          <a:prstGeom prst="rightArrow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eft Arrow 13"/>
          <p:cNvSpPr/>
          <p:nvPr/>
        </p:nvSpPr>
        <p:spPr>
          <a:xfrm>
            <a:off x="4096528" y="4537386"/>
            <a:ext cx="604130" cy="330000"/>
          </a:xfrm>
          <a:prstGeom prst="leftArrow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4238" y="3346775"/>
            <a:ext cx="20435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EB1000"/>
                </a:solidFill>
              </a:rPr>
              <a:t>AI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6567" y="3379996"/>
            <a:ext cx="21945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EB1000"/>
                </a:solidFill>
              </a:rPr>
              <a:t>Data Sources &amp;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00" y="1784492"/>
            <a:ext cx="83485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dirty="0"/>
              <a:t>A "USB-C for AI"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One plug, any device — any AI model + any data source = one standard protocol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Replaces dozens of one-off integrations</a:t>
            </a:r>
          </a:p>
          <a:p>
            <a:pPr lvl="1">
              <a:lnSpc>
                <a:spcPct val="100000"/>
              </a:lnSpc>
            </a:pPr>
            <a:endParaRPr lang="en-IN" sz="1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Before MCP: each AI tool needs a custom integration per data source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After MCP: one server exposes data/tools; any MCP-aware client can use it</a:t>
            </a:r>
          </a:p>
          <a:p>
            <a:pPr algn="l"/>
            <a:endParaRPr sz="1200" b="0" dirty="0">
              <a:solidFill>
                <a:srgbClr val="1A1A1A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9405" y="5949473"/>
            <a:ext cx="11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00788C"/>
                </a:solidFill>
              </a:rPr>
              <a:t>Defined by Anthropic, now an open standard: </a:t>
            </a:r>
            <a:r>
              <a:rPr sz="1400" b="0" dirty="0" err="1">
                <a:solidFill>
                  <a:srgbClr val="00788C"/>
                </a:solidFill>
              </a:rPr>
              <a:t>modelcontextprotocol.io</a:t>
            </a:r>
            <a:endParaRPr sz="1400" b="0" dirty="0">
              <a:solidFill>
                <a:srgbClr val="00788C"/>
              </a:solidFill>
            </a:endParaRP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C4C27EF-A56E-5A84-B24B-13E7E70C6F41}"/>
              </a:ext>
            </a:extLst>
          </p:cNvPr>
          <p:cNvSpPr/>
          <p:nvPr/>
        </p:nvSpPr>
        <p:spPr>
          <a:xfrm>
            <a:off x="6183283" y="4257564"/>
            <a:ext cx="569226" cy="350000"/>
          </a:xfrm>
          <a:prstGeom prst="rightArrow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>
            <a:extLst>
              <a:ext uri="{FF2B5EF4-FFF2-40B4-BE49-F238E27FC236}">
                <a16:creationId xmlns:a16="http://schemas.microsoft.com/office/drawing/2014/main" id="{44C23EAB-FFE6-4846-668C-5A1738C694AB}"/>
              </a:ext>
            </a:extLst>
          </p:cNvPr>
          <p:cNvSpPr/>
          <p:nvPr/>
        </p:nvSpPr>
        <p:spPr>
          <a:xfrm>
            <a:off x="6128940" y="4567564"/>
            <a:ext cx="569226" cy="330000"/>
          </a:xfrm>
          <a:prstGeom prst="leftArrow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Server Features - </a:t>
            </a:r>
            <a:r>
              <a:rPr sz="2800" b="1" dirty="0"/>
              <a:t>The Three Primitives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576234"/>
            <a:ext cx="27432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5320" y="1621954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Primitive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0" y="1576234"/>
            <a:ext cx="3657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98520" y="1621954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Who Controls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0" y="1576234"/>
            <a:ext cx="45720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56120" y="1621954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941994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1969426"/>
            <a:ext cx="2651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1941994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8520" y="1969426"/>
            <a:ext cx="3566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Model-controlled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0400" y="1941994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6120" y="1969426"/>
            <a:ext cx="21499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Callable functions </a:t>
            </a:r>
            <a:r>
              <a:rPr lang="en-US" sz="1100" dirty="0">
                <a:solidFill>
                  <a:srgbClr val="1A1A1A"/>
                </a:solidFill>
              </a:rPr>
              <a:t>LLM</a:t>
            </a:r>
            <a:r>
              <a:rPr sz="1100" dirty="0">
                <a:solidFill>
                  <a:srgbClr val="1A1A1A"/>
                </a:solidFill>
              </a:rPr>
              <a:t> </a:t>
            </a:r>
            <a:r>
              <a:rPr lang="en-US" sz="1100" dirty="0">
                <a:solidFill>
                  <a:srgbClr val="1A1A1A"/>
                </a:solidFill>
              </a:rPr>
              <a:t>can </a:t>
            </a:r>
            <a:r>
              <a:rPr sz="1100" dirty="0">
                <a:solidFill>
                  <a:srgbClr val="1A1A1A"/>
                </a:solidFill>
              </a:rPr>
              <a:t>invoke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353474"/>
            <a:ext cx="27432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320" y="2380906"/>
            <a:ext cx="2651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2353474"/>
            <a:ext cx="3657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8520" y="2380906"/>
            <a:ext cx="3566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Application-controlled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0400" y="2353474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6120" y="2380906"/>
            <a:ext cx="44805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Readable data/files the app provides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764954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320" y="2792386"/>
            <a:ext cx="2651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PROMPTS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2800" y="2764954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98520" y="2792386"/>
            <a:ext cx="3566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User-controlled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0400" y="2764954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6120" y="2792386"/>
            <a:ext cx="44805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Templates for AI input the user selects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" y="3685033"/>
            <a:ext cx="27432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040" y="3730753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Client Capability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8520" y="3685033"/>
            <a:ext cx="8229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44240" y="3730753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" y="4050793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1040" y="4078225"/>
            <a:ext cx="2651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44444"/>
                </a:solidFill>
              </a:rPr>
              <a:t>Sampling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8520" y="4050793"/>
            <a:ext cx="8229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4240" y="4078225"/>
            <a:ext cx="346120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Server asks the client's AI model to generate </a:t>
            </a:r>
            <a:r>
              <a:rPr lang="en-US" sz="1100" dirty="0">
                <a:solidFill>
                  <a:srgbClr val="1A1A1A"/>
                </a:solidFill>
              </a:rPr>
              <a:t>LLM requests</a:t>
            </a:r>
            <a:endParaRPr sz="1100" dirty="0">
              <a:solidFill>
                <a:srgbClr val="1A1A1A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55320" y="4379977"/>
            <a:ext cx="27432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1040" y="4407409"/>
            <a:ext cx="26517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44444"/>
                </a:solidFill>
              </a:rPr>
              <a:t>Elicitation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8520" y="4379977"/>
            <a:ext cx="82296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44240" y="4407409"/>
            <a:ext cx="8138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Server asks the human user for structured input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6143BA-EE7A-BF68-DE01-D2F636F1FD90}"/>
              </a:ext>
            </a:extLst>
          </p:cNvPr>
          <p:cNvSpPr/>
          <p:nvPr/>
        </p:nvSpPr>
        <p:spPr>
          <a:xfrm>
            <a:off x="666473" y="4686412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05EE24-D9A9-CA23-DAE2-83814E9ABCB0}"/>
              </a:ext>
            </a:extLst>
          </p:cNvPr>
          <p:cNvSpPr txBox="1"/>
          <p:nvPr/>
        </p:nvSpPr>
        <p:spPr>
          <a:xfrm>
            <a:off x="712193" y="4713844"/>
            <a:ext cx="52290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444444"/>
                </a:solidFill>
              </a:rPr>
              <a:t>Roots</a:t>
            </a:r>
            <a:endParaRPr sz="1100" b="1" dirty="0">
              <a:solidFill>
                <a:srgbClr val="444444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8C6A93-644E-542F-70DE-81E6CE9F84D7}"/>
              </a:ext>
            </a:extLst>
          </p:cNvPr>
          <p:cNvSpPr/>
          <p:nvPr/>
        </p:nvSpPr>
        <p:spPr>
          <a:xfrm>
            <a:off x="3409673" y="4686412"/>
            <a:ext cx="8229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0ADD45-E174-0A69-E659-1D70B3704E9C}"/>
              </a:ext>
            </a:extLst>
          </p:cNvPr>
          <p:cNvSpPr txBox="1"/>
          <p:nvPr/>
        </p:nvSpPr>
        <p:spPr>
          <a:xfrm>
            <a:off x="3455393" y="4713844"/>
            <a:ext cx="31742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100" dirty="0">
                <a:solidFill>
                  <a:srgbClr val="1A1A1A"/>
                </a:solidFill>
              </a:rPr>
              <a:t>Allow clients to specify directories servers can access </a:t>
            </a:r>
            <a:endParaRPr sz="11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/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96000" y="1420000"/>
            <a:ext cx="2800000" cy="450000"/>
          </a:xfrm>
          <a:prstGeom prst="roundRect">
            <a:avLst>
              <a:gd name="adj" fmla="val 120000"/>
            </a:avLst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Model / LLM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16459" y="1806900"/>
            <a:ext cx="225769" cy="320000"/>
          </a:xfrm>
          <a:prstGeom prst="down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38468" y="2126900"/>
            <a:ext cx="6765064" cy="1250000"/>
          </a:xfrm>
          <a:prstGeom prst="roundRect">
            <a:avLst>
              <a:gd name="adj" fmla="val 8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MCP CLIENT</a:t>
            </a:r>
            <a:endParaRPr lang="en-IN" sz="1600" b="1" dirty="0">
              <a:solidFill>
                <a:srgbClr val="FFFFFF"/>
              </a:solidFill>
            </a:endParaRPr>
          </a:p>
          <a:p>
            <a:pPr algn="ctr"/>
            <a:endParaRPr lang="en-IN" sz="1600" dirty="0">
              <a:solidFill>
                <a:srgbClr val="999999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2228" y="2916900"/>
            <a:ext cx="1500000" cy="280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Adobe Clean" panose="020B0503020404020204" pitchFamily="34" charset="0"/>
              </a:rPr>
              <a:t>listTools</a:t>
            </a:r>
            <a:endParaRPr sz="1200" b="1" dirty="0">
              <a:solidFill>
                <a:srgbClr val="FFFFFF"/>
              </a:solidFill>
              <a:latin typeface="Adobe Clean" panose="020B0503020404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02228" y="2916900"/>
            <a:ext cx="1500000" cy="280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200" dirty="0" err="1">
                <a:solidFill>
                  <a:srgbClr val="FFFFFF"/>
                </a:solidFill>
                <a:latin typeface="Adobe Clean" panose="020B0503020404020204" pitchFamily="34" charset="0"/>
              </a:rPr>
              <a:t>callTool</a:t>
            </a:r>
            <a:endParaRPr sz="1200" dirty="0">
              <a:solidFill>
                <a:srgbClr val="FFFFFF"/>
              </a:solidFill>
              <a:latin typeface="Adobe Clean" panose="020B0503020404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52228" y="2916900"/>
            <a:ext cx="1500000" cy="280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dobe Clean" panose="020B0503020404020204" pitchFamily="34" charset="0"/>
              </a:rPr>
              <a:t>sampling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16459" y="3324238"/>
            <a:ext cx="359080" cy="495761"/>
          </a:xfrm>
          <a:prstGeom prst="downArrow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5348" y="3392223"/>
            <a:ext cx="3251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EB1000"/>
                </a:solidFill>
              </a:rPr>
              <a:t>JSON-RPC over </a:t>
            </a:r>
            <a:r>
              <a:rPr sz="1400" b="1" dirty="0">
                <a:solidFill>
                  <a:srgbClr val="EB1000"/>
                </a:solidFill>
              </a:rPr>
              <a:t>HTTP</a:t>
            </a:r>
            <a:r>
              <a:rPr sz="1400" dirty="0">
                <a:solidFill>
                  <a:srgbClr val="EB1000"/>
                </a:solidFill>
              </a:rPr>
              <a:t> </a:t>
            </a:r>
            <a:r>
              <a:rPr lang="en-US" sz="1400" dirty="0">
                <a:solidFill>
                  <a:srgbClr val="EB1000"/>
                </a:solidFill>
              </a:rPr>
              <a:t>/</a:t>
            </a:r>
            <a:r>
              <a:rPr sz="1400" dirty="0">
                <a:solidFill>
                  <a:srgbClr val="EB1000"/>
                </a:solidFill>
              </a:rPr>
              <a:t> </a:t>
            </a:r>
            <a:r>
              <a:rPr sz="1400" b="1" dirty="0">
                <a:solidFill>
                  <a:srgbClr val="EB1000"/>
                </a:solidFill>
              </a:rPr>
              <a:t>STDIO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6980" y="3820000"/>
            <a:ext cx="7284720" cy="1250000"/>
          </a:xfrm>
          <a:prstGeom prst="roundRect">
            <a:avLst>
              <a:gd name="adj" fmla="val 8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MCP SERVER</a:t>
            </a:r>
            <a:endParaRPr lang="en-US" sz="1600" b="1" dirty="0">
              <a:solidFill>
                <a:srgbClr val="FFFFFF"/>
              </a:solidFill>
            </a:endParaRPr>
          </a:p>
          <a:p>
            <a:pPr algn="ctr"/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27228" y="4522686"/>
            <a:ext cx="1350000" cy="366320"/>
          </a:xfrm>
          <a:prstGeom prst="roundRect">
            <a:avLst>
              <a:gd name="adj" fmla="val 50000"/>
            </a:avLst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dobe Clean" panose="020B0503020404020204" pitchFamily="34" charset="0"/>
              </a:rP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20999" y="4522686"/>
            <a:ext cx="1350000" cy="366320"/>
          </a:xfrm>
          <a:prstGeom prst="roundRect">
            <a:avLst>
              <a:gd name="adj" fmla="val 50000"/>
            </a:avLst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dobe Clean" panose="020B0503020404020204" pitchFamily="34" charset="0"/>
              </a:rPr>
              <a:t>Resources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2228" y="4522686"/>
            <a:ext cx="1350000" cy="366320"/>
          </a:xfrm>
          <a:prstGeom prst="roundRect">
            <a:avLst>
              <a:gd name="adj" fmla="val 50000"/>
            </a:avLst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Adobe Clean" panose="020B0503020404020204" pitchFamily="34" charset="0"/>
              </a:rPr>
              <a:t>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3978" y="5190000"/>
            <a:ext cx="54040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>
                <a:solidFill>
                  <a:srgbClr val="555555"/>
                </a:solidFill>
              </a:rPr>
              <a:t>Transport:  </a:t>
            </a:r>
            <a:r>
              <a:rPr sz="1400" b="0" dirty="0" err="1">
                <a:solidFill>
                  <a:srgbClr val="555555"/>
                </a:solidFill>
              </a:rPr>
              <a:t>Streamable</a:t>
            </a:r>
            <a:r>
              <a:rPr sz="1400" b="0" dirty="0">
                <a:solidFill>
                  <a:srgbClr val="555555"/>
                </a:solidFill>
              </a:rPr>
              <a:t> HTTP (stateful sessions)   |   STDIO (process pipe)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C00D0-426E-E6EC-C9B9-58A6C5CF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F79D-86F3-60D2-173E-06E348A7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The Session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0000" y="1350000"/>
            <a:ext cx="2200000" cy="380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0000" y="1350000"/>
            <a:ext cx="2200000" cy="380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0000" y="1350000"/>
            <a:ext cx="2200000" cy="380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7500" y="1730000"/>
            <a:ext cx="45000" cy="394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7500" y="1730000"/>
            <a:ext cx="45000" cy="394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77500" y="1730000"/>
            <a:ext cx="45000" cy="394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0000" y="1780000"/>
            <a:ext cx="11200000" cy="2600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</a:rPr>
              <a:t>Initialization Phase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0000" y="2134868"/>
            <a:ext cx="1540000" cy="160000"/>
          </a:xfrm>
          <a:prstGeom prst="rightArrow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436" y="1950000"/>
            <a:ext cx="10711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Initialize</a:t>
            </a:r>
            <a:r>
              <a:rPr sz="1200" b="0" dirty="0">
                <a:solidFill>
                  <a:srgbClr val="1A1A1A"/>
                </a:solidFill>
              </a:rPr>
              <a:t> client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30000" y="2120000"/>
            <a:ext cx="1540000" cy="140000"/>
          </a:xfrm>
          <a:prstGeom prst="rightArrow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27192" y="1935132"/>
            <a:ext cx="15456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1A1A1A"/>
                </a:solidFill>
              </a:defRPr>
            </a:lvl1pPr>
          </a:lstStyle>
          <a:p>
            <a:r>
              <a:rPr dirty="0"/>
              <a:t>Initialize + capabilities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6930000" y="2432038"/>
            <a:ext cx="1540000" cy="120000"/>
          </a:xfrm>
          <a:prstGeom prst="leftArrow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26391" y="2247170"/>
            <a:ext cx="1547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Supported</a:t>
            </a:r>
            <a:r>
              <a:rPr sz="850" b="0" dirty="0">
                <a:solidFill>
                  <a:srgbClr val="1A1A1A"/>
                </a:solidFill>
              </a:rPr>
              <a:t> </a:t>
            </a:r>
            <a:r>
              <a:rPr sz="1200" dirty="0">
                <a:solidFill>
                  <a:srgbClr val="1A1A1A"/>
                </a:solidFill>
              </a:rPr>
              <a:t>capabilities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6930000" y="2714340"/>
            <a:ext cx="1540000" cy="150000"/>
          </a:xfrm>
          <a:prstGeom prst="leftArrow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8031" y="2536906"/>
            <a:ext cx="15039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Initialized</a:t>
            </a:r>
            <a:r>
              <a:rPr sz="850" b="0" dirty="0">
                <a:solidFill>
                  <a:srgbClr val="1A1A1A"/>
                </a:solidFill>
              </a:rPr>
              <a:t> </a:t>
            </a:r>
            <a:r>
              <a:rPr sz="1200" dirty="0">
                <a:solidFill>
                  <a:srgbClr val="1A1A1A"/>
                </a:solidFill>
              </a:rPr>
              <a:t>notification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0000" y="2920000"/>
            <a:ext cx="9600000" cy="332038"/>
          </a:xfrm>
          <a:prstGeom prst="roundRect">
            <a:avLst>
              <a:gd name="adj" fmla="val 20000"/>
            </a:avLst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Active Session with Negotiated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3300000"/>
            <a:ext cx="11200000" cy="2600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</a:rPr>
              <a:t>Operation Phase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30000" y="3687170"/>
            <a:ext cx="1540000" cy="140000"/>
          </a:xfrm>
          <a:prstGeom prst="rightArrow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43837" y="3487434"/>
            <a:ext cx="17123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Request</a:t>
            </a:r>
            <a:r>
              <a:rPr sz="850" b="0" dirty="0">
                <a:solidFill>
                  <a:srgbClr val="1A1A1A"/>
                </a:solidFill>
              </a:rPr>
              <a:t> (</a:t>
            </a:r>
            <a:r>
              <a:rPr sz="1200" dirty="0">
                <a:solidFill>
                  <a:srgbClr val="1A1A1A"/>
                </a:solidFill>
              </a:rPr>
              <a:t>tools</a:t>
            </a:r>
            <a:r>
              <a:rPr sz="850" b="0" dirty="0">
                <a:solidFill>
                  <a:srgbClr val="1A1A1A"/>
                </a:solidFill>
              </a:rPr>
              <a:t>/</a:t>
            </a:r>
            <a:r>
              <a:rPr sz="1200" dirty="0">
                <a:solidFill>
                  <a:srgbClr val="1A1A1A"/>
                </a:solidFill>
              </a:rPr>
              <a:t>resources</a:t>
            </a:r>
            <a:r>
              <a:rPr sz="850" b="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6930000" y="3954604"/>
            <a:ext cx="1540000" cy="140000"/>
          </a:xfrm>
          <a:prstGeom prst="leftArrow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1111" y="3747434"/>
            <a:ext cx="7777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Response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6930000" y="4259208"/>
            <a:ext cx="1540000" cy="150000"/>
          </a:xfrm>
          <a:prstGeom prst="leftArrow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4975" y="4066906"/>
            <a:ext cx="13500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Request</a:t>
            </a:r>
            <a:r>
              <a:rPr sz="850" b="0" dirty="0">
                <a:solidFill>
                  <a:srgbClr val="1A1A1A"/>
                </a:solidFill>
              </a:rPr>
              <a:t> (</a:t>
            </a:r>
            <a:r>
              <a:rPr sz="1200" dirty="0">
                <a:solidFill>
                  <a:srgbClr val="1A1A1A"/>
                </a:solidFill>
              </a:rPr>
              <a:t>sampling</a:t>
            </a:r>
            <a:r>
              <a:rPr sz="850" b="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3130000" y="4170000"/>
            <a:ext cx="1540000" cy="160000"/>
          </a:xfrm>
          <a:prstGeom prst="leftArrow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30000" y="4000000"/>
            <a:ext cx="1540000" cy="160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1000" b="0">
                <a:solidFill>
                  <a:srgbClr val="1A1A1A"/>
                </a:solidFill>
              </a:defRPr>
            </a:lvl1pPr>
          </a:lstStyle>
          <a:p>
            <a:r>
              <a:rPr dirty="0"/>
              <a:t>Forward to AI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30000" y="4571246"/>
            <a:ext cx="1540000" cy="160000"/>
          </a:xfrm>
          <a:prstGeom prst="rightArrow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1111" y="4401246"/>
            <a:ext cx="7777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0000" y="4750000"/>
            <a:ext cx="11200000" cy="2600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A1A1A"/>
                </a:solidFill>
              </a:rPr>
              <a:t>Shutdown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130000" y="5298151"/>
            <a:ext cx="1540000" cy="158847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87066" y="5038944"/>
            <a:ext cx="8258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Terminate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930000" y="5350000"/>
            <a:ext cx="1540000" cy="1600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51800" y="5127962"/>
            <a:ext cx="8963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1A1A1A"/>
                </a:solidFill>
              </a:rPr>
              <a:t>End</a:t>
            </a:r>
            <a:r>
              <a:rPr sz="850" b="0" dirty="0">
                <a:solidFill>
                  <a:srgbClr val="1A1A1A"/>
                </a:solidFill>
              </a:rPr>
              <a:t> </a:t>
            </a:r>
            <a:r>
              <a:rPr sz="1200" dirty="0">
                <a:solidFill>
                  <a:srgbClr val="1A1A1A"/>
                </a:solidFill>
              </a:rPr>
              <a:t>session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000" y="5670000"/>
            <a:ext cx="2200000" cy="380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0000" y="5670000"/>
            <a:ext cx="2200000" cy="380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0000" y="5670000"/>
            <a:ext cx="2200000" cy="380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0000" y="3600000"/>
            <a:ext cx="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dirty="0">
                <a:solidFill>
                  <a:srgbClr val="EB1000"/>
                </a:solidFill>
              </a:rPr>
              <a:t>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0000" y="4120000"/>
            <a:ext cx="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EB1000"/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64720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39635"/>
            <a:ext cx="10972800" cy="978729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2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4000" b="1" dirty="0">
                <a:solidFill>
                  <a:srgbClr val="EB1000"/>
                </a:solidFill>
              </a:rPr>
              <a:t>Your First Server &amp;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Your First 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350000"/>
            <a:ext cx="5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EchoTool.cfc — the tool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700000"/>
            <a:ext cx="4792980" cy="2993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c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omponent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hint="Echo tool"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remote string 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function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echoMessage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lang="en-US" sz="1200" b="0" dirty="0">
                <a:solidFill>
                  <a:srgbClr val="CED1D4"/>
                </a:solidFill>
                <a:latin typeface="Courier New"/>
              </a:rPr>
              <a:t>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0" dirty="0">
                <a:solidFill>
                  <a:srgbClr val="CED1D4"/>
                </a:solidFill>
                <a:latin typeface="Courier New"/>
              </a:rPr>
              <a:t>        r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equired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string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message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) {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return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"Echo: "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&amp;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arguments.message</a:t>
            </a: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0" y="1350000"/>
            <a:ext cx="5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Adobe Clean"/>
              </a:rPr>
              <a:t>mcp</a:t>
            </a:r>
            <a:r>
              <a:rPr sz="1200" b="1" dirty="0">
                <a:solidFill>
                  <a:srgbClr val="EB1000"/>
                </a:solidFill>
                <a:latin typeface="Adobe Clean"/>
              </a:rPr>
              <a:t>-echo-</a:t>
            </a:r>
            <a:r>
              <a:rPr sz="1200" b="1" dirty="0" err="1">
                <a:solidFill>
                  <a:srgbClr val="EB1000"/>
                </a:solidFill>
                <a:latin typeface="Adobe Clean"/>
              </a:rPr>
              <a:t>server.cfm</a:t>
            </a:r>
            <a:r>
              <a:rPr sz="1200" b="1" dirty="0">
                <a:solidFill>
                  <a:srgbClr val="EB1000"/>
                </a:solidFill>
                <a:latin typeface="Adobe Clean"/>
              </a:rPr>
              <a:t> — the server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700" y="1700000"/>
            <a:ext cx="5600000" cy="2993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"echo-server",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"1.0.0"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AI.MCP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.EchoTool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handleRequest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580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1A"/>
                </a:solidFill>
                <a:latin typeface="Adobe Clean"/>
              </a:rPr>
              <a:t>Two files is all you need:  a CFC with your tool logic  +  a .cfm that wires it to </a:t>
            </a:r>
            <a:r>
              <a:rPr sz="1200" b="0" dirty="0" err="1">
                <a:solidFill>
                  <a:srgbClr val="1A1A1A"/>
                </a:solidFill>
                <a:latin typeface="Adobe Clean"/>
              </a:rPr>
              <a:t>McpServer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 and calls </a:t>
            </a:r>
            <a:r>
              <a:rPr sz="1200" b="0" dirty="0" err="1">
                <a:solidFill>
                  <a:srgbClr val="1A1A1A"/>
                </a:solidFill>
                <a:latin typeface="Adobe Clean"/>
              </a:rPr>
              <a:t>handleRequest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Your First MCP Client — Echo Tool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290237"/>
            <a:ext cx="6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Adobe Clean"/>
              </a:rPr>
              <a:t>mcp</a:t>
            </a:r>
            <a:r>
              <a:rPr sz="1200" b="1" dirty="0">
                <a:solidFill>
                  <a:srgbClr val="EB1000"/>
                </a:solidFill>
                <a:latin typeface="Adobe Clean"/>
              </a:rPr>
              <a:t>-echo-</a:t>
            </a:r>
            <a:r>
              <a:rPr sz="1200" b="1" dirty="0" err="1">
                <a:solidFill>
                  <a:srgbClr val="EB1000"/>
                </a:solidFill>
                <a:latin typeface="Adobe Clean"/>
              </a:rPr>
              <a:t>client.cfm</a:t>
            </a:r>
            <a:r>
              <a:rPr sz="1200" b="1" dirty="0">
                <a:solidFill>
                  <a:srgbClr val="EB1000"/>
                </a:solidFill>
                <a:latin typeface="Adobe Clean"/>
              </a:rPr>
              <a:t> — connect and call the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650000"/>
            <a:ext cx="6200000" cy="47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  SERVER_URL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</a:t>
            </a: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// 1. Connect to the 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 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lang="en-IN" sz="950" dirty="0">
                <a:solidFill>
                  <a:srgbClr val="CED1D4"/>
                </a:solidFill>
                <a:latin typeface="Courier New"/>
              </a:rPr>
              <a:t>"http://localhost:8500/AI/MCP/</a:t>
            </a:r>
            <a:r>
              <a:rPr lang="en-IN" sz="95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lang="en-IN" sz="950" dirty="0">
                <a:solidFill>
                  <a:srgbClr val="CED1D4"/>
                </a:solidFill>
                <a:latin typeface="Courier New"/>
              </a:rPr>
              <a:t>-echo-</a:t>
            </a:r>
            <a:r>
              <a:rPr lang="en-IN" sz="950" dirty="0" err="1">
                <a:solidFill>
                  <a:srgbClr val="CED1D4"/>
                </a:solidFill>
                <a:latin typeface="Courier New"/>
              </a:rPr>
              <a:t>server.cfm</a:t>
            </a:r>
            <a:r>
              <a:rPr lang="en-IN" sz="950" dirty="0">
                <a:solidFill>
                  <a:srgbClr val="CED1D4"/>
                </a:solidFill>
                <a:latin typeface="Courier New"/>
              </a:rPr>
              <a:t>"</a:t>
            </a:r>
            <a:endParaRPr sz="95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"echo-client",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"1.0.0"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// 2. Discover 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  tools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listTools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("Tools found: "&amp;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arrayLen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tools.tools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// 3. Call the echo tool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  result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callTool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echoMessage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message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"Hello MCP!"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result.content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[1].text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// 4. Close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 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close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()</a:t>
            </a:r>
            <a:endParaRPr lang="en-IN" sz="950" b="0" dirty="0">
              <a:solidFill>
                <a:srgbClr val="CED1D4"/>
              </a:solidFill>
              <a:latin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00000" y="135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What happens step by step: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0000" y="175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Adobe Clean"/>
              </a:rPr>
              <a:t>1 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0000" y="2050000"/>
            <a:ext cx="5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MCPClient sends initialize to the
server, negotiates capabilities,
receives mcp-session-id.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0000" y="275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Adobe Clean"/>
              </a:rPr>
              <a:t>2 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0000" y="3050000"/>
            <a:ext cx="5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listTools() returns the server's
available tools (echoMessage).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0000" y="375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Adobe Clean"/>
              </a:rPr>
              <a:t>3 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0000" y="4050000"/>
            <a:ext cx="5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callTool() sends JSON-RPC request.
Server invokes EchoTool.cfc's
echoMessage() and returns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0000" y="475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Adobe Clean"/>
              </a:rPr>
              <a:t>4 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0000" y="5050000"/>
            <a:ext cx="5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Client sends session termination.
Server cleans 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0000" y="5950000"/>
            <a:ext cx="5000000" cy="4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rtlCol="0" anchor="ctr"/>
          <a:lstStyle/>
          <a:p>
            <a:pPr algn="ctr"/>
            <a:r>
              <a:rPr sz="1300" b="1">
                <a:solidFill>
                  <a:srgbClr val="80FF80"/>
                </a:solidFill>
                <a:latin typeface="Courier New"/>
              </a:rPr>
              <a:t>Output:  "Echo: Hello MCP!"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3</a:t>
            </a:r>
          </a:p>
          <a:p>
            <a:r>
              <a:rPr sz="3200" b="1" dirty="0">
                <a:solidFill>
                  <a:srgbClr val="EB1000"/>
                </a:solidFill>
              </a:rPr>
              <a:t>Server &amp; Client Configuration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McpServer — Core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83227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200" b="1" dirty="0" err="1">
                <a:solidFill>
                  <a:srgbClr val="FFFFFF"/>
                </a:solidFill>
                <a:latin typeface="Adobe Clean"/>
              </a:rPr>
              <a:t>serverInfo</a:t>
            </a:r>
            <a:endParaRPr sz="1200" b="1" dirty="0">
              <a:solidFill>
                <a:srgbClr val="FFFFFF"/>
              </a:solidFill>
              <a:latin typeface="Adobe Cle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EB1000"/>
                </a:solidFill>
                <a:latin typeface="Courier New"/>
              </a:rPr>
              <a:t>name</a:t>
            </a:r>
            <a:endParaRPr sz="13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Adobe Clean"/>
              </a:rPr>
              <a:t>String</a:t>
            </a:r>
            <a:endParaRPr sz="1100" dirty="0">
              <a:solidFill>
                <a:srgbClr val="1A1A1A"/>
              </a:solidFill>
              <a:latin typeface="Adobe Cle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Server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64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66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Capabilities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295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720" y="297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EB1000"/>
                </a:solidFill>
                <a:latin typeface="Courier New"/>
              </a:rPr>
              <a:t>capabilities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0000" y="295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95720" y="297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Struct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0000" y="295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5720" y="297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Features: tools, prompts, resources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330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332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0000" y="330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95720" y="332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0000" y="330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5720" y="332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CFC paths to tool components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65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367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resources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0000" y="365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95720" y="367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0000" y="365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95720" y="367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 of resource definitions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400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402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prompts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0000" y="400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95720" y="402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0000" y="400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5720" y="402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 of prompt templates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435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720" y="4372860"/>
            <a:ext cx="6992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dobe Clean"/>
              </a:rPr>
              <a:t>Caching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466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5720" y="468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cfcCaching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0000" y="466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95720" y="468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0000" y="466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95720" y="468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Cache tool CFCs (default: true)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0000" y="501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95720" y="5032860"/>
            <a:ext cx="23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 err="1">
                <a:solidFill>
                  <a:srgbClr val="EB1000"/>
                </a:solidFill>
                <a:latin typeface="Courier New"/>
              </a:rPr>
              <a:t>reloadConfigOnPageRefresh</a:t>
            </a:r>
            <a:endParaRPr sz="11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750000" y="501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95720" y="503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50000" y="501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795720" y="503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Force config reload on refresh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000" y="5360000"/>
            <a:ext cx="6700000" cy="31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5720" y="538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CORS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0000" y="567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5720" y="569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corsEnabled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50000" y="567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95720" y="569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50000" y="567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795720" y="569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Enable CORS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000" y="602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95720" y="6042860"/>
            <a:ext cx="23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corsAllowedOrigins</a:t>
            </a:r>
            <a:endParaRPr sz="12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750000" y="602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95720" y="604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50000" y="602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795720" y="604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Allowed origin URLs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00000" y="1307619"/>
            <a:ext cx="5000000" cy="50122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"echo-server",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"1.0.0" },</a:t>
            </a: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resources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 </a:t>
            </a:r>
            <a:r>
              <a:rPr lang="en-US" sz="12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    prompts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: true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},</a:t>
            </a: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"...echo" }],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resources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lang="en-US" sz="1200" b="0" dirty="0">
                <a:solidFill>
                  <a:srgbClr val="FFFFFF"/>
                </a:solidFill>
                <a:latin typeface="Courier New"/>
              </a:rPr>
              <a:t>[]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prompts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cfcCaching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false,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reloadConfigOnPageRefresh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  </a:t>
            </a:r>
            <a:r>
              <a:rPr lang="en-US" sz="1200" dirty="0">
                <a:solidFill>
                  <a:srgbClr val="CED1D4"/>
                </a:solidFill>
                <a:latin typeface="Courier New"/>
              </a:rPr>
              <a:t>false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,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lang="en-US" sz="12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corsEnabled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corsAllowedOrigins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"http://</a:t>
            </a:r>
            <a:r>
              <a:rPr lang="en-US" sz="1200" dirty="0">
                <a:solidFill>
                  <a:srgbClr val="CED1D4"/>
                </a:solidFill>
                <a:latin typeface="Courier New"/>
              </a:rPr>
              <a:t>host.subdomain.domain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:8500"</a:t>
            </a:r>
            <a:r>
              <a:rPr lang="en-US" sz="1200" dirty="0">
                <a:solidFill>
                  <a:srgbClr val="CED1D4"/>
                </a:solidFill>
                <a:latin typeface="Courier New"/>
              </a:rPr>
              <a:t>,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 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r>
              <a:rPr lang="en-IN" sz="1200" dirty="0">
                <a:solidFill>
                  <a:srgbClr val="CED1D4"/>
                </a:solidFill>
                <a:latin typeface="Courier New"/>
              </a:rPr>
              <a:t>    "http://host1.subdomain2.domain:8500"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FF6918-13D3-66A9-B109-D705B59057E0}"/>
              </a:ext>
            </a:extLst>
          </p:cNvPr>
          <p:cNvSpPr/>
          <p:nvPr/>
        </p:nvSpPr>
        <p:spPr>
          <a:xfrm>
            <a:off x="319520" y="230766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E382738-944B-2752-E8F2-66733799EA57}"/>
              </a:ext>
            </a:extLst>
          </p:cNvPr>
          <p:cNvSpPr/>
          <p:nvPr/>
        </p:nvSpPr>
        <p:spPr>
          <a:xfrm>
            <a:off x="2719520" y="230766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230290C-031D-9A71-DFC8-01457DBBA187}"/>
              </a:ext>
            </a:extLst>
          </p:cNvPr>
          <p:cNvSpPr/>
          <p:nvPr/>
        </p:nvSpPr>
        <p:spPr>
          <a:xfrm>
            <a:off x="3719520" y="230766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2E7CF6-0530-4802-E824-009A7432B494}"/>
              </a:ext>
            </a:extLst>
          </p:cNvPr>
          <p:cNvSpPr txBox="1"/>
          <p:nvPr/>
        </p:nvSpPr>
        <p:spPr>
          <a:xfrm>
            <a:off x="2796680" y="1668237"/>
            <a:ext cx="9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dobe Clean"/>
              </a:rPr>
              <a:t>struct</a:t>
            </a:r>
            <a:endParaRPr sz="1200" dirty="0">
              <a:solidFill>
                <a:srgbClr val="FFFFFF"/>
              </a:solidFill>
              <a:latin typeface="Adobe Clean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DA9435E-4AA8-3184-5B12-707E68D0106B}"/>
              </a:ext>
            </a:extLst>
          </p:cNvPr>
          <p:cNvSpPr/>
          <p:nvPr/>
        </p:nvSpPr>
        <p:spPr>
          <a:xfrm>
            <a:off x="342380" y="2250036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CC1319-AF90-A6A1-796D-6B650A962FE5}"/>
              </a:ext>
            </a:extLst>
          </p:cNvPr>
          <p:cNvSpPr txBox="1"/>
          <p:nvPr/>
        </p:nvSpPr>
        <p:spPr>
          <a:xfrm>
            <a:off x="388100" y="2272896"/>
            <a:ext cx="230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EB1000"/>
                </a:solidFill>
                <a:latin typeface="Courier New"/>
              </a:rPr>
              <a:t>version</a:t>
            </a:r>
            <a:endParaRPr sz="13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34ACC99-091F-F259-7AED-C413D2A66730}"/>
              </a:ext>
            </a:extLst>
          </p:cNvPr>
          <p:cNvSpPr/>
          <p:nvPr/>
        </p:nvSpPr>
        <p:spPr>
          <a:xfrm>
            <a:off x="2742380" y="2250036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D28EB21-C259-BA40-BE2A-4E79856A29E8}"/>
              </a:ext>
            </a:extLst>
          </p:cNvPr>
          <p:cNvSpPr txBox="1"/>
          <p:nvPr/>
        </p:nvSpPr>
        <p:spPr>
          <a:xfrm>
            <a:off x="2788100" y="2272896"/>
            <a:ext cx="9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Adobe Clean"/>
              </a:rPr>
              <a:t>String</a:t>
            </a:r>
            <a:endParaRPr sz="1100" dirty="0">
              <a:solidFill>
                <a:srgbClr val="1A1A1A"/>
              </a:solidFill>
              <a:latin typeface="Adobe Clean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D835CC9-3520-FBB2-F2F7-100FE4E28EA1}"/>
              </a:ext>
            </a:extLst>
          </p:cNvPr>
          <p:cNvSpPr/>
          <p:nvPr/>
        </p:nvSpPr>
        <p:spPr>
          <a:xfrm>
            <a:off x="3742380" y="2250036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785D18-955D-C3A6-98DC-D7462B4C5C42}"/>
              </a:ext>
            </a:extLst>
          </p:cNvPr>
          <p:cNvSpPr txBox="1"/>
          <p:nvPr/>
        </p:nvSpPr>
        <p:spPr>
          <a:xfrm>
            <a:off x="3801670" y="2284800"/>
            <a:ext cx="32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Adobe Clean"/>
              </a:rPr>
              <a:t>Server version</a:t>
            </a:r>
            <a:endParaRPr sz="1100" dirty="0">
              <a:solidFill>
                <a:srgbClr val="1A1A1A"/>
              </a:solidFill>
              <a:latin typeface="Adobe Cle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 err="1"/>
              <a:t>McpServer</a:t>
            </a:r>
            <a:r>
              <a:rPr sz="2400" b="1" dirty="0"/>
              <a:t> </a:t>
            </a:r>
            <a:r>
              <a:rPr lang="en-US" sz="2400" b="1" dirty="0"/>
              <a:t>-</a:t>
            </a:r>
            <a:r>
              <a:rPr sz="2400" b="1" dirty="0"/>
              <a:t> Method</a:t>
            </a:r>
            <a:r>
              <a:rPr lang="en-US" sz="2400" b="1" dirty="0"/>
              <a:t>s </a:t>
            </a:r>
            <a:r>
              <a:rPr sz="2400" b="1" dirty="0"/>
              <a:t>Config</a:t>
            </a:r>
            <a:r>
              <a:rPr lang="en-US" sz="2400" b="1" dirty="0"/>
              <a:t> </a:t>
            </a:r>
            <a:endParaRPr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0000" y="2111584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720" y="2134444"/>
            <a:ext cx="7505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dobe Clean"/>
              </a:rPr>
              <a:t>Method</a:t>
            </a:r>
            <a:r>
              <a:rPr lang="en-US" sz="1200" b="1" dirty="0">
                <a:solidFill>
                  <a:srgbClr val="FFFFFF"/>
                </a:solidFill>
                <a:latin typeface="Adobe Clean"/>
              </a:rPr>
              <a:t>s</a:t>
            </a:r>
            <a:endParaRPr sz="1200" b="1" dirty="0">
              <a:solidFill>
                <a:srgbClr val="FFFFFF"/>
              </a:solidFill>
              <a:latin typeface="Adobe Clean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1900" y="1736666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7620" y="1759526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cfc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1900" y="1736666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07620" y="1759526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1900" y="1736666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07620" y="1759526"/>
            <a:ext cx="32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CFC dot-notation </a:t>
            </a:r>
            <a:r>
              <a:rPr lang="en-US" sz="1100" dirty="0">
                <a:solidFill>
                  <a:srgbClr val="1A1A1A"/>
                </a:solidFill>
                <a:latin typeface="Adobe Clean"/>
              </a:rPr>
              <a:t>relative </a:t>
            </a:r>
            <a:r>
              <a:rPr sz="1100" dirty="0">
                <a:solidFill>
                  <a:srgbClr val="1A1A1A"/>
                </a:solidFill>
                <a:latin typeface="Adobe Clean"/>
              </a:rPr>
              <a:t>path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000" y="2533168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5720" y="2556028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EB1000"/>
                </a:solidFill>
                <a:latin typeface="Courier New"/>
              </a:rPr>
              <a:t>  </a:t>
            </a:r>
            <a:r>
              <a:rPr sz="1400" b="1" dirty="0">
                <a:solidFill>
                  <a:srgbClr val="EB1000"/>
                </a:solidFill>
                <a:latin typeface="Courier New"/>
              </a:rPr>
              <a:t>method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50000" y="2533168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95720" y="2556028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50000" y="2533168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95720" y="2556028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Method name in the CFC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000" y="2883168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5720" y="2893717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EB1000"/>
                </a:solidFill>
                <a:latin typeface="Courier New"/>
              </a:rPr>
              <a:t>  </a:t>
            </a:r>
            <a:r>
              <a:rPr sz="1400" b="1" dirty="0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50000" y="2883168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95720" y="2906028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50000" y="2883168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5720" y="2906028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Description for the AI model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5720" y="1275716"/>
            <a:ext cx="5000000" cy="379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// Selective method exposure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selectTools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"...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serverCfcs.concat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methods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method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"concatenate",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  "join 2 strings"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method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echoMessage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  "echo a string"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selectTools</a:t>
            </a: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});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F98B2C-382B-FB54-0BC8-28129880AE35}"/>
              </a:ext>
            </a:extLst>
          </p:cNvPr>
          <p:cNvSpPr txBox="1"/>
          <p:nvPr/>
        </p:nvSpPr>
        <p:spPr>
          <a:xfrm>
            <a:off x="2845720" y="2126584"/>
            <a:ext cx="56457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FFFFFF"/>
                </a:solidFill>
                <a:latin typeface="Adobe Clean"/>
              </a:rPr>
              <a:t>Array</a:t>
            </a:r>
            <a:endParaRPr sz="1300" dirty="0">
              <a:solidFill>
                <a:srgbClr val="FFFFFF"/>
              </a:solidFill>
              <a:latin typeface="Adobe Cle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McpServer — Prompts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7296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dobe Clean"/>
              </a:rPr>
              <a:t>Prompt</a:t>
            </a:r>
            <a:r>
              <a:rPr lang="en-US" sz="1200" b="1" dirty="0">
                <a:solidFill>
                  <a:srgbClr val="FFFFFF"/>
                </a:solidFill>
                <a:latin typeface="Adobe Clean"/>
              </a:rPr>
              <a:t>s</a:t>
            </a:r>
            <a:endParaRPr sz="1200" b="1" dirty="0">
              <a:solidFill>
                <a:srgbClr val="FFFFFF"/>
              </a:solidFill>
              <a:latin typeface="Adobe Cle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Unique prompt identifier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3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95720" y="23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3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5720" y="23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Display title (optional)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6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7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0000" y="26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95720" y="27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0000" y="26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5720" y="27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What the prompt does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303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720" y="305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dobe Clean"/>
              </a:rPr>
              <a:t>Arguments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50000" y="3040060"/>
            <a:ext cx="9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Adobe Clean"/>
              </a:rPr>
              <a:t>Array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50000" y="3040060"/>
            <a:ext cx="32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Adobe Clean"/>
              </a:rPr>
              <a:t>Parameters</a:t>
            </a:r>
            <a:r>
              <a:rPr sz="1100" dirty="0">
                <a:solidFill>
                  <a:srgbClr val="1A1A1A"/>
                </a:solidFill>
                <a:latin typeface="Adobe Clean"/>
              </a:rPr>
              <a:t> </a:t>
            </a:r>
            <a:r>
              <a:rPr sz="1200" dirty="0">
                <a:solidFill>
                  <a:srgbClr val="FFFFFF"/>
                </a:solidFill>
                <a:latin typeface="Adobe Clean"/>
              </a:rPr>
              <a:t>the prompt accepts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720" y="3406666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1440" y="3429526"/>
            <a:ext cx="23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B1000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name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95720" y="3406666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41440" y="3429526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5720" y="3406666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1440" y="3429526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Argument identifier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720" y="3756666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1440" y="3779526"/>
            <a:ext cx="23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B1000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95720" y="3756666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41440" y="3779526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95720" y="3756666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41440" y="3779526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Argument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5720" y="4106666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1440" y="4129526"/>
            <a:ext cx="23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B1000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required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95720" y="4106666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41440" y="4129526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95720" y="4106666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41440" y="4129526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Whether argument is required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720" y="4456666"/>
            <a:ext cx="6700000" cy="31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1440" y="4479526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Template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5720" y="4766666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1440" y="4789526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template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95720" y="4766666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841440" y="4789526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95720" y="4766666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41440" y="4789526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Template with {placeholder} tokens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00000" y="1300000"/>
            <a:ext cx="5000000" cy="41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prompts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explain_code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title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"Explain Code",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"Explain how code works",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"code",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  "Code to explain",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required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"language",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required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false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template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"Explain the following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{language} code: {code}"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8553E1-A700-1A4C-A245-39F1970637A3}"/>
              </a:ext>
            </a:extLst>
          </p:cNvPr>
          <p:cNvSpPr txBox="1"/>
          <p:nvPr/>
        </p:nvSpPr>
        <p:spPr>
          <a:xfrm>
            <a:off x="2796680" y="1668237"/>
            <a:ext cx="9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Adobe Clean"/>
              </a:rPr>
              <a:t>Array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McpServer — Resources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5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3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0000" y="1300000"/>
            <a:ext cx="11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04864" y="1345720"/>
            <a:ext cx="9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0000" y="1300000"/>
            <a:ext cx="31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04864" y="1345720"/>
            <a:ext cx="29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5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uri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0000" y="1700000"/>
            <a:ext cx="11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4864" y="1727432"/>
            <a:ext cx="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000" y="1700000"/>
            <a:ext cx="31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04864" y="1727432"/>
            <a:ext cx="2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Unique resource identifier URI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5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0000" y="2080000"/>
            <a:ext cx="11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04864" y="2107432"/>
            <a:ext cx="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000" y="2080000"/>
            <a:ext cx="31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04864" y="2107432"/>
            <a:ext cx="2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Display name of the resource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5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0000" y="2460000"/>
            <a:ext cx="11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04864" y="2487432"/>
            <a:ext cx="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0000" y="2460000"/>
            <a:ext cx="31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04864" y="2487432"/>
            <a:ext cx="2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What the resource contains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5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mimeType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50000" y="2840000"/>
            <a:ext cx="11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04864" y="2867432"/>
            <a:ext cx="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0000" y="2840000"/>
            <a:ext cx="31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4864" y="2867432"/>
            <a:ext cx="2990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1A1A1A"/>
                </a:solidFill>
                <a:latin typeface="Adobe Clean"/>
              </a:rPr>
              <a:t>Content type (e.g. application/</a:t>
            </a:r>
            <a:r>
              <a:rPr lang="en-US" sz="1200" dirty="0">
                <a:solidFill>
                  <a:srgbClr val="1A1A1A"/>
                </a:solidFill>
                <a:latin typeface="Adobe Clean"/>
              </a:rPr>
              <a:t>pdf</a:t>
            </a:r>
            <a:r>
              <a:rPr sz="1200" dirty="0">
                <a:solidFill>
                  <a:srgbClr val="1A1A1A"/>
                </a:solidFill>
                <a:latin typeface="Adobe Clean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220000"/>
            <a:ext cx="25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864" y="3247432"/>
            <a:ext cx="23902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EB1000"/>
                </a:solidFill>
                <a:latin typeface="Courier New"/>
              </a:rPr>
              <a:t>readResourceHandler</a:t>
            </a:r>
            <a:endParaRPr sz="13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50000" y="3220000"/>
            <a:ext cx="11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04864" y="3247432"/>
            <a:ext cx="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0000" y="3220000"/>
            <a:ext cx="31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04864" y="3247432"/>
            <a:ext cx="29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Callback that returns the content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0000" y="1036320"/>
            <a:ext cx="4900000" cy="5363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FFFFFF"/>
                </a:solidFill>
                <a:latin typeface="Courier New"/>
              </a:rPr>
              <a:t>serverConfig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Resources</a:t>
            </a:r>
            <a:r>
              <a:rPr lang="en-US" sz="1200" b="0" dirty="0" err="1">
                <a:solidFill>
                  <a:srgbClr val="CED1D4"/>
                </a:solidFill>
                <a:latin typeface="Courier New"/>
              </a:rPr>
              <a:t>_svr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"1.0.0"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resources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resources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uri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: "pdf:///resources/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data.json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: ”user data",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description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:"App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 config data (JSON)",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mimeType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: "application/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json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readResourceHandler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  function(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req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    return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fileRead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(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filePath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]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}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mcpServer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 = </a:t>
            </a:r>
            <a:r>
              <a:rPr lang="en-IN" sz="1200" b="1" dirty="0" err="1">
                <a:solidFill>
                  <a:srgbClr val="CED1D4"/>
                </a:solidFill>
                <a:latin typeface="Courier New"/>
              </a:rPr>
              <a:t>McpServer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(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serverConfig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MCPClient — HTTP Transport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10214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"HTTP"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3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95720" y="23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3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5720" y="23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Server endpoint 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6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70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headers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0000" y="26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95720" y="27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0000" y="26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5720" y="27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Custom HTTP headers (auth, etc.)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303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720" y="3052860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  <a:r>
              <a:rPr lang="en-US" sz="1200" b="1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endParaRPr sz="12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50000" y="334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336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EB1000"/>
                </a:solidFill>
                <a:latin typeface="Courier New"/>
              </a:rPr>
              <a:t> </a:t>
            </a:r>
            <a:r>
              <a:rPr sz="1400" b="1" dirty="0">
                <a:solidFill>
                  <a:srgbClr val="EB1000"/>
                </a:solidFill>
                <a:latin typeface="Courier New"/>
              </a:rPr>
              <a:t>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0000" y="334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95720" y="336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0000" y="334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95720" y="336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Client identifier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69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371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EB1000"/>
                </a:solidFill>
                <a:latin typeface="Courier New"/>
              </a:rPr>
              <a:t> </a:t>
            </a:r>
            <a:r>
              <a:rPr sz="1400" b="1" dirty="0">
                <a:solidFill>
                  <a:srgbClr val="EB1000"/>
                </a:solidFill>
                <a:latin typeface="Courier New"/>
              </a:rPr>
              <a:t>version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0000" y="369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95720" y="371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0000" y="369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5720" y="371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Client 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00000" y="1300000"/>
            <a:ext cx="5000000" cy="30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"http://localhost:8500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/AI/MCP/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"my-client",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"1.0.0"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})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  headers: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 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apiKey</a:t>
            </a:r>
            <a:r>
              <a:rPr lang="en-IN" sz="1200" b="1" dirty="0">
                <a:solidFill>
                  <a:srgbClr val="FFFFFF"/>
                </a:solidFill>
                <a:latin typeface="Courier New"/>
              </a:rPr>
              <a:t>: "some bearer token…”,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 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header_key</a:t>
            </a:r>
            <a:r>
              <a:rPr lang="en-IN" sz="1200" b="1" dirty="0">
                <a:solidFill>
                  <a:srgbClr val="FFFFFF"/>
                </a:solidFill>
                <a:latin typeface="Courier New"/>
              </a:rPr>
              <a:t>: ”header value”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}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A3ECA0-66C9-9A2C-B1B1-03E41D1EAD3D}"/>
              </a:ext>
            </a:extLst>
          </p:cNvPr>
          <p:cNvSpPr txBox="1"/>
          <p:nvPr/>
        </p:nvSpPr>
        <p:spPr>
          <a:xfrm>
            <a:off x="2803340" y="3043456"/>
            <a:ext cx="78098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sz="13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CC74D5-DC0E-5E0E-3291-27724B5F7032}"/>
              </a:ext>
            </a:extLst>
          </p:cNvPr>
          <p:cNvSpPr txBox="1"/>
          <p:nvPr/>
        </p:nvSpPr>
        <p:spPr>
          <a:xfrm>
            <a:off x="2757475" y="1681655"/>
            <a:ext cx="78098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sz="13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MCPClient — STDIO Transport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10214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  <a:latin typeface="Adobe Clean"/>
              </a:rPr>
              <a:t>"STDIO"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command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3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95720" y="23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3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5720" y="23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Executable to spawn (e.g. "npx")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6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70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 err="1">
                <a:solidFill>
                  <a:srgbClr val="EB1000"/>
                </a:solidFill>
                <a:latin typeface="Courier New"/>
              </a:rPr>
              <a:t>A</a:t>
            </a:r>
            <a:r>
              <a:rPr sz="1400" b="1" dirty="0" err="1">
                <a:solidFill>
                  <a:srgbClr val="EB1000"/>
                </a:solidFill>
                <a:latin typeface="Courier New"/>
              </a:rPr>
              <a:t>rgs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50000" y="26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95720" y="27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0000" y="26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5720" y="27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Arguments passed to the command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30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720" y="3052860"/>
            <a:ext cx="230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commandWhitelist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50000" y="30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95720" y="30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50000" y="30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5720" y="30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Allowed commands. Blocks unlisted.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00000" y="1300000"/>
            <a:ext cx="5000000" cy="459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STDIO with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commandWhitelist</a:t>
            </a: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"STDIO",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command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"java",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args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["-jar",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"weather-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server.jar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"--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spring.profiles.active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=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stdio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commandWhitelist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"node", "java", "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npx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stdio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"1.0.0"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</a:t>
            </a:r>
            <a:endParaRPr lang="en-US"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TypeScript 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"STDIO",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command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npx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args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tsx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server.ts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commandWhitelist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npx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...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BA2FAB-3CA9-8F59-CA73-0F19BBF37EF4}"/>
              </a:ext>
            </a:extLst>
          </p:cNvPr>
          <p:cNvSpPr txBox="1"/>
          <p:nvPr/>
        </p:nvSpPr>
        <p:spPr>
          <a:xfrm>
            <a:off x="2772860" y="1679476"/>
            <a:ext cx="78098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sz="13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HTTP vs STDIO Transport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89888"/>
            <a:ext cx="219456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7208" y="1389888"/>
            <a:ext cx="43891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143560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HTTP (Streamable)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96328" y="1389888"/>
            <a:ext cx="43891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42048" y="143560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STDIO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1755648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Use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1755648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1783080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Web services, multi-client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6328" y="1755648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42048" y="1783080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Local CLI tools, single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2084832"/>
            <a:ext cx="219456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112264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Transport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2084832"/>
            <a:ext cx="4389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928" y="2112264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HTTP POST + session headers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6328" y="2084832"/>
            <a:ext cx="4389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2048" y="2112264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stdin/stdout pipes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2414016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441448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Multi-client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7208" y="2414016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2928" y="2441448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Yes (session-per-client)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6328" y="2414016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42048" y="2441448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No (one client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" y="2743200"/>
            <a:ext cx="219456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2770632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07208" y="2743200"/>
            <a:ext cx="4389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2928" y="2770632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Any HTTP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96328" y="2743200"/>
            <a:ext cx="4389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2770632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Child process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3072384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3099816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CF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07208" y="3072384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52928" y="3099816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Native McpServer()/MCPClient()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96328" y="3072384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42048" y="3099816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MCPClient() type:"STDIO"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" y="3401568"/>
            <a:ext cx="219456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3429000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Auth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7208" y="3401568"/>
            <a:ext cx="4389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52928" y="3429000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Basic Auth, CORS, headers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96328" y="3401568"/>
            <a:ext cx="43891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42048" y="3429000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OS-level (process ownership)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" y="3730752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3758184"/>
            <a:ext cx="2103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Session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7208" y="3730752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52928" y="3758184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mcp-session-id header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96328" y="3730752"/>
            <a:ext cx="4389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42048" y="3758184"/>
            <a:ext cx="4297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Implicit (process lifecycle)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MCPClient — Capabilities &amp; Timeouts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8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6700000" cy="35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6590272" cy="295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2050000"/>
            <a:ext cx="24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4864" y="207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sampling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2050000"/>
            <a:ext cx="10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04864" y="207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2050000"/>
            <a:ext cx="33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4864" y="207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server-initiated LLM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420000"/>
            <a:ext cx="24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4864" y="244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elicitation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420000"/>
            <a:ext cx="10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04864" y="244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420000"/>
            <a:ext cx="33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04864" y="244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server-initiated user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790000"/>
            <a:ext cx="24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4864" y="281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roots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0000" y="2790000"/>
            <a:ext cx="10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04864" y="281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0000" y="2790000"/>
            <a:ext cx="33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04864" y="281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file-system root scoping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3240000"/>
            <a:ext cx="6700000" cy="35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4864" y="3267432"/>
            <a:ext cx="6590272" cy="295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Timeouts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590000"/>
            <a:ext cx="2400000" cy="37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4864" y="361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initializationTimeout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0000" y="3590000"/>
            <a:ext cx="1000000" cy="37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04864" y="361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Numeric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0000" y="3590000"/>
            <a:ext cx="3300000" cy="37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04864" y="361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Seconds to wait for init handshake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960000"/>
            <a:ext cx="2400000" cy="37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4864" y="398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requestTimeout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0000" y="3960000"/>
            <a:ext cx="1000000" cy="37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04864" y="398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Numeric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0000" y="3960000"/>
            <a:ext cx="3300000" cy="37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04864" y="398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Seconds to wait for responses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4410000"/>
            <a:ext cx="6700000" cy="35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4864" y="4437432"/>
            <a:ext cx="6590272" cy="295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Consumer Callbacks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4760000"/>
            <a:ext cx="2400000" cy="3700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4864" y="478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loggingConsumer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0000" y="4760000"/>
            <a:ext cx="1000000" cy="3700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4864" y="478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0000" y="4760000"/>
            <a:ext cx="3300000" cy="3700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04864" y="478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UDF to handle logging messages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0000" y="5130000"/>
            <a:ext cx="2400000" cy="370000"/>
          </a:xfrm>
          <a:prstGeom prst="rect">
            <a:avLst/>
          </a:prstGeom>
          <a:solidFill>
            <a:srgbClr val="E0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4864" y="515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samplingConsumer</a:t>
            </a:r>
            <a:endParaRPr sz="12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750000" y="5130000"/>
            <a:ext cx="1000000" cy="370000"/>
          </a:xfrm>
          <a:prstGeom prst="rect">
            <a:avLst/>
          </a:prstGeom>
          <a:solidFill>
            <a:srgbClr val="E0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04864" y="515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50000" y="5130000"/>
            <a:ext cx="3300000" cy="370000"/>
          </a:xfrm>
          <a:prstGeom prst="rect">
            <a:avLst/>
          </a:prstGeom>
          <a:solidFill>
            <a:srgbClr val="E0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04864" y="515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UDF to handle sampling requests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000" y="5500000"/>
            <a:ext cx="2400000" cy="3700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864" y="552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elicitationConsumer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50000" y="5500000"/>
            <a:ext cx="1000000" cy="3700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804864" y="552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50000" y="5500000"/>
            <a:ext cx="3300000" cy="3700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04864" y="552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UDF to handle elicitation requests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0000" y="5870000"/>
            <a:ext cx="2400000" cy="370000"/>
          </a:xfrm>
          <a:prstGeom prst="rect">
            <a:avLst/>
          </a:prstGeom>
          <a:solidFill>
            <a:srgbClr val="E0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4864" y="5897432"/>
            <a:ext cx="22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toolsChangeConsumer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50000" y="5870000"/>
            <a:ext cx="1000000" cy="370000"/>
          </a:xfrm>
          <a:prstGeom prst="rect">
            <a:avLst/>
          </a:prstGeom>
          <a:solidFill>
            <a:srgbClr val="E0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804864" y="5897432"/>
            <a:ext cx="8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50000" y="5870000"/>
            <a:ext cx="3300000" cy="370000"/>
          </a:xfrm>
          <a:prstGeom prst="rect">
            <a:avLst/>
          </a:prstGeom>
          <a:solidFill>
            <a:srgbClr val="E0D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804864" y="5897432"/>
            <a:ext cx="3190272" cy="31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UDF to handle tool change notifications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00000" y="1300000"/>
            <a:ext cx="4687136" cy="494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 ...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 ... },</a:t>
            </a: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sampling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elicitation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roots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},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initializationTimeout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lang="en-US" sz="1200" b="0" dirty="0">
                <a:solidFill>
                  <a:srgbClr val="CED1D4"/>
                </a:solidFill>
                <a:latin typeface="Courier New"/>
              </a:rPr>
              <a:t>6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requestTimeout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lang="en-US" sz="1200" b="0" dirty="0">
                <a:solidFill>
                  <a:srgbClr val="CED1D4"/>
                </a:solidFill>
                <a:latin typeface="Courier New"/>
              </a:rPr>
              <a:t>1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// Consumer callbacks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loggingConsumer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  <a:r>
              <a:rPr lang="en-US" sz="12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function 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mcpLogHandler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(data){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cflog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(text=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data.data</a:t>
            </a:r>
            <a:endParaRPr lang="en-IN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dirty="0">
                <a:solidFill>
                  <a:srgbClr val="CED1D4"/>
                </a:solidFill>
                <a:latin typeface="Courier New"/>
              </a:rPr>
              <a:t> }</a:t>
            </a: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samplingConsumer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function 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onSampling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(</a:t>
            </a:r>
            <a:r>
              <a:rPr lang="en-IN" sz="1200" dirty="0" err="1">
                <a:solidFill>
                  <a:srgbClr val="CED1D4"/>
                </a:solidFill>
                <a:latin typeface="Courier New"/>
              </a:rPr>
              <a:t>samplingRequest</a:t>
            </a:r>
            <a:r>
              <a:rPr lang="en-IN" sz="1200" dirty="0">
                <a:solidFill>
                  <a:srgbClr val="CED1D4"/>
                </a:solidFill>
                <a:latin typeface="Courier New"/>
              </a:rPr>
              <a:t>) { }</a:t>
            </a: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elicitationConsumer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getElicitationConsumer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endParaRPr lang="en-US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toolsChangeConsumer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lang="en-IN" sz="1200" dirty="0">
                <a:solidFill>
                  <a:srgbClr val="FFFFFF"/>
                </a:solidFill>
                <a:latin typeface="Courier New"/>
              </a:rPr>
              <a:t>function(message) {//do something.}</a:t>
            </a: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39635"/>
            <a:ext cx="10972800" cy="978729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4</a:t>
            </a:r>
          </a:p>
          <a:p>
            <a:r>
              <a:rPr lang="en-US" sz="4000" b="1" dirty="0">
                <a:solidFill>
                  <a:srgbClr val="EB1000"/>
                </a:solidFill>
              </a:rPr>
              <a:t>MCP Functions</a:t>
            </a:r>
            <a:endParaRPr sz="4000" b="1" dirty="0">
              <a:solidFill>
                <a:srgbClr val="EB1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D98B-40A1-586C-A7FB-18B5AB26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4BED-D8F8-54F6-D6F7-03A783698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20" y="226134"/>
            <a:ext cx="10972800" cy="821854"/>
          </a:xfrm>
        </p:spPr>
        <p:txBody>
          <a:bodyPr/>
          <a:lstStyle/>
          <a:p>
            <a:r>
              <a:rPr sz="2400" b="1"/>
              <a:t>MCPClient — Methods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5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4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0000" y="1300000"/>
            <a:ext cx="38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95720" y="1336576"/>
            <a:ext cx="37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1670000"/>
            <a:ext cx="63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5720" y="1692860"/>
            <a:ext cx="62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98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200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listTools()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0000" y="198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5720" y="200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Discover tools the server exposes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320000"/>
            <a:ext cx="25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720" y="234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callTool()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0000" y="2320000"/>
            <a:ext cx="3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95720" y="234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Execute a tool with arguments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66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68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isToolsSupported()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0000" y="266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95720" y="268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Check if server supports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3000000"/>
            <a:ext cx="63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5720" y="3022860"/>
            <a:ext cx="62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Resources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331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333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listResources()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0000" y="331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95720" y="333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List available server resources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3650000"/>
            <a:ext cx="25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720" y="367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readResource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0000" y="3650000"/>
            <a:ext cx="3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95720" y="367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Read a resource by URI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99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4012860"/>
            <a:ext cx="24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isResourcesSupported</a:t>
            </a:r>
            <a:r>
              <a:rPr sz="1000" b="1" dirty="0">
                <a:solidFill>
                  <a:srgbClr val="EB1000"/>
                </a:solidFill>
                <a:latin typeface="Courier New"/>
              </a:rPr>
              <a:t>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0000" y="399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95720" y="401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Check if server supports resources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000" y="4330000"/>
            <a:ext cx="63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720" y="4352860"/>
            <a:ext cx="62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Prompts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464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466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listPrompts()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50000" y="464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95720" y="466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List available prompt templates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000" y="4980000"/>
            <a:ext cx="25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5720" y="500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getPrompt()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0000" y="4980000"/>
            <a:ext cx="3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5720" y="500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Get a rendered prompt with arguments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532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5720" y="5342860"/>
            <a:ext cx="24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isPromptsSupported</a:t>
            </a:r>
            <a:r>
              <a:rPr sz="1000" b="1" dirty="0">
                <a:solidFill>
                  <a:srgbClr val="EB1000"/>
                </a:solidFill>
                <a:latin typeface="Courier New"/>
              </a:rPr>
              <a:t>()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50000" y="532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95720" y="534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Check if server supports prompts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00000" y="1300000"/>
            <a:ext cx="5400000" cy="4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({...});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if 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isToolsSupported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res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 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callTool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getTicket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ticketId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"42"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Resources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if 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isResourcesSupported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list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listResources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data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readResource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"file:///logs/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app.log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Prompts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if 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isPromptsSupported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prompts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listPrompts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rendered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getPrompt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explain_code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code: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src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001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MCPClient — Methods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5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4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0000" y="1300000"/>
            <a:ext cx="38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95720" y="1336576"/>
            <a:ext cx="37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1670000"/>
            <a:ext cx="63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5720" y="1692860"/>
            <a:ext cx="62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Roots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98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200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addRoot()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0000" y="198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5720" y="200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Register a file-system root URI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320000"/>
            <a:ext cx="25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720" y="234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getRoot()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0000" y="2320000"/>
            <a:ext cx="3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95720" y="234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Get a specific root by its URI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66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68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listRoots()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0000" y="266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95720" y="268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List all registered roots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3000000"/>
            <a:ext cx="25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5720" y="302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removeRoot()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0000" y="3000000"/>
            <a:ext cx="3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5720" y="302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Unregister a root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3340000"/>
            <a:ext cx="6300000" cy="31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3362860"/>
            <a:ext cx="62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Session &amp; Logging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365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720" y="367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close()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0000" y="365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95720" y="367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Close the client 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990000"/>
            <a:ext cx="25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4012860"/>
            <a:ext cx="24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setLoggingLevel()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0000" y="3990000"/>
            <a:ext cx="3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95720" y="401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Set minimum log level from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000" y="4330000"/>
            <a:ext cx="25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720" y="4352860"/>
            <a:ext cx="24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isLoggingSupported</a:t>
            </a:r>
            <a:r>
              <a:rPr sz="1000" b="1" dirty="0">
                <a:solidFill>
                  <a:srgbClr val="EB1000"/>
                </a:solidFill>
                <a:latin typeface="Courier New"/>
              </a:rPr>
              <a:t>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50000" y="4330000"/>
            <a:ext cx="3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95720" y="435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Check if server supports logging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4670000"/>
            <a:ext cx="6300000" cy="31000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5720" y="4692860"/>
            <a:ext cx="62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Change Consumers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000" y="4980000"/>
            <a:ext cx="2500000" cy="340000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5720" y="5002860"/>
            <a:ext cx="24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toolsChangeConsumer</a:t>
            </a:r>
            <a:endParaRPr sz="12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50000" y="4980000"/>
            <a:ext cx="3800000" cy="340000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5720" y="500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UDF: fires when server tools change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5320000"/>
            <a:ext cx="2500000" cy="340000"/>
          </a:xfrm>
          <a:prstGeom prst="rect">
            <a:avLst/>
          </a:prstGeom>
          <a:solidFill>
            <a:srgbClr val="FC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5720" y="5342860"/>
            <a:ext cx="240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resourcesChangeConsumer</a:t>
            </a:r>
            <a:endParaRPr sz="12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850000" y="5320000"/>
            <a:ext cx="3800000" cy="340000"/>
          </a:xfrm>
          <a:prstGeom prst="rect">
            <a:avLst/>
          </a:prstGeom>
          <a:solidFill>
            <a:srgbClr val="FC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95720" y="5342860"/>
            <a:ext cx="3708560" cy="2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UDF: fires when server resources change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00000" y="1300000"/>
            <a:ext cx="5034800" cy="4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Roots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addRoot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"file:///data/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policies","policy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-docs");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root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getRoot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"file:///data/policies");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{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uri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: "...", name: "policy-docs" }</a:t>
            </a:r>
            <a:endParaRPr lang="en-US"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allRoots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listRoots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removeRoot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"file:///data/policies");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Session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setLoggingLevel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("warning");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Change consumers (in config)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...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...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toolsChangeConsumer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function(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notification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// Server added/removed 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resourcesChangeConsumer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function(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notification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// Server added/removed resources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res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listResources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334157"/>
            <a:ext cx="10972800" cy="984131"/>
          </a:xfrm>
        </p:spPr>
        <p:txBody>
          <a:bodyPr/>
          <a:lstStyle/>
          <a:p>
            <a:r>
              <a:rPr sz="2400" b="1" dirty="0"/>
              <a:t>MCP Server Management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6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4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50000" y="1300000"/>
            <a:ext cx="1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4864" y="1345720"/>
            <a:ext cx="1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0000" y="1300000"/>
            <a:ext cx="2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4864" y="1345720"/>
            <a:ext cx="2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6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4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ListMcpServers()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0000" y="1700000"/>
            <a:ext cx="18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4864" y="1727432"/>
            <a:ext cx="16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 of structs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0000" y="1700000"/>
            <a:ext cx="23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4864" y="1727432"/>
            <a:ext cx="21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List all registered servers
(each has name + version)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250000"/>
            <a:ext cx="2600000" cy="5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277432"/>
            <a:ext cx="2490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McpServerExists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(</a:t>
            </a:r>
            <a:r>
              <a:rPr lang="en-IN" sz="1200" b="1" dirty="0">
                <a:solidFill>
                  <a:srgbClr val="EB1000"/>
                </a:solidFill>
                <a:latin typeface="Courier New"/>
              </a:rPr>
              <a:t>
  </a:t>
            </a:r>
            <a:r>
              <a:rPr sz="1200" b="1" dirty="0" err="1">
                <a:solidFill>
                  <a:srgbClr val="EB1000"/>
                </a:solidFill>
                <a:latin typeface="Courier New"/>
              </a:rPr>
              <a:t>name,version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0000" y="2250000"/>
            <a:ext cx="1800000" cy="5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04864" y="2277432"/>
            <a:ext cx="16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0000" y="2250000"/>
            <a:ext cx="2300000" cy="5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4864" y="2277432"/>
            <a:ext cx="21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Check if a specific server
is currently registered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800000"/>
            <a:ext cx="26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827432"/>
            <a:ext cx="2490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EB1000"/>
                </a:solidFill>
                <a:latin typeface="Courier New"/>
              </a:rPr>
              <a:t>RemoveMcpServer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(
  </a:t>
            </a:r>
            <a:r>
              <a:rPr sz="1200" b="1" dirty="0" err="1">
                <a:solidFill>
                  <a:srgbClr val="EB1000"/>
                </a:solidFill>
                <a:latin typeface="Courier New"/>
              </a:rPr>
              <a:t>name,version</a:t>
            </a:r>
            <a:r>
              <a:rPr sz="1200" b="1" dirty="0">
                <a:solidFill>
                  <a:srgbClr val="EB1000"/>
                </a:solidFill>
                <a:latin typeface="Courier New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000" y="2800000"/>
            <a:ext cx="18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04864" y="2827432"/>
            <a:ext cx="16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0000" y="2800000"/>
            <a:ext cx="2300000" cy="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4864" y="2827432"/>
            <a:ext cx="2190272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Unregister a server.
true if found and removed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000" y="1300000"/>
            <a:ext cx="5000000" cy="445959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1. Register servers via 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MCPClient</a:t>
            </a: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serverURL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"echo-server",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"1.0.0"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2. List all registered servers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servers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ListMcpServers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writeOutput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("Count: "&amp;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arrayLen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(servers));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for 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svr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in servers)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svr.name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&amp; "</a:t>
            </a:r>
            <a:r>
              <a:rPr lang="en-US" sz="1100" b="0" dirty="0">
                <a:solidFill>
                  <a:srgbClr val="CED1D4"/>
                </a:solidFill>
                <a:latin typeface="Courier New"/>
              </a:rPr>
              <a:t>, 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"&amp;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svr.version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// "echo-server v1.0.0"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3. Check if a server exists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exists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McpServerExists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"echo-server", "1.0.0");</a:t>
            </a:r>
            <a:r>
              <a:rPr lang="en-US" sz="110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//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4. Remove a 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removed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RemoveMcpServer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"echo-server", "1.0.0")</a:t>
            </a:r>
            <a:r>
              <a:rPr lang="en-US" sz="110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//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Verify removal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exists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McpServerExists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"echo-server", "1.0.0");</a:t>
            </a:r>
            <a:r>
              <a:rPr lang="en-US" sz="110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//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C9CD-67B4-AAB9-3EDC-471A9BAD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1725-64F7-2901-B379-74ED1499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9635"/>
            <a:ext cx="10972800" cy="978729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5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4000" b="1" dirty="0">
                <a:solidFill>
                  <a:srgbClr val="EB1000"/>
                </a:solidFill>
              </a:rPr>
              <a:t>Tools</a:t>
            </a:r>
            <a:r>
              <a:rPr lang="en-US" sz="4000" b="1" dirty="0">
                <a:solidFill>
                  <a:srgbClr val="EB1000"/>
                </a:solidFill>
              </a:rPr>
              <a:t> : Callable Functions</a:t>
            </a:r>
            <a:endParaRPr sz="4000" b="1" dirty="0">
              <a:solidFill>
                <a:srgbClr val="EB1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551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Tools — Server Config &amp; CFC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Config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8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capabilities.tools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0000" y="170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864" y="17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0000" y="170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4864" y="17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tool capability on the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0000" y="208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864" y="21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0000" y="208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4864" y="21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 of { cfc: "dot.path" } entries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tools[].cfc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50000" y="246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4864" y="248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0000" y="246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4864" y="248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CFC dot-path; all remote methods exposed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cfcCaching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0000" y="284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4864" y="286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0000" y="284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04864" y="286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Cache CFC instances (default: true)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22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864" y="324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 err="1">
                <a:solidFill>
                  <a:srgbClr val="EB1000"/>
                </a:solidFill>
                <a:latin typeface="Courier New"/>
              </a:rPr>
              <a:t>reloadConfigOn</a:t>
            </a:r>
            <a:r>
              <a:rPr sz="1100" b="1" dirty="0">
                <a:solidFill>
                  <a:srgbClr val="EB1000"/>
                </a:solidFill>
                <a:latin typeface="Courier New"/>
              </a:rPr>
              <a:t>
</a:t>
            </a:r>
            <a:r>
              <a:rPr sz="1100" b="1" dirty="0" err="1">
                <a:solidFill>
                  <a:srgbClr val="EB1000"/>
                </a:solidFill>
                <a:latin typeface="Courier New"/>
              </a:rPr>
              <a:t>PageRefresh</a:t>
            </a:r>
            <a:endParaRPr sz="11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750000" y="322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4864" y="324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0000" y="322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04864" y="324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Hot-reload tools on each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00" y="3750000"/>
            <a:ext cx="6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Adobe Clean"/>
              </a:rPr>
              <a:t>Every remote function in the CFC becomes a callable tool.
Set cfcCaching: false during development for instant changes.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00000" y="1300000"/>
            <a:ext cx="5000000" cy="40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// _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-support-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server.cfm</a:t>
            </a: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"support-platform",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"1.0.0"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{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cfsuite.AI.MCP.APIP.tools.TicketProcessor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" }</a:t>
            </a:r>
            <a:endParaRPr lang="en-US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cfcCaching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false,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reloadConfigOnPageRefresh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handleRequest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Defining a Tool — TicketProcessor.cfc</a:t>
            </a:r>
          </a:p>
        </p:txBody>
      </p:sp>
      <p:sp>
        <p:nvSpPr>
          <p:cNvPr id="3" name="Rectangle 2"/>
          <p:cNvSpPr/>
          <p:nvPr/>
        </p:nvSpPr>
        <p:spPr>
          <a:xfrm>
            <a:off x="372860" y="1060237"/>
            <a:ext cx="6500000" cy="533952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component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remote struct function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getTicket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required string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ticketId</a:t>
            </a:r>
            <a:endParaRPr sz="1200" b="1" dirty="0">
              <a:solidFill>
                <a:srgbClr val="FFFF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    var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ticketPath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getDataDir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() &amp; "/tickets/"&amp; 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arguments.ticketId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 &amp; ".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json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if (!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fileExists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ticketPath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return { error: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  message: "Not found"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return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deserializeJSON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fileRead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ticketPath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ourier New"/>
              </a:rPr>
              <a:t>remote struct function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updateTicket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required string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ticketId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required string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priority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required string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tags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required string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sentiment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required string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routingAction</a:t>
            </a:r>
            <a:endParaRPr sz="1200" b="1" dirty="0">
              <a:solidFill>
                <a:srgbClr val="FFFF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// ... read, update, persist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return { success: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ticketId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arguments.ticketId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    status: "TRIAGED"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35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Key patterns: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173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remote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201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Only remote functions become
MCP tools. Private/public are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0000" y="259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EB1000"/>
                </a:solidFill>
                <a:latin typeface="Adobe Clean"/>
              </a:rPr>
              <a:t>@hint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0000" y="287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55555"/>
                </a:solidFill>
                <a:latin typeface="Adobe Clean"/>
              </a:rPr>
              <a:t>The hint becomes the tool description
the AI model sees when deciding
which tool to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000" y="345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Arguments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0000" y="373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55555"/>
                </a:solidFill>
                <a:latin typeface="Adobe Clean"/>
              </a:rPr>
              <a:t>Function parameters become the
tool's input schema. Required params
are enforced by the protocol.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0000" y="431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Return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0000" y="459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Return a struct. The MCP framework
serializes it as JSON in the tool
response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0000" y="517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cfcCaching: 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54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During development, set this so
changes to the CFC are picked up
without restarting ColdFusion.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Tools — Selective Method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1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Config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50000" y="1300000"/>
            <a:ext cx="25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4864" y="1345720"/>
            <a:ext cx="23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Adobe Clean"/>
              </a:rPr>
              <a:t>Full CFC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0000" y="1700000"/>
            <a:ext cx="18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864" y="1727432"/>
            <a:ext cx="16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Courier New"/>
              </a:rPr>
              <a:t>{ cfc: "...Tool"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0000" y="1700000"/>
            <a:ext cx="25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4864" y="172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All remote methods exposed as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Adobe Clean"/>
              </a:rPr>
              <a:t>Select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0000" y="2080000"/>
            <a:ext cx="18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864" y="2107432"/>
            <a:ext cx="16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Courier New"/>
              </a:rPr>
              <a:t>{ cfc, methods[]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0000" y="2080000"/>
            <a:ext cx="25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04864" y="210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Only listed methods exposed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methods[].method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50000" y="2460000"/>
            <a:ext cx="18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4864" y="2487432"/>
            <a:ext cx="16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0000" y="2460000"/>
            <a:ext cx="25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04864" y="248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 name in the CFC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methods[].description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0000" y="2840000"/>
            <a:ext cx="18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4864" y="2867432"/>
            <a:ext cx="16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0000" y="2840000"/>
            <a:ext cx="25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04864" y="2867432"/>
            <a:ext cx="23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Overrides @hint for the AI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00" y="3420000"/>
            <a:ext cx="6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Adobe Clean"/>
              </a:rPr>
              <a:t>Use methods[] when a CFC has many functions but you only want to
expose a subset as tools — or when you need custom descriptions
that differ from the @hint on the function.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0000" y="13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Adobe Clean"/>
              </a:rPr>
              <a:t>Full CFC (all remote methods):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00000" y="1600000"/>
            <a:ext cx="4863400" cy="14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Exposes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getTicket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 +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updateTicket</a:t>
            </a: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cfsuite.AI.MCP.APIP</a:t>
            </a:r>
            <a:endParaRPr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    .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tools.TicketProcessor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0000" y="31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Adobe Clean"/>
              </a:rPr>
              <a:t>Selective methods (only getTicket):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00000" y="3434760"/>
            <a:ext cx="4863400" cy="2859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// Exposes </a:t>
            </a:r>
            <a:r>
              <a:rPr lang="en-IN" sz="1000" dirty="0" err="1">
                <a:solidFill>
                  <a:srgbClr val="CED1D4"/>
                </a:solidFill>
                <a:latin typeface="Courier New"/>
              </a:rPr>
              <a:t>getTicket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 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 = </a:t>
            </a:r>
            <a:r>
              <a:rPr lang="en-IN"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"</a:t>
            </a:r>
            <a:r>
              <a:rPr lang="en-IN" sz="1000" dirty="0" err="1">
                <a:solidFill>
                  <a:srgbClr val="CED1D4"/>
                </a:solidFill>
                <a:latin typeface="Courier New"/>
              </a:rPr>
              <a:t>cfsuite.AI.MCP.APIP.tools.TicketProcessor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methods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  {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method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"</a:t>
            </a:r>
            <a:r>
              <a:rPr lang="en-IN" sz="1000" dirty="0" err="1">
                <a:solidFill>
                  <a:srgbClr val="CED1D4"/>
                </a:solidFill>
                <a:latin typeface="Courier New"/>
              </a:rPr>
              <a:t>getTicket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lang="en-IN" sz="1000" b="1" dirty="0">
                <a:solidFill>
                  <a:srgbClr val="FFFFFF"/>
                </a:solidFill>
                <a:latin typeface="Courier New"/>
              </a:rPr>
              <a:t>description</a:t>
            </a:r>
            <a:r>
              <a:rPr lang="en-IN" sz="1000" dirty="0">
                <a:solidFill>
                  <a:srgbClr val="CED1D4"/>
                </a:solidFill>
                <a:latin typeface="Courier New"/>
              </a:rPr>
              <a:t>: "Look up a ticket by 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})</a:t>
            </a:r>
            <a:endParaRPr sz="1000" dirty="0">
              <a:solidFill>
                <a:srgbClr val="CED1D4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Calling Tools — listTools &amp; callTool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50000"/>
            <a:ext cx="6500000" cy="50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Connect to the support 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"http://localhost:8500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/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cfsuite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/AI/MCP/APIP/_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-support-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server.cfm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"support-client",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"1.0.0"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1. Discover available 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for (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in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tools.tools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tool.name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//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getTicket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,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updateTicket</a:t>
            </a:r>
            <a:endParaRPr lang="en-US"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2. Call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getTicket</a:t>
            </a: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callTool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getTicket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ticketId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"TKT-001"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3. Read the response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ticket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deserializeJSON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result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.content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[1].text)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ticket.nature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</a:t>
            </a:r>
            <a:endParaRPr lang="en-US"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close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35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listTools() response shape: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000" y="170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54864" y="174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9300000" y="1700000"/>
            <a:ext cx="2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54864" y="1745720"/>
            <a:ext cx="2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0000" y="210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4864" y="212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tools[].name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00000" y="210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54864" y="212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"getTicket"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0000" y="244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4864" y="246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tools[].description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0000" y="244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864" y="246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From @hint on the function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0000" y="278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4864" y="280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tools[].inputSchema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00000" y="278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864" y="280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Auto-generated from arguments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0000" y="332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callTool() response shape: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000" y="367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4864" y="371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0000" y="3670000"/>
            <a:ext cx="2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864" y="3715720"/>
            <a:ext cx="2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0000" y="407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4864" y="409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content[].type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0000" y="407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54864" y="409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"text"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0000" y="441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54864" y="443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content[].text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00000" y="441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54864" y="443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Serialized JSON of the return struct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0000" y="475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4864" y="477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isError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00000" y="475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54864" y="477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false (true if tool threw exception)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00000" y="5290000"/>
            <a:ext cx="5000000" cy="6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tlCol="0" anchor="ctr"/>
          <a:lstStyle/>
          <a:p>
            <a:pPr algn="ctr"/>
            <a:r>
              <a:rPr sz="850">
                <a:solidFill>
                  <a:srgbClr val="CED1D4"/>
                </a:solidFill>
                <a:latin typeface="Courier New"/>
              </a:rPr>
              <a:t>// result.content[1].text: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0FF80"/>
                </a:solidFill>
                <a:latin typeface="Courier New"/>
              </a:rPr>
              <a:t>{ "nature":"login failure", "product":"CRM",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0FF80"/>
                </a:solidFill>
                <a:latin typeface="Courier New"/>
              </a:rPr>
              <a:t>  "status":"OPEN", "ticketId":"TKT-001" 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6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3200" b="1" dirty="0">
                <a:solidFill>
                  <a:srgbClr val="EB1000"/>
                </a:solidFill>
              </a:rPr>
              <a:t>Resources</a:t>
            </a:r>
            <a:r>
              <a:rPr lang="en-US" sz="3200" b="1" dirty="0">
                <a:solidFill>
                  <a:srgbClr val="EB1000"/>
                </a:solidFill>
              </a:rPr>
              <a:t> </a:t>
            </a:r>
            <a:endParaRPr sz="3200" b="1" dirty="0">
              <a:solidFill>
                <a:srgbClr val="EB1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Resources: What They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89888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dobe Clean"/>
              </a:rPr>
              <a:t>Resources are application-controlled — the app decides what to expose; the client reads it.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700" b="1">
              <a:solidFill>
                <a:srgbClr val="000000"/>
              </a:solidFill>
              <a:latin typeface="Adobe Clean"/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Adobe Clean"/>
              </a:rPr>
              <a:t>Unlike tools (model calls them), resources are data the client pulls: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44444"/>
                </a:solidFill>
              </a:rPr>
              <a:t>file:///policies/refund-policy.pdf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44444"/>
                </a:solidFill>
              </a:rPr>
              <a:t>db://tickets/recent?limit=20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44444"/>
                </a:solidFill>
              </a:rPr>
              <a:t>https://internal.wiki/article/onboarding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5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EB1000"/>
                </a:solidFill>
              </a:rPr>
              <a:t>Static                </a:t>
            </a:r>
            <a:r>
              <a:rPr sz="1600">
                <a:solidFill>
                  <a:srgbClr val="1A1A1A"/>
                </a:solidFill>
              </a:rPr>
              <a:t>Defined at server startup (file, fixed URI)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EB1000"/>
                </a:solidFill>
              </a:rPr>
              <a:t>Dynamic (template)    </a:t>
            </a:r>
            <a:r>
              <a:rPr sz="1600">
                <a:solidFill>
                  <a:srgbClr val="1A1A1A"/>
                </a:solidFill>
              </a:rPr>
              <a:t>URI pattern with variables: tickets://{ticketId}/thread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Resources — Server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Config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8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29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 err="1">
                <a:solidFill>
                  <a:srgbClr val="EB1000"/>
                </a:solidFill>
                <a:latin typeface="Courier New"/>
              </a:rPr>
              <a:t>capabilities.</a:t>
            </a:r>
            <a:r>
              <a:rPr sz="1400" b="1" dirty="0" err="1">
                <a:solidFill>
                  <a:srgbClr val="EB1000"/>
                </a:solidFill>
                <a:latin typeface="Courier New"/>
              </a:rPr>
              <a:t>resources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50000" y="170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864" y="17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0000" y="170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4864" y="17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resource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0000" y="208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864" y="21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0000" y="208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4864" y="21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 of resource definitions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uri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50000" y="246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4864" y="248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0000" y="246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4864" y="248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Unique resource identifier URI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0000" y="284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4864" y="286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0000" y="284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04864" y="286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Display 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22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864" y="324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50000" y="322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4864" y="324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0000" y="322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04864" y="324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What the resource contains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360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4864" y="36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mimeType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50000" y="360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04864" y="36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50000" y="360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04864" y="36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Content type (text/plain, etc.)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398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4864" y="4007432"/>
            <a:ext cx="229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readResourceHandler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50000" y="398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4864" y="40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0000" y="398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04864" y="40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Closure returning the content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0000" y="1300000"/>
            <a:ext cx="5000000" cy="4811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({</a:t>
            </a:r>
            <a:endParaRPr lang="en-US"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CF_Resources_Server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"1.0.0" },</a:t>
            </a:r>
            <a:endParaRPr lang="en-US"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  <a:r>
              <a:rPr lang="en-US" sz="11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resources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true },</a:t>
            </a:r>
            <a:endParaRPr lang="en-US"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resources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uri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"file:///logs/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app.log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"Application Logs",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: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"Runtime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 events and warnings",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mimeType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"text/plain",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readResourceHandler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function(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req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  return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fileRead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logPath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uri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db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://config/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app.json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"App Config",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mimeType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"application/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json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readResourceHandler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function(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req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  return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fileRead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jsonPath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/>
              <a:t>Resources — </a:t>
            </a:r>
            <a:r>
              <a:rPr sz="2400" b="1" dirty="0" err="1"/>
              <a:t>listResources</a:t>
            </a:r>
            <a:r>
              <a:rPr sz="2400" b="1" dirty="0"/>
              <a:t> &amp; </a:t>
            </a:r>
            <a:r>
              <a:rPr sz="2400" b="1" dirty="0" err="1"/>
              <a:t>readResource</a:t>
            </a:r>
            <a:endParaRPr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6500000" cy="48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serverURL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"res-client",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"1.0.0"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1. Check capability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supported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isResourcesSupported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  <a:r>
              <a:rPr lang="en-US" sz="10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//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2. List all resources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resList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listResources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for (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res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in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resList.resources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res.name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// "Application Logs"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// "App Config"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3. Read a specific resource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content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readResource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"file:///logs/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app.log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content.mimeType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);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// "text/plain"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content.data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);</a:t>
            </a:r>
            <a:r>
              <a:rPr lang="en-US" sz="10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// &lt;actual file content&gt;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close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3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listResources() response: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000" y="162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54864" y="166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9300000" y="1620000"/>
            <a:ext cx="2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54864" y="1665720"/>
            <a:ext cx="2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0000" y="202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4864" y="204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resources[].uri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00000" y="202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54864" y="204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"file:///logs/app.log"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0000" y="236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4864" y="238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resources[].name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0000" y="236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864" y="238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"Application Logs"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0000" y="270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4864" y="272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resources[].mimeType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00000" y="270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864" y="272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"text/plain"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0000" y="324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readResource() response: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000" y="356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4864" y="360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0000" y="3560000"/>
            <a:ext cx="2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864" y="3605720"/>
            <a:ext cx="2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0000" y="396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4864" y="398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uri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0000" y="396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54864" y="398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The requested URI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0000" y="430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54864" y="432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mimeType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00000" y="430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54864" y="432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Content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0000" y="464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4864" y="466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00000" y="464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54864" y="466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The resource content (string)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1173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7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3200" b="1" dirty="0">
                <a:solidFill>
                  <a:srgbClr val="EB1000"/>
                </a:solidFill>
              </a:rPr>
              <a:t>Prompts</a:t>
            </a:r>
            <a:r>
              <a:rPr lang="en-US" sz="3200" b="1" dirty="0">
                <a:solidFill>
                  <a:srgbClr val="EB1000"/>
                </a:solidFill>
              </a:rPr>
              <a:t> – reusable templates</a:t>
            </a:r>
            <a:endParaRPr sz="3200" b="1" dirty="0">
              <a:solidFill>
                <a:srgbClr val="EB1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Prompts — Server Config &amp;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Config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8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capabilities.prompts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0000" y="170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864" y="17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0000" y="170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4864" y="17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prompts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prompts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0000" y="208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864" y="21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0000" y="208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4864" y="21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 of prompt definitions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50000" y="246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4864" y="248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0000" y="246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4864" y="248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Unique prompt identifier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title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0000" y="284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4864" y="286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0000" y="284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04864" y="286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Display title (optional)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22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864" y="324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50000" y="322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4864" y="324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0000" y="322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04864" y="324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What the prompt does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360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4864" y="36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arguments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50000" y="360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04864" y="36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50000" y="360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04864" y="36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Parameters: name, description, required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398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4864" y="400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template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0000" y="398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4864" y="40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0000" y="398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04864" y="40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Template with {placeholder} tokens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0000" y="1300000"/>
            <a:ext cx="4742000" cy="43769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CF_Prompts_Server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"1.0.0" },</a:t>
            </a:r>
            <a:endParaRPr lang="en-US"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prompts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prompts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explain_code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title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"Explain Code",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: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"Explain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 how code works",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{ </a:t>
            </a:r>
            <a:endParaRPr lang="en-US"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"code",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: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"Code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 to explain",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required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{ </a:t>
            </a:r>
            <a:endParaRPr lang="en-US" sz="10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"language",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description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: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"Programming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 language",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required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false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template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: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"Explain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 the following {language} code: {code}"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Prompts — listPrompts &amp; getPrompt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6500000" cy="50322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{ </a:t>
            </a:r>
            <a:endParaRPr lang="en-US" sz="95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95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serverURL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"prompts-client",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"1.0.0"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// 1. Discover prompts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 err="1">
                <a:solidFill>
                  <a:srgbClr val="FFFFFF"/>
                </a:solidFill>
                <a:latin typeface="Courier New"/>
              </a:rPr>
              <a:t>promptsList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listPrompts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for (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p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in 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promptsList.prompts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p.name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// "</a:t>
            </a:r>
            <a:r>
              <a:rPr sz="950" dirty="0" err="1">
                <a:solidFill>
                  <a:srgbClr val="CED1D4"/>
                </a:solidFill>
                <a:latin typeface="Courier New"/>
              </a:rPr>
              <a:t>explain_code</a:t>
            </a:r>
            <a:r>
              <a:rPr sz="95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  // "</a:t>
            </a:r>
            <a:r>
              <a:rPr sz="950" dirty="0" err="1">
                <a:solidFill>
                  <a:srgbClr val="CED1D4"/>
                </a:solidFill>
                <a:latin typeface="Courier New"/>
              </a:rPr>
              <a:t>summarize_text</a:t>
            </a:r>
            <a:r>
              <a:rPr sz="95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// 2. Get a rendered prompt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getPrompt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explain_code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language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"ColdFusion",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50" b="1" dirty="0">
                <a:solidFill>
                  <a:srgbClr val="FFFFFF"/>
                </a:solidFill>
                <a:latin typeface="Courier New"/>
              </a:rPr>
              <a:t>code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dirty="0">
                <a:solidFill>
                  <a:srgbClr val="CED1D4"/>
                </a:solidFill>
                <a:latin typeface="Courier New"/>
              </a:rPr>
              <a:t> 'hello world')"}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result.description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</a:t>
            </a:r>
            <a:r>
              <a:rPr lang="en-US" sz="95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950" dirty="0">
                <a:solidFill>
                  <a:srgbClr val="CED1D4"/>
                </a:solidFill>
                <a:latin typeface="Courier New"/>
              </a:rPr>
              <a:t>// "Explain how code works"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FFFFFF"/>
                </a:solidFill>
                <a:latin typeface="Courier New"/>
              </a:rPr>
              <a:t>msg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result.messages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[1]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msg.role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</a:t>
            </a:r>
            <a:r>
              <a:rPr lang="en-US" sz="95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950" dirty="0">
                <a:solidFill>
                  <a:srgbClr val="CED1D4"/>
                </a:solidFill>
                <a:latin typeface="Courier New"/>
              </a:rPr>
              <a:t>// "user"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msg.content.text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5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50" b="1" dirty="0" err="1">
                <a:solidFill>
                  <a:srgbClr val="FFFFFF"/>
                </a:solidFill>
                <a:latin typeface="Courier New"/>
              </a:rPr>
              <a:t>close</a:t>
            </a:r>
            <a:r>
              <a:rPr sz="950" b="0" dirty="0">
                <a:solidFill>
                  <a:srgbClr val="CED1D4"/>
                </a:solidFill>
                <a:latin typeface="Courier New"/>
              </a:rPr>
              <a:t>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3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listPrompts() response: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000" y="162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54864" y="166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9300000" y="1620000"/>
            <a:ext cx="2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54864" y="1665720"/>
            <a:ext cx="2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0000" y="202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4864" y="204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prompts[].name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00000" y="202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54864" y="204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"explain_code"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0000" y="236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4864" y="238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B1000"/>
                </a:solidFill>
                <a:latin typeface="Courier New"/>
              </a:rPr>
              <a:t>prompts[].description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0000" y="236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864" y="238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"Explain how code works"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0000" y="270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4864" y="272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B1000"/>
                </a:solidFill>
                <a:latin typeface="Courier New"/>
              </a:rPr>
              <a:t>prompts[].arguments[]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00000" y="270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864" y="272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name, description,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0000" y="324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getPrompt() response: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000" y="356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4864" y="360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0000" y="3560000"/>
            <a:ext cx="28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864" y="3605720"/>
            <a:ext cx="26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0000" y="396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4864" y="398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description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0000" y="396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54864" y="398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"Explain how code works"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0000" y="430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54864" y="432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messages[].role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00000" y="430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54864" y="432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"user"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0000" y="4640000"/>
            <a:ext cx="22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4864" y="466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B1000"/>
                </a:solidFill>
                <a:latin typeface="Courier New"/>
              </a:rPr>
              <a:t>messages[].content.type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00000" y="4640000"/>
            <a:ext cx="280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54864" y="466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"text"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00000" y="4980000"/>
            <a:ext cx="22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4864" y="5007432"/>
            <a:ext cx="20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B1000"/>
                </a:solidFill>
                <a:latin typeface="Courier New"/>
              </a:rPr>
              <a:t>messages[].content.text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00000" y="4980000"/>
            <a:ext cx="2800000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54864" y="5007432"/>
            <a:ext cx="2690272" cy="28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Rendered template output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000" y="5470000"/>
            <a:ext cx="5000000" cy="4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tlCol="0" anchor="ctr"/>
          <a:lstStyle/>
          <a:p>
            <a:pPr algn="ctr"/>
            <a:r>
              <a:rPr sz="850">
                <a:solidFill>
                  <a:srgbClr val="CED1D4"/>
                </a:solidFill>
                <a:latin typeface="Courier New"/>
              </a:rPr>
              <a:t>// msg.content.text: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0FF80"/>
                </a:solidFill>
                <a:latin typeface="Courier New"/>
              </a:rPr>
              <a:t>"Explain the following ColdFusion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0FF80"/>
                </a:solidFill>
                <a:latin typeface="Courier New"/>
              </a:rPr>
              <a:t> code: writeOutput('hello world')"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8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3200" b="1" dirty="0">
                <a:solidFill>
                  <a:srgbClr val="EB1000"/>
                </a:solidFill>
              </a:rPr>
              <a:t>Sampling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Sampling — Server Requests AI via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1300000"/>
            <a:ext cx="6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The sampling flow (APIP support scenario):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1680000"/>
            <a:ext cx="6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1  Client calls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1940000"/>
            <a:ext cx="6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Agent calls callTool('summarize_incident')
on the TS sampling server.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2370000"/>
            <a:ext cx="6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2  Server needs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2630000"/>
            <a:ext cx="6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The tool has all context (ticket, logs, KB)
but needs an LLM to generate the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3060000"/>
            <a:ext cx="6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3  Server sends sampling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3320000"/>
            <a:ext cx="6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Server calls createMessage() which sends
a sampling request back to the CF client.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3750000"/>
            <a:ext cx="6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4  Client invokes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4010000"/>
            <a:ext cx="6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samplingConsumer callback fires. CF calls
ChatModel() or returns a mock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4440000"/>
            <a:ext cx="6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5  Server gets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4700000"/>
            <a:ext cx="6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Adobe Clean"/>
              </a:rPr>
              <a:t>Server receives the LLM response and
returns the final tool result to the 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13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Key point: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0000" y="1620000"/>
            <a:ext cx="5000000" cy="38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CF supports sampling on the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CLIENT side only.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The server that sends the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sampling request must be 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TypeScript or Java MCP server.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The CF client handles the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request via samplingConsumer.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Flow: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TS Server (creates sampling req)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CF Client (samplingConsumer)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ChatModel() or mock LLM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TS Server (gets LLM result)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 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// CF Client (gets tool result)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Sampling — CF Client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0000"/>
            <a:ext cx="2308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0000"/>
            <a:ext cx="908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0000"/>
            <a:ext cx="3208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50000"/>
            <a:ext cx="6700000" cy="29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68288"/>
            <a:ext cx="6608560" cy="253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dobe Clean"/>
              </a:rPr>
              <a:t>Client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4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195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capabilities.sampling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40000"/>
            <a:ext cx="10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195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40000"/>
            <a:ext cx="3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195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Enable sampling on this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260000"/>
            <a:ext cx="24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27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samplingConsumer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260000"/>
            <a:ext cx="10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95720" y="227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260000"/>
            <a:ext cx="33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5720" y="227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UDF handling sampling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580000"/>
            <a:ext cx="6700000" cy="29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598288"/>
            <a:ext cx="6608560" cy="253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dobe Clean"/>
              </a:rPr>
              <a:t>samplingRequest Fields (input to consumer)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870000"/>
            <a:ext cx="24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288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0000" y="2870000"/>
            <a:ext cx="10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95720" y="288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0000" y="2870000"/>
            <a:ext cx="33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5720" y="288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Message objects [{role, content}]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190000"/>
            <a:ext cx="24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320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B1000"/>
                </a:solidFill>
                <a:latin typeface="Courier New"/>
              </a:rPr>
              <a:t>messages[].role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0000" y="3190000"/>
            <a:ext cx="10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95720" y="320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0000" y="3190000"/>
            <a:ext cx="33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95720" y="320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"user"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510000"/>
            <a:ext cx="24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352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B1000"/>
                </a:solidFill>
                <a:latin typeface="Courier New"/>
              </a:rPr>
              <a:t>messages[].content.type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0000" y="3510000"/>
            <a:ext cx="10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95720" y="352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0000" y="3510000"/>
            <a:ext cx="33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5720" y="352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"text"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3830000"/>
            <a:ext cx="24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720" y="384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B1000"/>
                </a:solidFill>
                <a:latin typeface="Courier New"/>
              </a:rPr>
              <a:t>messages[].content.text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50000" y="3830000"/>
            <a:ext cx="10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95720" y="384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50000" y="3830000"/>
            <a:ext cx="33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95720" y="384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The prompt text from server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000" y="4150000"/>
            <a:ext cx="24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5720" y="416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maxTokens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50000" y="4150000"/>
            <a:ext cx="10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95720" y="416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Numeric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50000" y="4150000"/>
            <a:ext cx="33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95720" y="416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Max tokens for response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000" y="4470000"/>
            <a:ext cx="24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5720" y="448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modelPreferences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50000" y="4470000"/>
            <a:ext cx="10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95720" y="448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Struct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50000" y="4470000"/>
            <a:ext cx="3300000" cy="320000"/>
          </a:xfrm>
          <a:prstGeom prst="rect">
            <a:avLst/>
          </a:prstGeom>
          <a:solidFill>
            <a:srgbClr val="D8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5720" y="448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Optional model selection hints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0000" y="4790000"/>
            <a:ext cx="24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5720" y="480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systemPrompt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50000" y="4790000"/>
            <a:ext cx="10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95720" y="480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50000" y="4790000"/>
            <a:ext cx="3300000" cy="32000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95720" y="480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Optional system prompt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0000" y="5110000"/>
            <a:ext cx="6700000" cy="29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5720" y="5128288"/>
            <a:ext cx="6608560" cy="253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dobe Clean"/>
              </a:rPr>
              <a:t>Return Struct (consumer response)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0000" y="540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5720" y="541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role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50000" y="5400000"/>
            <a:ext cx="10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95720" y="541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50000" y="5400000"/>
            <a:ext cx="3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95720" y="541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"assistant"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0000" y="5720000"/>
            <a:ext cx="24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95720" y="573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result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50000" y="5720000"/>
            <a:ext cx="10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795720" y="573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50000" y="5720000"/>
            <a:ext cx="33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795720" y="573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The LLM response text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0000" y="604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95720" y="605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modelname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50000" y="6040000"/>
            <a:ext cx="10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95720" y="605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50000" y="6040000"/>
            <a:ext cx="3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795720" y="605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Model used (e.g. "gpt-4o")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0000" y="6360000"/>
            <a:ext cx="24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95720" y="6378288"/>
            <a:ext cx="23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stopReason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50000" y="6360000"/>
            <a:ext cx="10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795720" y="6378288"/>
            <a:ext cx="9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50000" y="6360000"/>
            <a:ext cx="3300000" cy="3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5720" y="6378288"/>
            <a:ext cx="3208560" cy="28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Adobe Clean"/>
              </a:rPr>
              <a:t>"endTurn" or stop reason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00000" y="1300000"/>
            <a:ext cx="5000000" cy="538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00" b="0">
                <a:solidFill>
                  <a:srgbClr val="CED1D4"/>
                </a:solidFill>
                <a:latin typeface="Courier New"/>
              </a:rPr>
              <a:t> = </a:t>
            </a:r>
            <a:r>
              <a:rPr sz="800" b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00" b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800" b="0">
                <a:solidFill>
                  <a:srgbClr val="CED1D4"/>
                </a:solidFill>
                <a:latin typeface="Courier New"/>
              </a:rPr>
              <a:t>: { </a:t>
            </a:r>
            <a:r>
              <a:rPr sz="800" b="1">
                <a:solidFill>
                  <a:srgbClr val="FFFFFF"/>
                </a:solidFill>
                <a:latin typeface="Courier New"/>
              </a:rPr>
              <a:t>sampling</a:t>
            </a:r>
            <a:r>
              <a:rPr sz="800" b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samplingConsumer</a:t>
            </a:r>
            <a:r>
              <a:rPr sz="800" b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getSamplingConsumer</a:t>
            </a:r>
            <a:r>
              <a:rPr sz="800" b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// ... transport, clientInfo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function </a:t>
            </a:r>
            <a:r>
              <a:rPr sz="800" b="1">
                <a:solidFill>
                  <a:srgbClr val="FFFFFF"/>
                </a:solidFill>
                <a:latin typeface="Courier New"/>
              </a:rPr>
              <a:t>getSamplingConsumer</a:t>
            </a:r>
            <a:r>
              <a:rPr sz="800" b="0">
                <a:solidFill>
                  <a:srgbClr val="CED1D4"/>
                </a:solidFill>
                <a:latin typeface="Courier New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function </a:t>
            </a:r>
            <a:r>
              <a:rPr sz="800" b="1">
                <a:solidFill>
                  <a:srgbClr val="FFFFFF"/>
                </a:solidFill>
                <a:latin typeface="Courier New"/>
              </a:rPr>
              <a:t>onSampling</a:t>
            </a:r>
            <a:r>
              <a:rPr sz="800" b="0">
                <a:solidFill>
                  <a:srgbClr val="CED1D4"/>
                </a:solidFill>
                <a:latin typeface="Courier New"/>
              </a:rPr>
              <a:t>(</a:t>
            </a:r>
            <a:r>
              <a:rPr sz="800" b="1">
                <a:solidFill>
                  <a:srgbClr val="FFFFFF"/>
                </a:solidFill>
                <a:latin typeface="Courier New"/>
              </a:rPr>
              <a:t>req</a:t>
            </a:r>
            <a:r>
              <a:rPr sz="800" b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req.messages[1].role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  =&gt; "user"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req.messages[1].content.type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  =&gt; "text"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req.messages[1].content.text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  =&gt; "Summarize this..."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req.maxTokens =&gt; 500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req.modelPreferences (opt)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req.systemPrompt (opt)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// Call real LLM or mock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return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  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role</a:t>
            </a:r>
            <a:r>
              <a:rPr sz="800" b="0">
                <a:solidFill>
                  <a:srgbClr val="CED1D4"/>
                </a:solidFill>
                <a:latin typeface="Courier New"/>
              </a:rPr>
              <a:t>: "assistant",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  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result</a:t>
            </a:r>
            <a:r>
              <a:rPr sz="800" b="0">
                <a:solidFill>
                  <a:srgbClr val="CED1D4"/>
                </a:solidFill>
                <a:latin typeface="Courier New"/>
              </a:rPr>
              <a:t>: "Summary...",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  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modelname</a:t>
            </a:r>
            <a:r>
              <a:rPr sz="800" b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    "gpt-4o-mini",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D1D4"/>
                </a:solidFill>
                <a:latin typeface="Courier New"/>
              </a:rPr>
              <a:t>      </a:t>
            </a:r>
            <a:r>
              <a:rPr sz="800" b="1">
                <a:solidFill>
                  <a:srgbClr val="FFFFFF"/>
                </a:solidFill>
                <a:latin typeface="Courier New"/>
              </a:rPr>
              <a:t>stopReason</a:t>
            </a:r>
            <a:r>
              <a:rPr sz="800" b="0">
                <a:solidFill>
                  <a:srgbClr val="CED1D4"/>
                </a:solidFill>
                <a:latin typeface="Courier New"/>
              </a:rPr>
              <a:t>: "endTurn"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  return onSampling;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Sampling — APIP: Summarize Incident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240" y="1160000"/>
            <a:ext cx="6400000" cy="52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APIP: Summarize a support incident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The TS server has a tool that uses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sampling to get an LLM summary.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      "http://localhost:3010/</a:t>
            </a:r>
            <a:r>
              <a:rPr sz="9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9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  }</a:t>
            </a:r>
            <a:endParaRPr lang="en-US" sz="9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sampling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samplingConsumer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getSamplingConsumer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()</a:t>
            </a:r>
            <a:endParaRPr lang="en-US" sz="9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Call the sampling-aware tool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callTool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    "</a:t>
            </a:r>
            <a:r>
              <a:rPr sz="900" dirty="0" err="1">
                <a:solidFill>
                  <a:srgbClr val="CED1D4"/>
                </a:solidFill>
                <a:latin typeface="Courier New"/>
              </a:rPr>
              <a:t>send_sampling_request</a:t>
            </a:r>
            <a:r>
              <a:rPr lang="en-US" sz="900" dirty="0" err="1">
                <a:solidFill>
                  <a:srgbClr val="CED1D4"/>
                </a:solidFill>
                <a:latin typeface="Courier New"/>
              </a:rPr>
              <a:t>_</a:t>
            </a:r>
            <a:r>
              <a:rPr sz="900" dirty="0" err="1">
                <a:solidFill>
                  <a:srgbClr val="CED1D4"/>
                </a:solidFill>
                <a:latin typeface="Courier New"/>
              </a:rPr>
              <a:t>for_summarizer</a:t>
            </a:r>
            <a:r>
              <a:rPr sz="90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00" b="1" dirty="0">
                <a:solidFill>
                  <a:srgbClr val="FFFFFF"/>
                </a:solidFill>
                <a:latin typeface="Courier New"/>
              </a:rPr>
              <a:t>text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900" b="0" dirty="0" err="1">
                <a:solidFill>
                  <a:srgbClr val="CED1D4"/>
                </a:solidFill>
                <a:latin typeface="Courier New"/>
              </a:rPr>
              <a:t>ticketDetails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maxTokens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: 500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The tool internally: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 1. Sends sampling request to client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 2. </a:t>
            </a:r>
            <a:r>
              <a:rPr sz="900" dirty="0" err="1">
                <a:solidFill>
                  <a:srgbClr val="CED1D4"/>
                </a:solidFill>
                <a:latin typeface="Courier New"/>
              </a:rPr>
              <a:t>samplingConsumer</a:t>
            </a:r>
            <a:r>
              <a:rPr sz="900" dirty="0">
                <a:solidFill>
                  <a:srgbClr val="CED1D4"/>
                </a:solidFill>
                <a:latin typeface="Courier New"/>
              </a:rPr>
              <a:t> fires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 3. LLM generates summary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CED1D4"/>
                </a:solidFill>
                <a:latin typeface="Courier New"/>
              </a:rPr>
              <a:t>//  4. Summary returned as tool result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Courier New"/>
              </a:rPr>
              <a:t>data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deserializeJSON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Courier New"/>
              </a:rPr>
              <a:t>  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result</a:t>
            </a:r>
            <a:r>
              <a:rPr sz="900" b="0" dirty="0" err="1">
                <a:solidFill>
                  <a:srgbClr val="CED1D4"/>
                </a:solidFill>
                <a:latin typeface="Courier New"/>
              </a:rPr>
              <a:t>.content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[1].text);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data.summary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9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9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900" b="1" dirty="0" err="1">
                <a:solidFill>
                  <a:srgbClr val="FFFFFF"/>
                </a:solidFill>
                <a:latin typeface="Courier New"/>
              </a:rPr>
              <a:t>close</a:t>
            </a:r>
            <a:r>
              <a:rPr sz="900" b="0" dirty="0">
                <a:solidFill>
                  <a:srgbClr val="CED1D4"/>
                </a:solidFill>
                <a:latin typeface="Courier New"/>
              </a:rPr>
              <a:t>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24740" y="116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Tool response: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6924740" y="1480000"/>
            <a:ext cx="5000000" cy="15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>
                <a:solidFill>
                  <a:srgbClr val="FFFFFF"/>
                </a:solidFill>
                <a:latin typeface="Courier New"/>
              </a:rPr>
              <a:t>"success"</a:t>
            </a:r>
            <a:r>
              <a:rPr sz="900" b="0">
                <a:solidFill>
                  <a:srgbClr val="CED1D4"/>
                </a:solidFill>
                <a:latin typeface="Courier New"/>
              </a:rPr>
              <a:t>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>
                <a:solidFill>
                  <a:srgbClr val="FFFFFF"/>
                </a:solidFill>
                <a:latin typeface="Courier New"/>
              </a:rPr>
              <a:t>"summary"</a:t>
            </a:r>
            <a:r>
              <a:rPr sz="900" b="0">
                <a:solidFill>
                  <a:srgbClr val="CED1D4"/>
                </a:solidFill>
                <a:latin typeface="Courier New"/>
              </a:rPr>
              <a:t>: "MCP standardizes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    how apps provide context 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    LLMs via JSON-RPC 2.0...",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>
                <a:solidFill>
                  <a:srgbClr val="FFFFFF"/>
                </a:solidFill>
                <a:latin typeface="Courier New"/>
              </a:rPr>
              <a:t>"model"</a:t>
            </a:r>
            <a:r>
              <a:rPr sz="900" b="0">
                <a:solidFill>
                  <a:srgbClr val="CED1D4"/>
                </a:solidFill>
                <a:latin typeface="Courier New"/>
              </a:rPr>
              <a:t>: "cf-mock-v1",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>
                <a:solidFill>
                  <a:srgbClr val="FFFFFF"/>
                </a:solidFill>
                <a:latin typeface="Courier New"/>
              </a:rPr>
              <a:t>"stopReason"</a:t>
            </a:r>
            <a:r>
              <a:rPr sz="900" b="0">
                <a:solidFill>
                  <a:srgbClr val="CED1D4"/>
                </a:solidFill>
                <a:latin typeface="Courier New"/>
              </a:rPr>
              <a:t>: "endTurn",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ED1D4"/>
                </a:solidFill>
                <a:latin typeface="Courier New"/>
              </a:rPr>
              <a:t>  </a:t>
            </a:r>
            <a:r>
              <a:rPr sz="900" b="1">
                <a:solidFill>
                  <a:srgbClr val="FFFFFF"/>
                </a:solidFill>
                <a:latin typeface="Courier New"/>
              </a:rPr>
              <a:t>"role"</a:t>
            </a:r>
            <a:r>
              <a:rPr sz="900" b="0">
                <a:solidFill>
                  <a:srgbClr val="CED1D4"/>
                </a:solidFill>
                <a:latin typeface="Courier New"/>
              </a:rPr>
              <a:t>: "assistant"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740" y="316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What happens under the hood: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740" y="351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788C"/>
                </a:solidFill>
                <a:latin typeface="Adobe Clean"/>
              </a:rPr>
              <a:t>callTool()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4740" y="375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Client sends JSON-RPC to TS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4740" y="418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788C"/>
                </a:solidFill>
                <a:latin typeface="Adobe Clean"/>
              </a:rPr>
              <a:t>createMessage()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4740" y="442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TS server sends sampling request
back to the CF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740" y="485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788C"/>
                </a:solidFill>
                <a:latin typeface="Adobe Clean"/>
              </a:rPr>
              <a:t>samplingConsumer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4740" y="509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CF callback fires, calls ChatModel
or returns mock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740" y="552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788C"/>
                </a:solidFill>
                <a:latin typeface="Adobe Clean"/>
              </a:rPr>
              <a:t>Tool completes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740" y="576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TS server gets LLM text, wraps it
in tool response, sends back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9</a:t>
            </a:r>
            <a:endParaRPr sz="3200" b="1" dirty="0">
              <a:solidFill>
                <a:srgbClr val="000000"/>
              </a:solidFill>
            </a:endParaRPr>
          </a:p>
          <a:p>
            <a:r>
              <a:rPr sz="3200" b="1" dirty="0">
                <a:solidFill>
                  <a:srgbClr val="EB1000"/>
                </a:solidFill>
              </a:rPr>
              <a:t>Logging</a:t>
            </a:r>
            <a:r>
              <a:rPr lang="en-US" sz="3200" b="1" dirty="0">
                <a:solidFill>
                  <a:srgbClr val="EB1000"/>
                </a:solidFill>
              </a:rPr>
              <a:t>,</a:t>
            </a:r>
            <a:r>
              <a:rPr sz="3200" b="1" dirty="0">
                <a:solidFill>
                  <a:srgbClr val="EB1000"/>
                </a:solidFill>
              </a:rPr>
              <a:t> Elicitation &amp; Roots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Logging — Server to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Server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capabilities.logging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Enable logging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Client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264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720" y="266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loggingConsumer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0000" y="264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95720" y="266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0000" y="264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5720" y="266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UDF receiving log messages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99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301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Client Methods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330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720" y="332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isLoggingSupported()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0000" y="330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95720" y="332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0000" y="330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95720" y="332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Check if server supports logging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65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5720" y="367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setLoggingLevel()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50000" y="365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95720" y="367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void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0000" y="365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95720" y="367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Set minimum level to receive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4070000"/>
            <a:ext cx="6700000" cy="40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0000" y="4131500"/>
            <a:ext cx="6590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44024"/>
                </a:solidFill>
                <a:latin typeface="Courier New"/>
              </a:rPr>
              <a:t>Log Levels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debug info notice</a:t>
            </a:r>
            <a:r>
              <a:rPr lang="en-US" sz="1100" b="1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warning error</a:t>
            </a:r>
            <a:r>
              <a:rPr lang="en-US" sz="1100" b="1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critical alert</a:t>
            </a:r>
            <a:r>
              <a:rPr lang="en-US" sz="1100" b="1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emergency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00000" y="1300000"/>
            <a:ext cx="5000000" cy="4453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Client: receive server logs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serverURL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"support-agent",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"1.0.0"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loggingConsumer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getLoggingConsumer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Check support &amp; set level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if (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isLoggingSupported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setLoggingLevel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"warning");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// Only warning+ messages arrive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function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getLoggingConsumer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function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onLog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msg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cflog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text = "MCP: 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  &amp;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msg.level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&amp; " 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  &amp;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msg.data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file = "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-logs");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return 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onLog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Elicitation — Server Asks the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Client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B1000"/>
                </a:solidFill>
                <a:latin typeface="Courier New"/>
              </a:rPr>
              <a:t>capabilities.elicitation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Enable elicitation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B1000"/>
                </a:solidFill>
                <a:latin typeface="Courier New"/>
              </a:rPr>
              <a:t>elicitationConsumer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3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95720" y="23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3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5720" y="23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UDF handling form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68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70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Request (from server)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99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301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message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0000" y="299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95720" y="301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0000" y="299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5720" y="301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Prompt shown to the 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34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336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requestedSchema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0000" y="334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95720" y="336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Struct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0000" y="334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95720" y="336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JSON Schema defining the form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690000"/>
            <a:ext cx="6700000" cy="31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371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Response (from consumer)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400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5720" y="402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50000" y="400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95720" y="402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50000" y="400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5720" y="402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"accept" | "decline" | "cancel"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000" y="435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5720" y="437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content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0000" y="435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95720" y="437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Struct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0000" y="435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95720" y="437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User-provided form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0000" y="1300000"/>
            <a:ext cx="5000000" cy="50931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 ...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 ...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elicitation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elicitationConsumer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getElicitHandler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function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getElicitHandler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function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onElicit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req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req.message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  "Provide registration info"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req.requestedSchema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  { properties: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    username: {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type:"string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"},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    email:    {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format:"email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"},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    password: {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minLength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: 8}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  }, required: [...]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Accept with form 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return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action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"accept",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content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username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TestUser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email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      "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test@example.com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password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"pass1234"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  // Or decline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// return {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action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"decline"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return 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onElicit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Roots — Scoping File System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5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4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0000" y="1300000"/>
            <a:ext cx="18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95720" y="1336576"/>
            <a:ext cx="17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Arguments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Client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5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4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capabilities.roots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0000" y="1980000"/>
            <a:ext cx="18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5720" y="2002860"/>
            <a:ext cx="17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5720" y="20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Enable roots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Root Lifecycle Methods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2640000"/>
            <a:ext cx="25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720" y="2662860"/>
            <a:ext cx="24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addRoot()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0000" y="2640000"/>
            <a:ext cx="18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95720" y="2662860"/>
            <a:ext cx="17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uri,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50000" y="264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5720" y="266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Register a root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990000"/>
            <a:ext cx="25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3012860"/>
            <a:ext cx="24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getRoot()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0000" y="2990000"/>
            <a:ext cx="18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95720" y="3012860"/>
            <a:ext cx="17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0000" y="299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95720" y="301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Get root by URI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340000"/>
            <a:ext cx="25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3362860"/>
            <a:ext cx="24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listRoots()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0000" y="3340000"/>
            <a:ext cx="18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95720" y="3362860"/>
            <a:ext cx="17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(none)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50000" y="334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95720" y="336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List all registered roots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690000"/>
            <a:ext cx="25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3712860"/>
            <a:ext cx="24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removeRoot()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50000" y="3690000"/>
            <a:ext cx="18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95720" y="3712860"/>
            <a:ext cx="17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uri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50000" y="369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95720" y="371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Unregister a root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00000" y="1299999"/>
            <a:ext cx="5000000" cy="5293915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serverURL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clientInfo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"root-client",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"1.0.0"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roots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true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// Register roots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addRoot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"file:///data/policies",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"policy-docs");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addRoot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"file:///data/logs",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"app-logs");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// Get a specific root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FFFFF"/>
                </a:solidFill>
                <a:latin typeface="Courier New"/>
              </a:rPr>
              <a:t>root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getRoot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"file:///data/policies");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// {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uri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"file:///data/policies",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//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"policy-docs"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// List all roots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allRoots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listRoots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// [ {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uri,name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}, {</a:t>
            </a:r>
            <a:r>
              <a:rPr sz="850" dirty="0" err="1">
                <a:solidFill>
                  <a:srgbClr val="CED1D4"/>
                </a:solidFill>
                <a:latin typeface="Courier New"/>
              </a:rPr>
              <a:t>uri,name</a:t>
            </a:r>
            <a:r>
              <a:rPr sz="850" dirty="0">
                <a:solidFill>
                  <a:srgbClr val="CED1D4"/>
                </a:solidFill>
                <a:latin typeface="Courier New"/>
              </a:rPr>
              <a:t>}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// Use with 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callTool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list_directory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850" b="1" dirty="0">
                <a:solidFill>
                  <a:srgbClr val="FFFFFF"/>
                </a:solidFill>
                <a:latin typeface="Courier New"/>
              </a:rPr>
              <a:t>path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: "/data/policies"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// Remove and close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removeRoot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CED1D4"/>
                </a:solidFill>
                <a:latin typeface="Courier New"/>
              </a:rPr>
              <a:t>  "file:///data/policies");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85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850" b="1" dirty="0" err="1">
                <a:solidFill>
                  <a:srgbClr val="FFFFFF"/>
                </a:solidFill>
                <a:latin typeface="Courier New"/>
              </a:rPr>
              <a:t>close</a:t>
            </a:r>
            <a:r>
              <a:rPr sz="850" b="0" dirty="0">
                <a:solidFill>
                  <a:srgbClr val="CED1D4"/>
                </a:solidFill>
                <a:latin typeface="Courier New"/>
              </a:rPr>
              <a:t>();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08CF8F-F3E0-1787-30F9-5D344BAA259D}"/>
              </a:ext>
            </a:extLst>
          </p:cNvPr>
          <p:cNvSpPr txBox="1"/>
          <p:nvPr/>
        </p:nvSpPr>
        <p:spPr>
          <a:xfrm>
            <a:off x="609600" y="4533900"/>
            <a:ext cx="425196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</a:rPr>
              <a:t>Server calls roots/list → gets back only these paths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</a:rPr>
              <a:t>Server should never access paths outside declared roots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00" dirty="0" err="1">
                <a:solidFill>
                  <a:srgbClr val="000000"/>
                </a:solidFill>
              </a:rPr>
              <a:t>listChanged</a:t>
            </a:r>
            <a:r>
              <a:rPr sz="1100" dirty="0">
                <a:solidFill>
                  <a:srgbClr val="000000"/>
                </a:solidFill>
              </a:rPr>
              <a:t>: true — server notified when roots change dynamically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00" dirty="0">
                <a:solidFill>
                  <a:srgbClr val="444444"/>
                </a:solidFill>
                <a:latin typeface="Adobe Clean"/>
              </a:rPr>
              <a:t>Security: roots are a contract between client and server on what files are in scope.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10</a:t>
            </a:r>
            <a:endParaRPr sz="3200" b="1" dirty="0">
              <a:solidFill>
                <a:srgbClr val="000000"/>
              </a:solidFill>
            </a:endParaRPr>
          </a:p>
          <a:p>
            <a:r>
              <a:rPr lang="en-US" sz="3200" b="1" dirty="0">
                <a:solidFill>
                  <a:srgbClr val="EB1000"/>
                </a:solidFill>
              </a:rPr>
              <a:t>Security – </a:t>
            </a:r>
            <a:r>
              <a:rPr lang="en-US" sz="3200" dirty="0" err="1">
                <a:solidFill>
                  <a:srgbClr val="EB1000"/>
                </a:solidFill>
              </a:rPr>
              <a:t>Basic</a:t>
            </a:r>
            <a:r>
              <a:rPr sz="3200" b="1" dirty="0" err="1">
                <a:solidFill>
                  <a:srgbClr val="EB1000"/>
                </a:solidFill>
              </a:rPr>
              <a:t>Aut</a:t>
            </a:r>
            <a:r>
              <a:rPr lang="en-US" sz="3200" b="1" dirty="0" err="1">
                <a:solidFill>
                  <a:srgbClr val="EB1000"/>
                </a:solidFill>
              </a:rPr>
              <a:t>h</a:t>
            </a:r>
            <a:r>
              <a:rPr lang="en-US" sz="3200" b="1" dirty="0">
                <a:solidFill>
                  <a:srgbClr val="EB1000"/>
                </a:solidFill>
              </a:rPr>
              <a:t>, CORS</a:t>
            </a:r>
            <a:endParaRPr sz="3200" b="1" dirty="0">
              <a:solidFill>
                <a:srgbClr val="EB1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Basic Auth — Server &amp; Client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Config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8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basicAuth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0000" y="170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864" y="17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0000" y="170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4864" y="17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Struct with username + password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basicAuth.username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0000" y="208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864" y="21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0000" y="208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4864" y="21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Required username for clients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basicAuth.password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50000" y="246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4864" y="248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0000" y="246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4864" y="248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Required password for clients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Courier New"/>
              </a:rPr>
              <a:t>transport.headers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0000" y="284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4864" y="286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Client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0000" y="284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04864" y="286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Custom HTTP headers struct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22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864" y="324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Authorization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50000" y="322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4864" y="324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Client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0000" y="322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04864" y="324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"Basic " &amp; toBase64(user:pass)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00" y="3750000"/>
            <a:ext cx="6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1A1A1A"/>
                </a:solidFill>
                <a:latin typeface="Adobe Clean"/>
              </a:rPr>
              <a:t>Server rejects any request without valid Basic credentials.
Client passes credentials in </a:t>
            </a:r>
            <a:r>
              <a:rPr sz="1100" b="0" dirty="0" err="1">
                <a:solidFill>
                  <a:srgbClr val="1A1A1A"/>
                </a:solidFill>
                <a:latin typeface="Adobe Clean"/>
              </a:rPr>
              <a:t>transport.headers</a:t>
            </a:r>
            <a:r>
              <a:rPr sz="1100" b="0" dirty="0">
                <a:solidFill>
                  <a:srgbClr val="1A1A1A"/>
                </a:solidFill>
                <a:latin typeface="Adobe Clean"/>
              </a:rPr>
              <a:t> on every request.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000" y="1139980"/>
            <a:ext cx="50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B1000"/>
                </a:solidFill>
                <a:latin typeface="Adobe Clean"/>
              </a:rPr>
              <a:t>Server</a:t>
            </a:r>
            <a:r>
              <a:rPr lang="en-US" sz="1100" b="1" dirty="0">
                <a:solidFill>
                  <a:srgbClr val="EB1000"/>
                </a:solidFill>
                <a:latin typeface="Adobe Clean"/>
              </a:rPr>
              <a:t> : </a:t>
            </a:r>
            <a:r>
              <a:rPr lang="en-US" sz="1100" b="1" dirty="0" err="1">
                <a:solidFill>
                  <a:srgbClr val="EB1000"/>
                </a:solidFill>
                <a:latin typeface="Adobe Clean"/>
              </a:rPr>
              <a:t>basicAuth</a:t>
            </a:r>
            <a:r>
              <a:rPr lang="en-US" sz="1100" b="1" dirty="0">
                <a:solidFill>
                  <a:srgbClr val="EB1000"/>
                </a:solidFill>
                <a:latin typeface="Adobe Clean"/>
              </a:rPr>
              <a:t> Enabled</a:t>
            </a:r>
            <a:endParaRPr sz="1100" b="1" dirty="0">
              <a:solidFill>
                <a:srgbClr val="EB1000"/>
              </a:solidFill>
              <a:latin typeface="Adobe Clean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045136" y="1401590"/>
            <a:ext cx="4632400" cy="178782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"echo-server",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"1.0.1"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[{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"...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serverCfcs.echo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 }],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basicAuth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"username"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-client-user",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"password"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"s3cr3tP@$$"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3456" y="3309788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B1000"/>
                </a:solidFill>
                <a:latin typeface="Adobe Clean"/>
              </a:rPr>
              <a:t>Client — connect with credentials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36" y="3580688"/>
            <a:ext cx="4747284" cy="2874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credentials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toBase64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"</a:t>
            </a:r>
            <a:r>
              <a:rPr sz="10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000" dirty="0">
                <a:solidFill>
                  <a:srgbClr val="CED1D4"/>
                </a:solidFill>
                <a:latin typeface="Courier New"/>
              </a:rPr>
              <a:t>-client-user" &amp; ":"&amp; "s3cr3tP@$$")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transport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type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"HTTP",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serverURL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headers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"Authorization"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    "Basic " &amp; credentials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callTool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000" b="0" dirty="0" err="1">
                <a:solidFill>
                  <a:srgbClr val="CED1D4"/>
                </a:solidFill>
                <a:latin typeface="Courier New"/>
              </a:rPr>
              <a:t>echoMessage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000" b="1" dirty="0">
                <a:solidFill>
                  <a:srgbClr val="FFFFFF"/>
                </a:solidFill>
                <a:latin typeface="Courier New"/>
              </a:rPr>
              <a:t>arguments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000" b="1" dirty="0" err="1">
                <a:solidFill>
                  <a:srgbClr val="FFFFFF"/>
                </a:solidFill>
                <a:latin typeface="Courier New"/>
              </a:rPr>
              <a:t>messageText</a:t>
            </a:r>
            <a:r>
              <a:rPr sz="1000" b="0" dirty="0">
                <a:solidFill>
                  <a:srgbClr val="CED1D4"/>
                </a:solidFill>
                <a:latin typeface="Courier New"/>
              </a:rPr>
              <a:t>: "Hello!"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DDBE-D3C0-9E00-2558-F3F5990E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485D-2F65-7DCF-F66F-3265727B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00" y="621700"/>
            <a:ext cx="10972800" cy="387798"/>
          </a:xfrm>
        </p:spPr>
        <p:txBody>
          <a:bodyPr/>
          <a:lstStyle/>
          <a:p>
            <a:r>
              <a:rPr sz="2400" b="1" dirty="0"/>
              <a:t>CORS </a:t>
            </a:r>
            <a:r>
              <a:rPr lang="en-US" sz="2400" b="1" dirty="0"/>
              <a:t>(</a:t>
            </a:r>
            <a:r>
              <a:rPr lang="en-IN" sz="2400" dirty="0"/>
              <a:t>Cross-Origin Request</a:t>
            </a:r>
            <a:r>
              <a:rPr lang="en-US" sz="2400" b="1" dirty="0"/>
              <a:t>) </a:t>
            </a:r>
            <a:r>
              <a:rPr sz="2400" b="1" dirty="0"/>
              <a:t>&amp; Request Size Limit</a:t>
            </a:r>
            <a:r>
              <a:rPr lang="en-US" sz="2400" b="1" dirty="0"/>
              <a:t> Configs</a:t>
            </a:r>
            <a:endParaRPr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2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Config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04864" y="1345720"/>
            <a:ext cx="8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2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corsEnabled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50000" y="170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4864" y="172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0000" y="170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4864" y="17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Enable CORS on the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29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corsAllowedOrigins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50000" y="2080000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864" y="210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0000" y="208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4864" y="21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Allowed origin URLs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4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29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EB1000"/>
                </a:solidFill>
                <a:latin typeface="Courier New"/>
              </a:rPr>
              <a:t>maxRequestBodySize</a:t>
            </a:r>
            <a:endParaRPr sz="1400" b="1" dirty="0">
              <a:solidFill>
                <a:srgbClr val="EB1000"/>
              </a:solidFill>
              <a:latin typeface="Courier New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50000" y="2460000"/>
            <a:ext cx="10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4864" y="2487432"/>
            <a:ext cx="8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Numeric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0000" y="246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4864" y="248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Max request body in bytes (default: unlimited)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00" y="5053020"/>
            <a:ext cx="66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sz="1200" b="0" dirty="0" err="1">
                <a:solidFill>
                  <a:srgbClr val="1A1A1A"/>
                </a:solidFill>
                <a:latin typeface="Adobe Clean"/>
              </a:rPr>
              <a:t>maxRequestBodySize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 rejects oversized payloads before</a:t>
            </a:r>
            <a:r>
              <a:rPr lang="en-US" sz="1200" b="0" dirty="0">
                <a:solidFill>
                  <a:srgbClr val="1A1A1A"/>
                </a:solidFill>
                <a:latin typeface="Adobe Clean"/>
              </a:rPr>
              <a:t> 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they reach tool/resource handlers. </a:t>
            </a:r>
            <a:endParaRPr lang="en-US" sz="1200" b="0" dirty="0">
              <a:solidFill>
                <a:srgbClr val="1A1A1A"/>
              </a:solidFill>
              <a:latin typeface="Adobe Clean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sz="1200" b="0" dirty="0">
                <a:solidFill>
                  <a:srgbClr val="1A1A1A"/>
                </a:solidFill>
                <a:latin typeface="Adobe Clean"/>
              </a:rPr>
              <a:t>Use to prevent</a:t>
            </a:r>
            <a:r>
              <a:rPr lang="en-US" sz="1200" b="0" dirty="0">
                <a:solidFill>
                  <a:srgbClr val="1A1A1A"/>
                </a:solidFill>
                <a:latin typeface="Adobe Clean"/>
              </a:rPr>
              <a:t> 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abuse or accidental large uploads.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64" y="1300000"/>
            <a:ext cx="4352860" cy="4445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({</a:t>
            </a:r>
            <a:endParaRPr lang="en-US"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serverInfo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"echo-server",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version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"1.0.1" },</a:t>
            </a:r>
            <a:endParaRPr lang="en-US"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capabilities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true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[{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cfc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"...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serverCfcs.echo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 }],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// CORS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corsEnabled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corsAllowedOrigins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CED1D4"/>
                </a:solidFill>
                <a:latin typeface="Courier New"/>
              </a:rPr>
              <a:t>       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"https://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app.example.com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// Request size limit (bytes)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maxRequestBodySize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524288,</a:t>
            </a:r>
            <a:r>
              <a:rPr lang="en-US" sz="1100" b="0" dirty="0">
                <a:solidFill>
                  <a:srgbClr val="CED1D4"/>
                </a:solidFill>
                <a:latin typeface="Courier New"/>
              </a:rPr>
              <a:t> 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// 512 KB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85DBCD-D230-8AC7-5D4A-FDFCF593A7D0}"/>
              </a:ext>
            </a:extLst>
          </p:cNvPr>
          <p:cNvSpPr txBox="1"/>
          <p:nvPr/>
        </p:nvSpPr>
        <p:spPr>
          <a:xfrm>
            <a:off x="289040" y="4018001"/>
            <a:ext cx="66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sz="1200" b="0" dirty="0">
                <a:solidFill>
                  <a:srgbClr val="1A1A1A"/>
                </a:solidFill>
                <a:latin typeface="Adobe Clean"/>
              </a:rPr>
              <a:t>CORS is needed when the MCP client runs in a browser</a:t>
            </a:r>
            <a:r>
              <a:rPr lang="en-US" sz="1200" b="0" dirty="0">
                <a:solidFill>
                  <a:srgbClr val="1A1A1A"/>
                </a:solidFill>
                <a:latin typeface="Adobe Clean"/>
              </a:rPr>
              <a:t> 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on a different origin than the server.
</a:t>
            </a:r>
            <a:r>
              <a:rPr sz="1200" b="0" dirty="0" err="1">
                <a:solidFill>
                  <a:srgbClr val="1A1A1A"/>
                </a:solidFill>
                <a:latin typeface="Adobe Clean"/>
              </a:rPr>
              <a:t>corsAllowedOrigins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 restricts which domains can connect.</a:t>
            </a:r>
            <a:r>
              <a:rPr lang="en-US" sz="1200" b="0" dirty="0">
                <a:solidFill>
                  <a:srgbClr val="1A1A1A"/>
                </a:solidFill>
                <a:latin typeface="Adobe Clean"/>
              </a:rPr>
              <a:t> 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Combine with </a:t>
            </a:r>
            <a:r>
              <a:rPr sz="1200" b="0" dirty="0" err="1">
                <a:solidFill>
                  <a:srgbClr val="1A1A1A"/>
                </a:solidFill>
                <a:latin typeface="Adobe Clean"/>
              </a:rPr>
              <a:t>basicAuth</a:t>
            </a:r>
            <a:r>
              <a:rPr sz="1200" b="0" dirty="0">
                <a:solidFill>
                  <a:srgbClr val="1A1A1A"/>
                </a:solidFill>
                <a:latin typeface="Adobe Clean"/>
              </a:rPr>
              <a:t> for defense in depth.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0000" y="2867432"/>
            <a:ext cx="24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5720" y="2890292"/>
            <a:ext cx="2308560" cy="33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EB1000"/>
                </a:solidFill>
                <a:latin typeface="Courier New"/>
              </a:rPr>
              <a:t>commandWhitelist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50000" y="2867432"/>
            <a:ext cx="10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95720" y="2890292"/>
            <a:ext cx="908560" cy="33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50000" y="2867432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5720" y="2890292"/>
            <a:ext cx="3208560" cy="33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Allowed STDIO commands (security)</a:t>
            </a:r>
          </a:p>
        </p:txBody>
      </p:sp>
    </p:spTree>
    <p:extLst>
      <p:ext uri="{BB962C8B-B14F-4D97-AF65-F5344CB8AC3E}">
        <p14:creationId xmlns:p14="http://schemas.microsoft.com/office/powerpoint/2010/main" val="18603138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3C858-6528-76C9-DFCC-20328590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5302-6677-1071-7F19-EF0E2BE2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11</a:t>
            </a:r>
            <a:endParaRPr sz="3200" b="1" dirty="0">
              <a:solidFill>
                <a:srgbClr val="000000"/>
              </a:solidFill>
            </a:endParaRPr>
          </a:p>
          <a:p>
            <a:r>
              <a:rPr lang="en-US" sz="3200" dirty="0">
                <a:solidFill>
                  <a:srgbClr val="EB1000"/>
                </a:solidFill>
              </a:rPr>
              <a:t>MCP configs</a:t>
            </a:r>
            <a:r>
              <a:rPr lang="en-US" sz="3200" b="1" dirty="0">
                <a:solidFill>
                  <a:srgbClr val="EB1000"/>
                </a:solidFill>
              </a:rPr>
              <a:t> - </a:t>
            </a:r>
            <a:r>
              <a:rPr lang="en-US" sz="3200" dirty="0" err="1">
                <a:solidFill>
                  <a:srgbClr val="EB1000"/>
                </a:solidFill>
              </a:rPr>
              <a:t>BulkLoading</a:t>
            </a:r>
            <a:r>
              <a:rPr lang="en-US" sz="3200" dirty="0">
                <a:solidFill>
                  <a:srgbClr val="EB1000"/>
                </a:solidFill>
              </a:rPr>
              <a:t> </a:t>
            </a:r>
            <a:r>
              <a:rPr lang="en-US" sz="3200" b="1" dirty="0">
                <a:solidFill>
                  <a:srgbClr val="EB1000"/>
                </a:solidFill>
              </a:rPr>
              <a:t>&amp;</a:t>
            </a:r>
            <a:r>
              <a:rPr lang="en-US" sz="3200" dirty="0">
                <a:solidFill>
                  <a:srgbClr val="EB1000"/>
                </a:solidFill>
              </a:rPr>
              <a:t> CF Admin</a:t>
            </a:r>
            <a:endParaRPr sz="3200" b="1" dirty="0">
              <a:solidFill>
                <a:srgbClr val="EB1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425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Bulk Loading — JSON Config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864" y="1345720"/>
            <a:ext cx="2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JSON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50000" y="1300000"/>
            <a:ext cx="12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04864" y="1345720"/>
            <a:ext cx="10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Transport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4864" y="1345720"/>
            <a:ext cx="3190272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700000"/>
            <a:ext cx="22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4864" y="1727432"/>
            <a:ext cx="2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mcpServers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0000" y="1700000"/>
            <a:ext cx="12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4864" y="1727432"/>
            <a:ext cx="1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0000" y="170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4864" y="17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Root object containing server entries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2080000"/>
            <a:ext cx="22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864" y="2107432"/>
            <a:ext cx="2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0000" y="2080000"/>
            <a:ext cx="12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4864" y="2107432"/>
            <a:ext cx="1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HTTP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0000" y="208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4864" y="210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Server endpoint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2460000"/>
            <a:ext cx="22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864" y="2487432"/>
            <a:ext cx="2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command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50000" y="2460000"/>
            <a:ext cx="12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4864" y="2487432"/>
            <a:ext cx="1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STDIO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0000" y="246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4864" y="248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Executable to spawn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2840000"/>
            <a:ext cx="22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864" y="2867432"/>
            <a:ext cx="2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args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0000" y="2840000"/>
            <a:ext cx="12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04864" y="2867432"/>
            <a:ext cx="1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0000" y="284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04864" y="286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Command arguments array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220000"/>
            <a:ext cx="22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864" y="3247432"/>
            <a:ext cx="2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env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50000" y="3220000"/>
            <a:ext cx="12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04864" y="3247432"/>
            <a:ext cx="1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STDIO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0000" y="3220000"/>
            <a:ext cx="330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04864" y="324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Environment variables (optional)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00" y="3600000"/>
            <a:ext cx="22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4864" y="3627432"/>
            <a:ext cx="2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1000"/>
                </a:solidFill>
                <a:latin typeface="Courier New"/>
              </a:rPr>
              <a:t>disabled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50000" y="3600000"/>
            <a:ext cx="12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04864" y="3627432"/>
            <a:ext cx="10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Both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50000" y="3600000"/>
            <a:ext cx="330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04864" y="3627432"/>
            <a:ext cx="3190272" cy="32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Adobe Clean"/>
              </a:rPr>
              <a:t>false to enable, true to skip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000" y="4130000"/>
            <a:ext cx="6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Adobe Clean"/>
              </a:rPr>
              <a:t>Each key under mcpServers becomes the server name.
HTTP servers need url; STDIO servers need command + args.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7136" y="122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B1000"/>
                </a:solidFill>
                <a:latin typeface="Adobe Clean"/>
              </a:rPr>
              <a:t>HTTP servers — </a:t>
            </a:r>
            <a:r>
              <a:rPr sz="1100" b="1" dirty="0" err="1">
                <a:solidFill>
                  <a:srgbClr val="EB1000"/>
                </a:solidFill>
                <a:latin typeface="Adobe Clean"/>
              </a:rPr>
              <a:t>mcp</a:t>
            </a:r>
            <a:r>
              <a:rPr sz="1100" b="1" dirty="0">
                <a:solidFill>
                  <a:srgbClr val="EB1000"/>
                </a:solidFill>
                <a:latin typeface="Adobe Clean"/>
              </a:rPr>
              <a:t>-http-</a:t>
            </a:r>
            <a:r>
              <a:rPr sz="1100" b="1" dirty="0" err="1">
                <a:solidFill>
                  <a:srgbClr val="EB1000"/>
                </a:solidFill>
                <a:latin typeface="Adobe Clean"/>
              </a:rPr>
              <a:t>servers.json</a:t>
            </a:r>
            <a:endParaRPr sz="1100" b="1" dirty="0">
              <a:solidFill>
                <a:srgbClr val="EB1000"/>
              </a:solidFill>
              <a:latin typeface="Adobe Cle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087136" y="1490000"/>
            <a:ext cx="5000000" cy="23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mcpServers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toolsServer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url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"http://localhost:8500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/MCP/</a:t>
            </a:r>
            <a:r>
              <a:rPr lang="en-US" sz="1100" dirty="0">
                <a:solidFill>
                  <a:srgbClr val="CED1D4"/>
                </a:solidFill>
                <a:latin typeface="Courier New"/>
              </a:rPr>
              <a:t>s1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.cfm",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"disabled"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methodServer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url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"http://localhost:8500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/MCP/</a:t>
            </a:r>
            <a:r>
              <a:rPr lang="en-US" sz="1100" dirty="0">
                <a:solidFill>
                  <a:srgbClr val="CED1D4"/>
                </a:solidFill>
                <a:latin typeface="Courier New"/>
              </a:rPr>
              <a:t>s2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.cfm",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"disabled"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7136" y="3870000"/>
            <a:ext cx="5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B1000"/>
                </a:solidFill>
                <a:latin typeface="Adobe Clean"/>
              </a:rPr>
              <a:t>STDIO servers — </a:t>
            </a:r>
            <a:r>
              <a:rPr sz="1100" b="1" dirty="0" err="1">
                <a:solidFill>
                  <a:srgbClr val="EB1000"/>
                </a:solidFill>
                <a:latin typeface="Adobe Clean"/>
              </a:rPr>
              <a:t>mcp-stdio-servers.json</a:t>
            </a:r>
            <a:endParaRPr sz="1100" b="1" dirty="0">
              <a:solidFill>
                <a:srgbClr val="EB1000"/>
              </a:solidFill>
              <a:latin typeface="Adobe Clean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087136" y="4090000"/>
            <a:ext cx="5000000" cy="24931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mcpServers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t</a:t>
            </a:r>
            <a:r>
              <a:rPr lang="en-US" sz="1100" b="1" dirty="0" err="1">
                <a:solidFill>
                  <a:srgbClr val="FFFFFF"/>
                </a:solidFill>
                <a:latin typeface="Courier New"/>
              </a:rPr>
              <a:t>ypeScript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Server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"command"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npx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args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["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tsx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 "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server.ts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"disabled"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javaServer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"command"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"java",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args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["-jar",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weather-server.jar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"env"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{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"JAVA_HOME"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"/Library/.../jdk-21"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"disabled"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Bulk Loading — MCPClient configFile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6400000" cy="38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// Path to the JSON 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jsonPath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expandPath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"./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-http-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servers.json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")</a:t>
            </a:r>
            <a:endParaRPr lang="en-IN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// Bulk-load: returns array of clients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mcpClients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({</a:t>
            </a:r>
            <a:endParaRPr lang="en-IN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200" b="1" dirty="0">
                <a:solidFill>
                  <a:srgbClr val="FFFFFF"/>
                </a:solidFill>
                <a:latin typeface="Courier New"/>
              </a:rPr>
              <a:t>    </a:t>
            </a:r>
            <a:r>
              <a:rPr lang="en-IN" sz="1200" b="1" dirty="0" err="1">
                <a:solidFill>
                  <a:srgbClr val="FFFFFF"/>
                </a:solidFill>
                <a:latin typeface="Courier New"/>
              </a:rPr>
              <a:t>configFile</a:t>
            </a:r>
            <a:r>
              <a:rPr lang="en-IN" sz="12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lang="en-IN" sz="1200" b="0" dirty="0" err="1">
                <a:solidFill>
                  <a:srgbClr val="CED1D4"/>
                </a:solidFill>
                <a:latin typeface="Courier New"/>
              </a:rPr>
              <a:t>jsonPath</a:t>
            </a:r>
            <a:endParaRPr lang="en-IN" sz="12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// Each entry is a live </a:t>
            </a:r>
            <a:r>
              <a:rPr sz="1200" dirty="0" err="1">
                <a:solidFill>
                  <a:srgbClr val="CED1D4"/>
                </a:solidFill>
                <a:latin typeface="Courier New"/>
              </a:rPr>
              <a:t>MCPClient</a:t>
            </a: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for (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client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in 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mcpClients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client.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listTools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for (</a:t>
            </a:r>
            <a:r>
              <a:rPr sz="1200" b="1" dirty="0">
                <a:solidFill>
                  <a:srgbClr val="FFFFFF"/>
                </a:solidFill>
                <a:latin typeface="Courier New"/>
              </a:rPr>
              <a:t>tool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in 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tools.tools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tool.name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ED1D4"/>
                </a:solidFill>
                <a:latin typeface="Courier New"/>
              </a:rPr>
              <a:t>// Also registered globally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allServers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ListMcpServers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Courier New"/>
              </a:rPr>
              <a:t>writeOutput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("Registered:" &amp; </a:t>
            </a:r>
            <a:r>
              <a:rPr sz="1200" b="1" dirty="0" err="1">
                <a:solidFill>
                  <a:srgbClr val="FFFFFF"/>
                </a:solidFill>
                <a:latin typeface="Courier New"/>
              </a:rPr>
              <a:t>arrayLen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200" b="0" dirty="0" err="1">
                <a:solidFill>
                  <a:srgbClr val="CED1D4"/>
                </a:solidFill>
                <a:latin typeface="Courier New"/>
              </a:rPr>
              <a:t>allServers</a:t>
            </a:r>
            <a:r>
              <a:rPr sz="1200" b="0" dirty="0">
                <a:solidFill>
                  <a:srgbClr val="CED1D4"/>
                </a:solidFill>
                <a:latin typeface="Courier New"/>
              </a:rPr>
              <a:t>))</a:t>
            </a:r>
            <a:r>
              <a:rPr sz="1200" dirty="0">
                <a:solidFill>
                  <a:srgbClr val="CED1D4"/>
                </a:solidFill>
                <a:latin typeface="Courier New"/>
              </a:rPr>
              <a:t>//Registered:2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CED1D4"/>
              </a:solidFill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00000" y="13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Adobe Clean"/>
              </a:rPr>
              <a:t>How it works: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1650000"/>
            <a:ext cx="50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configFile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19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Pass a JSON file path to MCPClient.
Returns an array of connected clients,
one per server entry in the 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0000" y="2450000"/>
            <a:ext cx="50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Auto-detection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0000" y="27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HTTP entries (with url) connect
via HTTP transport. STDIO entries
(with command) spawn child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000" y="3250000"/>
            <a:ext cx="50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disabled: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0000" y="35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Entries with disabled: true are
skipped during loading.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0000" y="4050000"/>
            <a:ext cx="50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ListMcpServers()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0000" y="43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All bulk-loaded servers are
registered globally and visible
to ListMcpServers().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0000" y="4850000"/>
            <a:ext cx="50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1000"/>
                </a:solidFill>
                <a:latin typeface="Adobe Clean"/>
              </a:rPr>
              <a:t>Mixed transports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51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Adobe Clean"/>
              </a:rPr>
              <a:t>A single JSON file can contain
both HTTP and STDIO servers.
Each gets the appropriate transport.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B0F38-2CCB-C4A6-4DE8-F44620A94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B6D0-952D-DE5F-FFFD-D3F985B4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Admin API — MCP Server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CFIDE.adminapi.mcp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saveMcpServers()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Adobe Clean"/>
              </a:rPr>
              <a:t>string</a:t>
            </a:r>
            <a:endParaRPr sz="1100" dirty="0">
              <a:solidFill>
                <a:srgbClr val="1A1A1A"/>
              </a:solidFill>
              <a:latin typeface="Adobe Cle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Register servers from JSON config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68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70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saveMcpServers() 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299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720" y="301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result.saved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0000" y="299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95720" y="301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Boolean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0000" y="299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5720" y="301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YES if saved, NO if validation failed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00" y="334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720" y="336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result.errors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0000" y="334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95720" y="336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0000" y="334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95720" y="336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Validation errors (empty on success)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0000" y="1300000"/>
            <a:ext cx="5000000" cy="34167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1. Admin login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admin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new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CFIDE.adminapi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administrator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admin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login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("admin")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mcpApi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new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CFIDE.adminapi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2. Load JSON 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jsonPath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expandPath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mcp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-http-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servers.json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parsed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deserializeJSON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fileRead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jsonPath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serverMap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parsed.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mcpServers</a:t>
            </a:r>
            <a:endParaRPr sz="1100" b="1" dirty="0">
              <a:solidFill>
                <a:srgbClr val="FFFF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1" dirty="0">
              <a:solidFill>
                <a:srgbClr val="FFFF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3. Save server configs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mcpApi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saveMcpServers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serializeJSON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serverMap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result.saved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// 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CED1D4"/>
                </a:solidFill>
                <a:latin typeface="Courier New"/>
              </a:rPr>
              <a:t>writeOutput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arrayLen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result.errors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admin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logout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179763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00CF-91EE-72A3-85A5-497F8D54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A9E9-E057-CB91-FCA3-1D5D7DC5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88879"/>
            <a:ext cx="10972800" cy="880241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Section </a:t>
            </a:r>
            <a:r>
              <a:rPr lang="en-US" sz="3200" b="1" dirty="0">
                <a:solidFill>
                  <a:srgbClr val="000000"/>
                </a:solidFill>
              </a:rPr>
              <a:t>12</a:t>
            </a:r>
            <a:endParaRPr sz="3200" b="1" dirty="0">
              <a:solidFill>
                <a:srgbClr val="000000"/>
              </a:solidFill>
            </a:endParaRPr>
          </a:p>
          <a:p>
            <a:r>
              <a:rPr lang="en-US" sz="3200" b="1" dirty="0">
                <a:solidFill>
                  <a:srgbClr val="EB1000"/>
                </a:solidFill>
              </a:rPr>
              <a:t>Integrating MCP with LLM service</a:t>
            </a:r>
            <a:endParaRPr sz="3200" b="1" dirty="0">
              <a:solidFill>
                <a:srgbClr val="EB1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9131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CF LLM API: ChatModel &amp;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1300000"/>
            <a:ext cx="24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5720" y="1336576"/>
            <a:ext cx="23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0000" y="1300000"/>
            <a:ext cx="10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5720" y="1336576"/>
            <a:ext cx="9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0000" y="1300000"/>
            <a:ext cx="3300000" cy="37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5720" y="1336576"/>
            <a:ext cx="32085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dobe Clean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670000"/>
            <a:ext cx="6700000" cy="310000"/>
          </a:xfrm>
          <a:prstGeom prst="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5720" y="169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ChatModel()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720" y="20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PROVIDER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000" y="19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95720" y="20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000" y="19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5720" y="20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"openai" | "anthropic" | "ollama" |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23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720" y="235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MODELNAME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0000" y="23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95720" y="23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0000" y="23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5720" y="23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"gpt-4o-mini", "claude-3-haiku", etc.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00" y="268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720" y="270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APIKEY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0000" y="268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95720" y="270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0000" y="268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5720" y="270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Provider API 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303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720" y="305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TEMPERATURE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50000" y="303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95720" y="305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Numeric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50000" y="303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5720" y="305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0.0 - 2.0 (lower = more deterministic)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000" y="3380000"/>
            <a:ext cx="6700000" cy="310000"/>
          </a:xfrm>
          <a:prstGeom prst="rect">
            <a:avLst/>
          </a:prstGeom>
          <a:solidFill>
            <a:srgbClr val="3A6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720" y="340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agent()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000" y="369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720" y="371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CHATMODEL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0000" y="369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95720" y="371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ChatModel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0000" y="369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5720" y="371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The LLM to use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404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720" y="406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TOOLS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50000" y="404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95720" y="406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Array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50000" y="404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95720" y="406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MCP clients or function 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000" y="439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5720" y="441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CHATMEMORY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50000" y="439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95720" y="441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Struct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50000" y="439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95720" y="441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Conversation memory config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000" y="4740000"/>
            <a:ext cx="6700000" cy="310000"/>
          </a:xfrm>
          <a:prstGeom prst="rect">
            <a:avLst/>
          </a:prstGeom>
          <a:solidFill>
            <a:srgbClr val="7B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5720" y="4762860"/>
            <a:ext cx="6608560" cy="264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dobe Clean"/>
              </a:rPr>
              <a:t>agent Methods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000" y="505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5720" y="507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B1000"/>
                </a:solidFill>
                <a:latin typeface="Courier New"/>
              </a:rPr>
              <a:t>systemMessage()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50000" y="505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95720" y="507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50000" y="505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95720" y="507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Set system prompt / persona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0000" y="5400000"/>
            <a:ext cx="24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5720" y="542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EB1000"/>
                </a:solidFill>
                <a:latin typeface="Courier New"/>
              </a:rPr>
              <a:t>chat()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50000" y="5400000"/>
            <a:ext cx="10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95720" y="542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String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50000" y="5400000"/>
            <a:ext cx="33000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95720" y="542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Send user message, get response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0000" y="5750000"/>
            <a:ext cx="24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5720" y="5772860"/>
            <a:ext cx="23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EB1000"/>
                </a:solidFill>
                <a:latin typeface="Courier New"/>
              </a:rPr>
              <a:t>ingest()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50000" y="5750000"/>
            <a:ext cx="1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95720" y="5772860"/>
            <a:ext cx="9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n/a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50000" y="5750000"/>
            <a:ext cx="33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95720" y="5772860"/>
            <a:ext cx="3208560" cy="30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Adobe Clean"/>
              </a:rPr>
              <a:t>Ingest documents for RAG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00000" y="1300000"/>
            <a:ext cx="5000000" cy="48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54864" rIns="54864" bIns="5486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APIP: 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ChatModel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 for classification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chatModel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ChatModel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PROVIDER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openai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MODELNAME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"gpt-4o-mini",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APIKEY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application.OPENAI_API_KEY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TEMPERATURE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0.1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Simple agent with system prompt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ai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agent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CHATMODEL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chatModel</a:t>
            </a: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Courier New"/>
              </a:rPr>
              <a:t>ai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systemMessage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"You are a ticket classifier.");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result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ai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chat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ticketText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b="0" dirty="0">
              <a:solidFill>
                <a:srgbClr val="CED1D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MCP-wired agent (APIP </a:t>
            </a:r>
            <a:r>
              <a:rPr sz="1100" dirty="0" err="1">
                <a:solidFill>
                  <a:srgbClr val="CED1D4"/>
                </a:solidFill>
                <a:latin typeface="Courier New"/>
              </a:rPr>
              <a:t>AgentService</a:t>
            </a:r>
            <a:r>
              <a:rPr sz="1100" dirty="0">
                <a:solidFill>
                  <a:srgbClr val="CED1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Courier New"/>
              </a:rPr>
              <a:t>ai</a:t>
            </a:r>
            <a:r>
              <a:rPr sz="1100" b="1" dirty="0" err="1">
                <a:solidFill>
                  <a:srgbClr val="FFFFFF"/>
                </a:solidFill>
                <a:latin typeface="Courier New"/>
              </a:rPr>
              <a:t>Agent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agent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CHATMODEL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chatModel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TOOLS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CED1D4"/>
                </a:solidFill>
                <a:latin typeface="Courier New"/>
              </a:rPr>
              <a:t>    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MCPCLIENT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: [</a:t>
            </a:r>
            <a:r>
              <a:rPr sz="1100" b="0" dirty="0" err="1">
                <a:solidFill>
                  <a:srgbClr val="CED1D4"/>
                </a:solidFill>
                <a:latin typeface="Courier New"/>
              </a:rPr>
              <a:t>mcpClient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CED1D4"/>
                </a:solidFill>
                <a:latin typeface="Courier New"/>
              </a:rPr>
              <a:t>// agent auto-calls MCP 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Courier New"/>
              </a:rPr>
              <a:t>answer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 = </a:t>
            </a:r>
            <a:r>
              <a:rPr lang="en-IN" sz="1100" b="1" dirty="0">
                <a:solidFill>
                  <a:srgbClr val="FFFFFF"/>
                </a:solidFill>
                <a:latin typeface="Courier New"/>
              </a:rPr>
              <a:t>Agent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.</a:t>
            </a:r>
            <a:r>
              <a:rPr sz="1100" b="1" dirty="0">
                <a:solidFill>
                  <a:srgbClr val="FFFFFF"/>
                </a:solidFill>
                <a:latin typeface="Courier New"/>
              </a:rPr>
              <a:t>chat</a:t>
            </a:r>
            <a:r>
              <a:rPr sz="1100" b="0" dirty="0">
                <a:solidFill>
                  <a:srgbClr val="CED1D4"/>
                </a:solidFill>
                <a:latin typeface="Courier New"/>
              </a:rPr>
              <a:t>(query);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99248" y="1417320"/>
            <a:ext cx="42519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dirty="0">
                <a:solidFill>
                  <a:srgbClr val="EB1000"/>
                </a:solidFill>
              </a:rPr>
              <a:t>What changed:</a:t>
            </a:r>
          </a:p>
          <a:p>
            <a:pPr>
              <a:spcBef>
                <a:spcPts val="300"/>
              </a:spcBef>
            </a:pPr>
            <a:r>
              <a:rPr dirty="0">
                <a:solidFill>
                  <a:srgbClr val="555555"/>
                </a:solidFill>
              </a:rPr>
              <a:t>  </a:t>
            </a:r>
            <a:r>
              <a:rPr dirty="0" err="1"/>
              <a:t>McpClient</a:t>
            </a:r>
            <a:r>
              <a:rPr dirty="0"/>
              <a:t>() added — MCP connection</a:t>
            </a:r>
          </a:p>
          <a:p>
            <a:pPr>
              <a:spcBef>
                <a:spcPts val="300"/>
              </a:spcBef>
            </a:pPr>
            <a:r>
              <a:rPr dirty="0"/>
              <a:t>  TOOLS now mixes CFC + MCP client</a:t>
            </a:r>
          </a:p>
          <a:p>
            <a:pPr>
              <a:spcBef>
                <a:spcPts val="300"/>
              </a:spcBef>
            </a:pPr>
            <a:r>
              <a:rPr dirty="0"/>
              <a:t>  </a:t>
            </a:r>
          </a:p>
          <a:p>
            <a:pPr>
              <a:spcBef>
                <a:spcPts val="300"/>
              </a:spcBef>
            </a:pPr>
            <a:endParaRPr dirty="0">
              <a:solidFill>
                <a:srgbClr val="555555"/>
              </a:solidFill>
            </a:endParaRPr>
          </a:p>
          <a:p>
            <a:pPr>
              <a:spcBef>
                <a:spcPts val="300"/>
              </a:spcBef>
            </a:pPr>
            <a:r>
              <a:rPr b="1" dirty="0">
                <a:solidFill>
                  <a:srgbClr val="EB1000"/>
                </a:solidFill>
              </a:rPr>
              <a:t>The </a:t>
            </a:r>
            <a:r>
              <a:rPr lang="en-US" b="1" dirty="0">
                <a:solidFill>
                  <a:srgbClr val="EB1000"/>
                </a:solidFill>
              </a:rPr>
              <a:t>APIP</a:t>
            </a:r>
            <a:r>
              <a:rPr b="1" dirty="0">
                <a:solidFill>
                  <a:srgbClr val="EB1000"/>
                </a:solidFill>
              </a:rPr>
              <a:t> stack:</a:t>
            </a:r>
          </a:p>
          <a:p>
            <a:pPr>
              <a:spcBef>
                <a:spcPts val="300"/>
              </a:spcBef>
            </a:pPr>
            <a:r>
              <a:rPr dirty="0">
                <a:solidFill>
                  <a:srgbClr val="555555"/>
                </a:solidFill>
              </a:rPr>
              <a:t>  </a:t>
            </a:r>
            <a:r>
              <a:rPr dirty="0" err="1"/>
              <a:t>ChatModel</a:t>
            </a:r>
            <a:r>
              <a:rPr dirty="0"/>
              <a:t>() → OpenAI GPT-4o-mini</a:t>
            </a:r>
          </a:p>
          <a:p>
            <a:pPr>
              <a:spcBef>
                <a:spcPts val="300"/>
              </a:spcBef>
            </a:pPr>
            <a:r>
              <a:rPr dirty="0"/>
              <a:t>  </a:t>
            </a:r>
            <a:r>
              <a:rPr dirty="0" err="1"/>
              <a:t>systemMessage</a:t>
            </a:r>
            <a:r>
              <a:rPr dirty="0"/>
              <a:t>() → </a:t>
            </a:r>
            <a:r>
              <a:rPr lang="en-US" dirty="0"/>
              <a:t>APIP</a:t>
            </a:r>
            <a:r>
              <a:rPr dirty="0"/>
              <a:t> identity</a:t>
            </a:r>
          </a:p>
          <a:p>
            <a:pPr>
              <a:spcBef>
                <a:spcPts val="300"/>
              </a:spcBef>
            </a:pPr>
            <a:r>
              <a:rPr dirty="0"/>
              <a:t>  CHATMEMORY → 20-turn history</a:t>
            </a:r>
          </a:p>
          <a:p>
            <a:pPr>
              <a:spcBef>
                <a:spcPts val="300"/>
              </a:spcBef>
            </a:pPr>
            <a:r>
              <a:rPr lang="en-US" dirty="0"/>
              <a:t>  </a:t>
            </a:r>
            <a:r>
              <a:rPr dirty="0" err="1"/>
              <a:t>SupportTool</a:t>
            </a:r>
            <a:r>
              <a:rPr dirty="0"/>
              <a:t> (CFC) → order lookup</a:t>
            </a:r>
            <a:endParaRPr lang="en-US" dirty="0"/>
          </a:p>
          <a:p>
            <a:pPr>
              <a:spcBef>
                <a:spcPts val="300"/>
              </a:spcBef>
            </a:pPr>
            <a:endParaRPr sz="1100" dirty="0">
              <a:solidFill>
                <a:srgbClr val="107C1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" y="1216152"/>
            <a:ext cx="6621529" cy="2210798"/>
          </a:xfrm>
          <a:prstGeom prst="rect">
            <a:avLst/>
          </a:prstGeom>
          <a:solidFill>
            <a:srgbClr val="000000"/>
          </a:solidFill>
        </p:spPr>
        <p:txBody>
          <a:bodyPr wrap="square" lIns="109728" tIns="82296" bIns="64008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>
                <a:solidFill>
                  <a:srgbClr val="6A9955"/>
                </a:solidFill>
                <a:latin typeface="Courier New"/>
              </a:rPr>
              <a:t>// 1. Connect to MCP server (HTTP transport)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 err="1">
                <a:solidFill>
                  <a:srgbClr val="9CDCFE"/>
                </a:solidFill>
                <a:latin typeface="Courier New"/>
              </a:rPr>
              <a:t>mcpServerUrl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 = 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"http:</a:t>
            </a:r>
            <a:r>
              <a:rPr lang="en-US" sz="1300" b="0" dirty="0">
                <a:solidFill>
                  <a:srgbClr val="CE9178"/>
                </a:solidFill>
                <a:latin typeface="Courier New"/>
              </a:rPr>
              <a:t>/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/</a:t>
            </a:r>
            <a:r>
              <a:rPr sz="1300" b="0" dirty="0" err="1">
                <a:solidFill>
                  <a:srgbClr val="CE9178"/>
                </a:solidFill>
                <a:latin typeface="Courier New"/>
              </a:rPr>
              <a:t>mcp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/</a:t>
            </a:r>
            <a:r>
              <a:rPr sz="1300" b="0" dirty="0" err="1">
                <a:solidFill>
                  <a:srgbClr val="CE9178"/>
                </a:solidFill>
                <a:latin typeface="Courier New"/>
              </a:rPr>
              <a:t>server.cfm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sz="13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 err="1">
                <a:solidFill>
                  <a:srgbClr val="9CDCFE"/>
                </a:solidFill>
                <a:latin typeface="Courier New"/>
              </a:rPr>
              <a:t>mcpClient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 = </a:t>
            </a:r>
            <a:r>
              <a:rPr sz="1300" b="0" dirty="0" err="1">
                <a:solidFill>
                  <a:srgbClr val="4EC9B0"/>
                </a:solidFill>
                <a:latin typeface="Courier New"/>
              </a:rPr>
              <a:t>McpClient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({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300" b="0" dirty="0">
                <a:solidFill>
                  <a:srgbClr val="9CDCFE"/>
                </a:solidFill>
                <a:latin typeface="Courier New"/>
              </a:rPr>
              <a:t>transport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  : { </a:t>
            </a:r>
            <a:r>
              <a:rPr sz="1300" b="0" dirty="0" err="1">
                <a:solidFill>
                  <a:srgbClr val="9CDCFE"/>
                </a:solidFill>
                <a:latin typeface="Courier New"/>
              </a:rPr>
              <a:t>type</a:t>
            </a:r>
            <a:r>
              <a:rPr sz="1300" b="0" dirty="0" err="1">
                <a:solidFill>
                  <a:srgbClr val="D4D4D4"/>
                </a:solidFill>
                <a:latin typeface="Courier New"/>
              </a:rPr>
              <a:t>:</a:t>
            </a:r>
            <a:r>
              <a:rPr sz="1300" b="0" dirty="0" err="1">
                <a:solidFill>
                  <a:srgbClr val="CE9178"/>
                </a:solidFill>
                <a:latin typeface="Courier New"/>
              </a:rPr>
              <a:t>"HTTP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dirty="0" err="1">
                <a:solidFill>
                  <a:srgbClr val="9CDCFE"/>
                </a:solidFill>
                <a:latin typeface="Courier New"/>
              </a:rPr>
              <a:t>URL</a:t>
            </a:r>
            <a:r>
              <a:rPr sz="1300" b="0" dirty="0" err="1">
                <a:solidFill>
                  <a:srgbClr val="D4D4D4"/>
                </a:solidFill>
                <a:latin typeface="Courier New"/>
              </a:rPr>
              <a:t>:</a:t>
            </a:r>
            <a:r>
              <a:rPr sz="1300" b="0" dirty="0" err="1">
                <a:solidFill>
                  <a:srgbClr val="9CDCFE"/>
                </a:solidFill>
                <a:latin typeface="Courier New"/>
              </a:rPr>
              <a:t>mcpServerUrl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 },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300" b="0" dirty="0" err="1">
                <a:solidFill>
                  <a:srgbClr val="9CDCFE"/>
                </a:solidFill>
                <a:latin typeface="Courier New"/>
              </a:rPr>
              <a:t>clientInfo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 : { </a:t>
            </a:r>
            <a:r>
              <a:rPr sz="1300" b="0" dirty="0">
                <a:solidFill>
                  <a:srgbClr val="9CDCFE"/>
                </a:solidFill>
                <a:latin typeface="Courier New"/>
              </a:rPr>
              <a:t>name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: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lang="en-US" sz="1300" b="0" dirty="0" err="1">
                <a:solidFill>
                  <a:srgbClr val="CE9178"/>
                </a:solidFill>
                <a:latin typeface="Courier New"/>
              </a:rPr>
              <a:t>apip</a:t>
            </a:r>
            <a:r>
              <a:rPr lang="en-US" sz="1300" b="0" dirty="0">
                <a:solidFill>
                  <a:srgbClr val="CE9178"/>
                </a:solidFill>
                <a:latin typeface="Courier New"/>
              </a:rPr>
              <a:t>-agent-client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dirty="0">
                <a:solidFill>
                  <a:srgbClr val="9CDCFE"/>
                </a:solidFill>
                <a:latin typeface="Courier New"/>
              </a:rPr>
              <a:t>version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:</a:t>
            </a:r>
            <a:r>
              <a:rPr sz="1300" b="0" dirty="0">
                <a:solidFill>
                  <a:srgbClr val="CE9178"/>
                </a:solidFill>
                <a:latin typeface="Courier New"/>
              </a:rPr>
              <a:t>"1.0"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},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300" b="0" dirty="0" err="1">
                <a:solidFill>
                  <a:srgbClr val="9CDCFE"/>
                </a:solidFill>
                <a:latin typeface="Courier New"/>
              </a:rPr>
              <a:t>requestTimeout</a:t>
            </a:r>
            <a:r>
              <a:rPr sz="1300" b="0" dirty="0">
                <a:solidFill>
                  <a:srgbClr val="D4D4D4"/>
                </a:solidFill>
                <a:latin typeface="Courier New"/>
              </a:rPr>
              <a:t>: </a:t>
            </a:r>
            <a:r>
              <a:rPr sz="1300" b="0" dirty="0">
                <a:solidFill>
                  <a:srgbClr val="B5CEA8"/>
                </a:solidFill>
                <a:latin typeface="Courier New"/>
              </a:rPr>
              <a:t>30</a:t>
            </a:r>
            <a:endParaRPr lang="en-US" sz="1300" b="0" dirty="0">
              <a:solidFill>
                <a:srgbClr val="B5CEA8"/>
              </a:solidFill>
              <a:latin typeface="Courier New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sz="1300" b="0" dirty="0">
              <a:solidFill>
                <a:srgbClr val="B5CEA8"/>
              </a:solidFill>
              <a:latin typeface="Courier New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00" b="0" dirty="0">
                <a:solidFill>
                  <a:srgbClr val="D4D4D4"/>
                </a:solidFill>
                <a:latin typeface="Courier New"/>
              </a:rP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3840480"/>
            <a:ext cx="6621529" cy="2901564"/>
          </a:xfrm>
          <a:prstGeom prst="rect">
            <a:avLst/>
          </a:prstGeom>
          <a:solidFill>
            <a:srgbClr val="000000"/>
          </a:solidFill>
        </p:spPr>
        <p:txBody>
          <a:bodyPr wrap="square" lIns="109728" tIns="82296" bIns="64008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6A9955"/>
                </a:solidFill>
                <a:latin typeface="Courier New"/>
              </a:rPr>
              <a:t>// 2. Mix CFC tool (direct) + MCP tool (network)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 err="1">
                <a:solidFill>
                  <a:srgbClr val="9CDCFE"/>
                </a:solidFill>
                <a:latin typeface="Courier New"/>
              </a:rPr>
              <a:t>supportTool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= </a:t>
            </a:r>
            <a:r>
              <a:rPr sz="1200" b="0" dirty="0" err="1">
                <a:solidFill>
                  <a:srgbClr val="4EC9B0"/>
                </a:solidFill>
                <a:latin typeface="Courier New"/>
              </a:rPr>
              <a:t>createObject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200" b="0" dirty="0">
                <a:solidFill>
                  <a:srgbClr val="CE9178"/>
                </a:solidFill>
                <a:latin typeface="Courier New"/>
              </a:rPr>
              <a:t>"component"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sz="1200" b="0" dirty="0" err="1">
                <a:solidFill>
                  <a:srgbClr val="CE9178"/>
                </a:solidFill>
                <a:latin typeface="Courier New"/>
              </a:rPr>
              <a:t>SupportTool</a:t>
            </a:r>
            <a:r>
              <a:rPr sz="12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200" b="0" dirty="0" err="1">
                <a:solidFill>
                  <a:srgbClr val="9CDCFE"/>
                </a:solidFill>
                <a:latin typeface="Courier New"/>
              </a:rPr>
              <a:t>application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.</a:t>
            </a:r>
            <a:r>
              <a:rPr lang="en-US" sz="1200" dirty="0" err="1">
                <a:solidFill>
                  <a:srgbClr val="9CDCFE"/>
                </a:solidFill>
                <a:latin typeface="Courier New"/>
              </a:rPr>
              <a:t>agentService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= </a:t>
            </a:r>
            <a:r>
              <a:rPr sz="1200" b="0" dirty="0">
                <a:solidFill>
                  <a:srgbClr val="4EC9B0"/>
                </a:solidFill>
                <a:latin typeface="Courier New"/>
              </a:rPr>
              <a:t>agent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({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200" b="0" dirty="0">
                <a:solidFill>
                  <a:srgbClr val="9CDCFE"/>
                </a:solidFill>
                <a:latin typeface="Courier New"/>
              </a:rPr>
              <a:t>CHATMODEL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 : </a:t>
            </a:r>
            <a:r>
              <a:rPr sz="1200" b="0" dirty="0" err="1">
                <a:solidFill>
                  <a:srgbClr val="9CDCFE"/>
                </a:solidFill>
                <a:latin typeface="Courier New"/>
              </a:rPr>
              <a:t>chatModel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,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200" b="0" dirty="0">
                <a:solidFill>
                  <a:srgbClr val="9CDCFE"/>
                </a:solidFill>
                <a:latin typeface="Courier New"/>
              </a:rPr>
              <a:t>CHATMEMORY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: { </a:t>
            </a:r>
            <a:r>
              <a:rPr sz="1200" b="0" dirty="0">
                <a:solidFill>
                  <a:srgbClr val="9CDCFE"/>
                </a:solidFill>
                <a:latin typeface="Courier New"/>
              </a:rPr>
              <a:t>MAXMESSAGES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: </a:t>
            </a:r>
            <a:r>
              <a:rPr sz="1200" b="0" dirty="0">
                <a:solidFill>
                  <a:srgbClr val="B5CEA8"/>
                </a:solidFill>
                <a:latin typeface="Courier New"/>
              </a:rPr>
              <a:t>20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},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200" b="0" dirty="0">
                <a:solidFill>
                  <a:srgbClr val="9CDCFE"/>
                </a:solidFill>
                <a:latin typeface="Courier New"/>
              </a:rPr>
              <a:t>TOOLS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     : [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    { </a:t>
            </a:r>
            <a:r>
              <a:rPr sz="1200" b="0" dirty="0">
                <a:solidFill>
                  <a:srgbClr val="9CDCFE"/>
                </a:solidFill>
                <a:latin typeface="Courier New"/>
              </a:rPr>
              <a:t>CFC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: </a:t>
            </a:r>
            <a:r>
              <a:rPr sz="12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urier New"/>
              </a:rPr>
              <a:t>APIP.tools.TicketProcessor</a:t>
            </a:r>
            <a:r>
              <a:rPr lang="en-IN" sz="1200" dirty="0">
                <a:solidFill>
                  <a:srgbClr val="CE9178"/>
                </a:solidFill>
                <a:latin typeface="Courier New"/>
              </a:rPr>
              <a:t> </a:t>
            </a:r>
            <a:r>
              <a:rPr sz="1200" b="0" dirty="0">
                <a:solidFill>
                  <a:srgbClr val="CE9178"/>
                </a:solidFill>
                <a:latin typeface="Courier New"/>
              </a:rPr>
              <a:t>"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},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    { </a:t>
            </a:r>
            <a:r>
              <a:rPr sz="1200" b="0" dirty="0" err="1">
                <a:solidFill>
                  <a:srgbClr val="9CDCFE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: [</a:t>
            </a:r>
            <a:r>
              <a:rPr sz="1200" b="0" dirty="0" err="1">
                <a:solidFill>
                  <a:srgbClr val="9CDCFE"/>
                </a:solidFill>
                <a:latin typeface="Courier New"/>
              </a:rPr>
              <a:t>mcpClient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] }   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// ← MCP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]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});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200" dirty="0" err="1">
                <a:solidFill>
                  <a:srgbClr val="9CDCFE"/>
                </a:solidFill>
                <a:latin typeface="Courier New"/>
              </a:rPr>
              <a:t>application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.</a:t>
            </a:r>
            <a:r>
              <a:rPr lang="en-US" sz="1200" dirty="0" err="1">
                <a:solidFill>
                  <a:srgbClr val="9CDCFE"/>
                </a:solidFill>
                <a:latin typeface="Courier New"/>
              </a:rPr>
              <a:t>agentService.</a:t>
            </a:r>
            <a:r>
              <a:rPr sz="1200" b="0" dirty="0" err="1">
                <a:solidFill>
                  <a:srgbClr val="4EC9B0"/>
                </a:solidFill>
                <a:latin typeface="Courier New"/>
              </a:rPr>
              <a:t>systemMessage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( </a:t>
            </a:r>
            <a:r>
              <a:rPr sz="1200" b="0" dirty="0">
                <a:solidFill>
                  <a:srgbClr val="CE9178"/>
                </a:solidFill>
                <a:latin typeface="Courier New"/>
              </a:rPr>
              <a:t>"..."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);</a:t>
            </a:r>
            <a:endParaRPr lang="en-US"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sz="1200" b="0" dirty="0">
              <a:solidFill>
                <a:srgbClr val="D4D4D4"/>
              </a:solidFill>
              <a:latin typeface="Courier New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C142C4-89CC-26C1-A5E5-B0D2699598DC}"/>
              </a:ext>
            </a:extLst>
          </p:cNvPr>
          <p:cNvSpPr txBox="1">
            <a:spLocks/>
          </p:cNvSpPr>
          <p:nvPr/>
        </p:nvSpPr>
        <p:spPr>
          <a:xfrm>
            <a:off x="685800" y="329427"/>
            <a:ext cx="10972800" cy="946389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200" spc="-50" baseline="0">
                <a:solidFill>
                  <a:schemeClr val="tx1"/>
                </a:solidFill>
                <a:latin typeface="Adobe Clean Display Black" panose="020B0303020404020204" pitchFamily="34" charset="77"/>
                <a:ea typeface="+mj-ea"/>
                <a:cs typeface="+mj-cs"/>
              </a:defRPr>
            </a:lvl1pPr>
          </a:lstStyle>
          <a:p>
            <a:r>
              <a:rPr lang="en-IN" sz="2600" dirty="0"/>
              <a:t>Configure </a:t>
            </a:r>
            <a:r>
              <a:rPr lang="en-IN" sz="2600" dirty="0" err="1"/>
              <a:t>MCPClient</a:t>
            </a:r>
            <a:r>
              <a:rPr lang="en-IN" sz="2600" dirty="0"/>
              <a:t> in Agent API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0"/>
              </p:prevCondLst>
            </p:seq>
          </p:childTnLst>
        </p:cTn>
      </p:par>
    </p:tnLst>
    <p:bldLst>
      <p:bldP spid="4" grpId="0"/>
      <p:bldP spid="7" grpId="0" animBg="1"/>
      <p:bldP spid="7" grpId="1" animBg="1"/>
      <p:bldP spid="8" grpId="0" animBg="1"/>
      <p:bldP spid="8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89888"/>
            <a:ext cx="114300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</a:rPr>
              <a:t>MCP is a standard — write once, connect to any AI model or client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</a:rPr>
              <a:t>Three server primitives — Tools (model calls), Resources (app provides), Prompts (user selects)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</a:rPr>
              <a:t>Sampling flips the flow — servers request AI completions without knowing which LLM the client uses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FFFFFF"/>
                </a:solidFill>
              </a:rPr>
              <a:t>c</a:t>
            </a:r>
            <a:r>
              <a:rPr sz="1600" dirty="0" err="1">
                <a:solidFill>
                  <a:srgbClr val="FFFFFF"/>
                </a:solidFill>
              </a:rPr>
              <a:t>hatModel</a:t>
            </a:r>
            <a:r>
              <a:rPr sz="1600" dirty="0">
                <a:solidFill>
                  <a:srgbClr val="FFFFFF"/>
                </a:solidFill>
              </a:rPr>
              <a:t> + </a:t>
            </a:r>
            <a:r>
              <a:rPr lang="en-US" sz="1600" dirty="0">
                <a:solidFill>
                  <a:srgbClr val="FFFFFF"/>
                </a:solidFill>
              </a:rPr>
              <a:t>agent</a:t>
            </a:r>
            <a:r>
              <a:rPr sz="1600" dirty="0">
                <a:solidFill>
                  <a:srgbClr val="FFFFFF"/>
                </a:solidFill>
              </a:rPr>
              <a:t> — CF's native LLM API, supports OpenAI/Gemini/Anthropic/</a:t>
            </a:r>
            <a:r>
              <a:rPr sz="1600" dirty="0" err="1">
                <a:solidFill>
                  <a:srgbClr val="FFFFFF"/>
                </a:solidFill>
              </a:rPr>
              <a:t>Ollama</a:t>
            </a:r>
            <a:endParaRPr sz="1600" dirty="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</a:rPr>
              <a:t>Pass </a:t>
            </a:r>
            <a:r>
              <a:rPr sz="1600" dirty="0" err="1">
                <a:solidFill>
                  <a:srgbClr val="FFFFFF"/>
                </a:solidFill>
              </a:rPr>
              <a:t>MCPClient</a:t>
            </a:r>
            <a:r>
              <a:rPr sz="1600" dirty="0">
                <a:solidFill>
                  <a:srgbClr val="FFFFFF"/>
                </a:solidFill>
              </a:rPr>
              <a:t> into </a:t>
            </a:r>
            <a:r>
              <a:rPr lang="en-US" sz="1600" dirty="0">
                <a:solidFill>
                  <a:srgbClr val="FFFFFF"/>
                </a:solidFill>
              </a:rPr>
              <a:t>Agent</a:t>
            </a:r>
            <a:r>
              <a:rPr sz="1600" dirty="0">
                <a:solidFill>
                  <a:srgbClr val="FFFFFF"/>
                </a:solidFill>
              </a:rPr>
              <a:t> — LLM orchestrates MCP tools autonomously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</a:rPr>
              <a:t>Security is built in — CORS, Basic Auth, body size limits, roots scoping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</a:rPr>
              <a:t>Admin API — register and manage servers without restarts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90391"/>
            <a:ext cx="10972800" cy="1077218"/>
          </a:xfrm>
        </p:spPr>
        <p:txBody>
          <a:bodyPr/>
          <a:lstStyle/>
          <a:p>
            <a:r>
              <a:rPr sz="3200" b="1" dirty="0">
                <a:solidFill>
                  <a:srgbClr val="000000"/>
                </a:solidFill>
              </a:rPr>
              <a:t>Appendix</a:t>
            </a:r>
          </a:p>
          <a:p>
            <a:r>
              <a:rPr sz="3200" b="1" dirty="0">
                <a:solidFill>
                  <a:srgbClr val="EB1000"/>
                </a:solidFill>
              </a:rPr>
              <a:t>Quick Reference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F2E3-67EB-F7EC-771A-142102C6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196F-FCE6-9B1F-3271-561C58F5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References</a:t>
            </a:r>
            <a:endParaRPr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014FB-BCF1-1CAF-BF77-63AF443279FE}"/>
              </a:ext>
            </a:extLst>
          </p:cNvPr>
          <p:cNvSpPr txBox="1"/>
          <p:nvPr/>
        </p:nvSpPr>
        <p:spPr>
          <a:xfrm>
            <a:off x="502920" y="1389888"/>
            <a:ext cx="11430000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IN" sz="1600" dirty="0">
                <a:solidFill>
                  <a:srgbClr val="FFFFFF"/>
                </a:solidFill>
              </a:rPr>
              <a:t>https://</a:t>
            </a:r>
            <a:r>
              <a:rPr lang="en-IN" sz="1600" dirty="0" err="1">
                <a:solidFill>
                  <a:srgbClr val="FFFFFF"/>
                </a:solidFill>
              </a:rPr>
              <a:t>modelcontextprotocol.io</a:t>
            </a:r>
            <a:r>
              <a:rPr lang="en-IN" sz="1600" dirty="0">
                <a:solidFill>
                  <a:srgbClr val="FFFFFF"/>
                </a:solidFill>
              </a:rPr>
              <a:t>/specification/</a:t>
            </a:r>
            <a:endParaRPr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6757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obe Template 2026">
  <a:themeElements>
    <a:clrScheme name="Adobe 2024">
      <a:dk1>
        <a:srgbClr val="000000"/>
      </a:dk1>
      <a:lt1>
        <a:srgbClr val="FFFFFF"/>
      </a:lt1>
      <a:dk2>
        <a:srgbClr val="2C2C2C"/>
      </a:dk2>
      <a:lt2>
        <a:srgbClr val="F5F5F5"/>
      </a:lt2>
      <a:accent1>
        <a:srgbClr val="0AA35B"/>
      </a:accent1>
      <a:accent2>
        <a:srgbClr val="3A63F9"/>
      </a:accent2>
      <a:accent3>
        <a:srgbClr val="FF66CC"/>
      </a:accent3>
      <a:accent4>
        <a:srgbClr val="FFA311"/>
      </a:accent4>
      <a:accent5>
        <a:srgbClr val="F3C600"/>
      </a:accent5>
      <a:accent6>
        <a:srgbClr val="EB1000"/>
      </a:accent6>
      <a:hlink>
        <a:srgbClr val="5F5F5F"/>
      </a:hlink>
      <a:folHlink>
        <a:srgbClr val="919191"/>
      </a:folHlink>
    </a:clrScheme>
    <a:fontScheme name="Adobe Corporate Fonts">
      <a:majorFont>
        <a:latin typeface="Adobe Clean Display Black"/>
        <a:ea typeface=""/>
        <a:cs typeface=""/>
      </a:majorFont>
      <a:minorFont>
        <a:latin typeface="Adobe Cle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4C4C4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10000"/>
          </a:lnSpc>
          <a:spcBef>
            <a:spcPts val="9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FCA518-E110-7A4E-8C23-7E933C39BA21}">
  <we:reference id="6a7bd4f3-0563-43af-8c08-79110eebdff6" version="1.1.4.0" store="EXCatalog" storeType="EXCatalog"/>
  <we:alternateReferences>
    <we:reference id="WA104381155" version="1.1.4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C1E330420DBD418D5B620A8C9D53C3" ma:contentTypeVersion="4" ma:contentTypeDescription="Create a new document." ma:contentTypeScope="" ma:versionID="161ebf91384bd4ce04c6344ec46ffba0">
  <xsd:schema xmlns:xsd="http://www.w3.org/2001/XMLSchema" xmlns:xs="http://www.w3.org/2001/XMLSchema" xmlns:p="http://schemas.microsoft.com/office/2006/metadata/properties" xmlns:ns2="6b0ab358-a088-4e6e-bfec-d9b12e2052a0" targetNamespace="http://schemas.microsoft.com/office/2006/metadata/properties" ma:root="true" ma:fieldsID="b22a944ac4c21b7b41787822d4746f96" ns2:_="">
    <xsd:import namespace="6b0ab358-a088-4e6e-bfec-d9b12e2052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ab358-a088-4e6e-bfec-d9b12e2052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069ECC-20E0-49A9-BB05-2E7CAA2C58E1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6b0ab358-a088-4e6e-bfec-d9b12e2052a0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77CB1AD-E214-46C5-86F9-85C8F29FA0E6}">
  <ds:schemaRefs>
    <ds:schemaRef ds:uri="6b0ab358-a088-4e6e-bfec-d9b12e2052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C468D7-2A62-4899-BEF3-AA07431EA7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2098</TotalTime>
  <Words>7389</Words>
  <Application>Microsoft Macintosh PowerPoint</Application>
  <PresentationFormat>Widescreen</PresentationFormat>
  <Paragraphs>1722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Adobe Clean</vt:lpstr>
      <vt:lpstr>Adobe Clean Display Black</vt:lpstr>
      <vt:lpstr>Arial</vt:lpstr>
      <vt:lpstr>Calibri</vt:lpstr>
      <vt:lpstr>Courier New</vt:lpstr>
      <vt:lpstr>Helvetica Neue</vt:lpstr>
      <vt:lpstr>System Font Regular</vt:lpstr>
      <vt:lpstr>Wingdings</vt:lpstr>
      <vt:lpstr>Adobe Template 2026</vt:lpstr>
      <vt:lpstr>MCP in ColdFusion
Building AI-Connected Applications</vt:lpstr>
      <vt:lpstr>Introduction &amp; Agenda</vt:lpstr>
      <vt:lpstr>Agenda</vt:lpstr>
      <vt:lpstr>The Problem</vt:lpstr>
      <vt:lpstr>Section 1 What Is MCP &amp; How It Works</vt:lpstr>
      <vt:lpstr>What Is MCP?</vt:lpstr>
      <vt:lpstr>Server Features - The Three Primitives</vt:lpstr>
      <vt:lpstr>Architecture Overview</vt:lpstr>
      <vt:lpstr>The Session Lifecycle</vt:lpstr>
      <vt:lpstr>Section 2 Your First Server &amp; Client</vt:lpstr>
      <vt:lpstr>Your First MCP Server</vt:lpstr>
      <vt:lpstr>Your First MCP Client — Echo Tool Call</vt:lpstr>
      <vt:lpstr>Section 3 Server &amp; Client Configuration</vt:lpstr>
      <vt:lpstr>McpServer — Core Configuration</vt:lpstr>
      <vt:lpstr>McpServer - Methods Config </vt:lpstr>
      <vt:lpstr>McpServer — Prompts Configuration</vt:lpstr>
      <vt:lpstr>McpServer — Resources Configuration</vt:lpstr>
      <vt:lpstr>MCPClient — HTTP Transport</vt:lpstr>
      <vt:lpstr>MCPClient — STDIO Transport</vt:lpstr>
      <vt:lpstr>HTTP vs STDIO Transport</vt:lpstr>
      <vt:lpstr>MCPClient — Capabilities &amp; Timeouts</vt:lpstr>
      <vt:lpstr>Section 4 MCP Functions</vt:lpstr>
      <vt:lpstr>MCPClient — Methods (1/2)</vt:lpstr>
      <vt:lpstr>MCPClient — Methods (2/2)</vt:lpstr>
      <vt:lpstr>MCP Server Management Functions</vt:lpstr>
      <vt:lpstr>Section 5 Tools : Callable Functions</vt:lpstr>
      <vt:lpstr>Tools — Server Config &amp; CFC Discovery</vt:lpstr>
      <vt:lpstr>Defining a Tool — TicketProcessor.cfc</vt:lpstr>
      <vt:lpstr>Tools — Selective Method Exposure</vt:lpstr>
      <vt:lpstr>Calling Tools — listTools &amp; callTool</vt:lpstr>
      <vt:lpstr>Section 6 Resources </vt:lpstr>
      <vt:lpstr>Resources: What They Are</vt:lpstr>
      <vt:lpstr>Resources — Server Config</vt:lpstr>
      <vt:lpstr>Resources — listResources &amp; readResource</vt:lpstr>
      <vt:lpstr>Section 7 Prompts – reusable templates</vt:lpstr>
      <vt:lpstr>Prompts — Server Config &amp; Templates</vt:lpstr>
      <vt:lpstr>Prompts — listPrompts &amp; getPrompt</vt:lpstr>
      <vt:lpstr>Section 8 Sampling</vt:lpstr>
      <vt:lpstr>Sampling — Server Requests AI via Client</vt:lpstr>
      <vt:lpstr>Sampling — CF Client Configuration</vt:lpstr>
      <vt:lpstr>Sampling — APIP: Summarize Incident</vt:lpstr>
      <vt:lpstr>Section 9 Logging, Elicitation &amp; Roots</vt:lpstr>
      <vt:lpstr>Logging — Server to Client</vt:lpstr>
      <vt:lpstr>Elicitation — Server Asks the User</vt:lpstr>
      <vt:lpstr>Roots — Scoping File System Access</vt:lpstr>
      <vt:lpstr>Section 10 Security – BasicAuth, CORS</vt:lpstr>
      <vt:lpstr>Basic Auth — Server &amp; Client Config</vt:lpstr>
      <vt:lpstr>CORS (Cross-Origin Request) &amp; Request Size Limit Configs</vt:lpstr>
      <vt:lpstr>Section 11 MCP configs - BulkLoading &amp; CF Admin</vt:lpstr>
      <vt:lpstr>Bulk Loading — JSON Config Files</vt:lpstr>
      <vt:lpstr>Bulk Loading — MCPClient configFile</vt:lpstr>
      <vt:lpstr>Admin API — MCP Server Registration</vt:lpstr>
      <vt:lpstr>Section 12 Integrating MCP with LLM service</vt:lpstr>
      <vt:lpstr>CF LLM API: ChatModel &amp; agent</vt:lpstr>
      <vt:lpstr>PowerPoint Presentation</vt:lpstr>
      <vt:lpstr>Key Takeaways</vt:lpstr>
      <vt:lpstr>Appendix Quick Reference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presentation template</dc:title>
  <dc:subject/>
  <dc:creator>Adobe</dc:creator>
  <cp:keywords/>
  <dc:description/>
  <cp:lastModifiedBy>Piyush Kumar Nayak</cp:lastModifiedBy>
  <cp:revision>93</cp:revision>
  <dcterms:created xsi:type="dcterms:W3CDTF">2024-01-24T22:04:21Z</dcterms:created>
  <dcterms:modified xsi:type="dcterms:W3CDTF">2026-04-16T16:39:29Z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0x0101001BC1E330420DBD418D5B620A8C9D53C3</vt:lpwstr>
  </property>
</Properties>
</file>