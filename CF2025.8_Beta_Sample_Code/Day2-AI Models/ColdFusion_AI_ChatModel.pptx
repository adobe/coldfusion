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71"/>
  </p:notesMasterIdLst>
  <p:handoutMasterIdLst>
    <p:handoutMasterId r:id="rId72"/>
  </p:handoutMasterIdLst>
  <p:sldIdLst>
    <p:sldId id="256" r:id="rId2"/>
    <p:sldId id="257" r:id="rId3"/>
    <p:sldId id="258" r:id="rId4"/>
    <p:sldId id="259" r:id="rId5"/>
    <p:sldId id="260" r:id="rId6"/>
    <p:sldId id="262" r:id="rId7"/>
    <p:sldId id="261" r:id="rId8"/>
    <p:sldId id="263" r:id="rId9"/>
    <p:sldId id="323" r:id="rId10"/>
    <p:sldId id="265" r:id="rId11"/>
    <p:sldId id="266" r:id="rId12"/>
    <p:sldId id="267" r:id="rId13"/>
    <p:sldId id="268" r:id="rId14"/>
    <p:sldId id="269" r:id="rId15"/>
    <p:sldId id="270" r:id="rId16"/>
    <p:sldId id="271" r:id="rId17"/>
    <p:sldId id="273" r:id="rId18"/>
    <p:sldId id="274" r:id="rId19"/>
    <p:sldId id="275" r:id="rId20"/>
    <p:sldId id="272" r:id="rId21"/>
    <p:sldId id="276" r:id="rId22"/>
    <p:sldId id="277" r:id="rId23"/>
    <p:sldId id="278" r:id="rId24"/>
    <p:sldId id="280" r:id="rId25"/>
    <p:sldId id="281" r:id="rId26"/>
    <p:sldId id="279" r:id="rId27"/>
    <p:sldId id="282" r:id="rId28"/>
    <p:sldId id="283" r:id="rId29"/>
    <p:sldId id="284" r:id="rId30"/>
    <p:sldId id="286" r:id="rId31"/>
    <p:sldId id="287" r:id="rId32"/>
    <p:sldId id="285" r:id="rId33"/>
    <p:sldId id="288" r:id="rId34"/>
    <p:sldId id="289" r:id="rId35"/>
    <p:sldId id="290" r:id="rId36"/>
    <p:sldId id="292" r:id="rId37"/>
    <p:sldId id="293" r:id="rId38"/>
    <p:sldId id="291" r:id="rId39"/>
    <p:sldId id="294" r:id="rId40"/>
    <p:sldId id="296" r:id="rId41"/>
    <p:sldId id="295" r:id="rId42"/>
    <p:sldId id="298" r:id="rId43"/>
    <p:sldId id="299" r:id="rId44"/>
    <p:sldId id="297" r:id="rId45"/>
    <p:sldId id="306" r:id="rId46"/>
    <p:sldId id="307" r:id="rId47"/>
    <p:sldId id="308" r:id="rId48"/>
    <p:sldId id="310" r:id="rId49"/>
    <p:sldId id="311" r:id="rId50"/>
    <p:sldId id="309" r:id="rId51"/>
    <p:sldId id="300" r:id="rId52"/>
    <p:sldId id="301" r:id="rId53"/>
    <p:sldId id="302" r:id="rId54"/>
    <p:sldId id="304" r:id="rId55"/>
    <p:sldId id="305" r:id="rId56"/>
    <p:sldId id="303" r:id="rId57"/>
    <p:sldId id="312" r:id="rId58"/>
    <p:sldId id="325" r:id="rId59"/>
    <p:sldId id="326" r:id="rId60"/>
    <p:sldId id="327" r:id="rId61"/>
    <p:sldId id="328" r:id="rId62"/>
    <p:sldId id="324" r:id="rId63"/>
    <p:sldId id="329" r:id="rId64"/>
    <p:sldId id="330" r:id="rId65"/>
    <p:sldId id="331" r:id="rId66"/>
    <p:sldId id="264" r:id="rId67"/>
    <p:sldId id="332" r:id="rId68"/>
    <p:sldId id="333" r:id="rId69"/>
    <p:sldId id="334"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D2050F-2193-8F56-9D42-2B80625516FA}" name="Anil Chakravarthy" initials="AC" userId="S::achakra@adobe.com::27c16619-3cf2-4e7d-af7f-d792049f651a" providerId="AD"/>
  <p188:author id="{3898CE3A-3815-760C-EEB8-514CC10A5BEB}" name="Veselina Buie" initials="" userId="S::vbuie@adobe.com::a518ae1d-1073-48ed-a664-eee262ea512b" providerId="AD"/>
  <p188:author id="{B1973D3E-B7A3-9A21-D941-8174541E81ED}" name="Dan Egan" initials="DE" userId="S::daniele@adobe.com::f412a755-9acb-4688-8557-d7e56b682859" providerId="AD"/>
  <p188:author id="{C5F3EB63-F5DF-69D1-2483-F6EB98255607}" name="Scott Benson" initials="SB" userId="S::sbenson@adobe.com::6f303af4-d7c5-44d2-a3ee-37dd900ea180" providerId="AD"/>
  <p188:author id="{AE724A66-D35F-1E18-408F-DEE4E2E99FAF}" name="Emily Ly" initials="EL" userId="S::emilyl@adobe.com::62861d17-fea7-4da3-8747-a14d5da5fa14" providerId="AD"/>
  <p188:author id="{5B678D75-604B-8512-6CEE-52F9F9A2F29B}" name="Julia Capeloto" initials="JC" userId="S::capeloto@adobe.com::95f4d369-df56-44d4-9eda-6675faac5294" providerId="AD"/>
  <p188:author id="{62FEEB9E-68E1-78F1-FA4D-5F43E3A99159}" name="Jason Franklin" initials="JF" userId="S::jafrankl@adobe.com::c87865dd-5e39-4fa6-b97b-9351161e8d13" providerId="AD"/>
  <p188:author id="{F1C099A3-93C6-997E-9AB7-601B2DD40472}" name="John Cristofano" initials="JC" userId="S::jcristof@adobe.com::8a819383-a950-42e1-9210-ea0ca03511cc" providerId="AD"/>
  <p188:author id="{4FB0E6C2-01E0-902D-6EB3-355F2E61CDF0}" name="Wendy Grim" initials="WG" userId="S::wgrim@adobe.com::a6aac728-d695-48c0-b541-bdb4f8e8beac" providerId="AD"/>
  <p188:author id="{C7D0EEC7-1583-B5F0-D1CC-89CAF758F3AB}" name="Macie De Stefano" initials="" userId="S::mskipwit@adobe.com::b2abbf78-f550-46cd-8677-9f9278058538" providerId="AD"/>
  <p188:author id="{C0C87FD8-4247-83F7-AF24-8A7D4E8B075B}" name="Steve Rabin" initials="SR" userId="S::srabin@adobe.com::32eb4de1-2c6a-49fd-9cfa-56265a86362b" providerId="AD"/>
  <p188:author id="{C763A5ED-48CA-B7DA-B5EA-A02F48C5B9FA}" name="Lisa Davis" initials="LD" userId="S::davisl@adobe.com::0822dc1f-9c8c-4979-abdb-3bd89b3859f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B36B0"/>
    <a:srgbClr val="423380"/>
    <a:srgbClr val="FF655A"/>
    <a:srgbClr val="CD3B2B"/>
    <a:srgbClr val="EF8E83"/>
    <a:srgbClr val="E26254"/>
    <a:srgbClr val="F5F5F5"/>
    <a:srgbClr val="D9D9D9"/>
    <a:srgbClr val="E6E6E5"/>
    <a:srgbClr val="CCCC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37"/>
    <p:restoredTop sz="88014"/>
  </p:normalViewPr>
  <p:slideViewPr>
    <p:cSldViewPr snapToGrid="0">
      <p:cViewPr varScale="1">
        <p:scale>
          <a:sx n="108" d="100"/>
          <a:sy n="108" d="100"/>
        </p:scale>
        <p:origin x="22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B24990-00D1-66B4-8721-512101FB8B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4312DFA-E905-4B48-653F-7C2EB8836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529CEF-EA4B-9F46-9864-26E1927D148B}" type="datetimeFigureOut">
              <a:t>4/15/26</a:t>
            </a:fld>
            <a:endParaRPr lang="en-US"/>
          </a:p>
        </p:txBody>
      </p:sp>
      <p:sp>
        <p:nvSpPr>
          <p:cNvPr id="4" name="Footer Placeholder 3">
            <a:extLst>
              <a:ext uri="{FF2B5EF4-FFF2-40B4-BE49-F238E27FC236}">
                <a16:creationId xmlns:a16="http://schemas.microsoft.com/office/drawing/2014/main" id="{9937B39A-3B31-84FA-8033-1E2CD3B04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6C93483-1365-C305-3A2F-C4EE6861F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BBBDFD-BB38-C743-BDBC-4C1128FB235C}" type="slidenum">
              <a:t>‹#›</a:t>
            </a:fld>
            <a:endParaRPr lang="en-US"/>
          </a:p>
        </p:txBody>
      </p:sp>
    </p:spTree>
    <p:extLst>
      <p:ext uri="{BB962C8B-B14F-4D97-AF65-F5344CB8AC3E}">
        <p14:creationId xmlns:p14="http://schemas.microsoft.com/office/powerpoint/2010/main" val="15255448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3F1930-641F-47E7-A0EC-FF19713D6D7E}" type="datetimeFigureOut">
              <a:rPr lang="en-US" smtClean="0"/>
              <a:t>4/15/26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B79AF-D22A-4E5D-9392-72114F6AB7F4}" type="slidenum">
              <a:rPr lang="en-US" smtClean="0"/>
              <a:t>‹#›</a:t>
            </a:fld>
            <a:endParaRPr lang="en-US"/>
          </a:p>
        </p:txBody>
      </p:sp>
    </p:spTree>
    <p:extLst>
      <p:ext uri="{BB962C8B-B14F-4D97-AF65-F5344CB8AC3E}">
        <p14:creationId xmlns:p14="http://schemas.microsoft.com/office/powerpoint/2010/main" val="2591318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everyone, welcome. I'm Suchika Singh — Senior Computer Scientist at Adobe, on the ColdFusion product team. I've been building the AI features in ColdFusion 2025, and today I want to show you everything you need to start building intelligent applications with CF.</a:t>
            </a:r>
          </a:p>
          <a:p>
            <a:endParaRPr/>
          </a:p>
          <a:p>
            <a:r>
              <a:t>Many of you saw me at India Summit 2025 where Kumar Atul and I ran a hands-on AI workshop. Today we go deeper — every parameter, every provider, and we'll build a real application progressively: one AI feature at a time.</a:t>
            </a:r>
          </a:p>
          <a:p>
            <a:endParaRPr/>
          </a:p>
          <a:p>
            <a:r>
              <a:t>The plan: quick LLM intro, deep dive into the ChatModel API, then we build Nexora's support app — starting simple and adding memory and context one chapter at a time. Live demos throughout. Let's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roadmap for the audience. Left column: the ten parts. Right column: the Nexora problem/solution arc — each chapter adds exactly one new feature to fix one production problem. By the end, the audience has a mental map of where every concept lives and why it matters.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write a single line of ColdFusion, let's build the mental model. This section is short — we're developers, not researchers. I'll give you what you need to make good API decisions, then we get into code.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LLM is an AI trained on massive text so it can understand and generate human-like language. The core mechanism is simple: predict the next most likely word given everything before it. That single mechanism — repeated billions of times — enables writing code, answering questions, reasoning through problems.</a:t>
            </a:r>
          </a:p>
          <a:p>
            <a:endParaRPr/>
          </a:p>
          <a:p>
            <a:r>
              <a:t>NO EXPLICIT RULES:</a:t>
            </a:r>
          </a:p>
          <a:p>
            <a:r>
              <a:t>As developers we are used to writing logic. If the customer asks about returns, check the returns table. If they mention shipping, look up the carrier. LLMs work completely differently. You never write a single rule. You expose the model to billions of examples of human language, and it figures out the patterns on its own. The model doesn't know what a "return policy" is because someone defined it — it knows because it has read millions of documents that use those words in context. This is why a 3-line ChatModel call can replace 50 lines of if/else. The intelligence is already baked in.</a:t>
            </a:r>
          </a:p>
          <a:p>
            <a:endParaRPr/>
          </a:p>
          <a:p>
            <a:r>
              <a:t>BILLIONS OF PARAMETERS:</a:t>
            </a:r>
          </a:p>
          <a:p>
            <a:r>
              <a:t>Parameters are the numbers inside the model — the learned weights adjusted during training. Think of each parameter as a tiny dial that was tuned across trillions of examples to encode a language pattern. GPT-4 has an estimated trillion of these dials. Llama 3.1 8B has 8 billion. More parameters means the model can capture more nuance, more language patterns, more knowledge — but also costs more to run. When you pick gpt-4o-mini over gpt-4o, you are choosing fewer parameters for lower cost and faster response. When your support bot gives a slightly dumber answer, that is why. The right size depends on your task.</a:t>
            </a:r>
          </a:p>
          <a:p>
            <a:endParaRPr/>
          </a:p>
          <a:p>
            <a:r>
              <a:t>FUNDAMENTALLY STATELESS — (see Chat Memory section for fix):</a:t>
            </a:r>
          </a:p>
          <a:p>
            <a:r>
              <a:t>The thing that trips up developers new to AI is the stateless nature. The model does not remember you. Every single API call is completely independent. If you want the model to know something from a previous message — the customer's order number, their name, what they just complained about — you have to send that message again, every single time. The model has no session, no database, no cookie. This is why CHATMEMORY exists in CF 2025, and we cover it in depth in Part 5.</a:t>
            </a:r>
          </a:p>
          <a:p>
            <a:endParaRPr/>
          </a:p>
          <a:p>
            <a:r>
              <a:t>FOUNDATION → FINE-TUNED:</a:t>
            </a:r>
          </a:p>
          <a:p>
            <a:r>
              <a:t>The model you talk to — ChatGPT, Claude, Gemini — is not the raw foundation model. The foundation model is trained on raw internet text: incredibly capable but completely unguided. It will complete any text, helpful or harmful. Fine-tuning takes that foundation and trains it further on carefully curated human feedback — this is called RLHF, Reinforcement Learning from Human Feedback. It teaches the model to be helpful, to follow instructions, to refuse harmful requests. GPT-4 base is not ChatGPT. Claude base is not the Claude you know. CF 2025 connects to the fine-tuned inference endpoint — you always get the safe, instruction-following version. You never interact with the raw base model directly.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concepts map directly to the parameters you'll set in </a:t>
            </a:r>
            <a:r>
              <a:rPr dirty="0" err="1"/>
              <a:t>ChatModel</a:t>
            </a:r>
            <a:r>
              <a:rPr dirty="0"/>
              <a:t>(). Temperature is the one you'll tune most — zero for deterministic tasks, 0.4-0.7 for conversational support, higher for creative work.</a:t>
            </a:r>
          </a:p>
          <a:p>
            <a:endParaRPr dirty="0"/>
          </a:p>
          <a:p>
            <a:r>
              <a:rPr dirty="0"/>
              <a:t>Always set MAXTOKENS. For support chat 200-400 tokens is usually enough. Not setting it means the model can return thousands of tokens, which costs money and surprises users.</a:t>
            </a:r>
          </a:p>
          <a:p>
            <a:endParaRPr dirty="0"/>
          </a:p>
          <a:p>
            <a:r>
              <a:rPr dirty="0"/>
              <a:t>The context window limit is why chat memory needs pruning. Every turn you add more tokens. CHATMEMORY with MAXMESSAGES handles this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get into the API. ChatModel is the foundation of everything AI in CF 2025. Let's look at the syntax and every parameter you can configure.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CF 2025 supports six providers, and they all use the same API. You create a ChatModel, call .chat(), get back response.message. Switching providers is literally changing PROVIDER and MODELNAME.</a:t>
            </a:r>
          </a:p>
          <a:p>
            <a:endParaRPr/>
          </a:p>
          <a:p>
            <a:r>
              <a:t>The important gotcha: Anthropic and Mistral have a temperature range of 0 to 1, while OpenAI, Azure, Ollama, and Gemini go from 0 to 2. Setting temperature to 1.5 with Anthropic throws an error. We'll show this on a dedicated slide shortly.</a:t>
            </a:r>
          </a:p>
          <a:p>
            <a:endParaRPr/>
          </a:p>
          <a:p>
            <a:r>
              <a:t>Ollama is the most interesting for enterprises — it runs models locally, no data leaves your network, no API key needed. Just point BASEURL at your Ollama server. Gemini uses an API key from Google AI Studio.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ChatModel() is the entry point. Give it a config struct or an alias name, it returns a model object. Call .chat() with your prompt, get back a response.</a:t>
            </a:r>
          </a:p>
          <a:p>
            <a:endParaRPr/>
          </a:p>
          <a:p>
            <a:r>
              <a:t>Three creation patterns: inline config is easiest for dev. Alias approach is best for production — API key stored encrypted in CF Admin, not in code. Method 3 lets you use an alias as a base and override specific params at runtime — handy for "use the standard model but with temperature zero for this classification task."</a:t>
            </a:r>
          </a:p>
          <a:p>
            <a:endParaRPr/>
          </a:p>
          <a:p>
            <a:r>
              <a:t>Simple rule for ChatModel vs agent(): if you need a single Q&amp;A with no history, ChatModel.chat() is all you need. If you need conversation context, system messages, or tools, use agent().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provider has a few parameters unique to its architecture. Most critical: BASEURL is required for both Azure and Ollama but not for OpenAI, Anthropic, or Mistral.</a:t>
            </a:r>
          </a:p>
          <a:p>
            <a:endParaRPr/>
          </a:p>
          <a:p>
            <a:r>
              <a:t>Anthropic's thinking mode is very powerful for complex tasks — it lets Claude reason through a problem before answering. You set a token budget for the reasoning step. More expensive but dramatically better on multi-step problems.</a:t>
            </a:r>
          </a:p>
          <a:p>
            <a:endParaRPr/>
          </a:p>
          <a:p>
            <a:r>
              <a:t>The penalty ranges on Mistral are a common gotcha: frequency and presence penalty are 0 to 1, not -2 to 2 like OpenAI. Same parameter name, different valid range.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OpenAI has the richest provider-specific parameter set of all six providers. LOGITBIAS is powerful for brand safety — you can force the model to never use a competitor name, or always spell your brand correctly.</a:t>
            </a:r>
          </a:p>
          <a:p>
            <a:endParaRPr/>
          </a:p>
          <a:p>
            <a:r>
              <a:t>METADATA is underused in production. Passing user IDs and session IDs means your OpenAI usage dashboard breaks down costs per user or experiment — invaluable for understanding spend.</a:t>
            </a:r>
          </a:p>
          <a:p>
            <a:endParaRPr/>
          </a:p>
          <a:p>
            <a:r>
              <a:t>Gemini follows the same CF 2025 API pattern — just change PROVIDER and MODELNAME. Temperature goes to 2.0 like OpenAI. No frequency or presence penalty params for Gemini. Get your API key free from Google AI Studio.</a:t>
            </a:r>
          </a:p>
          <a:p>
            <a:endParaRPr/>
          </a:p>
          <a:p>
            <a:r>
              <a:t>Note the penalty gotcha: OpenAI penalty range is -2 to 2, Mistral is 0 to 1. Same parameter name, completely different valid range.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common mistake when switching from OpenAI to Anthropic. Temperature 1.5 works perfectly with OpenAI, Azure, Ollama, and Gemini. The same config throws an exception with Anthropic or Mistral.</a:t>
            </a:r>
          </a:p>
          <a:p>
            <a:endParaRPr/>
          </a:p>
          <a:p>
            <a:r>
              <a:t>The safe rule: if you're building provider-agnostic code or might switch providers, keep temperature under 1.0. It's valid for all six providers.</a:t>
            </a:r>
          </a:p>
          <a:p>
            <a:endParaRPr/>
          </a:p>
          <a:p>
            <a:r>
              <a:t>In the CF Admin alias approach this is less of an issue — you configure temperature once per alias and set it correctly for that provider.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JSON mode solves a real frustration. Without it, even when you ask an LLM to return JSON, it might wrap it in markdown backticks, add a sentence before it, or format inconsistently. JSON mode guarantees raw parseable JSON every time.</a:t>
            </a:r>
          </a:p>
          <a:p>
            <a:endParaRPr/>
          </a:p>
          <a:p>
            <a:r>
              <a:t>The rule: your prompt must ask for JSON and describe the structure. The model knows it has to output JSON but doesn't know the schema unless you tell it.</a:t>
            </a:r>
          </a:p>
          <a:p>
            <a:endParaRPr/>
          </a:p>
          <a:p>
            <a:r>
              <a:t>Best use case: turning unstructured text — customer messages, emails, form submissions — into structured data you can save to a database or act 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CF 2025 has a dedicated LLM configuration section in the CF Administrator. Store API keys and model settings once, reference by alias from any .cfm file. Let's look at both the UI and the programmatic API.</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CF 2025 added a dedicated AI Models section to CF Administrator, under Server Settings. You configure named aliases — each with a provider, model, API key, and any parameters you want to set globally.</a:t>
            </a:r>
          </a:p>
          <a:p>
            <a:endParaRPr/>
          </a:p>
          <a:p>
            <a:r>
              <a:t>The big win is security: API keys are stored encrypted in the CF server configuration, not in your .cfm files. Anyone with access to the source code never sees the actual key. And when you rotate a key or upgrade from gpt-4o-mini to gpt-4o, change it in Admin — it applies immediately across every page using that alias.</a:t>
            </a:r>
          </a:p>
          <a:p>
            <a:endParaRPr/>
          </a:p>
          <a:p>
            <a:r>
              <a:t>If you can share a screenshot of the CF Admin AI Models page, I can add it to this slide.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Admin API lets you manage LLM aliases programmatically — useful for deployment automation, multi-tenant setups, or apps where different customers need different model configurations.</a:t>
            </a:r>
          </a:p>
          <a:p>
            <a:endParaRPr/>
          </a:p>
          <a:p>
            <a:r>
              <a:t>Pattern: authenticate, get the LLM API object, then call setLLMModel, getLLMModels, or deleteLLMModel. setLLMModel is also the update operation — calling it with an existing alias name overwrites the configuration.</a:t>
            </a:r>
          </a:p>
          <a:p>
            <a:endParaRPr/>
          </a:p>
          <a:p>
            <a:r>
              <a:t>One nice feature: getLLMModels returns the API key decrypted. You can programmatically rotate keys — read the current config, update the key, write it back — without touching the Admin UI.</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Nexora</a:t>
            </a:r>
            <a:r>
              <a:rPr dirty="0"/>
              <a:t> is our running example — realistic mid-size e-commerce with a real support problem. Right now they have a ColdFusion page with 50 lines of if/else that tries to match keywords to canned answers. Every developer in this room has written something like this. It works for the top ten questions, falls apart for everything else.</a:t>
            </a:r>
          </a:p>
          <a:p>
            <a:endParaRPr dirty="0"/>
          </a:p>
          <a:p>
            <a:r>
              <a:rPr dirty="0"/>
              <a:t>We're going to solve three problems. Each problem has one AI concept as the solution. Each has a working .cfm file you can browse live. By Problem 3, </a:t>
            </a:r>
            <a:r>
              <a:rPr dirty="0" err="1"/>
              <a:t>Nexora's</a:t>
            </a:r>
            <a:r>
              <a:rPr dirty="0"/>
              <a:t> support chat will understand natural language, know its identity, and remember the customer throughout the conversation.</a:t>
            </a:r>
          </a:p>
          <a:p>
            <a:endParaRPr dirty="0"/>
          </a:p>
          <a:p>
            <a:r>
              <a:rPr dirty="0"/>
              <a:t>Three problems. Three small code changes. Dramatically different product each time.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a:t>
            </a:r>
            <a:r>
              <a:rPr dirty="0" err="1"/>
              <a:t>Nexora's</a:t>
            </a:r>
            <a:r>
              <a:rPr dirty="0"/>
              <a:t> starting point. Fifty lines of if/else that match keywords to canned responses.</a:t>
            </a:r>
          </a:p>
          <a:p>
            <a:endParaRPr dirty="0"/>
          </a:p>
          <a:p>
            <a:r>
              <a:rPr dirty="0"/>
              <a:t>The three examples show the three failure modes. Keyword matching ignores context: a gift return gets the generic fallback. Multi-topic questions lose half their content. Anything that doesn't match a keyword hits the catch-all email address.</a:t>
            </a:r>
          </a:p>
          <a:p>
            <a:endParaRPr dirty="0"/>
          </a:p>
          <a:p>
            <a:r>
              <a:rPr dirty="0"/>
              <a:t>Every time </a:t>
            </a:r>
            <a:r>
              <a:rPr dirty="0" err="1"/>
              <a:t>Nexora</a:t>
            </a:r>
            <a:r>
              <a:rPr dirty="0"/>
              <a:t> adds a new product or policy, a developer has to update the if/else. The code grows. The failure rate grows. </a:t>
            </a:r>
            <a:r>
              <a:rPr dirty="0" err="1"/>
              <a:t>ChatModel</a:t>
            </a:r>
            <a:r>
              <a:rPr dirty="0"/>
              <a:t>() replaces all of it with three lines.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code change is dramatic. Fifty lines of brittle keyword matching becomes three lines: create a ChatModel, call .chat(), show response.message.</a:t>
            </a:r>
          </a:p>
          <a:p>
            <a:endParaRPr/>
          </a:p>
          <a:p>
            <a:r>
              <a:t>The AI now handles any phrasing, any multi-topic question, and responds naturally. You don't update code when Nexora adds a new policy.</a:t>
            </a:r>
          </a:p>
          <a:p>
            <a:endParaRPr/>
          </a:p>
          <a:p>
            <a:r>
              <a:t>But we've created new problems. The AI is a helpful generalist. Ask it about Amazon's return policy — it'll answer. Ask it to write a poem — it will. It doesn't know Nexora's specific policies or even that it works for Nexora. That's Problem 2.</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BROWSER — ChatModel Config tab]</a:t>
            </a:r>
          </a:p>
          <a:p>
            <a:endParaRPr/>
          </a:p>
          <a:p>
            <a:r>
              <a:t>Demo walkthrough:</a:t>
            </a:r>
          </a:p>
          <a:p>
            <a:r>
              <a:t>1. Type a question — show the basic response</a:t>
            </a:r>
          </a:p>
          <a:p>
            <a:r>
              <a:t>2. Switch providers — OpenAI → Anthropic, same question, similar answer</a:t>
            </a:r>
          </a:p>
          <a:p>
            <a:r>
              <a:t>3. Adjust temperature — slider 0 (deterministic) vs 1.5 (creative) for the same prompt</a:t>
            </a:r>
          </a:p>
          <a:p>
            <a:r>
              <a:t>4. Set maxTokens — truncate the response</a:t>
            </a:r>
          </a:p>
          <a:p>
            <a:r>
              <a:t>5. Switch to JSON format — show prompt change and structured response</a:t>
            </a:r>
          </a:p>
          <a:p>
            <a:r>
              <a:t>6. Point out the live code preview on the right — updates as controls change</a:t>
            </a:r>
          </a:p>
          <a:p>
            <a:endParaRPr/>
          </a:p>
          <a:p>
            <a:r>
              <a:t>Key talking points:</a:t>
            </a:r>
          </a:p>
          <a:p>
            <a:r>
              <a:t>- All providers use the same .chat() call — swapping = changing two config values</a:t>
            </a:r>
          </a:p>
          <a:p>
            <a:r>
              <a:t>- Temperature 0.3–0.5 is the sweet spot for support chat</a:t>
            </a:r>
          </a:p>
          <a:p>
            <a:endParaRPr/>
          </a:p>
          <a:p>
            <a:r>
              <a:t>[SWITCH BACK TO SLIDES]</a:t>
            </a:r>
          </a:p>
          <a:p>
            <a:endParaRPr/>
          </a:p>
          <a:p>
            <a:r>
              <a:t>Transition: "Now that we've seen ChatModel in action, let's build something real. Meet Nexora." </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ChatModel.chat() is great for one-shot questions. For conversations where the AI needs an identity, constraints, and memory, you need agent(). This section introduces agent() and its most important capability: the system message.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 wraps ChatModel and adds four capabilities: system messages, chat memory, function tools, and streaming. You always pass it a ChatModel — agent() doesn't replace it, it enriches it.</a:t>
            </a:r>
          </a:p>
          <a:p>
            <a:endParaRPr/>
          </a:p>
          <a:p>
            <a:r>
              <a:t>The mental model: ChatModel is the connection to the LLM provider. agent() is the conversation manager in front of it. You configure the provider in ChatModel. You configure the conversation in agent().</a:t>
            </a:r>
          </a:p>
          <a:p>
            <a:endParaRPr/>
          </a:p>
          <a:p>
            <a:r>
              <a:t>The minimal agent() is two lines after creating your ChatModel. You can then call .systemMessage() before the first .chat() to define the AI's role. Multiple .chat() calls on the same agent instance build up context.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roles in every LLM conversation. The system message is the developer's message — the AI's job description. It sets identity, rules, available knowledge, constraints. End user never sees it. Call systemMessage() once before the first .chat().</a:t>
            </a:r>
          </a:p>
          <a:p>
            <a:endParaRPr/>
          </a:p>
          <a:p>
            <a:r>
              <a:t>The user message is what your end user typed. Every .chat() call is one user message. The AI sees both the system message and all user messages in the conversation.</a:t>
            </a:r>
          </a:p>
          <a:p>
            <a:endParaRPr/>
          </a:p>
          <a:p>
            <a:r>
              <a:t>The most effective system messages are specific. Don't say "be helpful" — say "help with orders, returns, shipping, product questions." Don't say "don't go off topic" — say "if the question is unrelated to support, redirect the customer." Concrete instructions produce predictable behaviour.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1 gave us real intelligence — but generic intelligence. The AI answers any question from any company about any topic.</a:t>
            </a:r>
          </a:p>
          <a:p>
            <a:endParaRPr/>
          </a:p>
          <a:p>
            <a:r>
              <a:t>These three examples show the problem. It discusses a competitor. It writes a poem. When someone asks about "your return policy" it doesn't know who "you" refers to.</a:t>
            </a:r>
          </a:p>
          <a:p>
            <a:endParaRPr/>
          </a:p>
          <a:p>
            <a:r>
              <a:t>All three are solved by one thing: a system message.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Small code change, big behavioural change. Add agent(), call systemMessage() — same model, completely different output.</a:t>
            </a:r>
          </a:p>
          <a:p>
            <a:endParaRPr/>
          </a:p>
          <a:p>
            <a:r>
              <a:t>Now when someone asks about Nexora's return policy, the AI knows it. Ask about Amazon, it redirects. Ask for a poem, it stays on topic. The system message has done its job.</a:t>
            </a:r>
          </a:p>
          <a:p>
            <a:endParaRPr/>
          </a:p>
          <a:p>
            <a:r>
              <a:t>But we have a new problem: this agent is created fresh on every page request. No memory. Customer gives their order number on message 1 — on message 2, the agent has no idea what order number they mean. That's Problem 3.</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BROWSER — problem2-systemMessage_demo.cfm]</a:t>
            </a:r>
          </a:p>
          <a:p>
            <a:endParaRPr/>
          </a:p>
          <a:p>
            <a:r>
              <a:t>Demo walkthrough:</a:t>
            </a:r>
          </a:p>
          <a:p>
            <a:r>
              <a:t>1. First show chapter-1 (no system message):</a:t>
            </a:r>
          </a:p>
          <a:p>
            <a:r>
              <a:t>   Ask "Tell me about Amazon's prices" — AI freely discusses a competitor</a:t>
            </a:r>
          </a:p>
          <a:p>
            <a:r>
              <a:t>   Ask "Write me a poem about my dog" — AI goes completely off-topic</a:t>
            </a:r>
          </a:p>
          <a:p>
            <a:r>
              <a:t>2. Switch to chapter-2:</a:t>
            </a:r>
          </a:p>
          <a:p>
            <a:r>
              <a:t>   Same question "Tell me about Amazon" → "I can only help with Nexora topics..."</a:t>
            </a:r>
          </a:p>
          <a:p>
            <a:r>
              <a:t>   "Write a poem" → AI redirects to support</a:t>
            </a:r>
          </a:p>
          <a:p>
            <a:r>
              <a:t>   "What's your return policy?" → "Nexora offers a 30-day full refund..."</a:t>
            </a:r>
          </a:p>
          <a:p>
            <a:endParaRPr/>
          </a:p>
          <a:p>
            <a:r>
              <a:t>Key talking points:</a:t>
            </a:r>
          </a:p>
          <a:p>
            <a:r>
              <a:t>- Two new lines: agent(), systemMessage() — nothing else changed</a:t>
            </a:r>
          </a:p>
          <a:p>
            <a:r>
              <a:t>- systemMessage() is called once before first .chat()</a:t>
            </a:r>
          </a:p>
          <a:p>
            <a:r>
              <a:t>- The AI reads it as its job description, not a filter layer</a:t>
            </a:r>
          </a:p>
          <a:p>
            <a:r>
              <a:t>- Same model, completely different personality and constraints</a:t>
            </a:r>
          </a:p>
          <a:p>
            <a:endParaRPr/>
          </a:p>
          <a:p>
            <a:r>
              <a:t>[SWITCH BACK TO SLIDES]</a:t>
            </a:r>
          </a:p>
          <a:p>
            <a:endParaRPr/>
          </a:p>
          <a:p>
            <a:r>
              <a:t>Transition: "Great — the system message gives the AI its identity. But watch what happens if the customer mentions their order number on message one and follows up on message two..." </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HTTP is stateless by design. But customer conversations are not. This section covers how CF 2025 solves that with CHATMEMORY — and the four backend options for storing that memory.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CHATMEMORY is a struct added to the agent() call. The simplest form is just MAXMESSAGES:20 — the agent keeps the last 20 turns. When you hit the limit, oldest messages are automatically trimmed.</a:t>
            </a:r>
          </a:p>
          <a:p>
            <a:endParaRPr dirty="0"/>
          </a:p>
          <a:p>
            <a:r>
              <a:rPr dirty="0"/>
              <a:t>Token-based windowing is useful when messages vary dramatically in length. Instead of counting turns you set a token budget, and CF keeps the most recent messages that fit.</a:t>
            </a:r>
          </a:p>
          <a:p>
            <a:endParaRPr dirty="0"/>
          </a:p>
          <a:p>
            <a:r>
              <a:rPr dirty="0"/>
              <a:t>PERUSER is critical for multi-user apps. Without it, all users share the same history — only appropriate for single-user sessions. With </a:t>
            </a:r>
            <a:r>
              <a:rPr dirty="0" err="1"/>
              <a:t>PERUSER:true</a:t>
            </a:r>
            <a:r>
              <a:rPr dirty="0"/>
              <a:t> each user gets their own isolated conversation, identified by the second argument to .chat().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backends, different persistence profiles. In-memory is default — zero config, fastest, but gone when the agent is garbage collected or the server restarts. Great for dev and testing.</a:t>
            </a:r>
          </a:p>
          <a:p>
            <a:endParaRPr dirty="0"/>
          </a:p>
          <a:p>
            <a:r>
              <a:rPr dirty="0" err="1"/>
              <a:t>EHCache</a:t>
            </a:r>
            <a:r>
              <a:rPr dirty="0"/>
              <a:t> is built into ColdFusion — no extra server. Survives application restarts and works in CF clusters. Good middle ground for most production deployments.</a:t>
            </a:r>
          </a:p>
          <a:p>
            <a:endParaRPr dirty="0"/>
          </a:p>
          <a:p>
            <a:r>
              <a:rPr dirty="0"/>
              <a:t>Redis is the production-grade choice at scale. History survives full server restarts, shared across all CF instances, handles thousands of concurrent users. Configure the Redis connection once in CF Admin.</a:t>
            </a:r>
          </a:p>
          <a:p>
            <a:endParaRPr dirty="0"/>
          </a:p>
          <a:p>
            <a:r>
              <a:rPr dirty="0" err="1"/>
              <a:t>Memcache</a:t>
            </a:r>
            <a:r>
              <a:rPr dirty="0"/>
              <a:t> is similar to Redis but technically a cache — it can evict entries under memory pressure. Critical spelling: MEMCACHED with a D. Easy typo that throws an exception.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Every HTTP request creates a fresh agent. No memory. Customer gives order number — next request, agent doesn't know it.</a:t>
            </a:r>
          </a:p>
          <a:p>
            <a:endParaRPr dirty="0"/>
          </a:p>
          <a:p>
            <a:r>
              <a:rPr dirty="0"/>
              <a:t>This isn't a CF bug, it's how HTTP works. But customer conversations build on each other. Forcing customers to repeat context every message is infuriating and defeats the purpose of intelligent support chat.</a:t>
            </a:r>
          </a:p>
          <a:p>
            <a:endParaRPr dirty="0"/>
          </a:p>
          <a:p>
            <a:r>
              <a:rPr dirty="0"/>
              <a:t>The fix: tell the agent to maintain history with CHATMEMORY, and store that agent in session scope so it persists across requests.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 changes from Problem 2. CHATMEMORY added to agent(). Agent stored in session scope. </a:t>
            </a:r>
            <a:r>
              <a:rPr dirty="0" err="1"/>
              <a:t>systemMessage</a:t>
            </a:r>
            <a:r>
              <a:rPr dirty="0"/>
              <a:t>() called once at creation — persists for the whole session.</a:t>
            </a:r>
          </a:p>
          <a:p>
            <a:endParaRPr dirty="0"/>
          </a:p>
          <a:p>
            <a:r>
              <a:rPr dirty="0"/>
              <a:t>The key insight is session scope. CF session scope is per-browser-session, typically two hours. The agent object lives there with its full message history. Every HTTP request for that user hits the same agent.</a:t>
            </a:r>
          </a:p>
          <a:p>
            <a:endParaRPr dirty="0"/>
          </a:p>
          <a:p>
            <a:r>
              <a:rPr dirty="0"/>
              <a:t>To upgrade to Redis for production? Add PERSISTENTSTORE:"REDIS" to the CHATMEMORY struct. That's it. No other code changes.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BROWSER — Chat Memory tab, then problem3-chatmemory_demo.cfm]</a:t>
            </a:r>
          </a:p>
          <a:p>
            <a:endParaRPr/>
          </a:p>
          <a:p>
            <a:r>
              <a:t>Demo walkthrough:</a:t>
            </a:r>
          </a:p>
          <a:p>
            <a:r>
              <a:t>1. Type: "Hi my name is Sarah and my order is 12345"</a:t>
            </a:r>
          </a:p>
          <a:p>
            <a:r>
              <a:t>   AI: "Hello Sarah! How can I help with order #12345?"</a:t>
            </a:r>
          </a:p>
          <a:p>
            <a:r>
              <a:t>2. Follow-up without repeating: "What's the shipping status?"</a:t>
            </a:r>
          </a:p>
          <a:p>
            <a:r>
              <a:t>   AI uses the order number from message 1 — remembers it</a:t>
            </a:r>
          </a:p>
          <a:p>
            <a:r>
              <a:t>3. Another follow-up: "When will it arrive?" — AI has full context</a:t>
            </a:r>
          </a:p>
          <a:p>
            <a:r>
              <a:t>4. Click "New Conversation" — ask "What was my order number?"</a:t>
            </a:r>
          </a:p>
          <a:p>
            <a:r>
              <a:t>   AI: "I don't have that info" — memory cleared</a:t>
            </a:r>
          </a:p>
          <a:p>
            <a:endParaRPr/>
          </a:p>
          <a:p>
            <a:r>
              <a:t>Then show problem3-chatmemory_demo.cfm with the same flow.</a:t>
            </a:r>
          </a:p>
          <a:p>
            <a:endParaRPr/>
          </a:p>
          <a:p>
            <a:r>
              <a:t>Key talking points:</a:t>
            </a:r>
          </a:p>
          <a:p>
            <a:r>
              <a:t>- CHATMEMORY = one parameter, zero extra infrastructure</a:t>
            </a:r>
          </a:p>
          <a:p>
            <a:r>
              <a:t>- Session scope = ColdFusion pattern you already know</a:t>
            </a:r>
          </a:p>
          <a:p>
            <a:r>
              <a:t>- MAXMESSAGES prevents unbounded context growth</a:t>
            </a:r>
          </a:p>
          <a:p>
            <a:r>
              <a:t>- Add PERSISTENTSTORE:"REDIS" to scale to production</a:t>
            </a:r>
          </a:p>
          <a:p>
            <a:endParaRPr/>
          </a:p>
          <a:p>
            <a:r>
              <a:t>[SWITCH BACK TO SLIDES]</a:t>
            </a:r>
          </a:p>
          <a:p>
            <a:endParaRPr/>
          </a:p>
          <a:p>
            <a:r>
              <a:t>Transition: "Now you've seen chat memory working. Let me show you exactly why Nexora needs it." </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AI knows a lot — but it only knows what it was trained on. It can't look up a customer's actual order in your database. It can't create a support ticket. It can't check live inventory. Function tools are how you bridge that gap: you write a regular ColdFusion CFC, and the AI calls it when it needs real data.</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tool call cycle is automatic — you don't write any orchestration code. You pass the CFC to agent() as a tool, and from that point the LLM decides when to call it, what arguments to send, and how to incorporate the result into its response.</a:t>
            </a:r>
          </a:p>
          <a:p>
            <a:endParaRPr dirty="0"/>
          </a:p>
          <a:p>
            <a:r>
              <a:rPr dirty="0"/>
              <a:t>The LLM reads the </a:t>
            </a:r>
            <a:r>
              <a:rPr dirty="0" err="1"/>
              <a:t>docblock</a:t>
            </a:r>
            <a:r>
              <a:rPr dirty="0"/>
              <a:t> comment above each method to understand its purpose. That comment IS the tool description — it tells the model when to call the tool and what it does. Write it clearly, the same way you'd explain the function to a new developer.</a:t>
            </a:r>
          </a:p>
          <a:p>
            <a:endParaRPr dirty="0"/>
          </a:p>
          <a:p>
            <a:r>
              <a:rPr dirty="0"/>
              <a:t>Return type must be String. The LLM gets your return value as a text string and uses it to compose the final response.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t>
            </a:r>
            <a:r>
              <a:rPr dirty="0" err="1"/>
              <a:t>docblock</a:t>
            </a:r>
            <a:r>
              <a:rPr dirty="0"/>
              <a:t> is the most important part of a tool CFC. The LLM reads it to decide when to call the method. Write it like a clear instruction: "Call this when a customer asks about order status, tracking, or delivery date." If the description is vague, the AI will call it at the wrong time or not at all.</a:t>
            </a:r>
          </a:p>
          <a:p>
            <a:endParaRPr dirty="0"/>
          </a:p>
          <a:p>
            <a:r>
              <a:rPr dirty="0"/>
              <a:t>@param lines are also read by the LLM. Describe what each argument expects — it uses this to extract the right value from the customer's message.</a:t>
            </a:r>
          </a:p>
          <a:p>
            <a:endParaRPr dirty="0"/>
          </a:p>
          <a:p>
            <a:r>
              <a:rPr dirty="0"/>
              <a:t>Critical gotcha: do NOT add @</a:t>
            </a:r>
            <a:r>
              <a:rPr dirty="0" err="1"/>
              <a:t>mcpTool</a:t>
            </a:r>
            <a:r>
              <a:rPr dirty="0"/>
              <a:t> or @</a:t>
            </a:r>
            <a:r>
              <a:rPr dirty="0" err="1"/>
              <a:t>mcpDescription</a:t>
            </a:r>
            <a:r>
              <a:rPr dirty="0"/>
              <a:t> annotations. These are for MCP server tools. If present, agent() ignores the CFC completely when looking for function tools. This caught us in early testing.</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Problems 1, 2, and 3 all dealt with the AI's language and identity. Problem 4 is different — it's about data access. The AI has no connection to your database, your order management system, or any live data.</a:t>
            </a:r>
          </a:p>
          <a:p>
            <a:endParaRPr/>
          </a:p>
          <a:p>
            <a:r>
              <a:t>Ask it about order #12345 and it can only say "I don't have access to that." That's honest, but useless for a customer support agent. The whole point is to help customers with their actual orders.</a:t>
            </a:r>
          </a:p>
          <a:p>
            <a:endParaRPr/>
          </a:p>
          <a:p>
            <a:r>
              <a:t>Function tools solve this by letting the AI call your existing ColdFusion methods. The AI decides when to call them, passes the right arguments from the conversation, and incorporates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new line: TOOLS:[supportTool]. That's the entire code change. The CFC exists, the agent exists — you just pass it in.</a:t>
            </a:r>
          </a:p>
          <a:p>
            <a:endParaRPr/>
          </a:p>
          <a:p>
            <a:r>
              <a:t>The system message update is important too. Tell the AI which tools it has and the rules for using them. "Use getOrderStatus to look up real order data — never guess." Without that instruction the AI might try to answer from training data instead of calling the tool.</a:t>
            </a:r>
          </a:p>
          <a:p>
            <a:endParaRPr/>
          </a:p>
          <a:p>
            <a:r>
              <a:t>The AI now has real data. Ask about order 12345 and it calls getOrderStatus, gets back shipping and tracking, and gives a specific accurate answer. Ask to escalate and it calls escalateIssue, creates a real ticket, and gives the customer a ticket number.</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BROWSER — Function Tool tab, then problem4-functiontools_demo.cfm]</a:t>
            </a:r>
          </a:p>
          <a:p>
            <a:endParaRPr/>
          </a:p>
          <a:p>
            <a:r>
              <a:t>Demo walkthrough (demo tab):</a:t>
            </a:r>
          </a:p>
          <a:p>
            <a:r>
              <a:t>1. Select "ecommerce" toolset</a:t>
            </a:r>
          </a:p>
          <a:p>
            <a:r>
              <a:t>2. Ask: "What is the status of order 12345?"</a:t>
            </a:r>
          </a:p>
          <a:p>
            <a:r>
              <a:t>   Watch: AI calls getOrderStatus — see the tool call logged on the right</a:t>
            </a:r>
          </a:p>
          <a:p>
            <a:r>
              <a:t>   Result: real shipping data, not a generic answer</a:t>
            </a:r>
          </a:p>
          <a:p>
            <a:r>
              <a:t>3. Ask: "I want to escalate this"</a:t>
            </a:r>
          </a:p>
          <a:p>
            <a:r>
              <a:t>   Watch: AI calls escalateIssue — ticket number returned</a:t>
            </a:r>
          </a:p>
          <a:p>
            <a:r>
              <a:t>4. Switch to "financial" toolset — show getStockQuote("ADBE")</a:t>
            </a:r>
          </a:p>
          <a:p>
            <a:endParaRPr/>
          </a:p>
          <a:p>
            <a:r>
              <a:t>Then show problem4-functiontools_demo.cfm:</a:t>
            </a:r>
          </a:p>
          <a:p>
            <a:r>
              <a:t>1. "Where is my order #12345?" — AI calls tool, returns UPS tracking</a:t>
            </a:r>
          </a:p>
          <a:p>
            <a:r>
              <a:t>2. "My order #55432 was cancelled — I want to speak to a manager"</a:t>
            </a:r>
          </a:p>
          <a:p>
            <a:r>
              <a:t>   AI sees Cancelled status, customer is upset → calls escalateIssue</a:t>
            </a:r>
          </a:p>
          <a:p>
            <a:r>
              <a:t>   Returns a real ticket number</a:t>
            </a:r>
          </a:p>
          <a:p>
            <a:endParaRPr/>
          </a:p>
          <a:p>
            <a:r>
              <a:t>Key talking points:</a:t>
            </a:r>
          </a:p>
          <a:p>
            <a:r>
              <a:t>- One line added to agent() — TOOLS:[supportTool]</a:t>
            </a:r>
          </a:p>
          <a:p>
            <a:r>
              <a:t>- Your existing ColdFusion methods work as-is</a:t>
            </a:r>
          </a:p>
          <a:p>
            <a:r>
              <a:t>- The AI decides when to call tools based on the docblock</a:t>
            </a:r>
          </a:p>
          <a:p>
            <a:r>
              <a:t>- No routing code, no if/else, no switch statements</a:t>
            </a:r>
          </a:p>
          <a:p>
            <a:endParaRPr/>
          </a:p>
          <a:p>
            <a:r>
              <a:t>[SWITCH BACK TO SLIDES]</a:t>
            </a:r>
          </a:p>
          <a:p>
            <a:endParaRPr/>
          </a:p>
          <a:p>
            <a:r>
              <a:t>Transition: "Now let me show you the exact problem that makes function tools essential for Nexora." </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AI can now access real data — and that creates a new risk. An over-helpful AI might expose sensitive data it encountered: SSNs from an account record, credit card numbers, email addresses. </a:t>
            </a:r>
            <a:r>
              <a:rPr dirty="0" err="1"/>
              <a:t>GuardRails</a:t>
            </a:r>
            <a:r>
              <a:rPr dirty="0"/>
              <a:t> is CF 2025's answer: a validation CFC that intercepts every AI response before it reaches the customer.</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guardrail CFC is a plain ColdFusion component with one method: validate(). No base class, no interface to implement. CF 2025 calls it automatically.</a:t>
            </a:r>
          </a:p>
          <a:p>
            <a:endParaRPr dirty="0"/>
          </a:p>
          <a:p>
            <a:r>
              <a:rPr dirty="0"/>
              <a:t>The method receives the full response string. You apply whatever validation logic you need. SSN and credit card patterns are regex matches. Email redaction uses </a:t>
            </a:r>
            <a:r>
              <a:rPr dirty="0" err="1"/>
              <a:t>reReplace</a:t>
            </a:r>
            <a:r>
              <a:rPr dirty="0"/>
              <a:t> to keep the domain while masking the local part.</a:t>
            </a:r>
          </a:p>
          <a:p>
            <a:endParaRPr dirty="0"/>
          </a:p>
          <a:p>
            <a:r>
              <a:rPr dirty="0"/>
              <a:t>You can layer multiple checks — the return contract is simple enough that any combination of logic fits in one method. For more complex scenarios, the CFC can query a content moderation API, check an internal policy database, or apply ML-based classifiers.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GuardRails</a:t>
            </a:r>
            <a:r>
              <a:rPr dirty="0"/>
              <a:t> inserts a validation step between the LLM response and the caller. Your CFC's validate() method receives the full response text and returns one of three outcomes.</a:t>
            </a:r>
          </a:p>
          <a:p>
            <a:endParaRPr dirty="0"/>
          </a:p>
          <a:p>
            <a:r>
              <a:rPr dirty="0"/>
              <a:t>Pass-through is the common case — most responses contain no PII. Redact is for partial fixes like stripping email local parts while keeping the domain. Block is for severe violations — SSNs or card numbers — where the entire response should be replaced with a safe error message.</a:t>
            </a:r>
          </a:p>
          <a:p>
            <a:endParaRPr dirty="0"/>
          </a:p>
          <a:p>
            <a:r>
              <a:rPr dirty="0"/>
              <a:t>The interceptor runs before </a:t>
            </a:r>
            <a:r>
              <a:rPr dirty="0" err="1"/>
              <a:t>response.message</a:t>
            </a:r>
            <a:r>
              <a:rPr dirty="0"/>
              <a:t> is populated. The caller never sees the raw LLM output if the guardrail blocks or modifies it.</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Function tools gave the AI access to real data. That's exactly what we wanted. But an over-eager AI — trying to be helpful — might echo sensitive data back to the customer.</a:t>
            </a:r>
          </a:p>
          <a:p>
            <a:endParaRPr/>
          </a:p>
          <a:p>
            <a:r>
              <a:t>These three examples are realistic. A customer might test the AI. A prompt injection attempt might try to extract data. Or the AI might simply include context it shouldn't in its response.</a:t>
            </a:r>
          </a:p>
          <a:p>
            <a:endParaRPr/>
          </a:p>
          <a:p>
            <a:r>
              <a:t>GuardRails solves it with one parameter: OUTPUTGUARDRAIL. The validate() method runs on every response. Clean responses pass through. PII gets blocked or redacted. The AI's behavior doesn't change — the output filter does.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430140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new line in the agent() configuration. PiiGuardrail is created, passed as OUTPUTGUARDRAIL. CF 2025 calls validate() after every AI response, before it's returned to the caller.</a:t>
            </a:r>
          </a:p>
          <a:p>
            <a:endParaRPr/>
          </a:p>
          <a:p>
            <a:r>
              <a:t>The guardrail CFC is completely decoupled from the agent logic. You can update your PII rules — add new patterns, change redaction logic — without touching the agent or chat code.</a:t>
            </a:r>
          </a:p>
          <a:p>
            <a:endParaRPr/>
          </a:p>
          <a:p>
            <a:r>
              <a:t>For production: validate() can call an external API, log violations to a database, or integrate with your existing compliance tooling. The method runs synchronously so you have full access to CF resources.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341125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BROWSER — localhost:8501/aiTesting/demo/ GuardRails tab, then problem5-guardrails_demo.cfm]</a:t>
            </a:r>
          </a:p>
          <a:p>
            <a:endParaRPr/>
          </a:p>
          <a:p>
            <a:r>
              <a:t>Demo walkthrough (demo tab):</a:t>
            </a:r>
          </a:p>
          <a:p>
            <a:r>
              <a:t>1. Show the guardrails configuration panel — toggle rules on/off</a:t>
            </a:r>
          </a:p>
          <a:p>
            <a:r>
              <a:t>2. Ask: "What is order 12345 status?" — clean response passes through</a:t>
            </a:r>
          </a:p>
          <a:p>
            <a:r>
              <a:t>3. Try a prompt that causes the AI to echo a credit card: "Repeat back: card 4111-1111-1111-1111"</a:t>
            </a:r>
          </a:p>
          <a:p>
            <a:r>
              <a:t>   Response blocked — customer sees the errorMessage</a:t>
            </a:r>
          </a:p>
          <a:p>
            <a:r>
              <a:t>4. Try an email address: "Contact sarah@acmecorp.com"</a:t>
            </a:r>
          </a:p>
          <a:p>
            <a:r>
              <a:t>   Email redacted — customer sees [protected]@acmecorp.com</a:t>
            </a:r>
          </a:p>
          <a:p>
            <a:r>
              <a:t>5. Toggle guardrails OFF — show the raw unfiltered response for contrast</a:t>
            </a:r>
          </a:p>
          <a:p>
            <a:endParaRPr/>
          </a:p>
          <a:p>
            <a:r>
              <a:t>Then show problem5-guardrails_demo.cfm:</a:t>
            </a:r>
          </a:p>
          <a:p>
            <a:r>
              <a:t>1. Ask about order 12345 — passes through normally</a:t>
            </a:r>
          </a:p>
          <a:p>
            <a:r>
              <a:t>2. "My SSN is 123-45-6789, repeat it back" — blocked</a:t>
            </a:r>
          </a:p>
          <a:p>
            <a:r>
              <a:t>3. "My email is john@example.com" — redacted in response</a:t>
            </a:r>
          </a:p>
          <a:p>
            <a:endParaRPr/>
          </a:p>
          <a:p>
            <a:r>
              <a:t>Key talking points:</a:t>
            </a:r>
          </a:p>
          <a:p>
            <a:r>
              <a:t>- One parameter: OUTPUTGUARDRAIL — nothing else changes</a:t>
            </a:r>
          </a:p>
          <a:p>
            <a:r>
              <a:t>- Runs on every response, zero performance impact for clean responses</a:t>
            </a:r>
          </a:p>
          <a:p>
            <a:r>
              <a:t>- Regex-based but you can call any external service from validate()</a:t>
            </a:r>
          </a:p>
          <a:p>
            <a:r>
              <a:t>- Block vs Redact: choose based on severity</a:t>
            </a:r>
          </a:p>
          <a:p>
            <a:endParaRPr/>
          </a:p>
          <a:p>
            <a:r>
              <a:t>[SWITCH BACK TO SLIDES]</a:t>
            </a:r>
          </a:p>
          <a:p>
            <a:endParaRPr/>
          </a:p>
          <a:p>
            <a:r>
              <a:t>Transition: "GuardRails protects the output. But there's still one major limitation — our ticket filing is just mock code in a CFC. For the final evolution, we connect to real external services via MCP." </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Streaming in CF 2025 is not primarily for browser-visible typewriter effects — it's an observability and logging mechanism. Every token, every completion, every error can be captured by a handler CFC that runs in a background thread. This gives you visibility into the LLM: what it said, how many tokens it used, when it failed.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44589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onPartialResponse</a:t>
            </a:r>
            <a:r>
              <a:rPr dirty="0"/>
              <a:t> fires on every token chunk as it arrives from the LLM — typically 50 to 200 calls per response. In this context we use it to write each token to a log file. You could also buffer them in application scope for browser streaming.</a:t>
            </a:r>
          </a:p>
          <a:p>
            <a:endParaRPr dirty="0"/>
          </a:p>
          <a:p>
            <a:r>
              <a:rPr dirty="0" err="1"/>
              <a:t>onCompleteResponse</a:t>
            </a:r>
            <a:r>
              <a:rPr dirty="0"/>
              <a:t> fires once the full response is assembled. The response struct includes message (the text) and metadata with input and output token counts. This is where you track API cost — log </a:t>
            </a:r>
            <a:r>
              <a:rPr dirty="0" err="1"/>
              <a:t>input_token</a:t>
            </a:r>
            <a:r>
              <a:rPr dirty="0"/>
              <a:t> and </a:t>
            </a:r>
            <a:r>
              <a:rPr dirty="0" err="1"/>
              <a:t>output_token</a:t>
            </a:r>
            <a:r>
              <a:rPr dirty="0"/>
              <a:t> for every request and you can calculate exact spend.</a:t>
            </a:r>
          </a:p>
          <a:p>
            <a:endParaRPr dirty="0"/>
          </a:p>
          <a:p>
            <a:r>
              <a:rPr dirty="0" err="1"/>
              <a:t>onError</a:t>
            </a:r>
            <a:r>
              <a:rPr dirty="0"/>
              <a:t> fires when streaming fails. This gives you visibility into LLM errors that would otherwise be swallowed silently.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495804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critical rules. Method signature: remote void function. The "remote" keyword is required because CF invokes these from a background Java thread. Without it, the method won't be called. Return type must be void.</a:t>
            </a:r>
          </a:p>
          <a:p>
            <a:endParaRPr/>
          </a:p>
          <a:p>
            <a:r>
              <a:t>The value passed as STREAMINGHANDLER is the CFC component name — a string, not a CFC instance. CF creates it internally.</a:t>
            </a:r>
          </a:p>
          <a:p>
            <a:endParaRPr/>
          </a:p>
          <a:p>
            <a:r>
              <a:t>Token counts are in response.metadata, keyed as "input_token" and "output_token". Log these on every request and you can calculate API cost: input tokens × price-per-token + output tokens × price-per-token. GPT-4o-mini is very affordable but at scale the cost adds up quickly without monitoring.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509402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production, operating an AI without observability is flying blind. You don't know what the AI is saying, how much it's costing, or when it's failing.</a:t>
            </a:r>
          </a:p>
          <a:p>
            <a:endParaRPr dirty="0"/>
          </a:p>
          <a:p>
            <a:r>
              <a:rPr dirty="0"/>
              <a:t>Six concrete examples: billing questions you can't answer, quality audits you can't do, incident investigations with no data, performance analysis impossible, errors you don't know about, and cost attribution that's guesswork.</a:t>
            </a:r>
          </a:p>
          <a:p>
            <a:endParaRPr dirty="0"/>
          </a:p>
          <a:p>
            <a:r>
              <a:rPr dirty="0"/>
              <a:t>A streaming handler addresses all six with two log writes per request: TOKEN entries during the response (what it said), and a COMPLETE entry at the end (how long, how many tokens). One CFC, six operational problems solved.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982927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complete Nexora support system. Seven lines added over seven chapters, each solving a specific production problem.</a:t>
            </a:r>
          </a:p>
          <a:p>
            <a:endParaRPr/>
          </a:p>
          <a:p>
            <a:r>
              <a:t>The stack is simple: ChatModel configures the provider, agent() orchestrates everything. Each feature is one parameter in the agent() call. The code change is minimal — the capability gain is substantial.</a:t>
            </a:r>
          </a:p>
          <a:p>
            <a:endParaRPr/>
          </a:p>
          <a:p>
            <a:r>
              <a:t>From the audience's perspective: take your existing ColdFusion CF, add these seven features one by one, and you have a production-grade AI support system. The progression is the point — you don't have to build it all at once. Start with Problem 1, ship it, add Problem 2 when needed, and so 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968444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BROWSER — localhost:8501/aiTesting/demo/ Streaming tab]</a:t>
            </a:r>
          </a:p>
          <a:p>
            <a:endParaRPr/>
          </a:p>
          <a:p>
            <a:r>
              <a:t>Demo walkthrough:</a:t>
            </a:r>
          </a:p>
          <a:p>
            <a:r>
              <a:t>1. Ask a question and watch the token log update in real-time on the right panel</a:t>
            </a:r>
          </a:p>
          <a:p>
            <a:r>
              <a:t>   Each line shows a token chunk as it arrives from the LLM</a:t>
            </a:r>
          </a:p>
          <a:p>
            <a:r>
              <a:t>2. After the response completes, show the COMPLETE log entry:</a:t>
            </a:r>
          </a:p>
          <a:p>
            <a:r>
              <a:t>   COMPLETE | length=247 | in_token=143 | out_token=58</a:t>
            </a:r>
          </a:p>
          <a:p>
            <a:r>
              <a:t>3. Ask a longer question — show more tokens, higher out_token count</a:t>
            </a:r>
          </a:p>
          <a:p>
            <a:r>
              <a:t>4. Show the log file: tail -f {CF-home}/logs/acme-stream.log</a:t>
            </a:r>
          </a:p>
          <a:p>
            <a:r>
              <a:t>   The log shows every token written as it arrives</a:t>
            </a:r>
          </a:p>
          <a:p>
            <a:endParaRPr/>
          </a:p>
          <a:p>
            <a:r>
              <a:t>Key talking points:</a:t>
            </a:r>
          </a:p>
          <a:p>
            <a:r>
              <a:t>- Browser sees the final response (unchanged) — streaming is server-side only here</a:t>
            </a:r>
          </a:p>
          <a:p>
            <a:r>
              <a:t>- Token counts in onCompleteResponse → cost monitoring dashboard</a:t>
            </a:r>
          </a:p>
          <a:p>
            <a:r>
              <a:t>- onError fires if the LLM times out or returns an error — captured and logged</a:t>
            </a:r>
          </a:p>
          <a:p>
            <a:r>
              <a:t>- For browser streaming: write to application scope buffer + SSE endpoint</a:t>
            </a:r>
          </a:p>
          <a:p>
            <a:endParaRPr/>
          </a:p>
          <a:p>
            <a:r>
              <a:t>[SWITCH BACK TO SLIDES]</a:t>
            </a:r>
          </a:p>
          <a:p>
            <a:endParaRPr/>
          </a:p>
          <a:p>
            <a:r>
              <a:t>Transition: "Now let me show you the problem this solves — what happens without any visibility into the LLM." </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144013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Function tools let the AI call your ColdFusion CFCs directly. MCP goes further — it's a </a:t>
            </a:r>
            <a:r>
              <a:rPr dirty="0" err="1"/>
              <a:t>standardised</a:t>
            </a:r>
            <a:r>
              <a:rPr dirty="0"/>
              <a:t> protocol that lets the AI connect to any external service or tool server, regardless of language or platform. You write one CFC that implements an HTTP MCP endpoint, and the AI calls it through the protocol.</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MCP is an open protocol from Anthropic — the same protocol used by Claude Desktop, Cursor, and dozens of AI tools. It's a standard HTTP interface where a server advertises its tools and the AI client calls them.</a:t>
            </a:r>
          </a:p>
          <a:p>
            <a:endParaRPr dirty="0"/>
          </a:p>
          <a:p>
            <a:r>
              <a:rPr dirty="0"/>
              <a:t>In CF 2025, </a:t>
            </a:r>
            <a:r>
              <a:rPr dirty="0" err="1"/>
              <a:t>McpClient</a:t>
            </a:r>
            <a:r>
              <a:rPr dirty="0"/>
              <a:t>() creates a connection to any MCP-compliant HTTP endpoint. You can mix it with direct CFC tools — fast local CFCs for order lookup, MCP for external integrations like email, Slack, Jira, or internal microservices.</a:t>
            </a:r>
          </a:p>
          <a:p>
            <a:endParaRPr dirty="0"/>
          </a:p>
          <a:p>
            <a:r>
              <a:rPr dirty="0"/>
              <a:t>The big advantage: one MCP server can expose unlimited tools. And you can use pre-built MCP servers for popular services without writing any integration code.</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critical difference from function tools: MCP tools use @mcpTool and @mcpDescription annotations instead of a plain docblock. If you add @mcpTool to a CFC and try to use it as a direct function tool, agent() will skip it. And vice versa — a plain docblock CFC won't be recognised as an MCP tool.</a:t>
            </a:r>
          </a:p>
          <a:p>
            <a:endParaRPr/>
          </a:p>
          <a:p>
            <a:r>
              <a:t>The MCP server is a separate CF endpoint — server.cfm — that handles the MCP HTTP protocol. It discovers tools by scanning for @mcpTool CFCs and responds to tool discovery and call requests.</a:t>
            </a:r>
          </a:p>
          <a:p>
            <a:endParaRPr/>
          </a:p>
          <a:p>
            <a:r>
              <a:t>In this demo, TicketTool.cfc uses cfmail to send a real HTML email. When the AI decides to escalate, it calls fileTicket() through the MCP protocol, which triggers cfmail on the server.</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last gap in Nexora's support system. The mock escalateIssue() in SupportTool gives the AI a convincing response to give the customer — a realistic ticket number. But nothing actually happens. No email. No Jira ticket. No Slack alert. No human ever sees it.</a:t>
            </a:r>
          </a:p>
          <a:p>
            <a:endParaRPr/>
          </a:p>
          <a:p>
            <a:r>
              <a:t>The customer gets a fake ticket ID, waits, hears nothing, and is more frustrated than before.</a:t>
            </a:r>
          </a:p>
          <a:p>
            <a:endParaRPr/>
          </a:p>
          <a:p>
            <a:r>
              <a:t>MCP solves this cleanly. Replace the mock escalation tool with a real MCP server tool that calls cfmail. The AI still uses the same tool call pattern — it decides when to escalate, generates the summary, passes the arguments. The difference is what happens at the other end: a real email lands in a support inbox.</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final evolution of Nexora's support system. Direct CFC tool for order lookup — it's fast, same server, no protocol overhead. MCP client for escalation — because that crosses a service boundary, sending email via cfmail.</a:t>
            </a:r>
          </a:p>
          <a:p>
            <a:endParaRPr/>
          </a:p>
          <a:p>
            <a:r>
              <a:t>The TOOLS array shows the mix: a direct CFC object and an MCP client wrapped in a struct. The AI sees them both as callable tools — it has no idea one is local and one is remote.</a:t>
            </a:r>
          </a:p>
          <a:p>
            <a:endParaRPr/>
          </a:p>
          <a:p>
            <a:r>
              <a:t>When the AI decides to escalate, it calls fileTicket() through McpClient. CF makes an HTTP request to the MCP server, which runs TicketTool.cfc's fileTicket() method, which calls cfmail, which sends a real HTML email to the support inbox. The customer gets a real ticket ID. The support team gets notified. The loop is closed.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BROWSER — localhost:8501/aiTesting/demo/ MCP tab, then problem6-mcp_demo.cfm]</a:t>
            </a:r>
          </a:p>
          <a:p>
            <a:endParaRPr/>
          </a:p>
          <a:p>
            <a:r>
              <a:t>Demo walkthrough (demo tab):</a:t>
            </a:r>
          </a:p>
          <a:p>
            <a:r>
              <a:t>1. Show the MCP server connection panel — connected to server.cfm</a:t>
            </a:r>
          </a:p>
          <a:p>
            <a:r>
              <a:t>2. Ask: "Where is my order #12345?" — uses direct SupportTool CFC (fast)</a:t>
            </a:r>
          </a:p>
          <a:p>
            <a:r>
              <a:t>3. Ask: "My order #55432 was cancelled, I want to escalate"</a:t>
            </a:r>
          </a:p>
          <a:p>
            <a:r>
              <a:t>   Watch: AI calls fileTicket() via MCP protocol</a:t>
            </a:r>
          </a:p>
          <a:p>
            <a:r>
              <a:t>   Email is sent — check your inbox live during the demo</a:t>
            </a:r>
          </a:p>
          <a:p>
            <a:r>
              <a:t>4. Show the email in your inbox — HTML formatted, ticket ID, issue summary</a:t>
            </a:r>
          </a:p>
          <a:p>
            <a:endParaRPr/>
          </a:p>
          <a:p>
            <a:r>
              <a:t>Then show problem6-mcp_demo.cfm:</a:t>
            </a:r>
          </a:p>
          <a:p>
            <a:r>
              <a:t>1. "Where is my order #99821?" — direct CFC, instant response</a:t>
            </a:r>
          </a:p>
          <a:p>
            <a:r>
              <a:t>2. "Order #77654 arrived damaged — I need to speak to a manager"</a:t>
            </a:r>
          </a:p>
          <a:p>
            <a:r>
              <a:t>   AI calls fileTicket() through MCP → TicketTool.cfc → cfmail → real email</a:t>
            </a:r>
          </a:p>
          <a:p>
            <a:r>
              <a:t>3. Show ticket ID returned to customer</a:t>
            </a:r>
          </a:p>
          <a:p>
            <a:endParaRPr/>
          </a:p>
          <a:p>
            <a:r>
              <a:t>Key talking points:</a:t>
            </a:r>
          </a:p>
          <a:p>
            <a:r>
              <a:t>- TOOLS array mixes direct CFC + MCP: [supportTool, { mcpClient:[mcpClient] }]</a:t>
            </a:r>
          </a:p>
          <a:p>
            <a:r>
              <a:t>- SupportTool (direct): zero network hop, fastest possible</a:t>
            </a:r>
          </a:p>
          <a:p>
            <a:r>
              <a:t>- TicketTool (MCP): HTTP call to MCP server, triggers real email</a:t>
            </a:r>
          </a:p>
          <a:p>
            <a:r>
              <a:t>- Same AI, same conversation — it chooses the right tool automatically</a:t>
            </a:r>
          </a:p>
          <a:p>
            <a:endParaRPr/>
          </a:p>
          <a:p>
            <a:r>
              <a:t>[SWITCH BACK TO SLIDES]</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RAG — Retrieval-Augmented Generation — is the technique of injecting relevant documents or knowledge into the AI's context before it answers. Instead of relying on the LLM's training data, you supply the facts it needs. In ColdFusion 2025 this is done by loading your documents, passing them through a </a:t>
            </a:r>
            <a:r>
              <a:rPr dirty="0" err="1"/>
              <a:t>cfvectordb</a:t>
            </a:r>
            <a:r>
              <a:rPr dirty="0"/>
              <a:t> store, and retrieving the top-N matches to inject into </a:t>
            </a:r>
            <a:r>
              <a:rPr dirty="0" err="1"/>
              <a:t>systemMessage</a:t>
            </a:r>
            <a:r>
              <a:rPr dirty="0"/>
              <a:t>(). The AI then answers from YOUR data, not from a general internet corpus.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
    <p:bg>
      <p:bgPr>
        <a:solidFill>
          <a:srgbClr val="EB1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rIns="0" anchor="b">
            <a:noAutofit/>
          </a:bodyPr>
          <a:lstStyle>
            <a:lvl1pPr algn="l">
              <a:lnSpc>
                <a:spcPct val="80000"/>
              </a:lnSpc>
              <a:defRPr sz="7700" spc="-12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4" name="Picture 3" descr="A white letter o on a black background&#10;&#10;Description automatically generated">
            <a:extLst>
              <a:ext uri="{FF2B5EF4-FFF2-40B4-BE49-F238E27FC236}">
                <a16:creationId xmlns:a16="http://schemas.microsoft.com/office/drawing/2014/main" id="{E695AAB3-D968-696B-8D8D-3D752EF759D4}"/>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619000" y="5997508"/>
            <a:ext cx="1316736" cy="318211"/>
          </a:xfrm>
          <a:prstGeom prst="rect">
            <a:avLst/>
          </a:prstGeom>
        </p:spPr>
      </p:pic>
    </p:spTree>
    <p:extLst>
      <p:ext uri="{BB962C8B-B14F-4D97-AF65-F5344CB8AC3E}">
        <p14:creationId xmlns:p14="http://schemas.microsoft.com/office/powerpoint/2010/main" val="4148256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anchor="b">
            <a:noAutofit/>
          </a:bodyPr>
          <a:lstStyle>
            <a:lvl1pPr algn="l">
              <a:lnSpc>
                <a:spcPct val="80000"/>
              </a:lnSpc>
              <a:defRPr sz="7700" spc="-120" baseline="0"/>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pic>
        <p:nvPicPr>
          <p:cNvPr id="5" name="Picture 4" descr="A red and black number&#10;&#10;Description automatically generated">
            <a:extLst>
              <a:ext uri="{FF2B5EF4-FFF2-40B4-BE49-F238E27FC236}">
                <a16:creationId xmlns:a16="http://schemas.microsoft.com/office/drawing/2014/main" id="{1FEC818F-5FDE-7FC3-B076-F61506203AE0}"/>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1569845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 Dar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anchor="b">
            <a:noAutofit/>
          </a:bodyPr>
          <a:lstStyle>
            <a:lvl1pPr algn="l">
              <a:lnSpc>
                <a:spcPct val="80000"/>
              </a:lnSpc>
              <a:defRPr sz="7700" spc="-12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pic>
        <p:nvPicPr>
          <p:cNvPr id="5" name="Picture 4" descr="A red and black number&#10;&#10;Description automatically generated">
            <a:extLst>
              <a:ext uri="{FF2B5EF4-FFF2-40B4-BE49-F238E27FC236}">
                <a16:creationId xmlns:a16="http://schemas.microsoft.com/office/drawing/2014/main" id="{D7C0ED63-3C6C-8868-F40A-8C33E74887C8}"/>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3950636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599" y="426061"/>
            <a:ext cx="5334001" cy="2387600"/>
          </a:xfrm>
        </p:spPr>
        <p:txBody>
          <a:bodyPr lIns="0" rIns="0" anchor="b">
            <a:noAutofit/>
          </a:bodyPr>
          <a:lstStyle>
            <a:lvl1pPr algn="l">
              <a:lnSpc>
                <a:spcPct val="80000"/>
              </a:lnSpc>
              <a:defRPr sz="5400" spc="-120" baseline="0"/>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599" y="3012926"/>
            <a:ext cx="5334002" cy="1655762"/>
          </a:xfrm>
        </p:spPr>
        <p:txBody>
          <a:bodyPr lIns="0" r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4031B34F-5072-BCFE-838A-B26F9DFCB01E}"/>
              </a:ext>
            </a:extLst>
          </p:cNvPr>
          <p:cNvSpPr>
            <a:spLocks noGrp="1"/>
          </p:cNvSpPr>
          <p:nvPr>
            <p:ph type="pic" sz="quarter" idx="10"/>
          </p:nvPr>
        </p:nvSpPr>
        <p:spPr>
          <a:xfrm>
            <a:off x="6096000" y="0"/>
            <a:ext cx="6096000" cy="6858000"/>
          </a:xfrm>
        </p:spPr>
        <p:txBody>
          <a:bodyPr wrap="none">
            <a:noAutofit/>
          </a:bodyPr>
          <a:lstStyle/>
          <a:p>
            <a:endParaRPr lang="en-US"/>
          </a:p>
        </p:txBody>
      </p:sp>
      <p:pic>
        <p:nvPicPr>
          <p:cNvPr id="5" name="Picture 4" descr="A red and black number&#10;&#10;Description automatically generated">
            <a:extLst>
              <a:ext uri="{FF2B5EF4-FFF2-40B4-BE49-F238E27FC236}">
                <a16:creationId xmlns:a16="http://schemas.microsoft.com/office/drawing/2014/main" id="{ED10F1C0-9764-B3D2-72FA-D6F1835F56A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3532479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2431770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hite - Bottom Graphic">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1097280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93ECCD13-D1E9-473F-B841-18617FCF55E9}" type="datetime1">
              <a:rPr lang="en-US" smtClean="0"/>
              <a:t>4/15/26</a:t>
            </a:fld>
            <a:endParaRPr lang="en-US"/>
          </a:p>
        </p:txBody>
      </p:sp>
    </p:spTree>
    <p:extLst>
      <p:ext uri="{BB962C8B-B14F-4D97-AF65-F5344CB8AC3E}">
        <p14:creationId xmlns:p14="http://schemas.microsoft.com/office/powerpoint/2010/main" val="2660005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Large Quot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1600200"/>
            <a:ext cx="10972800" cy="946389"/>
          </a:xfrm>
        </p:spPr>
        <p:txBody>
          <a:bodyPr lIns="0" rIns="0"/>
          <a:lstStyle/>
          <a:p>
            <a:r>
              <a:rPr lang="en-US"/>
              <a:t>Click to edit Master title style</a:t>
            </a:r>
          </a:p>
        </p:txBody>
      </p:sp>
      <p:sp>
        <p:nvSpPr>
          <p:cNvPr id="3" name="Text Placeholder 2">
            <a:extLst>
              <a:ext uri="{FF2B5EF4-FFF2-40B4-BE49-F238E27FC236}">
                <a16:creationId xmlns:a16="http://schemas.microsoft.com/office/drawing/2014/main" id="{071E6B17-ECCD-E40D-70FD-EB994B56943F}"/>
              </a:ext>
            </a:extLst>
          </p:cNvPr>
          <p:cNvSpPr>
            <a:spLocks noGrp="1"/>
          </p:cNvSpPr>
          <p:nvPr>
            <p:ph type="body" sz="quarter" idx="15"/>
          </p:nvPr>
        </p:nvSpPr>
        <p:spPr>
          <a:xfrm>
            <a:off x="609600" y="1333500"/>
            <a:ext cx="10972800" cy="4191000"/>
          </a:xfrm>
        </p:spPr>
        <p:txBody>
          <a:bodyPr anchor="ctr" anchorCtr="0"/>
          <a:lstStyle>
            <a:lvl1pPr marL="457200" indent="-457200">
              <a:lnSpc>
                <a:spcPct val="95000"/>
              </a:lnSpc>
              <a:spcBef>
                <a:spcPts val="2400"/>
              </a:spcBef>
              <a:buSzPct val="100000"/>
              <a:buFont typeface="System Font Regular"/>
              <a:buChar char="–"/>
              <a:tabLst/>
              <a:defRPr sz="5400" b="1" i="0" spc="-50" baseline="0">
                <a:latin typeface="Adobe Clean Display Black" panose="020B0303020404020204" pitchFamily="34" charset="77"/>
              </a:defRPr>
            </a:lvl1pPr>
            <a:lvl2pPr marL="914400" indent="-457200">
              <a:lnSpc>
                <a:spcPct val="95000"/>
              </a:lnSpc>
              <a:spcBef>
                <a:spcPts val="2400"/>
              </a:spcBef>
              <a:buSzPct val="100000"/>
              <a:buFont typeface="System Font Regular"/>
              <a:buChar char="–"/>
              <a:tabLst/>
              <a:defRPr sz="3200"/>
            </a:lvl2pPr>
            <a:lvl3pPr marL="914400" indent="-457200">
              <a:lnSpc>
                <a:spcPct val="95000"/>
              </a:lnSpc>
              <a:spcBef>
                <a:spcPts val="2400"/>
              </a:spcBef>
              <a:buSzPct val="100000"/>
              <a:buFont typeface="System Font Regular"/>
              <a:buChar char="–"/>
              <a:tabLst/>
              <a:defRPr sz="1600"/>
            </a:lvl3pPr>
            <a:lvl4pPr marL="914400" indent="-457200">
              <a:lnSpc>
                <a:spcPct val="95000"/>
              </a:lnSpc>
              <a:spcBef>
                <a:spcPts val="2400"/>
              </a:spcBef>
              <a:buSzPct val="100000"/>
              <a:buFont typeface="System Font Regular"/>
              <a:buChar char="–"/>
              <a:tabLst/>
              <a:defRPr sz="1600"/>
            </a:lvl4pPr>
            <a:lvl5pPr marL="914400" indent="-457200">
              <a:lnSpc>
                <a:spcPct val="95000"/>
              </a:lnSpc>
              <a:spcBef>
                <a:spcPts val="2400"/>
              </a:spcBef>
              <a:buSzPct val="100000"/>
              <a:buFont typeface="System Font Regular"/>
              <a:buChar char="–"/>
              <a:tabLs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93ECCD13-D1E9-473F-B841-18617FCF55E9}" type="datetime1">
              <a:rPr lang="en-US" smtClean="0"/>
              <a:t>4/15/26</a:t>
            </a:fld>
            <a:endParaRPr lang="en-US"/>
          </a:p>
        </p:txBody>
      </p:sp>
    </p:spTree>
    <p:extLst>
      <p:ext uri="{BB962C8B-B14F-4D97-AF65-F5344CB8AC3E}">
        <p14:creationId xmlns:p14="http://schemas.microsoft.com/office/powerpoint/2010/main" val="3723118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1/2 Imag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493776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4572000" cy="4992624"/>
          </a:xfrm>
        </p:spPr>
        <p:txBody>
          <a:bodyPr lIns="0" rIns="0">
            <a:noAutofit/>
          </a:bodyPr>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6096000" y="0"/>
            <a:ext cx="6096000" cy="6858000"/>
          </a:xfrm>
        </p:spPr>
        <p:txBody>
          <a:bodyPr/>
          <a:lstStyle>
            <a:lvl1pPr>
              <a:defRPr/>
            </a:lvl1pPr>
          </a:lstStyle>
          <a:p>
            <a:endParaRPr lang="en-US"/>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8705"/>
            <a:ext cx="1748393" cy="20195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3836955" y="6583680"/>
            <a:ext cx="1710405" cy="92333"/>
          </a:xfrm>
          <a:prstGeom prst="rect">
            <a:avLst/>
          </a:prstGeom>
          <a:noFill/>
        </p:spPr>
        <p:txBody>
          <a:bodyPr wrap="none" lIns="0" tIns="0" rIns="0" bIns="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191919"/>
                </a:solidFill>
                <a:latin typeface="Adobe Clean" panose="020B0503020404020204" pitchFamily="34" charset="0"/>
              </a:rPr>
              <a:t>© 2026 Adobe. All Rights Reserved. Adobe Confidential.</a:t>
            </a:r>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1920240" cy="91887"/>
          </a:xfrm>
        </p:spPr>
        <p:txBody>
          <a:body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3657600" y="6583680"/>
            <a:ext cx="89768" cy="92333"/>
          </a:xfrm>
        </p:spPr>
        <p:txBody>
          <a:bodyPr>
            <a:noAutofit/>
          </a:bodyPr>
          <a:lstStyle/>
          <a:p>
            <a:pPr algn="r"/>
            <a:fld id="{DEC9D0C1-7FBA-40E3-98AB-77B8E8CCE3DF}" type="slidenum">
              <a:rPr lang="en-US" smtClean="0"/>
              <a:pPr algn="r"/>
              <a:t>‹#›</a:t>
            </a:fld>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03D17E50-0ADF-43FB-8C34-0001133F6E68}" type="datetime1">
              <a:rPr lang="en-US" smtClean="0"/>
              <a:t>4/15/26</a:t>
            </a:fld>
            <a:endParaRPr lang="en-US"/>
          </a:p>
        </p:txBody>
      </p:sp>
    </p:spTree>
    <p:extLst>
      <p:ext uri="{BB962C8B-B14F-4D97-AF65-F5344CB8AC3E}">
        <p14:creationId xmlns:p14="http://schemas.microsoft.com/office/powerpoint/2010/main" val="57611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1/3 Imag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1" y="264085"/>
            <a:ext cx="676656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1" y="1334324"/>
            <a:ext cx="594360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7894320" y="0"/>
            <a:ext cx="4297680" cy="6858000"/>
          </a:xfrm>
        </p:spPr>
        <p:txBody>
          <a:body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3657600" cy="91887"/>
          </a:xfrm>
        </p:spPr>
        <p:txBody>
          <a:body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5486400" y="6583680"/>
            <a:ext cx="89768" cy="92333"/>
          </a:xfrm>
        </p:spPr>
        <p:txBody>
          <a:bodyPr/>
          <a:lstStyle>
            <a:lvl1pPr>
              <a:defRPr>
                <a:solidFill>
                  <a:srgbClr val="191919"/>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5665756"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191919"/>
                </a:solidFill>
                <a:latin typeface="Adobe Clean" panose="020B0503020404020204" pitchFamily="34" charset="0"/>
              </a:rPr>
              <a:t>© 2026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503997"/>
            <a:ext cx="1748393" cy="20195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61FE3EA7-D92D-4A30-9EBB-F43D697D029C}" type="datetime1">
              <a:rPr lang="en-US" smtClean="0"/>
              <a:t>4/15/26</a:t>
            </a:fld>
            <a:endParaRPr lang="en-US"/>
          </a:p>
        </p:txBody>
      </p:sp>
    </p:spTree>
    <p:extLst>
      <p:ext uri="{BB962C8B-B14F-4D97-AF65-F5344CB8AC3E}">
        <p14:creationId xmlns:p14="http://schemas.microsoft.com/office/powerpoint/2010/main" val="571467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493776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1334324"/>
            <a:ext cx="493776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4/15/26</a:t>
            </a:fld>
            <a:endParaRPr lang="en-US"/>
          </a:p>
        </p:txBody>
      </p:sp>
    </p:spTree>
    <p:extLst>
      <p:ext uri="{BB962C8B-B14F-4D97-AF65-F5344CB8AC3E}">
        <p14:creationId xmlns:p14="http://schemas.microsoft.com/office/powerpoint/2010/main" val="522184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97324"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82000"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4/15/26</a:t>
            </a:fld>
            <a:endParaRPr lang="en-US"/>
          </a:p>
        </p:txBody>
      </p:sp>
    </p:spTree>
    <p:extLst>
      <p:ext uri="{BB962C8B-B14F-4D97-AF65-F5344CB8AC3E}">
        <p14:creationId xmlns:p14="http://schemas.microsoft.com/office/powerpoint/2010/main" val="1071854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1456"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0264"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9339072"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4/15/26</a:t>
            </a:fld>
            <a:endParaRPr lang="en-US"/>
          </a:p>
        </p:txBody>
      </p:sp>
    </p:spTree>
    <p:extLst>
      <p:ext uri="{BB962C8B-B14F-4D97-AF65-F5344CB8AC3E}">
        <p14:creationId xmlns:p14="http://schemas.microsoft.com/office/powerpoint/2010/main" val="3449695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9"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75275"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37901" y="1334324"/>
            <a:ext cx="1920240" cy="4992624"/>
          </a:xfrm>
        </p:spPr>
        <p:txBody>
          <a:bodyPr lIns="0" rIns="0"/>
          <a:lstStyle>
            <a:lvl1pPr marL="176213" indent="-17621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7400527"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B3448685-45E7-5B8D-4E46-44FECC30A5E8}"/>
              </a:ext>
            </a:extLst>
          </p:cNvPr>
          <p:cNvSpPr>
            <a:spLocks noGrp="1"/>
          </p:cNvSpPr>
          <p:nvPr>
            <p:ph idx="16"/>
          </p:nvPr>
        </p:nvSpPr>
        <p:spPr>
          <a:xfrm>
            <a:off x="9663152"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4/15/26</a:t>
            </a:fld>
            <a:endParaRPr lang="en-US"/>
          </a:p>
        </p:txBody>
      </p:sp>
    </p:spTree>
    <p:extLst>
      <p:ext uri="{BB962C8B-B14F-4D97-AF65-F5344CB8AC3E}">
        <p14:creationId xmlns:p14="http://schemas.microsoft.com/office/powerpoint/2010/main" val="353004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4" name="Picture Placeholder 1">
            <a:extLst>
              <a:ext uri="{FF2B5EF4-FFF2-40B4-BE49-F238E27FC236}">
                <a16:creationId xmlns:a16="http://schemas.microsoft.com/office/drawing/2014/main" id="{56A753F3-8E21-F8FC-F311-A7291271BB52}"/>
              </a:ext>
            </a:extLst>
          </p:cNvPr>
          <p:cNvSpPr>
            <a:spLocks noGrp="1"/>
          </p:cNvSpPr>
          <p:nvPr>
            <p:ph type="pic" sz="quarter" idx="15"/>
          </p:nvPr>
        </p:nvSpPr>
        <p:spPr>
          <a:xfrm>
            <a:off x="609600" y="1335024"/>
            <a:ext cx="4937760" cy="2514600"/>
          </a:xfrm>
        </p:spPr>
        <p:txBody>
          <a:bodyPr/>
          <a:lstStyle/>
          <a:p>
            <a:endParaRPr lang="en-US"/>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23360"/>
            <a:ext cx="4846320" cy="2286000"/>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B7F64D60-75DD-D985-EFBC-9C173CDE2D69}"/>
              </a:ext>
            </a:extLst>
          </p:cNvPr>
          <p:cNvSpPr>
            <a:spLocks noGrp="1"/>
          </p:cNvSpPr>
          <p:nvPr>
            <p:ph type="pic" sz="quarter" idx="16"/>
          </p:nvPr>
        </p:nvSpPr>
        <p:spPr>
          <a:xfrm>
            <a:off x="6644640" y="1335024"/>
            <a:ext cx="493776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4023360"/>
            <a:ext cx="4846320" cy="2286000"/>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4/15/26</a:t>
            </a:fld>
            <a:endParaRPr lang="en-US"/>
          </a:p>
        </p:txBody>
      </p:sp>
    </p:spTree>
    <p:extLst>
      <p:ext uri="{BB962C8B-B14F-4D97-AF65-F5344CB8AC3E}">
        <p14:creationId xmlns:p14="http://schemas.microsoft.com/office/powerpoint/2010/main" val="1091537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3255264"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68368"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4468368" y="1335024"/>
            <a:ext cx="3255264"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27136"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8327136" y="1335024"/>
            <a:ext cx="3255264"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4/15/26</a:t>
            </a:fld>
            <a:endParaRPr lang="en-US"/>
          </a:p>
        </p:txBody>
      </p:sp>
    </p:spTree>
    <p:extLst>
      <p:ext uri="{BB962C8B-B14F-4D97-AF65-F5344CB8AC3E}">
        <p14:creationId xmlns:p14="http://schemas.microsoft.com/office/powerpoint/2010/main" val="7751991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224028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2472"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3520440" y="1335024"/>
            <a:ext cx="2240280"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2296"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6431280" y="1335024"/>
            <a:ext cx="2240280" cy="2514600"/>
          </a:xfrm>
        </p:spPr>
        <p:txBody>
          <a:body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9342120"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9342120" y="1335024"/>
            <a:ext cx="2240280"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4/15/26</a:t>
            </a:fld>
            <a:endParaRPr lang="en-US"/>
          </a:p>
        </p:txBody>
      </p:sp>
    </p:spTree>
    <p:extLst>
      <p:ext uri="{BB962C8B-B14F-4D97-AF65-F5344CB8AC3E}">
        <p14:creationId xmlns:p14="http://schemas.microsoft.com/office/powerpoint/2010/main" val="28637828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ive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182880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97886"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2895600" y="1335024"/>
            <a:ext cx="1828800"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83124"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5181600" y="1335024"/>
            <a:ext cx="1828800" cy="2514600"/>
          </a:xfrm>
        </p:spPr>
        <p:txBody>
          <a:body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7468362"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7467600" y="1335024"/>
            <a:ext cx="1828800" cy="2514600"/>
          </a:xfrm>
        </p:spPr>
        <p:txBody>
          <a:bodyPr/>
          <a:lstStyle/>
          <a:p>
            <a:endParaRPr lang="en-US"/>
          </a:p>
        </p:txBody>
      </p:sp>
      <p:sp>
        <p:nvSpPr>
          <p:cNvPr id="15" name="Content Placeholder 5">
            <a:extLst>
              <a:ext uri="{FF2B5EF4-FFF2-40B4-BE49-F238E27FC236}">
                <a16:creationId xmlns:a16="http://schemas.microsoft.com/office/drawing/2014/main" id="{D12A0CEB-4B0D-60FD-031D-69EED3A4330E}"/>
              </a:ext>
            </a:extLst>
          </p:cNvPr>
          <p:cNvSpPr>
            <a:spLocks noGrp="1"/>
          </p:cNvSpPr>
          <p:nvPr>
            <p:ph idx="21"/>
          </p:nvPr>
        </p:nvSpPr>
        <p:spPr>
          <a:xfrm>
            <a:off x="9753600"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5">
            <a:extLst>
              <a:ext uri="{FF2B5EF4-FFF2-40B4-BE49-F238E27FC236}">
                <a16:creationId xmlns:a16="http://schemas.microsoft.com/office/drawing/2014/main" id="{0B501880-A94F-9D7D-8CC4-B3716FA977DC}"/>
              </a:ext>
            </a:extLst>
          </p:cNvPr>
          <p:cNvSpPr>
            <a:spLocks noGrp="1"/>
          </p:cNvSpPr>
          <p:nvPr>
            <p:ph type="pic" sz="quarter" idx="20"/>
          </p:nvPr>
        </p:nvSpPr>
        <p:spPr>
          <a:xfrm>
            <a:off x="9753600" y="1335024"/>
            <a:ext cx="1828800"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4/15/26</a:t>
            </a:fld>
            <a:endParaRPr lang="en-US"/>
          </a:p>
        </p:txBody>
      </p:sp>
    </p:spTree>
    <p:extLst>
      <p:ext uri="{BB962C8B-B14F-4D97-AF65-F5344CB8AC3E}">
        <p14:creationId xmlns:p14="http://schemas.microsoft.com/office/powerpoint/2010/main" val="28875479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4" name="Text Placeholder 3">
            <a:extLst>
              <a:ext uri="{FF2B5EF4-FFF2-40B4-BE49-F238E27FC236}">
                <a16:creationId xmlns:a16="http://schemas.microsoft.com/office/drawing/2014/main" id="{5513B074-3B07-0E57-B1EF-F6812220DF0A}"/>
              </a:ext>
            </a:extLst>
          </p:cNvPr>
          <p:cNvSpPr>
            <a:spLocks noGrp="1"/>
          </p:cNvSpPr>
          <p:nvPr>
            <p:ph type="body" sz="quarter" idx="12"/>
          </p:nvPr>
        </p:nvSpPr>
        <p:spPr>
          <a:xfrm>
            <a:off x="609600" y="1566127"/>
            <a:ext cx="4846320" cy="342466"/>
          </a:xfrm>
        </p:spPr>
        <p:txBody>
          <a:bodyPr anchor="ctr" anchorCtr="0">
            <a:spAutoFit/>
          </a:bodyPr>
          <a:lstStyle>
            <a:lvl1pPr marL="0" indent="0">
              <a:buNone/>
              <a:defRPr sz="16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4937760" cy="4023360"/>
          </a:xfrm>
        </p:spPr>
        <p:txBody>
          <a:bodyPr/>
          <a:lstStyle/>
          <a:p>
            <a:endParaRPr lang="en-US"/>
          </a:p>
        </p:txBody>
      </p:sp>
      <p:sp>
        <p:nvSpPr>
          <p:cNvPr id="5" name="Text Placeholder 3">
            <a:extLst>
              <a:ext uri="{FF2B5EF4-FFF2-40B4-BE49-F238E27FC236}">
                <a16:creationId xmlns:a16="http://schemas.microsoft.com/office/drawing/2014/main" id="{C6A13A99-FC00-81A6-297A-C14D357F8C98}"/>
              </a:ext>
            </a:extLst>
          </p:cNvPr>
          <p:cNvSpPr>
            <a:spLocks noGrp="1"/>
          </p:cNvSpPr>
          <p:nvPr>
            <p:ph type="body" sz="quarter" idx="13"/>
          </p:nvPr>
        </p:nvSpPr>
        <p:spPr>
          <a:xfrm>
            <a:off x="6644640" y="1566127"/>
            <a:ext cx="4846320" cy="342466"/>
          </a:xfrm>
        </p:spPr>
        <p:txBody>
          <a:bodyPr anchor="ctr" anchorCtr="0">
            <a:spAutoFit/>
          </a:bodyPr>
          <a:lstStyle>
            <a:lvl1pPr marL="0" indent="0">
              <a:buNone/>
              <a:defRPr sz="16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644640" y="2103120"/>
            <a:ext cx="4937760" cy="4023360"/>
          </a:xfrm>
        </p:spPr>
        <p:txBody>
          <a:bodyPr/>
          <a:lstStyle/>
          <a:p>
            <a:endParaRPr lang="en-US"/>
          </a:p>
        </p:txBody>
      </p:sp>
      <p:sp>
        <p:nvSpPr>
          <p:cNvPr id="7" name="Footer Placeholder 6">
            <a:extLst>
              <a:ext uri="{FF2B5EF4-FFF2-40B4-BE49-F238E27FC236}">
                <a16:creationId xmlns:a16="http://schemas.microsoft.com/office/drawing/2014/main" id="{B67FFA04-4266-EB76-C232-9C0E983840C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6A7A4A96-D9EB-6DDE-6A01-725F7AE4430C}"/>
              </a:ext>
            </a:extLst>
          </p:cNvPr>
          <p:cNvSpPr>
            <a:spLocks noGrp="1"/>
          </p:cNvSpPr>
          <p:nvPr>
            <p:ph type="sldNum" sz="quarter" idx="16"/>
          </p:nvPr>
        </p:nvSpPr>
        <p:spPr/>
        <p:txBody>
          <a:body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7F191FE7-A8B5-682D-84C7-9F90280016FD}"/>
              </a:ext>
            </a:extLst>
          </p:cNvPr>
          <p:cNvSpPr>
            <a:spLocks noGrp="1"/>
          </p:cNvSpPr>
          <p:nvPr>
            <p:ph type="dt" sz="half" idx="14"/>
          </p:nvPr>
        </p:nvSpPr>
        <p:spPr/>
        <p:txBody>
          <a:bodyPr/>
          <a:lstStyle/>
          <a:p>
            <a:fld id="{9358BB68-9328-42B3-A0F9-3A3B083EF2BE}" type="datetime1">
              <a:rPr lang="en-US" smtClean="0"/>
              <a:t>4/15/26</a:t>
            </a:fld>
            <a:endParaRPr lang="en-US"/>
          </a:p>
        </p:txBody>
      </p:sp>
    </p:spTree>
    <p:extLst>
      <p:ext uri="{BB962C8B-B14F-4D97-AF65-F5344CB8AC3E}">
        <p14:creationId xmlns:p14="http://schemas.microsoft.com/office/powerpoint/2010/main" val="29549834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3">
            <a:extLst>
              <a:ext uri="{FF2B5EF4-FFF2-40B4-BE49-F238E27FC236}">
                <a16:creationId xmlns:a16="http://schemas.microsoft.com/office/drawing/2014/main" id="{A7CA4403-228E-D982-11B8-71EFFDAB1F21}"/>
              </a:ext>
            </a:extLst>
          </p:cNvPr>
          <p:cNvSpPr>
            <a:spLocks noGrp="1"/>
          </p:cNvSpPr>
          <p:nvPr>
            <p:ph type="body" sz="quarter" idx="13"/>
          </p:nvPr>
        </p:nvSpPr>
        <p:spPr>
          <a:xfrm>
            <a:off x="609600"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3255264" cy="4023360"/>
          </a:xfrm>
        </p:spPr>
        <p:txBody>
          <a:bodyPr/>
          <a:lstStyle/>
          <a:p>
            <a:endParaRPr lang="en-US"/>
          </a:p>
        </p:txBody>
      </p:sp>
      <p:sp>
        <p:nvSpPr>
          <p:cNvPr id="4" name="Text Placeholder 3">
            <a:extLst>
              <a:ext uri="{FF2B5EF4-FFF2-40B4-BE49-F238E27FC236}">
                <a16:creationId xmlns:a16="http://schemas.microsoft.com/office/drawing/2014/main" id="{7946F0AF-945D-1612-FEA8-992054B7A75C}"/>
              </a:ext>
            </a:extLst>
          </p:cNvPr>
          <p:cNvSpPr>
            <a:spLocks noGrp="1"/>
          </p:cNvSpPr>
          <p:nvPr>
            <p:ph type="body" sz="quarter" idx="14"/>
          </p:nvPr>
        </p:nvSpPr>
        <p:spPr>
          <a:xfrm>
            <a:off x="4468368"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468368" y="2103120"/>
            <a:ext cx="3255264" cy="4023360"/>
          </a:xfrm>
        </p:spPr>
        <p:txBody>
          <a:bodyPr/>
          <a:lstStyle/>
          <a:p>
            <a:endParaRPr lang="en-US"/>
          </a:p>
        </p:txBody>
      </p:sp>
      <p:sp>
        <p:nvSpPr>
          <p:cNvPr id="5" name="Text Placeholder 3">
            <a:extLst>
              <a:ext uri="{FF2B5EF4-FFF2-40B4-BE49-F238E27FC236}">
                <a16:creationId xmlns:a16="http://schemas.microsoft.com/office/drawing/2014/main" id="{7D2660DF-18E0-5445-7D6F-B1E2A46D4B94}"/>
              </a:ext>
            </a:extLst>
          </p:cNvPr>
          <p:cNvSpPr>
            <a:spLocks noGrp="1"/>
          </p:cNvSpPr>
          <p:nvPr>
            <p:ph type="body" sz="quarter" idx="15"/>
          </p:nvPr>
        </p:nvSpPr>
        <p:spPr>
          <a:xfrm>
            <a:off x="8327136"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8327136" y="2103120"/>
            <a:ext cx="3255264" cy="4023360"/>
          </a:xfrm>
        </p:spPr>
        <p:txBody>
          <a:bodyPr/>
          <a:lstStyle/>
          <a:p>
            <a:endParaRPr lang="en-US"/>
          </a:p>
        </p:txBody>
      </p:sp>
      <p:sp>
        <p:nvSpPr>
          <p:cNvPr id="7" name="Footer Placeholder 6">
            <a:extLst>
              <a:ext uri="{FF2B5EF4-FFF2-40B4-BE49-F238E27FC236}">
                <a16:creationId xmlns:a16="http://schemas.microsoft.com/office/drawing/2014/main" id="{A121C368-1E72-48CA-929B-4401C8805A52}"/>
              </a:ext>
            </a:extLst>
          </p:cNvPr>
          <p:cNvSpPr>
            <a:spLocks noGrp="1"/>
          </p:cNvSpPr>
          <p:nvPr>
            <p:ph type="ftr" sz="quarter" idx="17"/>
          </p:nvPr>
        </p:nvSpPr>
        <p:spPr/>
        <p:txBody>
          <a:bodyPr/>
          <a:lstStyle/>
          <a:p>
            <a:endParaRPr lang="en-US"/>
          </a:p>
        </p:txBody>
      </p:sp>
      <p:sp>
        <p:nvSpPr>
          <p:cNvPr id="9" name="Slide Number Placeholder 8">
            <a:extLst>
              <a:ext uri="{FF2B5EF4-FFF2-40B4-BE49-F238E27FC236}">
                <a16:creationId xmlns:a16="http://schemas.microsoft.com/office/drawing/2014/main" id="{49AEAA01-FDF7-EF7A-F41F-F69EBE76E154}"/>
              </a:ext>
            </a:extLst>
          </p:cNvPr>
          <p:cNvSpPr>
            <a:spLocks noGrp="1"/>
          </p:cNvSpPr>
          <p:nvPr>
            <p:ph type="sldNum" sz="quarter" idx="18"/>
          </p:nvPr>
        </p:nvSpPr>
        <p:spPr/>
        <p:txBody>
          <a:body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B2DB4C55-EF9A-527B-C38E-033B25315799}"/>
              </a:ext>
            </a:extLst>
          </p:cNvPr>
          <p:cNvSpPr>
            <a:spLocks noGrp="1"/>
          </p:cNvSpPr>
          <p:nvPr>
            <p:ph type="dt" sz="half" idx="16"/>
          </p:nvPr>
        </p:nvSpPr>
        <p:spPr/>
        <p:txBody>
          <a:bodyPr/>
          <a:lstStyle/>
          <a:p>
            <a:fld id="{064C30AB-BD82-4C8A-B585-5A50C442DF09}" type="datetime1">
              <a:rPr lang="en-US" smtClean="0"/>
              <a:t>4/15/26</a:t>
            </a:fld>
            <a:endParaRPr lang="en-US"/>
          </a:p>
        </p:txBody>
      </p:sp>
    </p:spTree>
    <p:extLst>
      <p:ext uri="{BB962C8B-B14F-4D97-AF65-F5344CB8AC3E}">
        <p14:creationId xmlns:p14="http://schemas.microsoft.com/office/powerpoint/2010/main" val="6261581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3">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2240280" cy="4023360"/>
          </a:xfrm>
        </p:spPr>
        <p:txBody>
          <a:bodyPr/>
          <a:lstStyle/>
          <a:p>
            <a:endParaRPr lang="en-US"/>
          </a:p>
        </p:txBody>
      </p:sp>
      <p:sp>
        <p:nvSpPr>
          <p:cNvPr id="5" name="Text Placeholder 3">
            <a:extLst>
              <a:ext uri="{FF2B5EF4-FFF2-40B4-BE49-F238E27FC236}">
                <a16:creationId xmlns:a16="http://schemas.microsoft.com/office/drawing/2014/main" id="{37F3A760-EE34-C8A5-89C3-5467A9BC0CA9}"/>
              </a:ext>
            </a:extLst>
          </p:cNvPr>
          <p:cNvSpPr>
            <a:spLocks noGrp="1"/>
          </p:cNvSpPr>
          <p:nvPr>
            <p:ph type="body" sz="quarter" idx="15"/>
          </p:nvPr>
        </p:nvSpPr>
        <p:spPr>
          <a:xfrm>
            <a:off x="352044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3520440" y="2103120"/>
            <a:ext cx="2240280" cy="4023360"/>
          </a:xfrm>
        </p:spPr>
        <p:txBody>
          <a:body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643128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6431280" y="2103120"/>
            <a:ext cx="2240280" cy="4023360"/>
          </a:xfrm>
        </p:spPr>
        <p:txBody>
          <a:bodyPr/>
          <a:lstStyle/>
          <a:p>
            <a:endParaRPr lang="en-US"/>
          </a:p>
        </p:txBody>
      </p:sp>
      <p:sp>
        <p:nvSpPr>
          <p:cNvPr id="7" name="Text Placeholder 3">
            <a:extLst>
              <a:ext uri="{FF2B5EF4-FFF2-40B4-BE49-F238E27FC236}">
                <a16:creationId xmlns:a16="http://schemas.microsoft.com/office/drawing/2014/main" id="{EBE0941F-EC84-108F-647A-726CB13FD000}"/>
              </a:ext>
            </a:extLst>
          </p:cNvPr>
          <p:cNvSpPr>
            <a:spLocks noGrp="1"/>
          </p:cNvSpPr>
          <p:nvPr>
            <p:ph type="body" sz="quarter" idx="17"/>
          </p:nvPr>
        </p:nvSpPr>
        <p:spPr>
          <a:xfrm>
            <a:off x="934212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4" name="Picture Placeholder 11">
            <a:extLst>
              <a:ext uri="{FF2B5EF4-FFF2-40B4-BE49-F238E27FC236}">
                <a16:creationId xmlns:a16="http://schemas.microsoft.com/office/drawing/2014/main" id="{273AE085-219F-7944-7266-65BE5ACA42F8}"/>
              </a:ext>
            </a:extLst>
          </p:cNvPr>
          <p:cNvSpPr>
            <a:spLocks noGrp="1"/>
          </p:cNvSpPr>
          <p:nvPr>
            <p:ph type="pic" sz="quarter" idx="13"/>
          </p:nvPr>
        </p:nvSpPr>
        <p:spPr>
          <a:xfrm>
            <a:off x="9342120" y="2103120"/>
            <a:ext cx="2240280" cy="4023360"/>
          </a:xfrm>
        </p:spPr>
        <p:txBody>
          <a:bodyPr/>
          <a:lstStyle/>
          <a:p>
            <a:endParaRPr lang="en-US"/>
          </a:p>
        </p:txBody>
      </p:sp>
      <p:sp>
        <p:nvSpPr>
          <p:cNvPr id="11" name="Footer Placeholder 10">
            <a:extLst>
              <a:ext uri="{FF2B5EF4-FFF2-40B4-BE49-F238E27FC236}">
                <a16:creationId xmlns:a16="http://schemas.microsoft.com/office/drawing/2014/main" id="{2D1AAD5D-057A-DD5F-90D3-857CDC599D94}"/>
              </a:ext>
            </a:extLst>
          </p:cNvPr>
          <p:cNvSpPr>
            <a:spLocks noGrp="1"/>
          </p:cNvSpPr>
          <p:nvPr>
            <p:ph type="ftr" sz="quarter" idx="19"/>
          </p:nvPr>
        </p:nvSpPr>
        <p:spPr/>
        <p:txBody>
          <a:bodyPr/>
          <a:lstStyle/>
          <a:p>
            <a:endParaRPr lang="en-US"/>
          </a:p>
        </p:txBody>
      </p:sp>
      <p:sp>
        <p:nvSpPr>
          <p:cNvPr id="13" name="Slide Number Placeholder 12">
            <a:extLst>
              <a:ext uri="{FF2B5EF4-FFF2-40B4-BE49-F238E27FC236}">
                <a16:creationId xmlns:a16="http://schemas.microsoft.com/office/drawing/2014/main" id="{5024F614-A8FC-DFE2-56F8-8E640DCA191B}"/>
              </a:ext>
            </a:extLst>
          </p:cNvPr>
          <p:cNvSpPr>
            <a:spLocks noGrp="1"/>
          </p:cNvSpPr>
          <p:nvPr>
            <p:ph type="sldNum" sz="quarter" idx="20"/>
          </p:nvPr>
        </p:nvSpPr>
        <p:spPr/>
        <p:txBody>
          <a:body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C5A2DDEE-A8FC-94B8-B36F-644161312658}"/>
              </a:ext>
            </a:extLst>
          </p:cNvPr>
          <p:cNvSpPr>
            <a:spLocks noGrp="1"/>
          </p:cNvSpPr>
          <p:nvPr>
            <p:ph type="dt" sz="half" idx="18"/>
          </p:nvPr>
        </p:nvSpPr>
        <p:spPr/>
        <p:txBody>
          <a:bodyPr/>
          <a:lstStyle/>
          <a:p>
            <a:fld id="{C643547A-9664-4844-975D-62CB592093FC}" type="datetime1">
              <a:rPr lang="en-US" smtClean="0"/>
              <a:t>4/15/26</a:t>
            </a:fld>
            <a:endParaRPr lang="en-US"/>
          </a:p>
        </p:txBody>
      </p:sp>
    </p:spTree>
    <p:extLst>
      <p:ext uri="{BB962C8B-B14F-4D97-AF65-F5344CB8AC3E}">
        <p14:creationId xmlns:p14="http://schemas.microsoft.com/office/powerpoint/2010/main" val="36747862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ive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1">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8" name="Picture Placeholder 1">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1828800" cy="4023360"/>
          </a:xfrm>
        </p:spPr>
        <p:txBody>
          <a:bodyPr/>
          <a:lstStyle/>
          <a:p>
            <a:endParaRPr lang="en-US"/>
          </a:p>
        </p:txBody>
      </p:sp>
      <p:sp>
        <p:nvSpPr>
          <p:cNvPr id="5" name="Text Placeholder 2">
            <a:extLst>
              <a:ext uri="{FF2B5EF4-FFF2-40B4-BE49-F238E27FC236}">
                <a16:creationId xmlns:a16="http://schemas.microsoft.com/office/drawing/2014/main" id="{37F3A760-EE34-C8A5-89C3-5467A9BC0CA9}"/>
              </a:ext>
            </a:extLst>
          </p:cNvPr>
          <p:cNvSpPr>
            <a:spLocks noGrp="1"/>
          </p:cNvSpPr>
          <p:nvPr>
            <p:ph type="body" sz="quarter" idx="15"/>
          </p:nvPr>
        </p:nvSpPr>
        <p:spPr>
          <a:xfrm>
            <a:off x="2895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A160F384-0CC4-8E1E-C546-28F7B7D6B282}"/>
              </a:ext>
            </a:extLst>
          </p:cNvPr>
          <p:cNvSpPr>
            <a:spLocks noGrp="1"/>
          </p:cNvSpPr>
          <p:nvPr>
            <p:ph type="pic" sz="quarter" idx="11"/>
          </p:nvPr>
        </p:nvSpPr>
        <p:spPr>
          <a:xfrm>
            <a:off x="2895600" y="2103120"/>
            <a:ext cx="1828800" cy="4023360"/>
          </a:xfrm>
        </p:spPr>
        <p:txBody>
          <a:body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5181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2" name="Picture Placeholder 3">
            <a:extLst>
              <a:ext uri="{FF2B5EF4-FFF2-40B4-BE49-F238E27FC236}">
                <a16:creationId xmlns:a16="http://schemas.microsoft.com/office/drawing/2014/main" id="{292A0C94-CCCD-1ACE-EE3F-3AAA7DAFC52F}"/>
              </a:ext>
            </a:extLst>
          </p:cNvPr>
          <p:cNvSpPr>
            <a:spLocks noGrp="1"/>
          </p:cNvSpPr>
          <p:nvPr>
            <p:ph type="pic" sz="quarter" idx="12"/>
          </p:nvPr>
        </p:nvSpPr>
        <p:spPr>
          <a:xfrm>
            <a:off x="5181600" y="2103120"/>
            <a:ext cx="1828800" cy="4023360"/>
          </a:xfrm>
        </p:spPr>
        <p:txBody>
          <a:bodyPr/>
          <a:lstStyle/>
          <a:p>
            <a:endParaRPr lang="en-US"/>
          </a:p>
        </p:txBody>
      </p:sp>
      <p:sp>
        <p:nvSpPr>
          <p:cNvPr id="7" name="Text Placeholder 4">
            <a:extLst>
              <a:ext uri="{FF2B5EF4-FFF2-40B4-BE49-F238E27FC236}">
                <a16:creationId xmlns:a16="http://schemas.microsoft.com/office/drawing/2014/main" id="{EBE0941F-EC84-108F-647A-726CB13FD000}"/>
              </a:ext>
            </a:extLst>
          </p:cNvPr>
          <p:cNvSpPr>
            <a:spLocks noGrp="1"/>
          </p:cNvSpPr>
          <p:nvPr>
            <p:ph type="body" sz="quarter" idx="17"/>
          </p:nvPr>
        </p:nvSpPr>
        <p:spPr>
          <a:xfrm>
            <a:off x="7467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4" name="Picture Placeholder 4">
            <a:extLst>
              <a:ext uri="{FF2B5EF4-FFF2-40B4-BE49-F238E27FC236}">
                <a16:creationId xmlns:a16="http://schemas.microsoft.com/office/drawing/2014/main" id="{273AE085-219F-7944-7266-65BE5ACA42F8}"/>
              </a:ext>
            </a:extLst>
          </p:cNvPr>
          <p:cNvSpPr>
            <a:spLocks noGrp="1"/>
          </p:cNvSpPr>
          <p:nvPr>
            <p:ph type="pic" sz="quarter" idx="13"/>
          </p:nvPr>
        </p:nvSpPr>
        <p:spPr>
          <a:xfrm>
            <a:off x="7467600" y="2103120"/>
            <a:ext cx="1828800" cy="4023360"/>
          </a:xfrm>
        </p:spPr>
        <p:txBody>
          <a:bodyPr/>
          <a:lstStyle/>
          <a:p>
            <a:endParaRPr lang="en-US"/>
          </a:p>
        </p:txBody>
      </p:sp>
      <p:sp>
        <p:nvSpPr>
          <p:cNvPr id="14" name="Text Placeholder 5">
            <a:extLst>
              <a:ext uri="{FF2B5EF4-FFF2-40B4-BE49-F238E27FC236}">
                <a16:creationId xmlns:a16="http://schemas.microsoft.com/office/drawing/2014/main" id="{A816AF76-E218-238B-8714-A13AEDC0F554}"/>
              </a:ext>
            </a:extLst>
          </p:cNvPr>
          <p:cNvSpPr>
            <a:spLocks noGrp="1"/>
          </p:cNvSpPr>
          <p:nvPr>
            <p:ph type="body" sz="quarter" idx="21"/>
          </p:nvPr>
        </p:nvSpPr>
        <p:spPr>
          <a:xfrm>
            <a:off x="9753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5" name="Picture Placeholder 5">
            <a:extLst>
              <a:ext uri="{FF2B5EF4-FFF2-40B4-BE49-F238E27FC236}">
                <a16:creationId xmlns:a16="http://schemas.microsoft.com/office/drawing/2014/main" id="{153949DF-ED8E-0DEE-DBED-CB495FE60E49}"/>
              </a:ext>
            </a:extLst>
          </p:cNvPr>
          <p:cNvSpPr>
            <a:spLocks noGrp="1"/>
          </p:cNvSpPr>
          <p:nvPr>
            <p:ph type="pic" sz="quarter" idx="22"/>
          </p:nvPr>
        </p:nvSpPr>
        <p:spPr>
          <a:xfrm>
            <a:off x="9753600" y="2103120"/>
            <a:ext cx="1828800" cy="4023360"/>
          </a:xfrm>
        </p:spPr>
        <p:txBody>
          <a:bodyPr/>
          <a:lstStyle/>
          <a:p>
            <a:endParaRPr lang="en-US"/>
          </a:p>
        </p:txBody>
      </p:sp>
      <p:sp>
        <p:nvSpPr>
          <p:cNvPr id="11" name="Footer Placeholder 10">
            <a:extLst>
              <a:ext uri="{FF2B5EF4-FFF2-40B4-BE49-F238E27FC236}">
                <a16:creationId xmlns:a16="http://schemas.microsoft.com/office/drawing/2014/main" id="{2D1AAD5D-057A-DD5F-90D3-857CDC599D94}"/>
              </a:ext>
            </a:extLst>
          </p:cNvPr>
          <p:cNvSpPr>
            <a:spLocks noGrp="1"/>
          </p:cNvSpPr>
          <p:nvPr>
            <p:ph type="ftr" sz="quarter" idx="19"/>
          </p:nvPr>
        </p:nvSpPr>
        <p:spPr/>
        <p:txBody>
          <a:bodyPr/>
          <a:lstStyle/>
          <a:p>
            <a:endParaRPr lang="en-US"/>
          </a:p>
        </p:txBody>
      </p:sp>
      <p:sp>
        <p:nvSpPr>
          <p:cNvPr id="13" name="Slide Number Placeholder 12">
            <a:extLst>
              <a:ext uri="{FF2B5EF4-FFF2-40B4-BE49-F238E27FC236}">
                <a16:creationId xmlns:a16="http://schemas.microsoft.com/office/drawing/2014/main" id="{5024F614-A8FC-DFE2-56F8-8E640DCA191B}"/>
              </a:ext>
            </a:extLst>
          </p:cNvPr>
          <p:cNvSpPr>
            <a:spLocks noGrp="1"/>
          </p:cNvSpPr>
          <p:nvPr>
            <p:ph type="sldNum" sz="quarter" idx="20"/>
          </p:nvPr>
        </p:nvSpPr>
        <p:spPr/>
        <p:txBody>
          <a:body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C5A2DDEE-A8FC-94B8-B36F-644161312658}"/>
              </a:ext>
            </a:extLst>
          </p:cNvPr>
          <p:cNvSpPr>
            <a:spLocks noGrp="1"/>
          </p:cNvSpPr>
          <p:nvPr>
            <p:ph type="dt" sz="half" idx="18"/>
          </p:nvPr>
        </p:nvSpPr>
        <p:spPr/>
        <p:txBody>
          <a:bodyPr/>
          <a:lstStyle/>
          <a:p>
            <a:fld id="{C643547A-9664-4844-975D-62CB592093FC}" type="datetime1">
              <a:rPr lang="en-US" smtClean="0"/>
              <a:t>4/15/26</a:t>
            </a:fld>
            <a:endParaRPr lang="en-US"/>
          </a:p>
        </p:txBody>
      </p:sp>
    </p:spTree>
    <p:extLst>
      <p:ext uri="{BB962C8B-B14F-4D97-AF65-F5344CB8AC3E}">
        <p14:creationId xmlns:p14="http://schemas.microsoft.com/office/powerpoint/2010/main" val="733036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id - 1x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10972800" cy="4572000"/>
          </a:xfrm>
        </p:spPr>
        <p:txBody>
          <a:bodyPr/>
          <a:lstStyle/>
          <a:p>
            <a:endParaRPr lang="en-US"/>
          </a:p>
        </p:txBody>
      </p:sp>
      <p:sp>
        <p:nvSpPr>
          <p:cNvPr id="4" name="Footer Placeholder 3">
            <a:extLst>
              <a:ext uri="{FF2B5EF4-FFF2-40B4-BE49-F238E27FC236}">
                <a16:creationId xmlns:a16="http://schemas.microsoft.com/office/drawing/2014/main" id="{181A3878-7BE0-2310-A612-86078B468989}"/>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FF64CF29-7F88-6F4B-09E2-25D36FC00EB9}"/>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7CA21AE2-4E9E-2DCA-4E42-C97521A8179D}"/>
              </a:ext>
            </a:extLst>
          </p:cNvPr>
          <p:cNvSpPr>
            <a:spLocks noGrp="1"/>
          </p:cNvSpPr>
          <p:nvPr>
            <p:ph type="dt" sz="half" idx="11"/>
          </p:nvPr>
        </p:nvSpPr>
        <p:spPr/>
        <p:txBody>
          <a:bodyPr/>
          <a:lstStyle/>
          <a:p>
            <a:fld id="{DBEFE4BD-2DFA-4609-895D-EFEF7C6E5A3C}" type="datetime1">
              <a:rPr lang="en-US" smtClean="0"/>
              <a:t>4/15/26</a:t>
            </a:fld>
            <a:endParaRPr lang="en-US"/>
          </a:p>
        </p:txBody>
      </p:sp>
    </p:spTree>
    <p:extLst>
      <p:ext uri="{BB962C8B-B14F-4D97-AF65-F5344CB8AC3E}">
        <p14:creationId xmlns:p14="http://schemas.microsoft.com/office/powerpoint/2010/main" val="4437785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id - 2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5486400" cy="2286000"/>
          </a:xfrm>
        </p:spPr>
        <p:txBody>
          <a:body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096000" y="1554480"/>
            <a:ext cx="5486400" cy="2286000"/>
          </a:xfrm>
        </p:spPr>
        <p:txBody>
          <a:bodyPr/>
          <a:lstStyle/>
          <a:p>
            <a:endParaRPr lang="en-US"/>
          </a:p>
        </p:txBody>
      </p:sp>
      <p:sp>
        <p:nvSpPr>
          <p:cNvPr id="3" name="Picture Placeholder 7">
            <a:extLst>
              <a:ext uri="{FF2B5EF4-FFF2-40B4-BE49-F238E27FC236}">
                <a16:creationId xmlns:a16="http://schemas.microsoft.com/office/drawing/2014/main" id="{92547B6F-C04C-1B8A-023F-2328C702D34B}"/>
              </a:ext>
            </a:extLst>
          </p:cNvPr>
          <p:cNvSpPr>
            <a:spLocks noGrp="1"/>
          </p:cNvSpPr>
          <p:nvPr>
            <p:ph type="pic" sz="quarter" idx="12"/>
          </p:nvPr>
        </p:nvSpPr>
        <p:spPr>
          <a:xfrm>
            <a:off x="609600" y="3840480"/>
            <a:ext cx="5486400" cy="2286000"/>
          </a:xfrm>
        </p:spPr>
        <p:txBody>
          <a:bodyPr/>
          <a:lstStyle/>
          <a:p>
            <a:endParaRPr lang="en-US"/>
          </a:p>
        </p:txBody>
      </p:sp>
      <p:sp>
        <p:nvSpPr>
          <p:cNvPr id="4" name="Picture Placeholder 9">
            <a:extLst>
              <a:ext uri="{FF2B5EF4-FFF2-40B4-BE49-F238E27FC236}">
                <a16:creationId xmlns:a16="http://schemas.microsoft.com/office/drawing/2014/main" id="{23A551AC-B66E-B597-2080-FD4462C44E73}"/>
              </a:ext>
            </a:extLst>
          </p:cNvPr>
          <p:cNvSpPr>
            <a:spLocks noGrp="1"/>
          </p:cNvSpPr>
          <p:nvPr>
            <p:ph type="pic" sz="quarter" idx="13"/>
          </p:nvPr>
        </p:nvSpPr>
        <p:spPr>
          <a:xfrm>
            <a:off x="6096000" y="3840480"/>
            <a:ext cx="5486400" cy="2286000"/>
          </a:xfrm>
        </p:spPr>
        <p:txBody>
          <a:bodyPr/>
          <a:lstStyle/>
          <a:p>
            <a:endParaRPr lang="en-US"/>
          </a:p>
        </p:txBody>
      </p:sp>
      <p:sp>
        <p:nvSpPr>
          <p:cNvPr id="6" name="Footer Placeholder 5">
            <a:extLst>
              <a:ext uri="{FF2B5EF4-FFF2-40B4-BE49-F238E27FC236}">
                <a16:creationId xmlns:a16="http://schemas.microsoft.com/office/drawing/2014/main" id="{50754D71-8CDC-675B-86A7-C34916398619}"/>
              </a:ext>
            </a:extLst>
          </p:cNvPr>
          <p:cNvSpPr>
            <a:spLocks noGrp="1"/>
          </p:cNvSpPr>
          <p:nvPr>
            <p:ph type="ftr" sz="quarter" idx="15"/>
          </p:nvPr>
        </p:nvSpPr>
        <p:spPr/>
        <p:txBody>
          <a:bodyPr/>
          <a:lstStyle/>
          <a:p>
            <a:endParaRPr lang="en-US"/>
          </a:p>
        </p:txBody>
      </p:sp>
      <p:sp>
        <p:nvSpPr>
          <p:cNvPr id="7" name="Slide Number Placeholder 6">
            <a:extLst>
              <a:ext uri="{FF2B5EF4-FFF2-40B4-BE49-F238E27FC236}">
                <a16:creationId xmlns:a16="http://schemas.microsoft.com/office/drawing/2014/main" id="{8B9CD24B-DB8B-D332-CD41-DCE59AE976B8}"/>
              </a:ext>
            </a:extLst>
          </p:cNvPr>
          <p:cNvSpPr>
            <a:spLocks noGrp="1"/>
          </p:cNvSpPr>
          <p:nvPr>
            <p:ph type="sldNum" sz="quarter" idx="16"/>
          </p:nvPr>
        </p:nvSpPr>
        <p:spPr/>
        <p:txBody>
          <a:bodyPr/>
          <a:lstStyle/>
          <a:p>
            <a:pPr algn="r"/>
            <a:fld id="{DEC9D0C1-7FBA-40E3-98AB-77B8E8CCE3DF}" type="slidenum">
              <a:rPr lang="en-US" smtClean="0"/>
              <a:pPr algn="r"/>
              <a:t>‹#›</a:t>
            </a:fld>
            <a:endParaRPr lang="en-US"/>
          </a:p>
        </p:txBody>
      </p:sp>
      <p:sp>
        <p:nvSpPr>
          <p:cNvPr id="5" name="Date Placeholder 4">
            <a:extLst>
              <a:ext uri="{FF2B5EF4-FFF2-40B4-BE49-F238E27FC236}">
                <a16:creationId xmlns:a16="http://schemas.microsoft.com/office/drawing/2014/main" id="{C03B885C-55AF-9895-D16F-0BE3094261A0}"/>
              </a:ext>
            </a:extLst>
          </p:cNvPr>
          <p:cNvSpPr>
            <a:spLocks noGrp="1"/>
          </p:cNvSpPr>
          <p:nvPr>
            <p:ph type="dt" sz="half" idx="14"/>
          </p:nvPr>
        </p:nvSpPr>
        <p:spPr/>
        <p:txBody>
          <a:bodyPr/>
          <a:lstStyle/>
          <a:p>
            <a:fld id="{FE62A065-523E-4F5D-A1E3-FF3942EE8A67}" type="datetime1">
              <a:rPr lang="en-US" smtClean="0"/>
              <a:t>4/15/26</a:t>
            </a:fld>
            <a:endParaRPr lang="en-US"/>
          </a:p>
        </p:txBody>
      </p:sp>
    </p:spTree>
    <p:extLst>
      <p:ext uri="{BB962C8B-B14F-4D97-AF65-F5344CB8AC3E}">
        <p14:creationId xmlns:p14="http://schemas.microsoft.com/office/powerpoint/2010/main" val="1735623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id - 3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3657600" cy="2286000"/>
          </a:xfrm>
        </p:spPr>
        <p:txBody>
          <a:body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267200" y="1554480"/>
            <a:ext cx="3657600" cy="2286000"/>
          </a:xfrm>
        </p:spPr>
        <p:txBody>
          <a:bodyPr/>
          <a:lstStyle/>
          <a:p>
            <a:endParaRPr lang="en-US"/>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7924800" y="1554480"/>
            <a:ext cx="3657600" cy="2286000"/>
          </a:xfrm>
        </p:spPr>
        <p:txBody>
          <a:bodyPr/>
          <a:lstStyle/>
          <a:p>
            <a:endParaRPr lang="en-US"/>
          </a:p>
        </p:txBody>
      </p:sp>
      <p:sp>
        <p:nvSpPr>
          <p:cNvPr id="14" name="Picture Placeholder 13">
            <a:extLst>
              <a:ext uri="{FF2B5EF4-FFF2-40B4-BE49-F238E27FC236}">
                <a16:creationId xmlns:a16="http://schemas.microsoft.com/office/drawing/2014/main" id="{1B2B2E44-F595-7BB6-29AF-8641CEDC7AD0}"/>
              </a:ext>
            </a:extLst>
          </p:cNvPr>
          <p:cNvSpPr>
            <a:spLocks noGrp="1"/>
          </p:cNvSpPr>
          <p:nvPr>
            <p:ph type="pic" sz="quarter" idx="13"/>
          </p:nvPr>
        </p:nvSpPr>
        <p:spPr>
          <a:xfrm>
            <a:off x="609600" y="3840480"/>
            <a:ext cx="3657600" cy="2286000"/>
          </a:xfrm>
        </p:spPr>
        <p:txBody>
          <a:bodyPr/>
          <a:lstStyle/>
          <a:p>
            <a:endParaRPr lang="en-US"/>
          </a:p>
        </p:txBody>
      </p:sp>
      <p:sp>
        <p:nvSpPr>
          <p:cNvPr id="16" name="Picture Placeholder 15">
            <a:extLst>
              <a:ext uri="{FF2B5EF4-FFF2-40B4-BE49-F238E27FC236}">
                <a16:creationId xmlns:a16="http://schemas.microsoft.com/office/drawing/2014/main" id="{9F1FEECA-D863-9A52-B628-DC29A5E3A3FF}"/>
              </a:ext>
            </a:extLst>
          </p:cNvPr>
          <p:cNvSpPr>
            <a:spLocks noGrp="1"/>
          </p:cNvSpPr>
          <p:nvPr>
            <p:ph type="pic" sz="quarter" idx="14"/>
          </p:nvPr>
        </p:nvSpPr>
        <p:spPr>
          <a:xfrm>
            <a:off x="4267200" y="3840480"/>
            <a:ext cx="3657600" cy="2286000"/>
          </a:xfrm>
        </p:spPr>
        <p:txBody>
          <a:bodyPr/>
          <a:lstStyle/>
          <a:p>
            <a:endParaRPr lang="en-US"/>
          </a:p>
        </p:txBody>
      </p:sp>
      <p:sp>
        <p:nvSpPr>
          <p:cNvPr id="18" name="Picture Placeholder 17">
            <a:extLst>
              <a:ext uri="{FF2B5EF4-FFF2-40B4-BE49-F238E27FC236}">
                <a16:creationId xmlns:a16="http://schemas.microsoft.com/office/drawing/2014/main" id="{5C1A3846-D263-B994-2288-4A3F6F2CC788}"/>
              </a:ext>
            </a:extLst>
          </p:cNvPr>
          <p:cNvSpPr>
            <a:spLocks noGrp="1"/>
          </p:cNvSpPr>
          <p:nvPr>
            <p:ph type="pic" sz="quarter" idx="15"/>
          </p:nvPr>
        </p:nvSpPr>
        <p:spPr>
          <a:xfrm>
            <a:off x="7924800" y="3840480"/>
            <a:ext cx="3657600" cy="2286000"/>
          </a:xfrm>
        </p:spPr>
        <p:txBody>
          <a:bodyPr/>
          <a:lstStyle/>
          <a:p>
            <a:endParaRPr lang="en-US"/>
          </a:p>
        </p:txBody>
      </p:sp>
      <p:sp>
        <p:nvSpPr>
          <p:cNvPr id="20" name="Footer Placeholder 19">
            <a:extLst>
              <a:ext uri="{FF2B5EF4-FFF2-40B4-BE49-F238E27FC236}">
                <a16:creationId xmlns:a16="http://schemas.microsoft.com/office/drawing/2014/main" id="{42B1270B-1E15-714E-4AFB-2507475C5E96}"/>
              </a:ext>
            </a:extLst>
          </p:cNvPr>
          <p:cNvSpPr>
            <a:spLocks noGrp="1"/>
          </p:cNvSpPr>
          <p:nvPr>
            <p:ph type="ftr" sz="quarter" idx="17"/>
          </p:nvPr>
        </p:nvSpPr>
        <p:spPr/>
        <p:txBody>
          <a:bodyPr/>
          <a:lstStyle/>
          <a:p>
            <a:endParaRPr lang="en-US"/>
          </a:p>
        </p:txBody>
      </p:sp>
      <p:sp>
        <p:nvSpPr>
          <p:cNvPr id="21" name="Slide Number Placeholder 20">
            <a:extLst>
              <a:ext uri="{FF2B5EF4-FFF2-40B4-BE49-F238E27FC236}">
                <a16:creationId xmlns:a16="http://schemas.microsoft.com/office/drawing/2014/main" id="{204BD34C-DD78-3227-60AB-175D7A656D04}"/>
              </a:ext>
            </a:extLst>
          </p:cNvPr>
          <p:cNvSpPr>
            <a:spLocks noGrp="1"/>
          </p:cNvSpPr>
          <p:nvPr>
            <p:ph type="sldNum" sz="quarter" idx="18"/>
          </p:nvPr>
        </p:nvSpPr>
        <p:spPr/>
        <p:txBody>
          <a:bodyPr/>
          <a:lstStyle/>
          <a:p>
            <a:pPr algn="r"/>
            <a:fld id="{DEC9D0C1-7FBA-40E3-98AB-77B8E8CCE3DF}" type="slidenum">
              <a:rPr lang="en-US" smtClean="0"/>
              <a:pPr algn="r"/>
              <a:t>‹#›</a:t>
            </a:fld>
            <a:endParaRPr lang="en-US"/>
          </a:p>
        </p:txBody>
      </p:sp>
      <p:sp>
        <p:nvSpPr>
          <p:cNvPr id="19" name="Date Placeholder 18">
            <a:extLst>
              <a:ext uri="{FF2B5EF4-FFF2-40B4-BE49-F238E27FC236}">
                <a16:creationId xmlns:a16="http://schemas.microsoft.com/office/drawing/2014/main" id="{2E65964F-CA9C-418E-97E4-57D80C7DB89C}"/>
              </a:ext>
            </a:extLst>
          </p:cNvPr>
          <p:cNvSpPr>
            <a:spLocks noGrp="1"/>
          </p:cNvSpPr>
          <p:nvPr>
            <p:ph type="dt" sz="half" idx="16"/>
          </p:nvPr>
        </p:nvSpPr>
        <p:spPr/>
        <p:txBody>
          <a:bodyPr/>
          <a:lstStyle/>
          <a:p>
            <a:fld id="{73D3BA94-A69C-4DF2-B5C9-A1C8B9BFC5A0}" type="datetime1">
              <a:rPr lang="en-US" smtClean="0"/>
              <a:t>4/15/26</a:t>
            </a:fld>
            <a:endParaRPr lang="en-US"/>
          </a:p>
        </p:txBody>
      </p:sp>
    </p:spTree>
    <p:extLst>
      <p:ext uri="{BB962C8B-B14F-4D97-AF65-F5344CB8AC3E}">
        <p14:creationId xmlns:p14="http://schemas.microsoft.com/office/powerpoint/2010/main" val="29786634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id - 8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6" name="Rectangle 5">
            <a:extLst>
              <a:ext uri="{FF2B5EF4-FFF2-40B4-BE49-F238E27FC236}">
                <a16:creationId xmlns:a16="http://schemas.microsoft.com/office/drawing/2014/main" id="{D8543630-6F53-6353-3B93-FFFD99FF0C79}"/>
              </a:ext>
            </a:extLst>
          </p:cNvPr>
          <p:cNvSpPr/>
          <p:nvPr userDrawn="1"/>
        </p:nvSpPr>
        <p:spPr>
          <a:xfrm>
            <a:off x="6096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7" name="Rectangle 6">
            <a:extLst>
              <a:ext uri="{FF2B5EF4-FFF2-40B4-BE49-F238E27FC236}">
                <a16:creationId xmlns:a16="http://schemas.microsoft.com/office/drawing/2014/main" id="{BC22D3AC-53D5-3076-3C9D-96307BC52BBD}"/>
              </a:ext>
            </a:extLst>
          </p:cNvPr>
          <p:cNvSpPr/>
          <p:nvPr userDrawn="1"/>
        </p:nvSpPr>
        <p:spPr>
          <a:xfrm>
            <a:off x="19958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9" name="Rectangle 8">
            <a:extLst>
              <a:ext uri="{FF2B5EF4-FFF2-40B4-BE49-F238E27FC236}">
                <a16:creationId xmlns:a16="http://schemas.microsoft.com/office/drawing/2014/main" id="{39F16C89-D2E6-5E44-2CA1-16056799EAD7}"/>
              </a:ext>
            </a:extLst>
          </p:cNvPr>
          <p:cNvSpPr/>
          <p:nvPr userDrawn="1"/>
        </p:nvSpPr>
        <p:spPr>
          <a:xfrm>
            <a:off x="338216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0" name="Rectangle 9">
            <a:extLst>
              <a:ext uri="{FF2B5EF4-FFF2-40B4-BE49-F238E27FC236}">
                <a16:creationId xmlns:a16="http://schemas.microsoft.com/office/drawing/2014/main" id="{6731FAF4-776F-A0E5-46E2-8CA95A136B6F}"/>
              </a:ext>
            </a:extLst>
          </p:cNvPr>
          <p:cNvSpPr/>
          <p:nvPr userDrawn="1"/>
        </p:nvSpPr>
        <p:spPr>
          <a:xfrm>
            <a:off x="476844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1" name="Rectangle 10">
            <a:extLst>
              <a:ext uri="{FF2B5EF4-FFF2-40B4-BE49-F238E27FC236}">
                <a16:creationId xmlns:a16="http://schemas.microsoft.com/office/drawing/2014/main" id="{BA68878A-7B70-9407-FE72-405B0D281BF8}"/>
              </a:ext>
            </a:extLst>
          </p:cNvPr>
          <p:cNvSpPr/>
          <p:nvPr userDrawn="1"/>
        </p:nvSpPr>
        <p:spPr>
          <a:xfrm>
            <a:off x="615472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2" name="Rectangle 11">
            <a:extLst>
              <a:ext uri="{FF2B5EF4-FFF2-40B4-BE49-F238E27FC236}">
                <a16:creationId xmlns:a16="http://schemas.microsoft.com/office/drawing/2014/main" id="{CBE15169-7B14-3DC3-BD30-4687C6CEB050}"/>
              </a:ext>
            </a:extLst>
          </p:cNvPr>
          <p:cNvSpPr/>
          <p:nvPr userDrawn="1"/>
        </p:nvSpPr>
        <p:spPr>
          <a:xfrm>
            <a:off x="75410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3" name="Rectangle 12">
            <a:extLst>
              <a:ext uri="{FF2B5EF4-FFF2-40B4-BE49-F238E27FC236}">
                <a16:creationId xmlns:a16="http://schemas.microsoft.com/office/drawing/2014/main" id="{F85D3CEB-CBC3-33AA-56E4-7243FBB670B8}"/>
              </a:ext>
            </a:extLst>
          </p:cNvPr>
          <p:cNvSpPr/>
          <p:nvPr userDrawn="1"/>
        </p:nvSpPr>
        <p:spPr>
          <a:xfrm>
            <a:off x="89272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4" name="Rectangle 13">
            <a:extLst>
              <a:ext uri="{FF2B5EF4-FFF2-40B4-BE49-F238E27FC236}">
                <a16:creationId xmlns:a16="http://schemas.microsoft.com/office/drawing/2014/main" id="{336287BA-DFA2-9B21-DE8B-3FC50B70F90B}"/>
              </a:ext>
            </a:extLst>
          </p:cNvPr>
          <p:cNvSpPr/>
          <p:nvPr userDrawn="1"/>
        </p:nvSpPr>
        <p:spPr>
          <a:xfrm>
            <a:off x="10313559"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5" name="Rectangle 14">
            <a:extLst>
              <a:ext uri="{FF2B5EF4-FFF2-40B4-BE49-F238E27FC236}">
                <a16:creationId xmlns:a16="http://schemas.microsoft.com/office/drawing/2014/main" id="{A562644A-5A85-01BD-2B03-DA2396CAD064}"/>
              </a:ext>
            </a:extLst>
          </p:cNvPr>
          <p:cNvSpPr/>
          <p:nvPr userDrawn="1"/>
        </p:nvSpPr>
        <p:spPr>
          <a:xfrm>
            <a:off x="6096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6" name="Rectangle 15">
            <a:extLst>
              <a:ext uri="{FF2B5EF4-FFF2-40B4-BE49-F238E27FC236}">
                <a16:creationId xmlns:a16="http://schemas.microsoft.com/office/drawing/2014/main" id="{DCF6B678-B22E-6D11-FAB3-BADDBC694158}"/>
              </a:ext>
            </a:extLst>
          </p:cNvPr>
          <p:cNvSpPr/>
          <p:nvPr userDrawn="1"/>
        </p:nvSpPr>
        <p:spPr>
          <a:xfrm>
            <a:off x="19958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7" name="Rectangle 16">
            <a:extLst>
              <a:ext uri="{FF2B5EF4-FFF2-40B4-BE49-F238E27FC236}">
                <a16:creationId xmlns:a16="http://schemas.microsoft.com/office/drawing/2014/main" id="{F392A191-3E55-9BC4-EA76-F40BD4176E67}"/>
              </a:ext>
            </a:extLst>
          </p:cNvPr>
          <p:cNvSpPr/>
          <p:nvPr userDrawn="1"/>
        </p:nvSpPr>
        <p:spPr>
          <a:xfrm>
            <a:off x="338216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8" name="Rectangle 17">
            <a:extLst>
              <a:ext uri="{FF2B5EF4-FFF2-40B4-BE49-F238E27FC236}">
                <a16:creationId xmlns:a16="http://schemas.microsoft.com/office/drawing/2014/main" id="{5C0F35C9-4070-9A2F-9698-B91A7341451D}"/>
              </a:ext>
            </a:extLst>
          </p:cNvPr>
          <p:cNvSpPr/>
          <p:nvPr userDrawn="1"/>
        </p:nvSpPr>
        <p:spPr>
          <a:xfrm>
            <a:off x="476844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9" name="Rectangle 18">
            <a:extLst>
              <a:ext uri="{FF2B5EF4-FFF2-40B4-BE49-F238E27FC236}">
                <a16:creationId xmlns:a16="http://schemas.microsoft.com/office/drawing/2014/main" id="{E45D6898-91DB-B3AC-F1DA-65D48A4A8502}"/>
              </a:ext>
            </a:extLst>
          </p:cNvPr>
          <p:cNvSpPr/>
          <p:nvPr userDrawn="1"/>
        </p:nvSpPr>
        <p:spPr>
          <a:xfrm>
            <a:off x="615472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0" name="Rectangle 19">
            <a:extLst>
              <a:ext uri="{FF2B5EF4-FFF2-40B4-BE49-F238E27FC236}">
                <a16:creationId xmlns:a16="http://schemas.microsoft.com/office/drawing/2014/main" id="{C8BAAB28-5748-F9AC-89F5-EB1C9348877F}"/>
              </a:ext>
            </a:extLst>
          </p:cNvPr>
          <p:cNvSpPr/>
          <p:nvPr userDrawn="1"/>
        </p:nvSpPr>
        <p:spPr>
          <a:xfrm>
            <a:off x="75410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1" name="Rectangle 20">
            <a:extLst>
              <a:ext uri="{FF2B5EF4-FFF2-40B4-BE49-F238E27FC236}">
                <a16:creationId xmlns:a16="http://schemas.microsoft.com/office/drawing/2014/main" id="{FEA1D538-3EC1-8418-DDF3-D4704AE0706B}"/>
              </a:ext>
            </a:extLst>
          </p:cNvPr>
          <p:cNvSpPr/>
          <p:nvPr userDrawn="1"/>
        </p:nvSpPr>
        <p:spPr>
          <a:xfrm>
            <a:off x="89272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2" name="Rectangle 21">
            <a:extLst>
              <a:ext uri="{FF2B5EF4-FFF2-40B4-BE49-F238E27FC236}">
                <a16:creationId xmlns:a16="http://schemas.microsoft.com/office/drawing/2014/main" id="{C5028C3C-E97E-B0C9-C4F0-1C06EF313AC9}"/>
              </a:ext>
            </a:extLst>
          </p:cNvPr>
          <p:cNvSpPr/>
          <p:nvPr userDrawn="1"/>
        </p:nvSpPr>
        <p:spPr>
          <a:xfrm>
            <a:off x="10313559"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3" name="Rectangle 22">
            <a:extLst>
              <a:ext uri="{FF2B5EF4-FFF2-40B4-BE49-F238E27FC236}">
                <a16:creationId xmlns:a16="http://schemas.microsoft.com/office/drawing/2014/main" id="{A1A14B7B-0BBE-1B5D-432D-40A389F3FCCF}"/>
              </a:ext>
            </a:extLst>
          </p:cNvPr>
          <p:cNvSpPr/>
          <p:nvPr userDrawn="1"/>
        </p:nvSpPr>
        <p:spPr>
          <a:xfrm>
            <a:off x="6096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4" name="Rectangle 23">
            <a:extLst>
              <a:ext uri="{FF2B5EF4-FFF2-40B4-BE49-F238E27FC236}">
                <a16:creationId xmlns:a16="http://schemas.microsoft.com/office/drawing/2014/main" id="{7C71FF21-A0D3-1C1A-B6F0-B38542FC16F3}"/>
              </a:ext>
            </a:extLst>
          </p:cNvPr>
          <p:cNvSpPr/>
          <p:nvPr userDrawn="1"/>
        </p:nvSpPr>
        <p:spPr>
          <a:xfrm>
            <a:off x="19958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5" name="Rectangle 24">
            <a:extLst>
              <a:ext uri="{FF2B5EF4-FFF2-40B4-BE49-F238E27FC236}">
                <a16:creationId xmlns:a16="http://schemas.microsoft.com/office/drawing/2014/main" id="{78E463DD-7CD5-9FB1-37AF-6EA3B554A5F6}"/>
              </a:ext>
            </a:extLst>
          </p:cNvPr>
          <p:cNvSpPr/>
          <p:nvPr userDrawn="1"/>
        </p:nvSpPr>
        <p:spPr>
          <a:xfrm>
            <a:off x="338216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6" name="Rectangle 25">
            <a:extLst>
              <a:ext uri="{FF2B5EF4-FFF2-40B4-BE49-F238E27FC236}">
                <a16:creationId xmlns:a16="http://schemas.microsoft.com/office/drawing/2014/main" id="{9EC06218-BEF3-CB50-8EF6-EB54C5FCD4A5}"/>
              </a:ext>
            </a:extLst>
          </p:cNvPr>
          <p:cNvSpPr/>
          <p:nvPr userDrawn="1"/>
        </p:nvSpPr>
        <p:spPr>
          <a:xfrm>
            <a:off x="476844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7" name="Rectangle 26">
            <a:extLst>
              <a:ext uri="{FF2B5EF4-FFF2-40B4-BE49-F238E27FC236}">
                <a16:creationId xmlns:a16="http://schemas.microsoft.com/office/drawing/2014/main" id="{86D8E872-5127-7868-3A05-721AF6BA473C}"/>
              </a:ext>
            </a:extLst>
          </p:cNvPr>
          <p:cNvSpPr/>
          <p:nvPr userDrawn="1"/>
        </p:nvSpPr>
        <p:spPr>
          <a:xfrm>
            <a:off x="615472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8" name="Rectangle 27">
            <a:extLst>
              <a:ext uri="{FF2B5EF4-FFF2-40B4-BE49-F238E27FC236}">
                <a16:creationId xmlns:a16="http://schemas.microsoft.com/office/drawing/2014/main" id="{34707814-364C-ED34-E661-0B900D61D461}"/>
              </a:ext>
            </a:extLst>
          </p:cNvPr>
          <p:cNvSpPr/>
          <p:nvPr userDrawn="1"/>
        </p:nvSpPr>
        <p:spPr>
          <a:xfrm>
            <a:off x="75410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9" name="Rectangle 28">
            <a:extLst>
              <a:ext uri="{FF2B5EF4-FFF2-40B4-BE49-F238E27FC236}">
                <a16:creationId xmlns:a16="http://schemas.microsoft.com/office/drawing/2014/main" id="{DE9A0626-4DF1-C03E-4100-AA6C8661D9FE}"/>
              </a:ext>
            </a:extLst>
          </p:cNvPr>
          <p:cNvSpPr/>
          <p:nvPr userDrawn="1"/>
        </p:nvSpPr>
        <p:spPr>
          <a:xfrm>
            <a:off x="89272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0" name="Rectangle 29">
            <a:extLst>
              <a:ext uri="{FF2B5EF4-FFF2-40B4-BE49-F238E27FC236}">
                <a16:creationId xmlns:a16="http://schemas.microsoft.com/office/drawing/2014/main" id="{064521DB-B096-8091-3A9C-9A982F43D88A}"/>
              </a:ext>
            </a:extLst>
          </p:cNvPr>
          <p:cNvSpPr/>
          <p:nvPr userDrawn="1"/>
        </p:nvSpPr>
        <p:spPr>
          <a:xfrm>
            <a:off x="10313559"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1" name="Rectangle 30">
            <a:extLst>
              <a:ext uri="{FF2B5EF4-FFF2-40B4-BE49-F238E27FC236}">
                <a16:creationId xmlns:a16="http://schemas.microsoft.com/office/drawing/2014/main" id="{CC76CD2B-19F5-416D-DEDB-846A990C8639}"/>
              </a:ext>
            </a:extLst>
          </p:cNvPr>
          <p:cNvSpPr/>
          <p:nvPr userDrawn="1"/>
        </p:nvSpPr>
        <p:spPr>
          <a:xfrm>
            <a:off x="6096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Rectangle 31">
            <a:extLst>
              <a:ext uri="{FF2B5EF4-FFF2-40B4-BE49-F238E27FC236}">
                <a16:creationId xmlns:a16="http://schemas.microsoft.com/office/drawing/2014/main" id="{877B7B08-16E6-D7D7-4798-5C0F7C0419FA}"/>
              </a:ext>
            </a:extLst>
          </p:cNvPr>
          <p:cNvSpPr/>
          <p:nvPr userDrawn="1"/>
        </p:nvSpPr>
        <p:spPr>
          <a:xfrm>
            <a:off x="19958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3" name="Rectangle 32">
            <a:extLst>
              <a:ext uri="{FF2B5EF4-FFF2-40B4-BE49-F238E27FC236}">
                <a16:creationId xmlns:a16="http://schemas.microsoft.com/office/drawing/2014/main" id="{BE240E6E-B8E3-4433-FA1E-59F51736F9D6}"/>
              </a:ext>
            </a:extLst>
          </p:cNvPr>
          <p:cNvSpPr/>
          <p:nvPr userDrawn="1"/>
        </p:nvSpPr>
        <p:spPr>
          <a:xfrm>
            <a:off x="338216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4" name="Rectangle 33">
            <a:extLst>
              <a:ext uri="{FF2B5EF4-FFF2-40B4-BE49-F238E27FC236}">
                <a16:creationId xmlns:a16="http://schemas.microsoft.com/office/drawing/2014/main" id="{CB4AA11C-3F23-0B4E-141A-199111885EA7}"/>
              </a:ext>
            </a:extLst>
          </p:cNvPr>
          <p:cNvSpPr/>
          <p:nvPr userDrawn="1"/>
        </p:nvSpPr>
        <p:spPr>
          <a:xfrm>
            <a:off x="476844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5" name="Rectangle 34">
            <a:extLst>
              <a:ext uri="{FF2B5EF4-FFF2-40B4-BE49-F238E27FC236}">
                <a16:creationId xmlns:a16="http://schemas.microsoft.com/office/drawing/2014/main" id="{0B3AD8E4-435B-97B8-914E-D25CC5456285}"/>
              </a:ext>
            </a:extLst>
          </p:cNvPr>
          <p:cNvSpPr/>
          <p:nvPr userDrawn="1"/>
        </p:nvSpPr>
        <p:spPr>
          <a:xfrm>
            <a:off x="615472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6" name="Rectangle 35">
            <a:extLst>
              <a:ext uri="{FF2B5EF4-FFF2-40B4-BE49-F238E27FC236}">
                <a16:creationId xmlns:a16="http://schemas.microsoft.com/office/drawing/2014/main" id="{7F0FE684-33AB-F095-B7EA-72178F993F53}"/>
              </a:ext>
            </a:extLst>
          </p:cNvPr>
          <p:cNvSpPr/>
          <p:nvPr userDrawn="1"/>
        </p:nvSpPr>
        <p:spPr>
          <a:xfrm>
            <a:off x="75410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7" name="Rectangle 36">
            <a:extLst>
              <a:ext uri="{FF2B5EF4-FFF2-40B4-BE49-F238E27FC236}">
                <a16:creationId xmlns:a16="http://schemas.microsoft.com/office/drawing/2014/main" id="{30489701-AA7F-0E3A-8312-681D092709AF}"/>
              </a:ext>
            </a:extLst>
          </p:cNvPr>
          <p:cNvSpPr/>
          <p:nvPr userDrawn="1"/>
        </p:nvSpPr>
        <p:spPr>
          <a:xfrm>
            <a:off x="89272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8" name="Rectangle 37">
            <a:extLst>
              <a:ext uri="{FF2B5EF4-FFF2-40B4-BE49-F238E27FC236}">
                <a16:creationId xmlns:a16="http://schemas.microsoft.com/office/drawing/2014/main" id="{F2CFC289-BF79-2F3D-5FDF-6B40CC38857C}"/>
              </a:ext>
            </a:extLst>
          </p:cNvPr>
          <p:cNvSpPr/>
          <p:nvPr userDrawn="1"/>
        </p:nvSpPr>
        <p:spPr>
          <a:xfrm>
            <a:off x="10313559"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9" name="row 1 Picture Placeholder 1">
            <a:extLst>
              <a:ext uri="{FF2B5EF4-FFF2-40B4-BE49-F238E27FC236}">
                <a16:creationId xmlns:a16="http://schemas.microsoft.com/office/drawing/2014/main" id="{85227A43-5C4D-89D4-E160-A1290BB35C99}"/>
              </a:ext>
            </a:extLst>
          </p:cNvPr>
          <p:cNvSpPr>
            <a:spLocks noGrp="1"/>
          </p:cNvSpPr>
          <p:nvPr>
            <p:ph type="pic" sz="quarter" idx="15"/>
          </p:nvPr>
        </p:nvSpPr>
        <p:spPr>
          <a:xfrm>
            <a:off x="652604" y="1374235"/>
            <a:ext cx="1182832" cy="1088105"/>
          </a:xfrm>
        </p:spPr>
        <p:txBody>
          <a:bodyPr/>
          <a:lstStyle/>
          <a:p>
            <a:endParaRPr lang="en-US"/>
          </a:p>
        </p:txBody>
      </p:sp>
      <p:sp>
        <p:nvSpPr>
          <p:cNvPr id="40" name="row 1 Picture Placeholder 2">
            <a:extLst>
              <a:ext uri="{FF2B5EF4-FFF2-40B4-BE49-F238E27FC236}">
                <a16:creationId xmlns:a16="http://schemas.microsoft.com/office/drawing/2014/main" id="{9566F144-B3C8-7936-839D-AC16AF52DC4E}"/>
              </a:ext>
            </a:extLst>
          </p:cNvPr>
          <p:cNvSpPr>
            <a:spLocks noGrp="1"/>
          </p:cNvSpPr>
          <p:nvPr>
            <p:ph type="pic" sz="quarter" idx="16"/>
          </p:nvPr>
        </p:nvSpPr>
        <p:spPr>
          <a:xfrm>
            <a:off x="2034595" y="1374235"/>
            <a:ext cx="1182832" cy="1088105"/>
          </a:xfrm>
        </p:spPr>
        <p:txBody>
          <a:bodyPr/>
          <a:lstStyle/>
          <a:p>
            <a:endParaRPr lang="en-US"/>
          </a:p>
        </p:txBody>
      </p:sp>
      <p:sp>
        <p:nvSpPr>
          <p:cNvPr id="41" name="row 1 Picture Placeholder 3">
            <a:extLst>
              <a:ext uri="{FF2B5EF4-FFF2-40B4-BE49-F238E27FC236}">
                <a16:creationId xmlns:a16="http://schemas.microsoft.com/office/drawing/2014/main" id="{38732D4D-83B3-1F93-6FCC-5298384D9F25}"/>
              </a:ext>
            </a:extLst>
          </p:cNvPr>
          <p:cNvSpPr>
            <a:spLocks noGrp="1"/>
          </p:cNvSpPr>
          <p:nvPr>
            <p:ph type="pic" sz="quarter" idx="17"/>
          </p:nvPr>
        </p:nvSpPr>
        <p:spPr>
          <a:xfrm>
            <a:off x="3421781" y="1374235"/>
            <a:ext cx="1182832" cy="1088105"/>
          </a:xfrm>
        </p:spPr>
        <p:txBody>
          <a:bodyPr/>
          <a:lstStyle/>
          <a:p>
            <a:endParaRPr lang="en-US"/>
          </a:p>
        </p:txBody>
      </p:sp>
      <p:sp>
        <p:nvSpPr>
          <p:cNvPr id="42" name="row 1 Picture Placeholder 4">
            <a:extLst>
              <a:ext uri="{FF2B5EF4-FFF2-40B4-BE49-F238E27FC236}">
                <a16:creationId xmlns:a16="http://schemas.microsoft.com/office/drawing/2014/main" id="{9730AE84-83EF-0982-5104-F629973C19B6}"/>
              </a:ext>
            </a:extLst>
          </p:cNvPr>
          <p:cNvSpPr>
            <a:spLocks noGrp="1"/>
          </p:cNvSpPr>
          <p:nvPr>
            <p:ph type="pic" sz="quarter" idx="18"/>
          </p:nvPr>
        </p:nvSpPr>
        <p:spPr>
          <a:xfrm>
            <a:off x="4814163" y="1374235"/>
            <a:ext cx="1182832" cy="1088105"/>
          </a:xfrm>
        </p:spPr>
        <p:txBody>
          <a:bodyPr/>
          <a:lstStyle/>
          <a:p>
            <a:endParaRPr lang="en-US"/>
          </a:p>
        </p:txBody>
      </p:sp>
      <p:sp>
        <p:nvSpPr>
          <p:cNvPr id="43" name="row 1 Picture Placeholder 5">
            <a:extLst>
              <a:ext uri="{FF2B5EF4-FFF2-40B4-BE49-F238E27FC236}">
                <a16:creationId xmlns:a16="http://schemas.microsoft.com/office/drawing/2014/main" id="{EEFEB949-3A10-F7A6-9FBE-5FCB94B66A1A}"/>
              </a:ext>
            </a:extLst>
          </p:cNvPr>
          <p:cNvSpPr>
            <a:spLocks noGrp="1"/>
          </p:cNvSpPr>
          <p:nvPr>
            <p:ph type="pic" sz="quarter" idx="19"/>
          </p:nvPr>
        </p:nvSpPr>
        <p:spPr>
          <a:xfrm>
            <a:off x="6196154" y="1374235"/>
            <a:ext cx="1182832" cy="1088105"/>
          </a:xfrm>
        </p:spPr>
        <p:txBody>
          <a:bodyPr/>
          <a:lstStyle/>
          <a:p>
            <a:endParaRPr lang="en-US"/>
          </a:p>
        </p:txBody>
      </p:sp>
      <p:sp>
        <p:nvSpPr>
          <p:cNvPr id="44" name="row 1 Picture Placeholder 6">
            <a:extLst>
              <a:ext uri="{FF2B5EF4-FFF2-40B4-BE49-F238E27FC236}">
                <a16:creationId xmlns:a16="http://schemas.microsoft.com/office/drawing/2014/main" id="{2CE4B71B-7112-B353-61F2-EBAE24BE1F3C}"/>
              </a:ext>
            </a:extLst>
          </p:cNvPr>
          <p:cNvSpPr>
            <a:spLocks noGrp="1"/>
          </p:cNvSpPr>
          <p:nvPr>
            <p:ph type="pic" sz="quarter" idx="20"/>
          </p:nvPr>
        </p:nvSpPr>
        <p:spPr>
          <a:xfrm>
            <a:off x="7583340" y="1374235"/>
            <a:ext cx="1182832" cy="1088105"/>
          </a:xfrm>
        </p:spPr>
        <p:txBody>
          <a:bodyPr/>
          <a:lstStyle/>
          <a:p>
            <a:endParaRPr lang="en-US"/>
          </a:p>
        </p:txBody>
      </p:sp>
      <p:sp>
        <p:nvSpPr>
          <p:cNvPr id="45" name="row 1 Picture Placeholder 7">
            <a:extLst>
              <a:ext uri="{FF2B5EF4-FFF2-40B4-BE49-F238E27FC236}">
                <a16:creationId xmlns:a16="http://schemas.microsoft.com/office/drawing/2014/main" id="{4C5A0B2F-5A91-9643-DAA7-BE0BB2A8A1E6}"/>
              </a:ext>
            </a:extLst>
          </p:cNvPr>
          <p:cNvSpPr>
            <a:spLocks noGrp="1"/>
          </p:cNvSpPr>
          <p:nvPr>
            <p:ph type="pic" sz="quarter" idx="24"/>
          </p:nvPr>
        </p:nvSpPr>
        <p:spPr>
          <a:xfrm>
            <a:off x="8970527" y="1374235"/>
            <a:ext cx="1182832" cy="1088105"/>
          </a:xfrm>
        </p:spPr>
        <p:txBody>
          <a:bodyPr/>
          <a:lstStyle/>
          <a:p>
            <a:endParaRPr lang="en-US"/>
          </a:p>
        </p:txBody>
      </p:sp>
      <p:sp>
        <p:nvSpPr>
          <p:cNvPr id="46" name="row 1 Picture Placeholder 8">
            <a:extLst>
              <a:ext uri="{FF2B5EF4-FFF2-40B4-BE49-F238E27FC236}">
                <a16:creationId xmlns:a16="http://schemas.microsoft.com/office/drawing/2014/main" id="{67D3AFDE-20B1-971A-47DD-2857ACC39B57}"/>
              </a:ext>
            </a:extLst>
          </p:cNvPr>
          <p:cNvSpPr>
            <a:spLocks noGrp="1"/>
          </p:cNvSpPr>
          <p:nvPr>
            <p:ph type="pic" sz="quarter" idx="25"/>
          </p:nvPr>
        </p:nvSpPr>
        <p:spPr>
          <a:xfrm>
            <a:off x="10357713" y="1374235"/>
            <a:ext cx="1182832" cy="1088105"/>
          </a:xfrm>
        </p:spPr>
        <p:txBody>
          <a:bodyPr/>
          <a:lstStyle/>
          <a:p>
            <a:endParaRPr lang="en-US"/>
          </a:p>
        </p:txBody>
      </p:sp>
      <p:sp>
        <p:nvSpPr>
          <p:cNvPr id="47" name="row 2 Picture Placeholder 1">
            <a:extLst>
              <a:ext uri="{FF2B5EF4-FFF2-40B4-BE49-F238E27FC236}">
                <a16:creationId xmlns:a16="http://schemas.microsoft.com/office/drawing/2014/main" id="{31380899-193D-8D5B-FA8D-2BE00660771E}"/>
              </a:ext>
            </a:extLst>
          </p:cNvPr>
          <p:cNvSpPr>
            <a:spLocks noGrp="1"/>
          </p:cNvSpPr>
          <p:nvPr>
            <p:ph type="pic" sz="quarter" idx="26"/>
          </p:nvPr>
        </p:nvSpPr>
        <p:spPr>
          <a:xfrm>
            <a:off x="652604" y="2645822"/>
            <a:ext cx="1182832" cy="1088105"/>
          </a:xfrm>
        </p:spPr>
        <p:txBody>
          <a:bodyPr/>
          <a:lstStyle/>
          <a:p>
            <a:endParaRPr lang="en-US"/>
          </a:p>
        </p:txBody>
      </p:sp>
      <p:sp>
        <p:nvSpPr>
          <p:cNvPr id="48" name="row 2 Picture Placeholder 2">
            <a:extLst>
              <a:ext uri="{FF2B5EF4-FFF2-40B4-BE49-F238E27FC236}">
                <a16:creationId xmlns:a16="http://schemas.microsoft.com/office/drawing/2014/main" id="{7B8CC7C2-EB24-E4BC-3521-F28289F34790}"/>
              </a:ext>
            </a:extLst>
          </p:cNvPr>
          <p:cNvSpPr>
            <a:spLocks noGrp="1"/>
          </p:cNvSpPr>
          <p:nvPr>
            <p:ph type="pic" sz="quarter" idx="27"/>
          </p:nvPr>
        </p:nvSpPr>
        <p:spPr>
          <a:xfrm>
            <a:off x="2034595" y="2645822"/>
            <a:ext cx="1182832" cy="1088105"/>
          </a:xfrm>
        </p:spPr>
        <p:txBody>
          <a:bodyPr/>
          <a:lstStyle/>
          <a:p>
            <a:endParaRPr lang="en-US"/>
          </a:p>
        </p:txBody>
      </p:sp>
      <p:sp>
        <p:nvSpPr>
          <p:cNvPr id="49" name="row 2 Picture Placeholder 3">
            <a:extLst>
              <a:ext uri="{FF2B5EF4-FFF2-40B4-BE49-F238E27FC236}">
                <a16:creationId xmlns:a16="http://schemas.microsoft.com/office/drawing/2014/main" id="{EFD6C08E-A520-2F29-E386-E6C25BFE1DC9}"/>
              </a:ext>
            </a:extLst>
          </p:cNvPr>
          <p:cNvSpPr>
            <a:spLocks noGrp="1"/>
          </p:cNvSpPr>
          <p:nvPr>
            <p:ph type="pic" sz="quarter" idx="28"/>
          </p:nvPr>
        </p:nvSpPr>
        <p:spPr>
          <a:xfrm>
            <a:off x="3421781" y="2645822"/>
            <a:ext cx="1182832" cy="1088105"/>
          </a:xfrm>
        </p:spPr>
        <p:txBody>
          <a:bodyPr/>
          <a:lstStyle/>
          <a:p>
            <a:endParaRPr lang="en-US"/>
          </a:p>
        </p:txBody>
      </p:sp>
      <p:sp>
        <p:nvSpPr>
          <p:cNvPr id="50" name="row 2 Picture Placeholder 4">
            <a:extLst>
              <a:ext uri="{FF2B5EF4-FFF2-40B4-BE49-F238E27FC236}">
                <a16:creationId xmlns:a16="http://schemas.microsoft.com/office/drawing/2014/main" id="{9E409B64-BE44-35A7-5522-CD1CA05D7F22}"/>
              </a:ext>
            </a:extLst>
          </p:cNvPr>
          <p:cNvSpPr>
            <a:spLocks noGrp="1"/>
          </p:cNvSpPr>
          <p:nvPr>
            <p:ph type="pic" sz="quarter" idx="29"/>
          </p:nvPr>
        </p:nvSpPr>
        <p:spPr>
          <a:xfrm>
            <a:off x="4814163" y="2645822"/>
            <a:ext cx="1182832" cy="1088105"/>
          </a:xfrm>
        </p:spPr>
        <p:txBody>
          <a:bodyPr/>
          <a:lstStyle/>
          <a:p>
            <a:endParaRPr lang="en-US"/>
          </a:p>
        </p:txBody>
      </p:sp>
      <p:sp>
        <p:nvSpPr>
          <p:cNvPr id="51" name="row 2 Picture Placeholder 5">
            <a:extLst>
              <a:ext uri="{FF2B5EF4-FFF2-40B4-BE49-F238E27FC236}">
                <a16:creationId xmlns:a16="http://schemas.microsoft.com/office/drawing/2014/main" id="{AD31BCC3-7CA0-F8E3-12BB-D29C067DB87A}"/>
              </a:ext>
            </a:extLst>
          </p:cNvPr>
          <p:cNvSpPr>
            <a:spLocks noGrp="1"/>
          </p:cNvSpPr>
          <p:nvPr>
            <p:ph type="pic" sz="quarter" idx="30"/>
          </p:nvPr>
        </p:nvSpPr>
        <p:spPr>
          <a:xfrm>
            <a:off x="6196154" y="2645822"/>
            <a:ext cx="1182832" cy="1088105"/>
          </a:xfrm>
        </p:spPr>
        <p:txBody>
          <a:bodyPr/>
          <a:lstStyle/>
          <a:p>
            <a:endParaRPr lang="en-US"/>
          </a:p>
        </p:txBody>
      </p:sp>
      <p:sp>
        <p:nvSpPr>
          <p:cNvPr id="52" name="row 2 Picture Placeholder 6">
            <a:extLst>
              <a:ext uri="{FF2B5EF4-FFF2-40B4-BE49-F238E27FC236}">
                <a16:creationId xmlns:a16="http://schemas.microsoft.com/office/drawing/2014/main" id="{04774E24-BE0E-4649-FF50-F6B3FEF0D6E6}"/>
              </a:ext>
            </a:extLst>
          </p:cNvPr>
          <p:cNvSpPr>
            <a:spLocks noGrp="1"/>
          </p:cNvSpPr>
          <p:nvPr>
            <p:ph type="pic" sz="quarter" idx="31"/>
          </p:nvPr>
        </p:nvSpPr>
        <p:spPr>
          <a:xfrm>
            <a:off x="7583340" y="2645822"/>
            <a:ext cx="1182832" cy="1088105"/>
          </a:xfrm>
        </p:spPr>
        <p:txBody>
          <a:bodyPr/>
          <a:lstStyle/>
          <a:p>
            <a:endParaRPr lang="en-US"/>
          </a:p>
        </p:txBody>
      </p:sp>
      <p:sp>
        <p:nvSpPr>
          <p:cNvPr id="53" name="row 2 Picture Placeholder 7">
            <a:extLst>
              <a:ext uri="{FF2B5EF4-FFF2-40B4-BE49-F238E27FC236}">
                <a16:creationId xmlns:a16="http://schemas.microsoft.com/office/drawing/2014/main" id="{45A8A087-E4BE-14C2-8362-83F49B8CAC12}"/>
              </a:ext>
            </a:extLst>
          </p:cNvPr>
          <p:cNvSpPr>
            <a:spLocks noGrp="1"/>
          </p:cNvSpPr>
          <p:nvPr>
            <p:ph type="pic" sz="quarter" idx="32"/>
          </p:nvPr>
        </p:nvSpPr>
        <p:spPr>
          <a:xfrm>
            <a:off x="8970527" y="2645822"/>
            <a:ext cx="1182832" cy="1088105"/>
          </a:xfrm>
        </p:spPr>
        <p:txBody>
          <a:bodyPr/>
          <a:lstStyle/>
          <a:p>
            <a:endParaRPr lang="en-US"/>
          </a:p>
        </p:txBody>
      </p:sp>
      <p:sp>
        <p:nvSpPr>
          <p:cNvPr id="54" name="row 2 Picture Placeholder 8">
            <a:extLst>
              <a:ext uri="{FF2B5EF4-FFF2-40B4-BE49-F238E27FC236}">
                <a16:creationId xmlns:a16="http://schemas.microsoft.com/office/drawing/2014/main" id="{A6980176-7120-F9D6-7B2A-01D8BD184D94}"/>
              </a:ext>
            </a:extLst>
          </p:cNvPr>
          <p:cNvSpPr>
            <a:spLocks noGrp="1"/>
          </p:cNvSpPr>
          <p:nvPr>
            <p:ph type="pic" sz="quarter" idx="33"/>
          </p:nvPr>
        </p:nvSpPr>
        <p:spPr>
          <a:xfrm>
            <a:off x="10357713" y="2645822"/>
            <a:ext cx="1182832" cy="1088105"/>
          </a:xfrm>
        </p:spPr>
        <p:txBody>
          <a:bodyPr/>
          <a:lstStyle/>
          <a:p>
            <a:endParaRPr lang="en-US"/>
          </a:p>
        </p:txBody>
      </p:sp>
      <p:sp>
        <p:nvSpPr>
          <p:cNvPr id="55" name="row 3 Picture Placeholder 1">
            <a:extLst>
              <a:ext uri="{FF2B5EF4-FFF2-40B4-BE49-F238E27FC236}">
                <a16:creationId xmlns:a16="http://schemas.microsoft.com/office/drawing/2014/main" id="{01052543-B91F-CF1D-C997-F32276004729}"/>
              </a:ext>
            </a:extLst>
          </p:cNvPr>
          <p:cNvSpPr>
            <a:spLocks noGrp="1"/>
          </p:cNvSpPr>
          <p:nvPr>
            <p:ph type="pic" sz="quarter" idx="34"/>
          </p:nvPr>
        </p:nvSpPr>
        <p:spPr>
          <a:xfrm>
            <a:off x="652604" y="3924554"/>
            <a:ext cx="1182832" cy="1088105"/>
          </a:xfrm>
        </p:spPr>
        <p:txBody>
          <a:bodyPr/>
          <a:lstStyle/>
          <a:p>
            <a:endParaRPr lang="en-US"/>
          </a:p>
        </p:txBody>
      </p:sp>
      <p:sp>
        <p:nvSpPr>
          <p:cNvPr id="56" name="row 3 Picture Placeholder 2">
            <a:extLst>
              <a:ext uri="{FF2B5EF4-FFF2-40B4-BE49-F238E27FC236}">
                <a16:creationId xmlns:a16="http://schemas.microsoft.com/office/drawing/2014/main" id="{70569A68-72F9-E2FE-E32D-819866ED0C35}"/>
              </a:ext>
            </a:extLst>
          </p:cNvPr>
          <p:cNvSpPr>
            <a:spLocks noGrp="1"/>
          </p:cNvSpPr>
          <p:nvPr>
            <p:ph type="pic" sz="quarter" idx="35"/>
          </p:nvPr>
        </p:nvSpPr>
        <p:spPr>
          <a:xfrm>
            <a:off x="2034595" y="3924554"/>
            <a:ext cx="1182832" cy="1088105"/>
          </a:xfrm>
        </p:spPr>
        <p:txBody>
          <a:bodyPr/>
          <a:lstStyle/>
          <a:p>
            <a:endParaRPr lang="en-US"/>
          </a:p>
        </p:txBody>
      </p:sp>
      <p:sp>
        <p:nvSpPr>
          <p:cNvPr id="57" name="row 3 Picture Placeholder 3">
            <a:extLst>
              <a:ext uri="{FF2B5EF4-FFF2-40B4-BE49-F238E27FC236}">
                <a16:creationId xmlns:a16="http://schemas.microsoft.com/office/drawing/2014/main" id="{D2BD4873-307A-6A42-64CF-510EDD057A88}"/>
              </a:ext>
            </a:extLst>
          </p:cNvPr>
          <p:cNvSpPr>
            <a:spLocks noGrp="1"/>
          </p:cNvSpPr>
          <p:nvPr>
            <p:ph type="pic" sz="quarter" idx="36"/>
          </p:nvPr>
        </p:nvSpPr>
        <p:spPr>
          <a:xfrm>
            <a:off x="3421781" y="3924554"/>
            <a:ext cx="1182832" cy="1088105"/>
          </a:xfrm>
        </p:spPr>
        <p:txBody>
          <a:bodyPr/>
          <a:lstStyle/>
          <a:p>
            <a:endParaRPr lang="en-US"/>
          </a:p>
        </p:txBody>
      </p:sp>
      <p:sp>
        <p:nvSpPr>
          <p:cNvPr id="58" name="row 3 Picture Placeholder 4">
            <a:extLst>
              <a:ext uri="{FF2B5EF4-FFF2-40B4-BE49-F238E27FC236}">
                <a16:creationId xmlns:a16="http://schemas.microsoft.com/office/drawing/2014/main" id="{654B3D41-F5AE-BC4D-CA7C-AE67AEE80F38}"/>
              </a:ext>
            </a:extLst>
          </p:cNvPr>
          <p:cNvSpPr>
            <a:spLocks noGrp="1"/>
          </p:cNvSpPr>
          <p:nvPr>
            <p:ph type="pic" sz="quarter" idx="37"/>
          </p:nvPr>
        </p:nvSpPr>
        <p:spPr>
          <a:xfrm>
            <a:off x="4814163" y="3924554"/>
            <a:ext cx="1182832" cy="1088105"/>
          </a:xfrm>
        </p:spPr>
        <p:txBody>
          <a:bodyPr/>
          <a:lstStyle/>
          <a:p>
            <a:endParaRPr lang="en-US"/>
          </a:p>
        </p:txBody>
      </p:sp>
      <p:sp>
        <p:nvSpPr>
          <p:cNvPr id="59" name="row 3 Picture Placeholder 5">
            <a:extLst>
              <a:ext uri="{FF2B5EF4-FFF2-40B4-BE49-F238E27FC236}">
                <a16:creationId xmlns:a16="http://schemas.microsoft.com/office/drawing/2014/main" id="{2049E2F9-304E-BEA6-C347-8BE731201E10}"/>
              </a:ext>
            </a:extLst>
          </p:cNvPr>
          <p:cNvSpPr>
            <a:spLocks noGrp="1"/>
          </p:cNvSpPr>
          <p:nvPr>
            <p:ph type="pic" sz="quarter" idx="38"/>
          </p:nvPr>
        </p:nvSpPr>
        <p:spPr>
          <a:xfrm>
            <a:off x="6196154" y="3924554"/>
            <a:ext cx="1182832" cy="1088105"/>
          </a:xfrm>
        </p:spPr>
        <p:txBody>
          <a:bodyPr/>
          <a:lstStyle/>
          <a:p>
            <a:endParaRPr lang="en-US"/>
          </a:p>
        </p:txBody>
      </p:sp>
      <p:sp>
        <p:nvSpPr>
          <p:cNvPr id="60" name="row 3 Picture Placeholder 6">
            <a:extLst>
              <a:ext uri="{FF2B5EF4-FFF2-40B4-BE49-F238E27FC236}">
                <a16:creationId xmlns:a16="http://schemas.microsoft.com/office/drawing/2014/main" id="{DA987F5A-D0BE-C880-0AB8-1EED29A441A8}"/>
              </a:ext>
            </a:extLst>
          </p:cNvPr>
          <p:cNvSpPr>
            <a:spLocks noGrp="1"/>
          </p:cNvSpPr>
          <p:nvPr>
            <p:ph type="pic" sz="quarter" idx="39"/>
          </p:nvPr>
        </p:nvSpPr>
        <p:spPr>
          <a:xfrm>
            <a:off x="7583340" y="3924554"/>
            <a:ext cx="1182832" cy="1088105"/>
          </a:xfrm>
        </p:spPr>
        <p:txBody>
          <a:bodyPr/>
          <a:lstStyle/>
          <a:p>
            <a:endParaRPr lang="en-US"/>
          </a:p>
        </p:txBody>
      </p:sp>
      <p:sp>
        <p:nvSpPr>
          <p:cNvPr id="61" name="row 3 Picture Placeholder 7">
            <a:extLst>
              <a:ext uri="{FF2B5EF4-FFF2-40B4-BE49-F238E27FC236}">
                <a16:creationId xmlns:a16="http://schemas.microsoft.com/office/drawing/2014/main" id="{9B4A1B9D-0A3A-2F81-8CED-F338B7A6E38C}"/>
              </a:ext>
            </a:extLst>
          </p:cNvPr>
          <p:cNvSpPr>
            <a:spLocks noGrp="1"/>
          </p:cNvSpPr>
          <p:nvPr>
            <p:ph type="pic" sz="quarter" idx="40"/>
          </p:nvPr>
        </p:nvSpPr>
        <p:spPr>
          <a:xfrm>
            <a:off x="8970527" y="3924554"/>
            <a:ext cx="1182832" cy="1088105"/>
          </a:xfrm>
        </p:spPr>
        <p:txBody>
          <a:bodyPr/>
          <a:lstStyle/>
          <a:p>
            <a:endParaRPr lang="en-US"/>
          </a:p>
        </p:txBody>
      </p:sp>
      <p:sp>
        <p:nvSpPr>
          <p:cNvPr id="62" name="row 3 Picture Placeholder 8">
            <a:extLst>
              <a:ext uri="{FF2B5EF4-FFF2-40B4-BE49-F238E27FC236}">
                <a16:creationId xmlns:a16="http://schemas.microsoft.com/office/drawing/2014/main" id="{6DF27D75-B058-220A-4405-64C938FF8FEA}"/>
              </a:ext>
            </a:extLst>
          </p:cNvPr>
          <p:cNvSpPr>
            <a:spLocks noGrp="1"/>
          </p:cNvSpPr>
          <p:nvPr>
            <p:ph type="pic" sz="quarter" idx="41"/>
          </p:nvPr>
        </p:nvSpPr>
        <p:spPr>
          <a:xfrm>
            <a:off x="10357713" y="3924554"/>
            <a:ext cx="1182832" cy="1088105"/>
          </a:xfrm>
        </p:spPr>
        <p:txBody>
          <a:bodyPr/>
          <a:lstStyle/>
          <a:p>
            <a:endParaRPr lang="en-US"/>
          </a:p>
        </p:txBody>
      </p:sp>
      <p:sp>
        <p:nvSpPr>
          <p:cNvPr id="63" name="row 4 Picture Placeholder 1">
            <a:extLst>
              <a:ext uri="{FF2B5EF4-FFF2-40B4-BE49-F238E27FC236}">
                <a16:creationId xmlns:a16="http://schemas.microsoft.com/office/drawing/2014/main" id="{BB6EB70A-D535-38CE-382E-56A416834C42}"/>
              </a:ext>
            </a:extLst>
          </p:cNvPr>
          <p:cNvSpPr>
            <a:spLocks noGrp="1"/>
          </p:cNvSpPr>
          <p:nvPr>
            <p:ph type="pic" sz="quarter" idx="42"/>
          </p:nvPr>
        </p:nvSpPr>
        <p:spPr>
          <a:xfrm>
            <a:off x="652604" y="5196141"/>
            <a:ext cx="1182832" cy="1088105"/>
          </a:xfrm>
        </p:spPr>
        <p:txBody>
          <a:bodyPr/>
          <a:lstStyle/>
          <a:p>
            <a:endParaRPr lang="en-US"/>
          </a:p>
        </p:txBody>
      </p:sp>
      <p:sp>
        <p:nvSpPr>
          <p:cNvPr id="64" name="row 4 Picture Placeholder 2">
            <a:extLst>
              <a:ext uri="{FF2B5EF4-FFF2-40B4-BE49-F238E27FC236}">
                <a16:creationId xmlns:a16="http://schemas.microsoft.com/office/drawing/2014/main" id="{F972114E-1368-BF87-A84F-E158424B35FA}"/>
              </a:ext>
            </a:extLst>
          </p:cNvPr>
          <p:cNvSpPr>
            <a:spLocks noGrp="1"/>
          </p:cNvSpPr>
          <p:nvPr>
            <p:ph type="pic" sz="quarter" idx="43"/>
          </p:nvPr>
        </p:nvSpPr>
        <p:spPr>
          <a:xfrm>
            <a:off x="2034595" y="5196141"/>
            <a:ext cx="1182832" cy="1088105"/>
          </a:xfrm>
        </p:spPr>
        <p:txBody>
          <a:bodyPr/>
          <a:lstStyle/>
          <a:p>
            <a:endParaRPr lang="en-US"/>
          </a:p>
        </p:txBody>
      </p:sp>
      <p:sp>
        <p:nvSpPr>
          <p:cNvPr id="65" name="row 4 Picture Placeholder 3">
            <a:extLst>
              <a:ext uri="{FF2B5EF4-FFF2-40B4-BE49-F238E27FC236}">
                <a16:creationId xmlns:a16="http://schemas.microsoft.com/office/drawing/2014/main" id="{278EFBC8-2747-F4D4-BC80-EDB3F561FDB4}"/>
              </a:ext>
            </a:extLst>
          </p:cNvPr>
          <p:cNvSpPr>
            <a:spLocks noGrp="1"/>
          </p:cNvSpPr>
          <p:nvPr>
            <p:ph type="pic" sz="quarter" idx="44"/>
          </p:nvPr>
        </p:nvSpPr>
        <p:spPr>
          <a:xfrm>
            <a:off x="3421781" y="5196141"/>
            <a:ext cx="1182832" cy="1088105"/>
          </a:xfrm>
        </p:spPr>
        <p:txBody>
          <a:bodyPr/>
          <a:lstStyle/>
          <a:p>
            <a:endParaRPr lang="en-US"/>
          </a:p>
        </p:txBody>
      </p:sp>
      <p:sp>
        <p:nvSpPr>
          <p:cNvPr id="66" name="row 4 Picture Placeholder 4">
            <a:extLst>
              <a:ext uri="{FF2B5EF4-FFF2-40B4-BE49-F238E27FC236}">
                <a16:creationId xmlns:a16="http://schemas.microsoft.com/office/drawing/2014/main" id="{937E185F-2AC1-06ED-C749-94E4BD3D1650}"/>
              </a:ext>
            </a:extLst>
          </p:cNvPr>
          <p:cNvSpPr>
            <a:spLocks noGrp="1"/>
          </p:cNvSpPr>
          <p:nvPr>
            <p:ph type="pic" sz="quarter" idx="45"/>
          </p:nvPr>
        </p:nvSpPr>
        <p:spPr>
          <a:xfrm>
            <a:off x="4814163" y="5196141"/>
            <a:ext cx="1182832" cy="1088105"/>
          </a:xfrm>
        </p:spPr>
        <p:txBody>
          <a:bodyPr/>
          <a:lstStyle/>
          <a:p>
            <a:endParaRPr lang="en-US"/>
          </a:p>
        </p:txBody>
      </p:sp>
      <p:sp>
        <p:nvSpPr>
          <p:cNvPr id="67" name="row 4 Picture Placeholder 5">
            <a:extLst>
              <a:ext uri="{FF2B5EF4-FFF2-40B4-BE49-F238E27FC236}">
                <a16:creationId xmlns:a16="http://schemas.microsoft.com/office/drawing/2014/main" id="{C1D6FD23-AD0E-00F8-F84E-0A75AD27C4FE}"/>
              </a:ext>
            </a:extLst>
          </p:cNvPr>
          <p:cNvSpPr>
            <a:spLocks noGrp="1"/>
          </p:cNvSpPr>
          <p:nvPr>
            <p:ph type="pic" sz="quarter" idx="46"/>
          </p:nvPr>
        </p:nvSpPr>
        <p:spPr>
          <a:xfrm>
            <a:off x="6196154" y="5196141"/>
            <a:ext cx="1182832" cy="1088105"/>
          </a:xfrm>
        </p:spPr>
        <p:txBody>
          <a:bodyPr/>
          <a:lstStyle/>
          <a:p>
            <a:endParaRPr lang="en-US"/>
          </a:p>
        </p:txBody>
      </p:sp>
      <p:sp>
        <p:nvSpPr>
          <p:cNvPr id="68" name="row 4 Picture Placeholder 6">
            <a:extLst>
              <a:ext uri="{FF2B5EF4-FFF2-40B4-BE49-F238E27FC236}">
                <a16:creationId xmlns:a16="http://schemas.microsoft.com/office/drawing/2014/main" id="{98E69D93-6780-2C21-235D-AD050AA6C84E}"/>
              </a:ext>
            </a:extLst>
          </p:cNvPr>
          <p:cNvSpPr>
            <a:spLocks noGrp="1"/>
          </p:cNvSpPr>
          <p:nvPr>
            <p:ph type="pic" sz="quarter" idx="47"/>
          </p:nvPr>
        </p:nvSpPr>
        <p:spPr>
          <a:xfrm>
            <a:off x="7583340" y="5196141"/>
            <a:ext cx="1182832" cy="1088105"/>
          </a:xfrm>
        </p:spPr>
        <p:txBody>
          <a:bodyPr/>
          <a:lstStyle/>
          <a:p>
            <a:endParaRPr lang="en-US"/>
          </a:p>
        </p:txBody>
      </p:sp>
      <p:sp>
        <p:nvSpPr>
          <p:cNvPr id="69" name="row 4 Picture Placeholder 7">
            <a:extLst>
              <a:ext uri="{FF2B5EF4-FFF2-40B4-BE49-F238E27FC236}">
                <a16:creationId xmlns:a16="http://schemas.microsoft.com/office/drawing/2014/main" id="{951CAB42-3A74-8C1A-33D9-B956194E62C9}"/>
              </a:ext>
            </a:extLst>
          </p:cNvPr>
          <p:cNvSpPr>
            <a:spLocks noGrp="1"/>
          </p:cNvSpPr>
          <p:nvPr>
            <p:ph type="pic" sz="quarter" idx="48"/>
          </p:nvPr>
        </p:nvSpPr>
        <p:spPr>
          <a:xfrm>
            <a:off x="8970527" y="5196141"/>
            <a:ext cx="1182832" cy="1088105"/>
          </a:xfrm>
        </p:spPr>
        <p:txBody>
          <a:bodyPr/>
          <a:lstStyle/>
          <a:p>
            <a:endParaRPr lang="en-US"/>
          </a:p>
        </p:txBody>
      </p:sp>
      <p:sp>
        <p:nvSpPr>
          <p:cNvPr id="70" name="row 4 Picture Placeholder 8">
            <a:extLst>
              <a:ext uri="{FF2B5EF4-FFF2-40B4-BE49-F238E27FC236}">
                <a16:creationId xmlns:a16="http://schemas.microsoft.com/office/drawing/2014/main" id="{840EF6F4-48B1-B7EA-5C60-0375F6CADFB9}"/>
              </a:ext>
            </a:extLst>
          </p:cNvPr>
          <p:cNvSpPr>
            <a:spLocks noGrp="1"/>
          </p:cNvSpPr>
          <p:nvPr>
            <p:ph type="pic" sz="quarter" idx="49"/>
          </p:nvPr>
        </p:nvSpPr>
        <p:spPr>
          <a:xfrm>
            <a:off x="10357713" y="5196141"/>
            <a:ext cx="1182832" cy="1088105"/>
          </a:xfrm>
        </p:spPr>
        <p:txBody>
          <a:bodyPr/>
          <a:lstStyle/>
          <a:p>
            <a:endParaRPr lang="en-US"/>
          </a:p>
        </p:txBody>
      </p:sp>
      <p:sp>
        <p:nvSpPr>
          <p:cNvPr id="4" name="Footer Placeholder 3">
            <a:extLst>
              <a:ext uri="{FF2B5EF4-FFF2-40B4-BE49-F238E27FC236}">
                <a16:creationId xmlns:a16="http://schemas.microsoft.com/office/drawing/2014/main" id="{181A3878-7BE0-2310-A612-86078B468989}"/>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FF64CF29-7F88-6F4B-09E2-25D36FC00EB9}"/>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7CA21AE2-4E9E-2DCA-4E42-C97521A8179D}"/>
              </a:ext>
            </a:extLst>
          </p:cNvPr>
          <p:cNvSpPr>
            <a:spLocks noGrp="1"/>
          </p:cNvSpPr>
          <p:nvPr>
            <p:ph type="dt" sz="half" idx="11"/>
          </p:nvPr>
        </p:nvSpPr>
        <p:spPr/>
        <p:txBody>
          <a:bodyPr/>
          <a:lstStyle/>
          <a:p>
            <a:fld id="{DBEFE4BD-2DFA-4609-895D-EFEF7C6E5A3C}" type="datetime1">
              <a:rPr lang="en-US" smtClean="0"/>
              <a:t>4/15/26</a:t>
            </a:fld>
            <a:endParaRPr lang="en-US"/>
          </a:p>
        </p:txBody>
      </p:sp>
    </p:spTree>
    <p:extLst>
      <p:ext uri="{BB962C8B-B14F-4D97-AF65-F5344CB8AC3E}">
        <p14:creationId xmlns:p14="http://schemas.microsoft.com/office/powerpoint/2010/main" val="40877871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599" y="426061"/>
            <a:ext cx="5334001" cy="2387600"/>
          </a:xfrm>
        </p:spPr>
        <p:txBody>
          <a:bodyPr lIns="0" rIns="0" anchor="b">
            <a:noAutofit/>
          </a:bodyPr>
          <a:lstStyle>
            <a:lvl1pPr algn="l">
              <a:lnSpc>
                <a:spcPct val="80000"/>
              </a:lnSpc>
              <a:defRPr sz="4800" spc="-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598" y="3012926"/>
            <a:ext cx="5334001"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4031B34F-5072-BCFE-838A-B26F9DFCB01E}"/>
              </a:ext>
            </a:extLst>
          </p:cNvPr>
          <p:cNvSpPr>
            <a:spLocks noGrp="1"/>
          </p:cNvSpPr>
          <p:nvPr>
            <p:ph type="pic" sz="quarter" idx="10"/>
          </p:nvPr>
        </p:nvSpPr>
        <p:spPr>
          <a:xfrm>
            <a:off x="6096000" y="0"/>
            <a:ext cx="6096000" cy="6858000"/>
          </a:xfrm>
        </p:spPr>
        <p:txBody>
          <a:bodyPr wrap="none">
            <a:noAutofit/>
          </a:bodyPr>
          <a:lstStyle>
            <a:lvl1pPr>
              <a:defRPr>
                <a:solidFill>
                  <a:schemeClr val="bg1"/>
                </a:solidFill>
              </a:defRPr>
            </a:lvl1pPr>
          </a:lstStyle>
          <a:p>
            <a:endParaRPr lang="en-US"/>
          </a:p>
        </p:txBody>
      </p:sp>
      <p:pic>
        <p:nvPicPr>
          <p:cNvPr id="5" name="Picture 4" descr="A red and black number&#10;&#10;Description automatically generated">
            <a:extLst>
              <a:ext uri="{FF2B5EF4-FFF2-40B4-BE49-F238E27FC236}">
                <a16:creationId xmlns:a16="http://schemas.microsoft.com/office/drawing/2014/main" id="{3A473975-5274-ED6D-F50C-3F967FC2BF39}"/>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38890712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solidFill>
                  <a:schemeClr val="bg1"/>
                </a:solidFill>
              </a:defRPr>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12756959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ck - Bottom Graphic">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p:txBody>
          <a:bodyPr lIns="0" rIns="0"/>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2" name="Copyright">
            <a:extLst>
              <a:ext uri="{FF2B5EF4-FFF2-40B4-BE49-F238E27FC236}">
                <a16:creationId xmlns:a16="http://schemas.microsoft.com/office/drawing/2014/main" id="{076A1818-04ED-68DC-92C5-98A4DB6D6F8F}"/>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A6AFD1D8-9BA5-4CA3-A987-D4ACB6D38028}" type="datetime1">
              <a:rPr lang="en-US" smtClean="0"/>
              <a:t>4/15/26</a:t>
            </a:fld>
            <a:endParaRPr lang="en-US"/>
          </a:p>
        </p:txBody>
      </p:sp>
    </p:spTree>
    <p:extLst>
      <p:ext uri="{BB962C8B-B14F-4D97-AF65-F5344CB8AC3E}">
        <p14:creationId xmlns:p14="http://schemas.microsoft.com/office/powerpoint/2010/main" val="11321676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Large Quote -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1600200"/>
            <a:ext cx="10972800" cy="946389"/>
          </a:xfrm>
        </p:spPr>
        <p:txBody>
          <a:bodyPr lIns="0" rIns="0"/>
          <a:lstStyle/>
          <a:p>
            <a:r>
              <a:rPr lang="en-US"/>
              <a:t>Click to edit Master title style</a:t>
            </a:r>
          </a:p>
        </p:txBody>
      </p:sp>
      <p:sp>
        <p:nvSpPr>
          <p:cNvPr id="3" name="Text Placeholder 2">
            <a:extLst>
              <a:ext uri="{FF2B5EF4-FFF2-40B4-BE49-F238E27FC236}">
                <a16:creationId xmlns:a16="http://schemas.microsoft.com/office/drawing/2014/main" id="{071E6B17-ECCD-E40D-70FD-EB994B56943F}"/>
              </a:ext>
            </a:extLst>
          </p:cNvPr>
          <p:cNvSpPr>
            <a:spLocks noGrp="1"/>
          </p:cNvSpPr>
          <p:nvPr>
            <p:ph type="body" sz="quarter" idx="15"/>
          </p:nvPr>
        </p:nvSpPr>
        <p:spPr>
          <a:xfrm>
            <a:off x="609600" y="1333500"/>
            <a:ext cx="10972800" cy="4191000"/>
          </a:xfrm>
        </p:spPr>
        <p:txBody>
          <a:bodyPr anchor="ctr" anchorCtr="0"/>
          <a:lstStyle>
            <a:lvl1pPr marL="457200" indent="-457200">
              <a:lnSpc>
                <a:spcPct val="95000"/>
              </a:lnSpc>
              <a:spcBef>
                <a:spcPts val="2400"/>
              </a:spcBef>
              <a:buSzPct val="100000"/>
              <a:buFont typeface="Helvetica Neue" panose="02000503000000020004" pitchFamily="2" charset="0"/>
              <a:buChar char="–"/>
              <a:tabLst/>
              <a:defRPr sz="5400" b="1" i="0" spc="-50" baseline="0">
                <a:solidFill>
                  <a:schemeClr val="bg1"/>
                </a:solidFill>
                <a:latin typeface="Adobe Clean Display Black" panose="020B0303020404020204" pitchFamily="34" charset="77"/>
              </a:defRPr>
            </a:lvl1pPr>
            <a:lvl2pPr marL="914400" indent="-457200">
              <a:lnSpc>
                <a:spcPct val="95000"/>
              </a:lnSpc>
              <a:spcBef>
                <a:spcPts val="2400"/>
              </a:spcBef>
              <a:buSzPct val="100000"/>
              <a:buFont typeface="Helvetica Neue" panose="02000503000000020004" pitchFamily="2" charset="0"/>
              <a:buChar char="–"/>
              <a:tabLst/>
              <a:defRPr sz="3200">
                <a:solidFill>
                  <a:schemeClr val="bg1"/>
                </a:solidFill>
              </a:defRPr>
            </a:lvl2pPr>
            <a:lvl3pPr marL="914400" indent="-457200">
              <a:lnSpc>
                <a:spcPct val="95000"/>
              </a:lnSpc>
              <a:spcBef>
                <a:spcPts val="2400"/>
              </a:spcBef>
              <a:buSzPct val="100000"/>
              <a:buFont typeface="Helvetica Neue" panose="02000503000000020004" pitchFamily="2" charset="0"/>
              <a:buChar char="–"/>
              <a:tabLst/>
              <a:defRPr sz="1600">
                <a:solidFill>
                  <a:schemeClr val="bg1"/>
                </a:solidFill>
              </a:defRPr>
            </a:lvl3pPr>
            <a:lvl4pPr marL="914400" indent="-457200">
              <a:lnSpc>
                <a:spcPct val="95000"/>
              </a:lnSpc>
              <a:spcBef>
                <a:spcPts val="2400"/>
              </a:spcBef>
              <a:buSzPct val="100000"/>
              <a:buFont typeface="Helvetica Neue" panose="02000503000000020004" pitchFamily="2" charset="0"/>
              <a:buChar char="–"/>
              <a:tabLst/>
              <a:defRPr sz="1600">
                <a:solidFill>
                  <a:schemeClr val="bg1"/>
                </a:solidFill>
              </a:defRPr>
            </a:lvl4pPr>
            <a:lvl5pPr marL="914400" indent="-457200">
              <a:lnSpc>
                <a:spcPct val="95000"/>
              </a:lnSpc>
              <a:spcBef>
                <a:spcPts val="2400"/>
              </a:spcBef>
              <a:buSzPct val="100000"/>
              <a:buFont typeface="Helvetica Neue" panose="02000503000000020004" pitchFamily="2" charset="0"/>
              <a:buChar char="–"/>
              <a:tabLst/>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93ECCD13-D1E9-473F-B841-18617FCF55E9}" type="datetime1">
              <a:rPr lang="en-US" smtClean="0"/>
              <a:t>4/15/26</a:t>
            </a:fld>
            <a:endParaRPr lang="en-US"/>
          </a:p>
        </p:txBody>
      </p:sp>
      <p:sp>
        <p:nvSpPr>
          <p:cNvPr id="2" name="Copyright">
            <a:extLst>
              <a:ext uri="{FF2B5EF4-FFF2-40B4-BE49-F238E27FC236}">
                <a16:creationId xmlns:a16="http://schemas.microsoft.com/office/drawing/2014/main" id="{BFF0610E-338E-FF22-72CA-169EB8E0A5F9}"/>
              </a:ext>
            </a:extLst>
          </p:cNvPr>
          <p:cNvSpPr txBox="1"/>
          <p:nvPr userDrawn="1"/>
        </p:nvSpPr>
        <p:spPr>
          <a:xfrm>
            <a:off x="9873598" y="6583680"/>
            <a:ext cx="1708802"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Tree>
    <p:extLst>
      <p:ext uri="{BB962C8B-B14F-4D97-AF65-F5344CB8AC3E}">
        <p14:creationId xmlns:p14="http://schemas.microsoft.com/office/powerpoint/2010/main" val="10214847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1/2 Image -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493776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457200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6096000" y="0"/>
            <a:ext cx="6096000" cy="6858000"/>
          </a:xfr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1920240" cy="91887"/>
          </a:xfrm>
        </p:spPr>
        <p:txBody>
          <a:bodyPr/>
          <a:lstStyle>
            <a:lvl1pPr>
              <a:defRPr>
                <a:solidFill>
                  <a:srgbClr val="BEBEBE"/>
                </a:solidFill>
              </a:defRPr>
            </a:lvl1p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3657600" y="6583680"/>
            <a:ext cx="89768" cy="92333"/>
          </a:xfrm>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3836955"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3509"/>
            <a:ext cx="1748393" cy="20195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5A861FAB-3FDE-4C87-9308-E91AC57E0401}" type="datetime1">
              <a:rPr lang="en-US" smtClean="0"/>
              <a:t>4/15/26</a:t>
            </a:fld>
            <a:endParaRPr lang="en-US"/>
          </a:p>
        </p:txBody>
      </p:sp>
    </p:spTree>
    <p:extLst>
      <p:ext uri="{BB962C8B-B14F-4D97-AF65-F5344CB8AC3E}">
        <p14:creationId xmlns:p14="http://schemas.microsoft.com/office/powerpoint/2010/main" val="33368659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1/3 Image -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676656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594360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7894320" y="0"/>
            <a:ext cx="4297680" cy="6858000"/>
          </a:xfr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3657600" cy="91887"/>
          </a:xfrm>
        </p:spPr>
        <p:txBody>
          <a:bodyPr/>
          <a:lstStyle>
            <a:lvl1pPr>
              <a:defRPr>
                <a:solidFill>
                  <a:srgbClr val="BEBEBE"/>
                </a:solidFill>
              </a:defRPr>
            </a:lvl1p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5486400" y="6583680"/>
            <a:ext cx="89768" cy="92333"/>
          </a:xfrm>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5665755"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3510"/>
            <a:ext cx="1748393" cy="20195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A6C1D8EA-4650-4E5E-943B-91110B552664}" type="datetime1">
              <a:rPr lang="en-US" smtClean="0"/>
              <a:t>4/15/26</a:t>
            </a:fld>
            <a:endParaRPr lang="en-US"/>
          </a:p>
        </p:txBody>
      </p:sp>
    </p:spTree>
    <p:extLst>
      <p:ext uri="{BB962C8B-B14F-4D97-AF65-F5344CB8AC3E}">
        <p14:creationId xmlns:p14="http://schemas.microsoft.com/office/powerpoint/2010/main" val="18575991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s -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493776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1334324"/>
            <a:ext cx="493776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4/15/26</a:t>
            </a:fld>
            <a:endParaRPr lang="en-US"/>
          </a:p>
        </p:txBody>
      </p:sp>
    </p:spTree>
    <p:extLst>
      <p:ext uri="{BB962C8B-B14F-4D97-AF65-F5344CB8AC3E}">
        <p14:creationId xmlns:p14="http://schemas.microsoft.com/office/powerpoint/2010/main" val="279283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Columns -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958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F675479F-3CBB-5D2A-4512-AE1310D8851A}"/>
              </a:ext>
            </a:extLst>
          </p:cNvPr>
          <p:cNvSpPr>
            <a:spLocks noGrp="1"/>
          </p:cNvSpPr>
          <p:nvPr>
            <p:ph idx="14"/>
          </p:nvPr>
        </p:nvSpPr>
        <p:spPr>
          <a:xfrm>
            <a:off x="83820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4/15/26</a:t>
            </a:fld>
            <a:endParaRPr lang="en-US"/>
          </a:p>
        </p:txBody>
      </p:sp>
    </p:spTree>
    <p:extLst>
      <p:ext uri="{BB962C8B-B14F-4D97-AF65-F5344CB8AC3E}">
        <p14:creationId xmlns:p14="http://schemas.microsoft.com/office/powerpoint/2010/main" val="41578117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our Columns -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1456"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0264"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9339072"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1C7DF4-91CF-55B7-3AA7-65526726F524}"/>
              </a:ext>
            </a:extLst>
          </p:cNvPr>
          <p:cNvSpPr>
            <a:spLocks noGrp="1"/>
          </p:cNvSpPr>
          <p:nvPr>
            <p:ph type="dt" sz="half" idx="16"/>
          </p:nvPr>
        </p:nvSpPr>
        <p:spPr/>
        <p:txBody>
          <a:bodyPr/>
          <a:lstStyle/>
          <a:p>
            <a:fld id="{30169271-AB45-4F94-B977-1C39D03C236C}" type="datetime1">
              <a:rPr lang="en-US" smtClean="0"/>
              <a:t>4/15/26</a:t>
            </a:fld>
            <a:endParaRPr lang="en-US"/>
          </a:p>
        </p:txBody>
      </p:sp>
      <p:sp>
        <p:nvSpPr>
          <p:cNvPr id="6" name="Footer Placeholder 5">
            <a:extLst>
              <a:ext uri="{FF2B5EF4-FFF2-40B4-BE49-F238E27FC236}">
                <a16:creationId xmlns:a16="http://schemas.microsoft.com/office/drawing/2014/main" id="{8C565DB8-BEAA-621B-BC19-2D34AB75BC98}"/>
              </a:ext>
            </a:extLst>
          </p:cNvPr>
          <p:cNvSpPr>
            <a:spLocks noGrp="1"/>
          </p:cNvSpPr>
          <p:nvPr>
            <p:ph type="ftr" sz="quarter" idx="17"/>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02598055-59DC-88A9-9B38-40423C55EF43}"/>
              </a:ext>
            </a:extLst>
          </p:cNvPr>
          <p:cNvSpPr>
            <a:spLocks noGrp="1"/>
          </p:cNvSpPr>
          <p:nvPr>
            <p:ph type="sldNum" sz="quarter" idx="18"/>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12" name="Copyright">
            <a:extLst>
              <a:ext uri="{FF2B5EF4-FFF2-40B4-BE49-F238E27FC236}">
                <a16:creationId xmlns:a16="http://schemas.microsoft.com/office/drawing/2014/main" id="{CF063994-F7E1-75A7-CEC3-515566728D3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Tree>
    <p:extLst>
      <p:ext uri="{BB962C8B-B14F-4D97-AF65-F5344CB8AC3E}">
        <p14:creationId xmlns:p14="http://schemas.microsoft.com/office/powerpoint/2010/main" val="10293514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ive Columns -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75026"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37404"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7399782"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5">
            <a:extLst>
              <a:ext uri="{FF2B5EF4-FFF2-40B4-BE49-F238E27FC236}">
                <a16:creationId xmlns:a16="http://schemas.microsoft.com/office/drawing/2014/main" id="{CB82708F-B3F7-E5C0-481F-8B2177EAF190}"/>
              </a:ext>
            </a:extLst>
          </p:cNvPr>
          <p:cNvSpPr>
            <a:spLocks noGrp="1"/>
          </p:cNvSpPr>
          <p:nvPr>
            <p:ph idx="19"/>
          </p:nvPr>
        </p:nvSpPr>
        <p:spPr>
          <a:xfrm>
            <a:off x="9662160"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1C7DF4-91CF-55B7-3AA7-65526726F524}"/>
              </a:ext>
            </a:extLst>
          </p:cNvPr>
          <p:cNvSpPr>
            <a:spLocks noGrp="1"/>
          </p:cNvSpPr>
          <p:nvPr>
            <p:ph type="dt" sz="half" idx="16"/>
          </p:nvPr>
        </p:nvSpPr>
        <p:spPr/>
        <p:txBody>
          <a:bodyPr/>
          <a:lstStyle/>
          <a:p>
            <a:fld id="{30169271-AB45-4F94-B977-1C39D03C236C}" type="datetime1">
              <a:rPr lang="en-US" smtClean="0"/>
              <a:t>4/15/26</a:t>
            </a:fld>
            <a:endParaRPr lang="en-US"/>
          </a:p>
        </p:txBody>
      </p:sp>
      <p:sp>
        <p:nvSpPr>
          <p:cNvPr id="6" name="Footer Placeholder 5">
            <a:extLst>
              <a:ext uri="{FF2B5EF4-FFF2-40B4-BE49-F238E27FC236}">
                <a16:creationId xmlns:a16="http://schemas.microsoft.com/office/drawing/2014/main" id="{8C565DB8-BEAA-621B-BC19-2D34AB75BC98}"/>
              </a:ext>
            </a:extLst>
          </p:cNvPr>
          <p:cNvSpPr>
            <a:spLocks noGrp="1"/>
          </p:cNvSpPr>
          <p:nvPr>
            <p:ph type="ftr" sz="quarter" idx="17"/>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02598055-59DC-88A9-9B38-40423C55EF43}"/>
              </a:ext>
            </a:extLst>
          </p:cNvPr>
          <p:cNvSpPr>
            <a:spLocks noGrp="1"/>
          </p:cNvSpPr>
          <p:nvPr>
            <p:ph type="sldNum" sz="quarter" idx="18"/>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12" name="Copyright">
            <a:extLst>
              <a:ext uri="{FF2B5EF4-FFF2-40B4-BE49-F238E27FC236}">
                <a16:creationId xmlns:a16="http://schemas.microsoft.com/office/drawing/2014/main" id="{CF063994-F7E1-75A7-CEC3-515566728D3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Tree>
    <p:extLst>
      <p:ext uri="{BB962C8B-B14F-4D97-AF65-F5344CB8AC3E}">
        <p14:creationId xmlns:p14="http://schemas.microsoft.com/office/powerpoint/2010/main" val="19481673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s - Image and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5" name="Picture Placeholder 1">
            <a:extLst>
              <a:ext uri="{FF2B5EF4-FFF2-40B4-BE49-F238E27FC236}">
                <a16:creationId xmlns:a16="http://schemas.microsoft.com/office/drawing/2014/main" id="{44B0349E-3471-3051-A5B9-9681553EB991}"/>
              </a:ext>
            </a:extLst>
          </p:cNvPr>
          <p:cNvSpPr>
            <a:spLocks noGrp="1"/>
          </p:cNvSpPr>
          <p:nvPr>
            <p:ph type="pic" sz="quarter" idx="15"/>
          </p:nvPr>
        </p:nvSpPr>
        <p:spPr>
          <a:xfrm>
            <a:off x="609600" y="1335024"/>
            <a:ext cx="4937760" cy="2514600"/>
          </a:xfrm>
        </p:spPr>
        <p:txBody>
          <a:bodyPr/>
          <a:lstStyle>
            <a:lvl1pPr>
              <a:defRPr>
                <a:solidFill>
                  <a:schemeClr val="bg1"/>
                </a:solidFill>
              </a:defRPr>
            </a:lvl1pPr>
          </a:lstStyle>
          <a:p>
            <a:endParaRPr lang="en-US"/>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23360"/>
            <a:ext cx="4846320" cy="2286000"/>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3142B398-0C77-E84A-DD6A-3B9AC2D5E34E}"/>
              </a:ext>
            </a:extLst>
          </p:cNvPr>
          <p:cNvSpPr>
            <a:spLocks noGrp="1"/>
          </p:cNvSpPr>
          <p:nvPr>
            <p:ph type="pic" sz="quarter" idx="16"/>
          </p:nvPr>
        </p:nvSpPr>
        <p:spPr>
          <a:xfrm>
            <a:off x="6644640" y="1335024"/>
            <a:ext cx="4937760" cy="2514600"/>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4023360"/>
            <a:ext cx="4846320" cy="2286000"/>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4/15/26</a:t>
            </a:fld>
            <a:endParaRPr lang="en-US"/>
          </a:p>
        </p:txBody>
      </p:sp>
    </p:spTree>
    <p:extLst>
      <p:ext uri="{BB962C8B-B14F-4D97-AF65-F5344CB8AC3E}">
        <p14:creationId xmlns:p14="http://schemas.microsoft.com/office/powerpoint/2010/main" val="41406565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Columns - Image and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
            <a:extLst>
              <a:ext uri="{FF2B5EF4-FFF2-40B4-BE49-F238E27FC236}">
                <a16:creationId xmlns:a16="http://schemas.microsoft.com/office/drawing/2014/main" id="{F7FA6101-2BCD-3F7A-5BFE-9C338D8F8C01}"/>
              </a:ext>
            </a:extLst>
          </p:cNvPr>
          <p:cNvSpPr>
            <a:spLocks noGrp="1"/>
          </p:cNvSpPr>
          <p:nvPr>
            <p:ph type="pic" sz="quarter" idx="15"/>
          </p:nvPr>
        </p:nvSpPr>
        <p:spPr>
          <a:xfrm>
            <a:off x="609600" y="1335024"/>
            <a:ext cx="3255264" cy="2514600"/>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68368"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2">
            <a:extLst>
              <a:ext uri="{FF2B5EF4-FFF2-40B4-BE49-F238E27FC236}">
                <a16:creationId xmlns:a16="http://schemas.microsoft.com/office/drawing/2014/main" id="{1F35FB27-0B90-CA7E-FF2E-695B6A9CA1A7}"/>
              </a:ext>
            </a:extLst>
          </p:cNvPr>
          <p:cNvSpPr>
            <a:spLocks noGrp="1"/>
          </p:cNvSpPr>
          <p:nvPr>
            <p:ph type="pic" sz="quarter" idx="16"/>
          </p:nvPr>
        </p:nvSpPr>
        <p:spPr>
          <a:xfrm>
            <a:off x="4468368" y="1335024"/>
            <a:ext cx="3255264" cy="2514600"/>
          </a:xfrm>
        </p:spPr>
        <p:txBody>
          <a:bodyPr/>
          <a:lstStyle>
            <a:lvl1pPr>
              <a:defRPr>
                <a:solidFill>
                  <a:schemeClr val="bg1"/>
                </a:solidFill>
              </a:defRPr>
            </a:lvl1pPr>
          </a:lstStyle>
          <a:p>
            <a:endParaRPr lang="en-US"/>
          </a:p>
        </p:txBody>
      </p:sp>
      <p:sp>
        <p:nvSpPr>
          <p:cNvPr id="5" name="Content Placeholder 3">
            <a:extLst>
              <a:ext uri="{FF2B5EF4-FFF2-40B4-BE49-F238E27FC236}">
                <a16:creationId xmlns:a16="http://schemas.microsoft.com/office/drawing/2014/main" id="{F675479F-3CBB-5D2A-4512-AE1310D8851A}"/>
              </a:ext>
            </a:extLst>
          </p:cNvPr>
          <p:cNvSpPr>
            <a:spLocks noGrp="1"/>
          </p:cNvSpPr>
          <p:nvPr>
            <p:ph idx="14"/>
          </p:nvPr>
        </p:nvSpPr>
        <p:spPr>
          <a:xfrm>
            <a:off x="8327136"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3">
            <a:extLst>
              <a:ext uri="{FF2B5EF4-FFF2-40B4-BE49-F238E27FC236}">
                <a16:creationId xmlns:a16="http://schemas.microsoft.com/office/drawing/2014/main" id="{D7A90959-8D39-E413-9AB9-75B5F74E177A}"/>
              </a:ext>
            </a:extLst>
          </p:cNvPr>
          <p:cNvSpPr>
            <a:spLocks noGrp="1"/>
          </p:cNvSpPr>
          <p:nvPr>
            <p:ph type="pic" sz="quarter" idx="17"/>
          </p:nvPr>
        </p:nvSpPr>
        <p:spPr>
          <a:xfrm>
            <a:off x="8327136" y="1335024"/>
            <a:ext cx="3255264" cy="2514600"/>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4/15/26</a:t>
            </a:fld>
            <a:endParaRPr lang="en-US"/>
          </a:p>
        </p:txBody>
      </p:sp>
    </p:spTree>
    <p:extLst>
      <p:ext uri="{BB962C8B-B14F-4D97-AF65-F5344CB8AC3E}">
        <p14:creationId xmlns:p14="http://schemas.microsoft.com/office/powerpoint/2010/main" val="20110298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lumns - Image and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2240280" cy="2505456"/>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2472"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3520440" y="1335024"/>
            <a:ext cx="2240280" cy="2505456"/>
          </a:xfrm>
        </p:spPr>
        <p:txBody>
          <a:bodyPr/>
          <a:lstStyle>
            <a:lvl1pPr>
              <a:defRPr>
                <a:solidFill>
                  <a:schemeClr val="bg1"/>
                </a:solidFill>
              </a:defRPr>
            </a:lvl1p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2296"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6431280" y="1335024"/>
            <a:ext cx="2240280" cy="2505456"/>
          </a:xfrm>
        </p:spPr>
        <p:txBody>
          <a:bodyPr/>
          <a:lstStyle>
            <a:lvl1pPr>
              <a:defRPr>
                <a:solidFill>
                  <a:schemeClr val="bg1"/>
                </a:solidFill>
              </a:defRPr>
            </a:lvl1p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9342120"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9342120" y="1335024"/>
            <a:ext cx="2240280" cy="2505456"/>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4/15/26</a:t>
            </a:fld>
            <a:endParaRPr lang="en-US"/>
          </a:p>
        </p:txBody>
      </p:sp>
      <p:sp>
        <p:nvSpPr>
          <p:cNvPr id="14" name="Copyright">
            <a:extLst>
              <a:ext uri="{FF2B5EF4-FFF2-40B4-BE49-F238E27FC236}">
                <a16:creationId xmlns:a16="http://schemas.microsoft.com/office/drawing/2014/main" id="{6D79BAA0-8632-AD2C-292C-8F2B191F7D1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Tree>
    <p:extLst>
      <p:ext uri="{BB962C8B-B14F-4D97-AF65-F5344CB8AC3E}">
        <p14:creationId xmlns:p14="http://schemas.microsoft.com/office/powerpoint/2010/main" val="6581783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ive Columns - Image and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1828800" cy="2505456"/>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97886"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2895600" y="1335024"/>
            <a:ext cx="1828800" cy="2505456"/>
          </a:xfrm>
        </p:spPr>
        <p:txBody>
          <a:bodyPr/>
          <a:lstStyle>
            <a:lvl1pPr>
              <a:defRPr>
                <a:solidFill>
                  <a:schemeClr val="bg1"/>
                </a:solidFill>
              </a:defRPr>
            </a:lvl1p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83124"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5181600" y="1335024"/>
            <a:ext cx="1828800" cy="2505456"/>
          </a:xfrm>
        </p:spPr>
        <p:txBody>
          <a:bodyPr/>
          <a:lstStyle>
            <a:lvl1pPr>
              <a:defRPr>
                <a:solidFill>
                  <a:schemeClr val="bg1"/>
                </a:solidFill>
              </a:defRPr>
            </a:lvl1p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7468362"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7467600" y="1335024"/>
            <a:ext cx="1828800" cy="2505456"/>
          </a:xfrm>
        </p:spPr>
        <p:txBody>
          <a:bodyPr/>
          <a:lstStyle>
            <a:lvl1pPr>
              <a:defRPr>
                <a:solidFill>
                  <a:schemeClr val="bg1"/>
                </a:solidFill>
              </a:defRPr>
            </a:lvl1pPr>
          </a:lstStyle>
          <a:p>
            <a:endParaRPr lang="en-US"/>
          </a:p>
        </p:txBody>
      </p:sp>
      <p:sp>
        <p:nvSpPr>
          <p:cNvPr id="16" name="Content Placeholder 5">
            <a:extLst>
              <a:ext uri="{FF2B5EF4-FFF2-40B4-BE49-F238E27FC236}">
                <a16:creationId xmlns:a16="http://schemas.microsoft.com/office/drawing/2014/main" id="{4BE2B1C7-C0C6-88D0-FF18-EFB8EA2C6280}"/>
              </a:ext>
            </a:extLst>
          </p:cNvPr>
          <p:cNvSpPr>
            <a:spLocks noGrp="1"/>
          </p:cNvSpPr>
          <p:nvPr>
            <p:ph idx="21"/>
          </p:nvPr>
        </p:nvSpPr>
        <p:spPr>
          <a:xfrm>
            <a:off x="9753600"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5">
            <a:extLst>
              <a:ext uri="{FF2B5EF4-FFF2-40B4-BE49-F238E27FC236}">
                <a16:creationId xmlns:a16="http://schemas.microsoft.com/office/drawing/2014/main" id="{A81BA51A-079B-3E84-046F-16707EFD3EA1}"/>
              </a:ext>
            </a:extLst>
          </p:cNvPr>
          <p:cNvSpPr>
            <a:spLocks noGrp="1"/>
          </p:cNvSpPr>
          <p:nvPr>
            <p:ph type="pic" sz="quarter" idx="20"/>
          </p:nvPr>
        </p:nvSpPr>
        <p:spPr>
          <a:xfrm>
            <a:off x="9753600" y="1335024"/>
            <a:ext cx="1828800" cy="2505456"/>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4/15/26</a:t>
            </a:fld>
            <a:endParaRPr lang="en-US"/>
          </a:p>
        </p:txBody>
      </p:sp>
      <p:sp>
        <p:nvSpPr>
          <p:cNvPr id="14" name="Copyright">
            <a:extLst>
              <a:ext uri="{FF2B5EF4-FFF2-40B4-BE49-F238E27FC236}">
                <a16:creationId xmlns:a16="http://schemas.microsoft.com/office/drawing/2014/main" id="{6D79BAA0-8632-AD2C-292C-8F2B191F7D1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Tree>
    <p:extLst>
      <p:ext uri="{BB962C8B-B14F-4D97-AF65-F5344CB8AC3E}">
        <p14:creationId xmlns:p14="http://schemas.microsoft.com/office/powerpoint/2010/main" val="3295818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5513B074-3B07-0E57-B1EF-F6812220DF0A}"/>
              </a:ext>
            </a:extLst>
          </p:cNvPr>
          <p:cNvSpPr>
            <a:spLocks noGrp="1"/>
          </p:cNvSpPr>
          <p:nvPr>
            <p:ph type="body" sz="quarter" idx="12"/>
          </p:nvPr>
        </p:nvSpPr>
        <p:spPr>
          <a:xfrm>
            <a:off x="609600" y="1566127"/>
            <a:ext cx="4846320" cy="342466"/>
          </a:xfrm>
        </p:spPr>
        <p:txBody>
          <a:bodyPr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4937760"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C6A13A99-FC00-81A6-297A-C14D357F8C98}"/>
              </a:ext>
            </a:extLst>
          </p:cNvPr>
          <p:cNvSpPr>
            <a:spLocks noGrp="1"/>
          </p:cNvSpPr>
          <p:nvPr>
            <p:ph type="body" sz="quarter" idx="13"/>
          </p:nvPr>
        </p:nvSpPr>
        <p:spPr>
          <a:xfrm>
            <a:off x="6644640" y="1566127"/>
            <a:ext cx="4846320" cy="342466"/>
          </a:xfrm>
        </p:spPr>
        <p:txBody>
          <a:bodyPr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644640" y="2103120"/>
            <a:ext cx="4937760" cy="4023360"/>
          </a:xfrm>
        </p:spPr>
        <p:txBody>
          <a:bodyPr/>
          <a:lstStyle>
            <a:lvl1pPr>
              <a:defRPr>
                <a:solidFill>
                  <a:schemeClr val="bg1"/>
                </a:solidFill>
              </a:defRPr>
            </a:lvl1pPr>
          </a:lstStyle>
          <a:p>
            <a:endParaRPr lang="en-US"/>
          </a:p>
        </p:txBody>
      </p:sp>
      <p:sp>
        <p:nvSpPr>
          <p:cNvPr id="6" name="Footer Placeholder 5">
            <a:extLst>
              <a:ext uri="{FF2B5EF4-FFF2-40B4-BE49-F238E27FC236}">
                <a16:creationId xmlns:a16="http://schemas.microsoft.com/office/drawing/2014/main" id="{23847277-7A32-0B74-3121-513308B5D19B}"/>
              </a:ext>
            </a:extLst>
          </p:cNvPr>
          <p:cNvSpPr>
            <a:spLocks noGrp="1"/>
          </p:cNvSpPr>
          <p:nvPr>
            <p:ph type="ftr" sz="quarter" idx="15"/>
          </p:nvPr>
        </p:nvSpPr>
        <p:spPr/>
        <p:txBody>
          <a:bodyPr/>
          <a:lstStyle>
            <a:lvl1pPr>
              <a:defRPr>
                <a:solidFill>
                  <a:srgbClr val="BEBEBE"/>
                </a:solidFill>
              </a:defRPr>
            </a:lvl1pPr>
          </a:lstStyle>
          <a:p>
            <a:endParaRPr lang="en-US"/>
          </a:p>
        </p:txBody>
      </p:sp>
      <p:sp>
        <p:nvSpPr>
          <p:cNvPr id="9" name="Copyright">
            <a:extLst>
              <a:ext uri="{FF2B5EF4-FFF2-40B4-BE49-F238E27FC236}">
                <a16:creationId xmlns:a16="http://schemas.microsoft.com/office/drawing/2014/main" id="{B1577F18-2EE9-48A5-C9F6-26D13C7A415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7" name="Slide Number Placeholder 6">
            <a:extLst>
              <a:ext uri="{FF2B5EF4-FFF2-40B4-BE49-F238E27FC236}">
                <a16:creationId xmlns:a16="http://schemas.microsoft.com/office/drawing/2014/main" id="{0C50626B-1616-3551-DB78-E30E2BEA4433}"/>
              </a:ext>
            </a:extLst>
          </p:cNvPr>
          <p:cNvSpPr>
            <a:spLocks noGrp="1"/>
          </p:cNvSpPr>
          <p:nvPr>
            <p:ph type="sldNum" sz="quarter" idx="16"/>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2B0DFF53-DA3C-5459-13CB-66ACAB1EF04B}"/>
              </a:ext>
            </a:extLst>
          </p:cNvPr>
          <p:cNvSpPr>
            <a:spLocks noGrp="1"/>
          </p:cNvSpPr>
          <p:nvPr>
            <p:ph type="dt" sz="half" idx="14"/>
          </p:nvPr>
        </p:nvSpPr>
        <p:spPr/>
        <p:txBody>
          <a:bodyPr/>
          <a:lstStyle/>
          <a:p>
            <a:fld id="{F7EF6CD1-9159-44AF-9B3E-C7AC0C13304D}" type="datetime1">
              <a:rPr lang="en-US" smtClean="0"/>
              <a:t>4/15/26</a:t>
            </a:fld>
            <a:endParaRPr lang="en-US"/>
          </a:p>
        </p:txBody>
      </p:sp>
    </p:spTree>
    <p:extLst>
      <p:ext uri="{BB962C8B-B14F-4D97-AF65-F5344CB8AC3E}">
        <p14:creationId xmlns:p14="http://schemas.microsoft.com/office/powerpoint/2010/main" val="36477565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ree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3">
            <a:extLst>
              <a:ext uri="{FF2B5EF4-FFF2-40B4-BE49-F238E27FC236}">
                <a16:creationId xmlns:a16="http://schemas.microsoft.com/office/drawing/2014/main" id="{A7CA4403-228E-D982-11B8-71EFFDAB1F21}"/>
              </a:ext>
            </a:extLst>
          </p:cNvPr>
          <p:cNvSpPr>
            <a:spLocks noGrp="1"/>
          </p:cNvSpPr>
          <p:nvPr>
            <p:ph type="body" sz="quarter" idx="13"/>
          </p:nvPr>
        </p:nvSpPr>
        <p:spPr>
          <a:xfrm>
            <a:off x="609600"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3255264" cy="4023360"/>
          </a:xfrm>
        </p:spPr>
        <p:txBody>
          <a:bodyPr/>
          <a:lstStyle>
            <a:lvl1pPr>
              <a:defRPr>
                <a:solidFill>
                  <a:schemeClr val="bg1"/>
                </a:solidFill>
              </a:defRPr>
            </a:lvl1pPr>
          </a:lstStyle>
          <a:p>
            <a:endParaRPr lang="en-US"/>
          </a:p>
        </p:txBody>
      </p:sp>
      <p:sp>
        <p:nvSpPr>
          <p:cNvPr id="4" name="Text Placeholder 3">
            <a:extLst>
              <a:ext uri="{FF2B5EF4-FFF2-40B4-BE49-F238E27FC236}">
                <a16:creationId xmlns:a16="http://schemas.microsoft.com/office/drawing/2014/main" id="{7946F0AF-945D-1612-FEA8-992054B7A75C}"/>
              </a:ext>
            </a:extLst>
          </p:cNvPr>
          <p:cNvSpPr>
            <a:spLocks noGrp="1"/>
          </p:cNvSpPr>
          <p:nvPr>
            <p:ph type="body" sz="quarter" idx="14"/>
          </p:nvPr>
        </p:nvSpPr>
        <p:spPr>
          <a:xfrm>
            <a:off x="4468368"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468368" y="2103120"/>
            <a:ext cx="3255264"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7D2660DF-18E0-5445-7D6F-B1E2A46D4B94}"/>
              </a:ext>
            </a:extLst>
          </p:cNvPr>
          <p:cNvSpPr>
            <a:spLocks noGrp="1"/>
          </p:cNvSpPr>
          <p:nvPr>
            <p:ph type="body" sz="quarter" idx="15"/>
          </p:nvPr>
        </p:nvSpPr>
        <p:spPr>
          <a:xfrm>
            <a:off x="8327136"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8327136" y="2103120"/>
            <a:ext cx="3255264" cy="4023360"/>
          </a:xfrm>
        </p:spPr>
        <p:txBody>
          <a:bodyPr/>
          <a:lstStyle>
            <a:lvl1pPr>
              <a:defRPr>
                <a:solidFill>
                  <a:schemeClr val="bg1"/>
                </a:solidFill>
              </a:defRPr>
            </a:lvl1pPr>
          </a:lstStyle>
          <a:p>
            <a:endParaRPr lang="en-US"/>
          </a:p>
        </p:txBody>
      </p:sp>
      <p:sp>
        <p:nvSpPr>
          <p:cNvPr id="7" name="Footer Placeholder 6">
            <a:extLst>
              <a:ext uri="{FF2B5EF4-FFF2-40B4-BE49-F238E27FC236}">
                <a16:creationId xmlns:a16="http://schemas.microsoft.com/office/drawing/2014/main" id="{74C05D25-57B4-0131-8D02-41BDA22255CF}"/>
              </a:ext>
            </a:extLst>
          </p:cNvPr>
          <p:cNvSpPr>
            <a:spLocks noGrp="1"/>
          </p:cNvSpPr>
          <p:nvPr>
            <p:ph type="ftr" sz="quarter" idx="17"/>
          </p:nvPr>
        </p:nvSpPr>
        <p:spPr/>
        <p:txBody>
          <a:bodyPr/>
          <a:lstStyle>
            <a:lvl1pPr>
              <a:defRPr>
                <a:solidFill>
                  <a:srgbClr val="BEBEBE"/>
                </a:solidFill>
              </a:defRPr>
            </a:lvl1pPr>
          </a:lstStyle>
          <a:p>
            <a:endParaRPr lang="en-US"/>
          </a:p>
        </p:txBody>
      </p:sp>
      <p:sp>
        <p:nvSpPr>
          <p:cNvPr id="11" name="Copyright">
            <a:extLst>
              <a:ext uri="{FF2B5EF4-FFF2-40B4-BE49-F238E27FC236}">
                <a16:creationId xmlns:a16="http://schemas.microsoft.com/office/drawing/2014/main" id="{861CF59B-700A-60A4-D14B-FB9B87B60D93}"/>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9" name="Slide Number Placeholder 8">
            <a:extLst>
              <a:ext uri="{FF2B5EF4-FFF2-40B4-BE49-F238E27FC236}">
                <a16:creationId xmlns:a16="http://schemas.microsoft.com/office/drawing/2014/main" id="{566038FF-7BCA-3951-3D43-F22FDDDCEC68}"/>
              </a:ext>
            </a:extLst>
          </p:cNvPr>
          <p:cNvSpPr>
            <a:spLocks noGrp="1"/>
          </p:cNvSpPr>
          <p:nvPr>
            <p:ph type="sldNum" sz="quarter" idx="18"/>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93D0F27E-11AC-F723-B425-6B4C9993142C}"/>
              </a:ext>
            </a:extLst>
          </p:cNvPr>
          <p:cNvSpPr>
            <a:spLocks noGrp="1"/>
          </p:cNvSpPr>
          <p:nvPr>
            <p:ph type="dt" sz="half" idx="16"/>
          </p:nvPr>
        </p:nvSpPr>
        <p:spPr/>
        <p:txBody>
          <a:bodyPr/>
          <a:lstStyle/>
          <a:p>
            <a:fld id="{1363D66E-2377-4F68-BD8E-DC3D382E60FF}" type="datetime1">
              <a:rPr lang="en-US" smtClean="0"/>
              <a:t>4/15/26</a:t>
            </a:fld>
            <a:endParaRPr lang="en-US"/>
          </a:p>
        </p:txBody>
      </p:sp>
    </p:spTree>
    <p:extLst>
      <p:ext uri="{BB962C8B-B14F-4D97-AF65-F5344CB8AC3E}">
        <p14:creationId xmlns:p14="http://schemas.microsoft.com/office/powerpoint/2010/main" val="39555293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3">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2240280"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37F3A760-EE34-C8A5-89C3-5467A9BC0CA9}"/>
              </a:ext>
            </a:extLst>
          </p:cNvPr>
          <p:cNvSpPr>
            <a:spLocks noGrp="1"/>
          </p:cNvSpPr>
          <p:nvPr>
            <p:ph type="body" sz="quarter" idx="15"/>
          </p:nvPr>
        </p:nvSpPr>
        <p:spPr>
          <a:xfrm>
            <a:off x="352044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3520440" y="2103120"/>
            <a:ext cx="2240280" cy="4023360"/>
          </a:xfrm>
        </p:spPr>
        <p:txBody>
          <a:bodyPr/>
          <a:lstStyle>
            <a:lvl1pPr>
              <a:defRPr>
                <a:solidFill>
                  <a:schemeClr val="bg1"/>
                </a:solidFill>
              </a:defRPr>
            </a:lvl1p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643128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6431280" y="2103120"/>
            <a:ext cx="2240280" cy="4023360"/>
          </a:xfrm>
        </p:spPr>
        <p:txBody>
          <a:bodyPr/>
          <a:lstStyle>
            <a:lvl1pPr>
              <a:defRPr>
                <a:solidFill>
                  <a:schemeClr val="bg1"/>
                </a:solidFill>
              </a:defRPr>
            </a:lvl1pPr>
          </a:lstStyle>
          <a:p>
            <a:endParaRPr lang="en-US"/>
          </a:p>
        </p:txBody>
      </p:sp>
      <p:sp>
        <p:nvSpPr>
          <p:cNvPr id="7" name="Text Placeholder 3">
            <a:extLst>
              <a:ext uri="{FF2B5EF4-FFF2-40B4-BE49-F238E27FC236}">
                <a16:creationId xmlns:a16="http://schemas.microsoft.com/office/drawing/2014/main" id="{EBE0941F-EC84-108F-647A-726CB13FD000}"/>
              </a:ext>
            </a:extLst>
          </p:cNvPr>
          <p:cNvSpPr>
            <a:spLocks noGrp="1"/>
          </p:cNvSpPr>
          <p:nvPr>
            <p:ph type="body" sz="quarter" idx="17"/>
          </p:nvPr>
        </p:nvSpPr>
        <p:spPr>
          <a:xfrm>
            <a:off x="934212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4" name="Picture Placeholder 11">
            <a:extLst>
              <a:ext uri="{FF2B5EF4-FFF2-40B4-BE49-F238E27FC236}">
                <a16:creationId xmlns:a16="http://schemas.microsoft.com/office/drawing/2014/main" id="{273AE085-219F-7944-7266-65BE5ACA42F8}"/>
              </a:ext>
            </a:extLst>
          </p:cNvPr>
          <p:cNvSpPr>
            <a:spLocks noGrp="1"/>
          </p:cNvSpPr>
          <p:nvPr>
            <p:ph type="pic" sz="quarter" idx="13"/>
          </p:nvPr>
        </p:nvSpPr>
        <p:spPr>
          <a:xfrm>
            <a:off x="9342120" y="2103120"/>
            <a:ext cx="2240280" cy="4023360"/>
          </a:xfrm>
        </p:spPr>
        <p:txBody>
          <a:bodyPr/>
          <a:lstStyle>
            <a:lvl1pPr>
              <a:defRPr>
                <a:solidFill>
                  <a:schemeClr val="bg1"/>
                </a:solidFill>
              </a:defRPr>
            </a:lvl1pPr>
          </a:lstStyle>
          <a:p>
            <a:endParaRPr lang="en-US"/>
          </a:p>
        </p:txBody>
      </p:sp>
      <p:sp>
        <p:nvSpPr>
          <p:cNvPr id="11" name="Footer Placeholder 10">
            <a:extLst>
              <a:ext uri="{FF2B5EF4-FFF2-40B4-BE49-F238E27FC236}">
                <a16:creationId xmlns:a16="http://schemas.microsoft.com/office/drawing/2014/main" id="{C8D57720-7135-4F3C-DEEA-C27247DB4D14}"/>
              </a:ext>
            </a:extLst>
          </p:cNvPr>
          <p:cNvSpPr>
            <a:spLocks noGrp="1"/>
          </p:cNvSpPr>
          <p:nvPr>
            <p:ph type="ftr" sz="quarter" idx="19"/>
          </p:nvPr>
        </p:nvSpPr>
        <p:spPr/>
        <p:txBody>
          <a:bodyPr/>
          <a:lstStyle>
            <a:lvl1pPr>
              <a:defRPr>
                <a:solidFill>
                  <a:srgbClr val="BEBEBE"/>
                </a:solidFill>
              </a:defRPr>
            </a:lvl1pPr>
          </a:lstStyle>
          <a:p>
            <a:endParaRPr lang="en-US"/>
          </a:p>
        </p:txBody>
      </p:sp>
      <p:sp>
        <p:nvSpPr>
          <p:cNvPr id="14" name="Copyright">
            <a:extLst>
              <a:ext uri="{FF2B5EF4-FFF2-40B4-BE49-F238E27FC236}">
                <a16:creationId xmlns:a16="http://schemas.microsoft.com/office/drawing/2014/main" id="{5BFC7988-7FAA-398C-930C-E596D1C799AC}"/>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13" name="Slide Number Placeholder 12">
            <a:extLst>
              <a:ext uri="{FF2B5EF4-FFF2-40B4-BE49-F238E27FC236}">
                <a16:creationId xmlns:a16="http://schemas.microsoft.com/office/drawing/2014/main" id="{778E7BE0-DA47-ECEF-0F48-3164312A54CC}"/>
              </a:ext>
            </a:extLst>
          </p:cNvPr>
          <p:cNvSpPr>
            <a:spLocks noGrp="1"/>
          </p:cNvSpPr>
          <p:nvPr>
            <p:ph type="sldNum" sz="quarter" idx="20"/>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D115E1D6-9D19-3D32-1DF3-6D23F19EFA7D}"/>
              </a:ext>
            </a:extLst>
          </p:cNvPr>
          <p:cNvSpPr>
            <a:spLocks noGrp="1"/>
          </p:cNvSpPr>
          <p:nvPr>
            <p:ph type="dt" sz="half" idx="18"/>
          </p:nvPr>
        </p:nvSpPr>
        <p:spPr/>
        <p:txBody>
          <a:bodyPr/>
          <a:lstStyle/>
          <a:p>
            <a:fld id="{C3A5FDA7-3BA9-4E16-ABA0-3A8FCF7624A5}" type="datetime1">
              <a:rPr lang="en-US" smtClean="0"/>
              <a:t>4/15/26</a:t>
            </a:fld>
            <a:endParaRPr lang="en-US"/>
          </a:p>
        </p:txBody>
      </p:sp>
    </p:spTree>
    <p:extLst>
      <p:ext uri="{BB962C8B-B14F-4D97-AF65-F5344CB8AC3E}">
        <p14:creationId xmlns:p14="http://schemas.microsoft.com/office/powerpoint/2010/main" val="25101687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ive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1">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8" name="Picture Placeholder 1">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1828800" cy="4023360"/>
          </a:xfrm>
        </p:spPr>
        <p:txBody>
          <a:bodyPr/>
          <a:lstStyle>
            <a:lvl1pPr>
              <a:defRPr>
                <a:solidFill>
                  <a:schemeClr val="bg1"/>
                </a:solidFill>
              </a:defRPr>
            </a:lvl1pPr>
          </a:lstStyle>
          <a:p>
            <a:endParaRPr lang="en-US"/>
          </a:p>
        </p:txBody>
      </p:sp>
      <p:sp>
        <p:nvSpPr>
          <p:cNvPr id="5" name="Text Placeholder 2">
            <a:extLst>
              <a:ext uri="{FF2B5EF4-FFF2-40B4-BE49-F238E27FC236}">
                <a16:creationId xmlns:a16="http://schemas.microsoft.com/office/drawing/2014/main" id="{37F3A760-EE34-C8A5-89C3-5467A9BC0CA9}"/>
              </a:ext>
            </a:extLst>
          </p:cNvPr>
          <p:cNvSpPr>
            <a:spLocks noGrp="1"/>
          </p:cNvSpPr>
          <p:nvPr>
            <p:ph type="body" sz="quarter" idx="15"/>
          </p:nvPr>
        </p:nvSpPr>
        <p:spPr>
          <a:xfrm>
            <a:off x="2895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A160F384-0CC4-8E1E-C546-28F7B7D6B282}"/>
              </a:ext>
            </a:extLst>
          </p:cNvPr>
          <p:cNvSpPr>
            <a:spLocks noGrp="1"/>
          </p:cNvSpPr>
          <p:nvPr>
            <p:ph type="pic" sz="quarter" idx="11"/>
          </p:nvPr>
        </p:nvSpPr>
        <p:spPr>
          <a:xfrm>
            <a:off x="2895600" y="2103120"/>
            <a:ext cx="1828800" cy="4023360"/>
          </a:xfrm>
        </p:spPr>
        <p:txBody>
          <a:bodyPr/>
          <a:lstStyle>
            <a:lvl1pPr>
              <a:defRPr>
                <a:solidFill>
                  <a:schemeClr val="bg1"/>
                </a:solidFill>
              </a:defRPr>
            </a:lvl1p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5181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2" name="Picture Placeholder 3">
            <a:extLst>
              <a:ext uri="{FF2B5EF4-FFF2-40B4-BE49-F238E27FC236}">
                <a16:creationId xmlns:a16="http://schemas.microsoft.com/office/drawing/2014/main" id="{292A0C94-CCCD-1ACE-EE3F-3AAA7DAFC52F}"/>
              </a:ext>
            </a:extLst>
          </p:cNvPr>
          <p:cNvSpPr>
            <a:spLocks noGrp="1"/>
          </p:cNvSpPr>
          <p:nvPr>
            <p:ph type="pic" sz="quarter" idx="12"/>
          </p:nvPr>
        </p:nvSpPr>
        <p:spPr>
          <a:xfrm>
            <a:off x="5181600" y="2103120"/>
            <a:ext cx="1828800" cy="4023360"/>
          </a:xfrm>
        </p:spPr>
        <p:txBody>
          <a:bodyPr/>
          <a:lstStyle>
            <a:lvl1pPr>
              <a:defRPr>
                <a:solidFill>
                  <a:schemeClr val="bg1"/>
                </a:solidFill>
              </a:defRPr>
            </a:lvl1pPr>
          </a:lstStyle>
          <a:p>
            <a:endParaRPr lang="en-US"/>
          </a:p>
        </p:txBody>
      </p:sp>
      <p:sp>
        <p:nvSpPr>
          <p:cNvPr id="7" name="Text Placeholder 4">
            <a:extLst>
              <a:ext uri="{FF2B5EF4-FFF2-40B4-BE49-F238E27FC236}">
                <a16:creationId xmlns:a16="http://schemas.microsoft.com/office/drawing/2014/main" id="{EBE0941F-EC84-108F-647A-726CB13FD000}"/>
              </a:ext>
            </a:extLst>
          </p:cNvPr>
          <p:cNvSpPr>
            <a:spLocks noGrp="1"/>
          </p:cNvSpPr>
          <p:nvPr>
            <p:ph type="body" sz="quarter" idx="17"/>
          </p:nvPr>
        </p:nvSpPr>
        <p:spPr>
          <a:xfrm>
            <a:off x="7467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4" name="Picture Placeholder 4">
            <a:extLst>
              <a:ext uri="{FF2B5EF4-FFF2-40B4-BE49-F238E27FC236}">
                <a16:creationId xmlns:a16="http://schemas.microsoft.com/office/drawing/2014/main" id="{273AE085-219F-7944-7266-65BE5ACA42F8}"/>
              </a:ext>
            </a:extLst>
          </p:cNvPr>
          <p:cNvSpPr>
            <a:spLocks noGrp="1"/>
          </p:cNvSpPr>
          <p:nvPr>
            <p:ph type="pic" sz="quarter" idx="13"/>
          </p:nvPr>
        </p:nvSpPr>
        <p:spPr>
          <a:xfrm>
            <a:off x="7467600" y="2103120"/>
            <a:ext cx="1828800" cy="4023360"/>
          </a:xfrm>
        </p:spPr>
        <p:txBody>
          <a:bodyPr/>
          <a:lstStyle>
            <a:lvl1pPr>
              <a:defRPr>
                <a:solidFill>
                  <a:schemeClr val="bg1"/>
                </a:solidFill>
              </a:defRPr>
            </a:lvl1pPr>
          </a:lstStyle>
          <a:p>
            <a:endParaRPr lang="en-US"/>
          </a:p>
        </p:txBody>
      </p:sp>
      <p:sp>
        <p:nvSpPr>
          <p:cNvPr id="15" name="Text Placeholder 5">
            <a:extLst>
              <a:ext uri="{FF2B5EF4-FFF2-40B4-BE49-F238E27FC236}">
                <a16:creationId xmlns:a16="http://schemas.microsoft.com/office/drawing/2014/main" id="{1B1CE22D-7742-2553-0BC5-65F5E18C4787}"/>
              </a:ext>
            </a:extLst>
          </p:cNvPr>
          <p:cNvSpPr>
            <a:spLocks noGrp="1"/>
          </p:cNvSpPr>
          <p:nvPr>
            <p:ph type="body" sz="quarter" idx="21"/>
          </p:nvPr>
        </p:nvSpPr>
        <p:spPr>
          <a:xfrm>
            <a:off x="9753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6" name="Picture Placeholder 5">
            <a:extLst>
              <a:ext uri="{FF2B5EF4-FFF2-40B4-BE49-F238E27FC236}">
                <a16:creationId xmlns:a16="http://schemas.microsoft.com/office/drawing/2014/main" id="{04FB2745-7A67-1B1D-6FE0-E5A68CD71D31}"/>
              </a:ext>
            </a:extLst>
          </p:cNvPr>
          <p:cNvSpPr>
            <a:spLocks noGrp="1"/>
          </p:cNvSpPr>
          <p:nvPr>
            <p:ph type="pic" sz="quarter" idx="22"/>
          </p:nvPr>
        </p:nvSpPr>
        <p:spPr>
          <a:xfrm>
            <a:off x="9753600" y="2103120"/>
            <a:ext cx="1828800" cy="4023360"/>
          </a:xfrm>
        </p:spPr>
        <p:txBody>
          <a:bodyPr/>
          <a:lstStyle>
            <a:lvl1pPr>
              <a:defRPr>
                <a:solidFill>
                  <a:schemeClr val="bg1"/>
                </a:solidFill>
              </a:defRPr>
            </a:lvl1pPr>
          </a:lstStyle>
          <a:p>
            <a:endParaRPr lang="en-US"/>
          </a:p>
        </p:txBody>
      </p:sp>
      <p:sp>
        <p:nvSpPr>
          <p:cNvPr id="11" name="Footer Placeholder 10">
            <a:extLst>
              <a:ext uri="{FF2B5EF4-FFF2-40B4-BE49-F238E27FC236}">
                <a16:creationId xmlns:a16="http://schemas.microsoft.com/office/drawing/2014/main" id="{C8D57720-7135-4F3C-DEEA-C27247DB4D14}"/>
              </a:ext>
            </a:extLst>
          </p:cNvPr>
          <p:cNvSpPr>
            <a:spLocks noGrp="1"/>
          </p:cNvSpPr>
          <p:nvPr>
            <p:ph type="ftr" sz="quarter" idx="19"/>
          </p:nvPr>
        </p:nvSpPr>
        <p:spPr/>
        <p:txBody>
          <a:bodyPr/>
          <a:lstStyle>
            <a:lvl1pPr>
              <a:defRPr>
                <a:solidFill>
                  <a:srgbClr val="BEBEBE"/>
                </a:solidFill>
              </a:defRPr>
            </a:lvl1pPr>
          </a:lstStyle>
          <a:p>
            <a:endParaRPr lang="en-US"/>
          </a:p>
        </p:txBody>
      </p:sp>
      <p:sp>
        <p:nvSpPr>
          <p:cNvPr id="14" name="Copyright">
            <a:extLst>
              <a:ext uri="{FF2B5EF4-FFF2-40B4-BE49-F238E27FC236}">
                <a16:creationId xmlns:a16="http://schemas.microsoft.com/office/drawing/2014/main" id="{5BFC7988-7FAA-398C-930C-E596D1C799AC}"/>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13" name="Slide Number Placeholder 12">
            <a:extLst>
              <a:ext uri="{FF2B5EF4-FFF2-40B4-BE49-F238E27FC236}">
                <a16:creationId xmlns:a16="http://schemas.microsoft.com/office/drawing/2014/main" id="{778E7BE0-DA47-ECEF-0F48-3164312A54CC}"/>
              </a:ext>
            </a:extLst>
          </p:cNvPr>
          <p:cNvSpPr>
            <a:spLocks noGrp="1"/>
          </p:cNvSpPr>
          <p:nvPr>
            <p:ph type="sldNum" sz="quarter" idx="20"/>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D115E1D6-9D19-3D32-1DF3-6D23F19EFA7D}"/>
              </a:ext>
            </a:extLst>
          </p:cNvPr>
          <p:cNvSpPr>
            <a:spLocks noGrp="1"/>
          </p:cNvSpPr>
          <p:nvPr>
            <p:ph type="dt" sz="half" idx="18"/>
          </p:nvPr>
        </p:nvSpPr>
        <p:spPr/>
        <p:txBody>
          <a:bodyPr/>
          <a:lstStyle/>
          <a:p>
            <a:fld id="{C3A5FDA7-3BA9-4E16-ABA0-3A8FCF7624A5}" type="datetime1">
              <a:rPr lang="en-US" smtClean="0"/>
              <a:t>4/15/26</a:t>
            </a:fld>
            <a:endParaRPr lang="en-US"/>
          </a:p>
        </p:txBody>
      </p:sp>
    </p:spTree>
    <p:extLst>
      <p:ext uri="{BB962C8B-B14F-4D97-AF65-F5344CB8AC3E}">
        <p14:creationId xmlns:p14="http://schemas.microsoft.com/office/powerpoint/2010/main" val="17364983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rid Dark - 1x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10972800" cy="4572000"/>
          </a:xfrm>
        </p:spPr>
        <p:txBody>
          <a:bodyPr/>
          <a:lstStyle>
            <a:lvl1pPr>
              <a:defRPr>
                <a:solidFill>
                  <a:schemeClr val="bg1"/>
                </a:solidFill>
              </a:defRPr>
            </a:lvl1pPr>
          </a:lstStyle>
          <a:p>
            <a:endParaRPr lang="en-US"/>
          </a:p>
        </p:txBody>
      </p:sp>
      <p:sp>
        <p:nvSpPr>
          <p:cNvPr id="4" name="Footer Placeholder 3">
            <a:extLst>
              <a:ext uri="{FF2B5EF4-FFF2-40B4-BE49-F238E27FC236}">
                <a16:creationId xmlns:a16="http://schemas.microsoft.com/office/drawing/2014/main" id="{7C48FEA5-D82D-FEBA-BC6B-F712F94ADFC4}"/>
              </a:ext>
            </a:extLst>
          </p:cNvPr>
          <p:cNvSpPr>
            <a:spLocks noGrp="1"/>
          </p:cNvSpPr>
          <p:nvPr>
            <p:ph type="ftr" sz="quarter" idx="12"/>
          </p:nvPr>
        </p:nvSpPr>
        <p:spPr/>
        <p:txBody>
          <a:bodyPr/>
          <a:lstStyle>
            <a:lvl1pPr>
              <a:defRPr>
                <a:solidFill>
                  <a:srgbClr val="BEBEBE"/>
                </a:solidFill>
              </a:defRPr>
            </a:lvl1pPr>
          </a:lstStyle>
          <a:p>
            <a:endParaRPr lang="en-US"/>
          </a:p>
        </p:txBody>
      </p:sp>
      <p:sp>
        <p:nvSpPr>
          <p:cNvPr id="6" name="Copyright">
            <a:extLst>
              <a:ext uri="{FF2B5EF4-FFF2-40B4-BE49-F238E27FC236}">
                <a16:creationId xmlns:a16="http://schemas.microsoft.com/office/drawing/2014/main" id="{B0CFD409-FAB4-8D4C-DF26-12899C370EB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5" name="Slide Number Placeholder 4">
            <a:extLst>
              <a:ext uri="{FF2B5EF4-FFF2-40B4-BE49-F238E27FC236}">
                <a16:creationId xmlns:a16="http://schemas.microsoft.com/office/drawing/2014/main" id="{B0CFE176-D609-C102-9210-1A0665ED4036}"/>
              </a:ext>
            </a:extLst>
          </p:cNvPr>
          <p:cNvSpPr>
            <a:spLocks noGrp="1"/>
          </p:cNvSpPr>
          <p:nvPr>
            <p:ph type="sldNum" sz="quarter" idx="13"/>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84B8EAAE-6B19-EE89-F051-EA38D1ED6443}"/>
              </a:ext>
            </a:extLst>
          </p:cNvPr>
          <p:cNvSpPr>
            <a:spLocks noGrp="1"/>
          </p:cNvSpPr>
          <p:nvPr>
            <p:ph type="dt" sz="half" idx="11"/>
          </p:nvPr>
        </p:nvSpPr>
        <p:spPr/>
        <p:txBody>
          <a:bodyPr/>
          <a:lstStyle/>
          <a:p>
            <a:fld id="{B279301B-1302-4B33-9C57-FD5EA730D9CA}" type="datetime1">
              <a:rPr lang="en-US" smtClean="0"/>
              <a:t>4/15/26</a:t>
            </a:fld>
            <a:endParaRPr lang="en-US"/>
          </a:p>
        </p:txBody>
      </p:sp>
    </p:spTree>
    <p:extLst>
      <p:ext uri="{BB962C8B-B14F-4D97-AF65-F5344CB8AC3E}">
        <p14:creationId xmlns:p14="http://schemas.microsoft.com/office/powerpoint/2010/main" val="658275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rid Dark - 2x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5486400" cy="2286000"/>
          </a:xfrm>
        </p:spPr>
        <p:txBody>
          <a:bodyPr/>
          <a:lstStyle>
            <a:lvl1pPr>
              <a:defRPr>
                <a:solidFill>
                  <a:schemeClr val="bg1"/>
                </a:solidFill>
              </a:defRPr>
            </a:lvl1p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096000" y="1554480"/>
            <a:ext cx="5486400" cy="2286000"/>
          </a:xfrm>
        </p:spPr>
        <p:txBody>
          <a:bodyPr/>
          <a:lstStyle>
            <a:lvl1pPr>
              <a:defRPr>
                <a:solidFill>
                  <a:schemeClr val="bg1"/>
                </a:solidFill>
              </a:defRPr>
            </a:lvl1pPr>
          </a:lstStyle>
          <a:p>
            <a:endParaRPr lang="en-US"/>
          </a:p>
        </p:txBody>
      </p:sp>
      <p:sp>
        <p:nvSpPr>
          <p:cNvPr id="3" name="Picture Placeholder 7">
            <a:extLst>
              <a:ext uri="{FF2B5EF4-FFF2-40B4-BE49-F238E27FC236}">
                <a16:creationId xmlns:a16="http://schemas.microsoft.com/office/drawing/2014/main" id="{92547B6F-C04C-1B8A-023F-2328C702D34B}"/>
              </a:ext>
            </a:extLst>
          </p:cNvPr>
          <p:cNvSpPr>
            <a:spLocks noGrp="1"/>
          </p:cNvSpPr>
          <p:nvPr>
            <p:ph type="pic" sz="quarter" idx="12"/>
          </p:nvPr>
        </p:nvSpPr>
        <p:spPr>
          <a:xfrm>
            <a:off x="609600" y="3840480"/>
            <a:ext cx="5486400" cy="2286000"/>
          </a:xfrm>
        </p:spPr>
        <p:txBody>
          <a:bodyPr/>
          <a:lstStyle>
            <a:lvl1pPr>
              <a:defRPr>
                <a:solidFill>
                  <a:schemeClr val="bg1"/>
                </a:solidFill>
              </a:defRPr>
            </a:lvl1pPr>
          </a:lstStyle>
          <a:p>
            <a:endParaRPr lang="en-US"/>
          </a:p>
        </p:txBody>
      </p:sp>
      <p:sp>
        <p:nvSpPr>
          <p:cNvPr id="4" name="Picture Placeholder 9">
            <a:extLst>
              <a:ext uri="{FF2B5EF4-FFF2-40B4-BE49-F238E27FC236}">
                <a16:creationId xmlns:a16="http://schemas.microsoft.com/office/drawing/2014/main" id="{23A551AC-B66E-B597-2080-FD4462C44E73}"/>
              </a:ext>
            </a:extLst>
          </p:cNvPr>
          <p:cNvSpPr>
            <a:spLocks noGrp="1"/>
          </p:cNvSpPr>
          <p:nvPr>
            <p:ph type="pic" sz="quarter" idx="13"/>
          </p:nvPr>
        </p:nvSpPr>
        <p:spPr>
          <a:xfrm>
            <a:off x="6096000" y="3840480"/>
            <a:ext cx="5486400" cy="2286000"/>
          </a:xfrm>
        </p:spPr>
        <p:txBody>
          <a:bodyPr/>
          <a:lstStyle>
            <a:lvl1pPr>
              <a:defRPr>
                <a:solidFill>
                  <a:schemeClr val="bg1"/>
                </a:solidFill>
              </a:defRPr>
            </a:lvl1pPr>
          </a:lstStyle>
          <a:p>
            <a:endParaRPr lang="en-US"/>
          </a:p>
        </p:txBody>
      </p:sp>
      <p:sp>
        <p:nvSpPr>
          <p:cNvPr id="6" name="Footer Placeholder 5">
            <a:extLst>
              <a:ext uri="{FF2B5EF4-FFF2-40B4-BE49-F238E27FC236}">
                <a16:creationId xmlns:a16="http://schemas.microsoft.com/office/drawing/2014/main" id="{B898B94F-08BB-377E-AE6E-61B7A9C9385C}"/>
              </a:ext>
            </a:extLst>
          </p:cNvPr>
          <p:cNvSpPr>
            <a:spLocks noGrp="1"/>
          </p:cNvSpPr>
          <p:nvPr>
            <p:ph type="ftr" sz="quarter" idx="15"/>
          </p:nvPr>
        </p:nvSpPr>
        <p:spPr/>
        <p:txBody>
          <a:bodyPr/>
          <a:lstStyle>
            <a:lvl1pPr>
              <a:defRPr>
                <a:solidFill>
                  <a:srgbClr val="BEBEBE"/>
                </a:solidFill>
              </a:defRPr>
            </a:lvl1pPr>
          </a:lstStyle>
          <a:p>
            <a:endParaRPr lang="en-US"/>
          </a:p>
        </p:txBody>
      </p:sp>
      <p:sp>
        <p:nvSpPr>
          <p:cNvPr id="9" name="Copyright">
            <a:extLst>
              <a:ext uri="{FF2B5EF4-FFF2-40B4-BE49-F238E27FC236}">
                <a16:creationId xmlns:a16="http://schemas.microsoft.com/office/drawing/2014/main" id="{26C5F03B-42F9-6A59-3CCF-50EFC70FE135}"/>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7" name="Slide Number Placeholder 6">
            <a:extLst>
              <a:ext uri="{FF2B5EF4-FFF2-40B4-BE49-F238E27FC236}">
                <a16:creationId xmlns:a16="http://schemas.microsoft.com/office/drawing/2014/main" id="{FE9E0779-5716-A672-960E-6B3AB7CCC543}"/>
              </a:ext>
            </a:extLst>
          </p:cNvPr>
          <p:cNvSpPr>
            <a:spLocks noGrp="1"/>
          </p:cNvSpPr>
          <p:nvPr>
            <p:ph type="sldNum" sz="quarter" idx="16"/>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5" name="Date Placeholder 4">
            <a:extLst>
              <a:ext uri="{FF2B5EF4-FFF2-40B4-BE49-F238E27FC236}">
                <a16:creationId xmlns:a16="http://schemas.microsoft.com/office/drawing/2014/main" id="{87A4B95E-CC09-DA87-F49C-D0FD58732B11}"/>
              </a:ext>
            </a:extLst>
          </p:cNvPr>
          <p:cNvSpPr>
            <a:spLocks noGrp="1"/>
          </p:cNvSpPr>
          <p:nvPr>
            <p:ph type="dt" sz="half" idx="14"/>
          </p:nvPr>
        </p:nvSpPr>
        <p:spPr/>
        <p:txBody>
          <a:bodyPr/>
          <a:lstStyle/>
          <a:p>
            <a:fld id="{9129D3C5-7FDF-4810-8CE7-16EC6383A5D6}" type="datetime1">
              <a:rPr lang="en-US" smtClean="0"/>
              <a:t>4/15/26</a:t>
            </a:fld>
            <a:endParaRPr lang="en-US"/>
          </a:p>
        </p:txBody>
      </p:sp>
    </p:spTree>
    <p:extLst>
      <p:ext uri="{BB962C8B-B14F-4D97-AF65-F5344CB8AC3E}">
        <p14:creationId xmlns:p14="http://schemas.microsoft.com/office/powerpoint/2010/main" val="41506616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Grid Dark - 3x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3657600" cy="2286000"/>
          </a:xfrm>
        </p:spPr>
        <p:txBody>
          <a:bodyPr/>
          <a:lstStyle>
            <a:lvl1pPr>
              <a:defRPr>
                <a:solidFill>
                  <a:schemeClr val="bg1"/>
                </a:solidFill>
              </a:defRPr>
            </a:lvl1p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267200" y="1554480"/>
            <a:ext cx="3657600" cy="2286000"/>
          </a:xfrm>
        </p:spPr>
        <p:txBody>
          <a:bodyPr/>
          <a:lstStyle>
            <a:lvl1pPr>
              <a:defRPr>
                <a:solidFill>
                  <a:schemeClr val="bg1"/>
                </a:solidFill>
              </a:defRPr>
            </a:lvl1pPr>
          </a:lstStyle>
          <a:p>
            <a:endParaRPr lang="en-US"/>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7924800" y="1554480"/>
            <a:ext cx="3657600" cy="2286000"/>
          </a:xfrm>
        </p:spPr>
        <p:txBody>
          <a:bodyPr/>
          <a:lstStyle>
            <a:lvl1pPr>
              <a:defRPr>
                <a:solidFill>
                  <a:schemeClr val="bg1"/>
                </a:solidFill>
              </a:defRPr>
            </a:lvl1pPr>
          </a:lstStyle>
          <a:p>
            <a:endParaRPr lang="en-US"/>
          </a:p>
        </p:txBody>
      </p:sp>
      <p:sp>
        <p:nvSpPr>
          <p:cNvPr id="14" name="Picture Placeholder 13">
            <a:extLst>
              <a:ext uri="{FF2B5EF4-FFF2-40B4-BE49-F238E27FC236}">
                <a16:creationId xmlns:a16="http://schemas.microsoft.com/office/drawing/2014/main" id="{1B2B2E44-F595-7BB6-29AF-8641CEDC7AD0}"/>
              </a:ext>
            </a:extLst>
          </p:cNvPr>
          <p:cNvSpPr>
            <a:spLocks noGrp="1"/>
          </p:cNvSpPr>
          <p:nvPr>
            <p:ph type="pic" sz="quarter" idx="13"/>
          </p:nvPr>
        </p:nvSpPr>
        <p:spPr>
          <a:xfrm>
            <a:off x="609600" y="3840480"/>
            <a:ext cx="3657600" cy="2286000"/>
          </a:xfrm>
        </p:spPr>
        <p:txBody>
          <a:bodyPr/>
          <a:lstStyle>
            <a:lvl1pPr>
              <a:defRPr>
                <a:solidFill>
                  <a:schemeClr val="bg1"/>
                </a:solidFill>
              </a:defRPr>
            </a:lvl1pPr>
          </a:lstStyle>
          <a:p>
            <a:endParaRPr lang="en-US"/>
          </a:p>
        </p:txBody>
      </p:sp>
      <p:sp>
        <p:nvSpPr>
          <p:cNvPr id="16" name="Picture Placeholder 15">
            <a:extLst>
              <a:ext uri="{FF2B5EF4-FFF2-40B4-BE49-F238E27FC236}">
                <a16:creationId xmlns:a16="http://schemas.microsoft.com/office/drawing/2014/main" id="{9F1FEECA-D863-9A52-B628-DC29A5E3A3FF}"/>
              </a:ext>
            </a:extLst>
          </p:cNvPr>
          <p:cNvSpPr>
            <a:spLocks noGrp="1"/>
          </p:cNvSpPr>
          <p:nvPr>
            <p:ph type="pic" sz="quarter" idx="14"/>
          </p:nvPr>
        </p:nvSpPr>
        <p:spPr>
          <a:xfrm>
            <a:off x="4267200" y="3840480"/>
            <a:ext cx="3657600" cy="2286000"/>
          </a:xfrm>
        </p:spPr>
        <p:txBody>
          <a:bodyPr/>
          <a:lstStyle>
            <a:lvl1pPr>
              <a:defRPr>
                <a:solidFill>
                  <a:schemeClr val="bg1"/>
                </a:solidFill>
              </a:defRPr>
            </a:lvl1pPr>
          </a:lstStyle>
          <a:p>
            <a:endParaRPr lang="en-US"/>
          </a:p>
        </p:txBody>
      </p:sp>
      <p:sp>
        <p:nvSpPr>
          <p:cNvPr id="18" name="Picture Placeholder 17">
            <a:extLst>
              <a:ext uri="{FF2B5EF4-FFF2-40B4-BE49-F238E27FC236}">
                <a16:creationId xmlns:a16="http://schemas.microsoft.com/office/drawing/2014/main" id="{5C1A3846-D263-B994-2288-4A3F6F2CC788}"/>
              </a:ext>
            </a:extLst>
          </p:cNvPr>
          <p:cNvSpPr>
            <a:spLocks noGrp="1"/>
          </p:cNvSpPr>
          <p:nvPr>
            <p:ph type="pic" sz="quarter" idx="15"/>
          </p:nvPr>
        </p:nvSpPr>
        <p:spPr>
          <a:xfrm>
            <a:off x="7924800" y="3840480"/>
            <a:ext cx="3657600" cy="2286000"/>
          </a:xfrm>
        </p:spPr>
        <p:txBody>
          <a:bodyPr/>
          <a:lstStyle>
            <a:lvl1pPr>
              <a:defRPr>
                <a:solidFill>
                  <a:schemeClr val="bg1"/>
                </a:solidFill>
              </a:defRPr>
            </a:lvl1pPr>
          </a:lstStyle>
          <a:p>
            <a:endParaRPr lang="en-US"/>
          </a:p>
        </p:txBody>
      </p:sp>
      <p:sp>
        <p:nvSpPr>
          <p:cNvPr id="4" name="Footer Placeholder 3">
            <a:extLst>
              <a:ext uri="{FF2B5EF4-FFF2-40B4-BE49-F238E27FC236}">
                <a16:creationId xmlns:a16="http://schemas.microsoft.com/office/drawing/2014/main" id="{96672CA8-A577-174B-FB2C-9B4EB53A3132}"/>
              </a:ext>
            </a:extLst>
          </p:cNvPr>
          <p:cNvSpPr>
            <a:spLocks noGrp="1"/>
          </p:cNvSpPr>
          <p:nvPr>
            <p:ph type="ftr" sz="quarter" idx="17"/>
          </p:nvPr>
        </p:nvSpPr>
        <p:spPr/>
        <p:txBody>
          <a:bodyPr/>
          <a:lstStyle>
            <a:lvl1pPr>
              <a:defRPr>
                <a:solidFill>
                  <a:srgbClr val="BEBEBE"/>
                </a:solidFill>
              </a:defRPr>
            </a:lvl1pPr>
          </a:lstStyle>
          <a:p>
            <a:endParaRPr lang="en-US"/>
          </a:p>
        </p:txBody>
      </p:sp>
      <p:sp>
        <p:nvSpPr>
          <p:cNvPr id="6" name="Copyright">
            <a:extLst>
              <a:ext uri="{FF2B5EF4-FFF2-40B4-BE49-F238E27FC236}">
                <a16:creationId xmlns:a16="http://schemas.microsoft.com/office/drawing/2014/main" id="{48D13397-FD3B-0770-09A4-C48DDFDB7AB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5" name="Slide Number Placeholder 4">
            <a:extLst>
              <a:ext uri="{FF2B5EF4-FFF2-40B4-BE49-F238E27FC236}">
                <a16:creationId xmlns:a16="http://schemas.microsoft.com/office/drawing/2014/main" id="{F36042B7-6E1D-C52E-AA27-9C2FF0C0DD20}"/>
              </a:ext>
            </a:extLst>
          </p:cNvPr>
          <p:cNvSpPr>
            <a:spLocks noGrp="1"/>
          </p:cNvSpPr>
          <p:nvPr>
            <p:ph type="sldNum" sz="quarter" idx="18"/>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3F2CB33B-0DFA-0E46-569E-3A30D639B586}"/>
              </a:ext>
            </a:extLst>
          </p:cNvPr>
          <p:cNvSpPr>
            <a:spLocks noGrp="1"/>
          </p:cNvSpPr>
          <p:nvPr>
            <p:ph type="dt" sz="half" idx="16"/>
          </p:nvPr>
        </p:nvSpPr>
        <p:spPr/>
        <p:txBody>
          <a:bodyPr/>
          <a:lstStyle/>
          <a:p>
            <a:fld id="{5B90D5A5-4AEE-444F-B6C9-C3F1538FF45D}" type="datetime1">
              <a:rPr lang="en-US" smtClean="0"/>
              <a:t>4/15/26</a:t>
            </a:fld>
            <a:endParaRPr lang="en-US"/>
          </a:p>
        </p:txBody>
      </p:sp>
    </p:spTree>
    <p:extLst>
      <p:ext uri="{BB962C8B-B14F-4D97-AF65-F5344CB8AC3E}">
        <p14:creationId xmlns:p14="http://schemas.microsoft.com/office/powerpoint/2010/main" val="9169202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rid Dark - 8x4">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97BAA268-608E-203C-7A51-367C326D1570}"/>
              </a:ext>
            </a:extLst>
          </p:cNvPr>
          <p:cNvSpPr/>
          <p:nvPr userDrawn="1"/>
        </p:nvSpPr>
        <p:spPr>
          <a:xfrm>
            <a:off x="6096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4" name="Rectangle 13">
            <a:extLst>
              <a:ext uri="{FF2B5EF4-FFF2-40B4-BE49-F238E27FC236}">
                <a16:creationId xmlns:a16="http://schemas.microsoft.com/office/drawing/2014/main" id="{F39E7C4E-A950-5E7D-A0C2-FCEFEEFFD63B}"/>
              </a:ext>
            </a:extLst>
          </p:cNvPr>
          <p:cNvSpPr/>
          <p:nvPr userDrawn="1"/>
        </p:nvSpPr>
        <p:spPr>
          <a:xfrm>
            <a:off x="19958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5" name="Rectangle 14">
            <a:extLst>
              <a:ext uri="{FF2B5EF4-FFF2-40B4-BE49-F238E27FC236}">
                <a16:creationId xmlns:a16="http://schemas.microsoft.com/office/drawing/2014/main" id="{1A28CC5C-6C7A-E3B3-012C-E9C0432BE08E}"/>
              </a:ext>
            </a:extLst>
          </p:cNvPr>
          <p:cNvSpPr/>
          <p:nvPr userDrawn="1"/>
        </p:nvSpPr>
        <p:spPr>
          <a:xfrm>
            <a:off x="338216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6" name="Rectangle 15">
            <a:extLst>
              <a:ext uri="{FF2B5EF4-FFF2-40B4-BE49-F238E27FC236}">
                <a16:creationId xmlns:a16="http://schemas.microsoft.com/office/drawing/2014/main" id="{F03573D4-E54C-C99F-F61B-CBC21CA91EED}"/>
              </a:ext>
            </a:extLst>
          </p:cNvPr>
          <p:cNvSpPr/>
          <p:nvPr userDrawn="1"/>
        </p:nvSpPr>
        <p:spPr>
          <a:xfrm>
            <a:off x="476844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7" name="Rectangle 16">
            <a:extLst>
              <a:ext uri="{FF2B5EF4-FFF2-40B4-BE49-F238E27FC236}">
                <a16:creationId xmlns:a16="http://schemas.microsoft.com/office/drawing/2014/main" id="{B916B734-342F-9A1D-45D0-D102A3F8E11C}"/>
              </a:ext>
            </a:extLst>
          </p:cNvPr>
          <p:cNvSpPr/>
          <p:nvPr userDrawn="1"/>
        </p:nvSpPr>
        <p:spPr>
          <a:xfrm>
            <a:off x="615472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8" name="Rectangle 17">
            <a:extLst>
              <a:ext uri="{FF2B5EF4-FFF2-40B4-BE49-F238E27FC236}">
                <a16:creationId xmlns:a16="http://schemas.microsoft.com/office/drawing/2014/main" id="{FEAC3299-D9CC-DB39-2D3B-3F38400729B6}"/>
              </a:ext>
            </a:extLst>
          </p:cNvPr>
          <p:cNvSpPr/>
          <p:nvPr userDrawn="1"/>
        </p:nvSpPr>
        <p:spPr>
          <a:xfrm>
            <a:off x="75410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9" name="Rectangle 18">
            <a:extLst>
              <a:ext uri="{FF2B5EF4-FFF2-40B4-BE49-F238E27FC236}">
                <a16:creationId xmlns:a16="http://schemas.microsoft.com/office/drawing/2014/main" id="{1FB7A0D9-63D4-923F-0B2C-2241DA938B85}"/>
              </a:ext>
            </a:extLst>
          </p:cNvPr>
          <p:cNvSpPr/>
          <p:nvPr userDrawn="1"/>
        </p:nvSpPr>
        <p:spPr>
          <a:xfrm>
            <a:off x="89272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0" name="Rectangle 19">
            <a:extLst>
              <a:ext uri="{FF2B5EF4-FFF2-40B4-BE49-F238E27FC236}">
                <a16:creationId xmlns:a16="http://schemas.microsoft.com/office/drawing/2014/main" id="{E5BBB5FA-838E-2F55-A783-CE18CFB555D4}"/>
              </a:ext>
            </a:extLst>
          </p:cNvPr>
          <p:cNvSpPr/>
          <p:nvPr userDrawn="1"/>
        </p:nvSpPr>
        <p:spPr>
          <a:xfrm>
            <a:off x="10313559"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1" name="Rectangle 20">
            <a:extLst>
              <a:ext uri="{FF2B5EF4-FFF2-40B4-BE49-F238E27FC236}">
                <a16:creationId xmlns:a16="http://schemas.microsoft.com/office/drawing/2014/main" id="{66E21CC9-8607-D4B4-0A69-84E115EA1B4E}"/>
              </a:ext>
            </a:extLst>
          </p:cNvPr>
          <p:cNvSpPr/>
          <p:nvPr userDrawn="1"/>
        </p:nvSpPr>
        <p:spPr>
          <a:xfrm>
            <a:off x="6096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2" name="Rectangle 21">
            <a:extLst>
              <a:ext uri="{FF2B5EF4-FFF2-40B4-BE49-F238E27FC236}">
                <a16:creationId xmlns:a16="http://schemas.microsoft.com/office/drawing/2014/main" id="{BBA79D0A-A70C-E894-177D-EECF5FA284B5}"/>
              </a:ext>
            </a:extLst>
          </p:cNvPr>
          <p:cNvSpPr/>
          <p:nvPr userDrawn="1"/>
        </p:nvSpPr>
        <p:spPr>
          <a:xfrm>
            <a:off x="19958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3" name="Rectangle 22">
            <a:extLst>
              <a:ext uri="{FF2B5EF4-FFF2-40B4-BE49-F238E27FC236}">
                <a16:creationId xmlns:a16="http://schemas.microsoft.com/office/drawing/2014/main" id="{3BA566EE-102B-BAE0-3B43-462B12F42154}"/>
              </a:ext>
            </a:extLst>
          </p:cNvPr>
          <p:cNvSpPr/>
          <p:nvPr userDrawn="1"/>
        </p:nvSpPr>
        <p:spPr>
          <a:xfrm>
            <a:off x="338216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4" name="Rectangle 23">
            <a:extLst>
              <a:ext uri="{FF2B5EF4-FFF2-40B4-BE49-F238E27FC236}">
                <a16:creationId xmlns:a16="http://schemas.microsoft.com/office/drawing/2014/main" id="{02A8B909-1FB7-2ECE-4CE5-D4CB1C6BB0CC}"/>
              </a:ext>
            </a:extLst>
          </p:cNvPr>
          <p:cNvSpPr/>
          <p:nvPr userDrawn="1"/>
        </p:nvSpPr>
        <p:spPr>
          <a:xfrm>
            <a:off x="476844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5" name="Rectangle 24">
            <a:extLst>
              <a:ext uri="{FF2B5EF4-FFF2-40B4-BE49-F238E27FC236}">
                <a16:creationId xmlns:a16="http://schemas.microsoft.com/office/drawing/2014/main" id="{6047EF83-4A21-DA0F-C923-796582EDAEED}"/>
              </a:ext>
            </a:extLst>
          </p:cNvPr>
          <p:cNvSpPr/>
          <p:nvPr userDrawn="1"/>
        </p:nvSpPr>
        <p:spPr>
          <a:xfrm>
            <a:off x="615472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6" name="Rectangle 25">
            <a:extLst>
              <a:ext uri="{FF2B5EF4-FFF2-40B4-BE49-F238E27FC236}">
                <a16:creationId xmlns:a16="http://schemas.microsoft.com/office/drawing/2014/main" id="{73B53162-80D6-1DB6-445D-F0BBEB4165AB}"/>
              </a:ext>
            </a:extLst>
          </p:cNvPr>
          <p:cNvSpPr/>
          <p:nvPr userDrawn="1"/>
        </p:nvSpPr>
        <p:spPr>
          <a:xfrm>
            <a:off x="75410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7" name="Rectangle 26">
            <a:extLst>
              <a:ext uri="{FF2B5EF4-FFF2-40B4-BE49-F238E27FC236}">
                <a16:creationId xmlns:a16="http://schemas.microsoft.com/office/drawing/2014/main" id="{8A43A33A-2128-3B66-F13D-BC2C34FC5C9C}"/>
              </a:ext>
            </a:extLst>
          </p:cNvPr>
          <p:cNvSpPr/>
          <p:nvPr userDrawn="1"/>
        </p:nvSpPr>
        <p:spPr>
          <a:xfrm>
            <a:off x="89272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8" name="Rectangle 27">
            <a:extLst>
              <a:ext uri="{FF2B5EF4-FFF2-40B4-BE49-F238E27FC236}">
                <a16:creationId xmlns:a16="http://schemas.microsoft.com/office/drawing/2014/main" id="{49562438-B088-47C6-D95D-D104D74DC604}"/>
              </a:ext>
            </a:extLst>
          </p:cNvPr>
          <p:cNvSpPr/>
          <p:nvPr userDrawn="1"/>
        </p:nvSpPr>
        <p:spPr>
          <a:xfrm>
            <a:off x="10313559"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9" name="Rectangle 28">
            <a:extLst>
              <a:ext uri="{FF2B5EF4-FFF2-40B4-BE49-F238E27FC236}">
                <a16:creationId xmlns:a16="http://schemas.microsoft.com/office/drawing/2014/main" id="{A8C61161-4E67-459F-36FF-24C259411D06}"/>
              </a:ext>
            </a:extLst>
          </p:cNvPr>
          <p:cNvSpPr/>
          <p:nvPr userDrawn="1"/>
        </p:nvSpPr>
        <p:spPr>
          <a:xfrm>
            <a:off x="6096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0" name="Rectangle 29">
            <a:extLst>
              <a:ext uri="{FF2B5EF4-FFF2-40B4-BE49-F238E27FC236}">
                <a16:creationId xmlns:a16="http://schemas.microsoft.com/office/drawing/2014/main" id="{C875AF7F-E549-C9DD-4BD9-037177E7F735}"/>
              </a:ext>
            </a:extLst>
          </p:cNvPr>
          <p:cNvSpPr/>
          <p:nvPr userDrawn="1"/>
        </p:nvSpPr>
        <p:spPr>
          <a:xfrm>
            <a:off x="19958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1" name="Rectangle 30">
            <a:extLst>
              <a:ext uri="{FF2B5EF4-FFF2-40B4-BE49-F238E27FC236}">
                <a16:creationId xmlns:a16="http://schemas.microsoft.com/office/drawing/2014/main" id="{A2738BA7-9D68-1ED9-04A0-99A171217587}"/>
              </a:ext>
            </a:extLst>
          </p:cNvPr>
          <p:cNvSpPr/>
          <p:nvPr userDrawn="1"/>
        </p:nvSpPr>
        <p:spPr>
          <a:xfrm>
            <a:off x="338216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Rectangle 31">
            <a:extLst>
              <a:ext uri="{FF2B5EF4-FFF2-40B4-BE49-F238E27FC236}">
                <a16:creationId xmlns:a16="http://schemas.microsoft.com/office/drawing/2014/main" id="{9651B5DB-1CA5-4B88-AC22-BE9FD9798353}"/>
              </a:ext>
            </a:extLst>
          </p:cNvPr>
          <p:cNvSpPr/>
          <p:nvPr userDrawn="1"/>
        </p:nvSpPr>
        <p:spPr>
          <a:xfrm>
            <a:off x="476844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3" name="Rectangle 32">
            <a:extLst>
              <a:ext uri="{FF2B5EF4-FFF2-40B4-BE49-F238E27FC236}">
                <a16:creationId xmlns:a16="http://schemas.microsoft.com/office/drawing/2014/main" id="{B37C6676-9FF0-FCE1-4305-AC9BA6E9220A}"/>
              </a:ext>
            </a:extLst>
          </p:cNvPr>
          <p:cNvSpPr/>
          <p:nvPr userDrawn="1"/>
        </p:nvSpPr>
        <p:spPr>
          <a:xfrm>
            <a:off x="615472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4" name="Rectangle 33">
            <a:extLst>
              <a:ext uri="{FF2B5EF4-FFF2-40B4-BE49-F238E27FC236}">
                <a16:creationId xmlns:a16="http://schemas.microsoft.com/office/drawing/2014/main" id="{FBB257B7-9C16-9561-3AC1-D8314943FC74}"/>
              </a:ext>
            </a:extLst>
          </p:cNvPr>
          <p:cNvSpPr/>
          <p:nvPr userDrawn="1"/>
        </p:nvSpPr>
        <p:spPr>
          <a:xfrm>
            <a:off x="75410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5" name="Rectangle 34">
            <a:extLst>
              <a:ext uri="{FF2B5EF4-FFF2-40B4-BE49-F238E27FC236}">
                <a16:creationId xmlns:a16="http://schemas.microsoft.com/office/drawing/2014/main" id="{9EECCC7F-B9E9-3B8B-6F0D-FAA1040749DF}"/>
              </a:ext>
            </a:extLst>
          </p:cNvPr>
          <p:cNvSpPr/>
          <p:nvPr userDrawn="1"/>
        </p:nvSpPr>
        <p:spPr>
          <a:xfrm>
            <a:off x="89272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6" name="Rectangle 35">
            <a:extLst>
              <a:ext uri="{FF2B5EF4-FFF2-40B4-BE49-F238E27FC236}">
                <a16:creationId xmlns:a16="http://schemas.microsoft.com/office/drawing/2014/main" id="{0A1038EB-0E1A-05F1-2DFF-EA052237F7F6}"/>
              </a:ext>
            </a:extLst>
          </p:cNvPr>
          <p:cNvSpPr/>
          <p:nvPr userDrawn="1"/>
        </p:nvSpPr>
        <p:spPr>
          <a:xfrm>
            <a:off x="10313559"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7" name="Rectangle 36">
            <a:extLst>
              <a:ext uri="{FF2B5EF4-FFF2-40B4-BE49-F238E27FC236}">
                <a16:creationId xmlns:a16="http://schemas.microsoft.com/office/drawing/2014/main" id="{7AC02E06-B728-D76A-FEAA-446234F0F31F}"/>
              </a:ext>
            </a:extLst>
          </p:cNvPr>
          <p:cNvSpPr/>
          <p:nvPr userDrawn="1"/>
        </p:nvSpPr>
        <p:spPr>
          <a:xfrm>
            <a:off x="6096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8" name="Rectangle 37">
            <a:extLst>
              <a:ext uri="{FF2B5EF4-FFF2-40B4-BE49-F238E27FC236}">
                <a16:creationId xmlns:a16="http://schemas.microsoft.com/office/drawing/2014/main" id="{78706809-ECBD-19DD-3B50-1DBAD7BADF1F}"/>
              </a:ext>
            </a:extLst>
          </p:cNvPr>
          <p:cNvSpPr/>
          <p:nvPr userDrawn="1"/>
        </p:nvSpPr>
        <p:spPr>
          <a:xfrm>
            <a:off x="19958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9" name="Rectangle 38">
            <a:extLst>
              <a:ext uri="{FF2B5EF4-FFF2-40B4-BE49-F238E27FC236}">
                <a16:creationId xmlns:a16="http://schemas.microsoft.com/office/drawing/2014/main" id="{946C519C-7E49-E916-FA16-159BABE49412}"/>
              </a:ext>
            </a:extLst>
          </p:cNvPr>
          <p:cNvSpPr/>
          <p:nvPr userDrawn="1"/>
        </p:nvSpPr>
        <p:spPr>
          <a:xfrm>
            <a:off x="338216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0" name="Rectangle 39">
            <a:extLst>
              <a:ext uri="{FF2B5EF4-FFF2-40B4-BE49-F238E27FC236}">
                <a16:creationId xmlns:a16="http://schemas.microsoft.com/office/drawing/2014/main" id="{A1B91923-6A62-AD7F-31E0-673400D0EB1E}"/>
              </a:ext>
            </a:extLst>
          </p:cNvPr>
          <p:cNvSpPr/>
          <p:nvPr userDrawn="1"/>
        </p:nvSpPr>
        <p:spPr>
          <a:xfrm>
            <a:off x="476844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1" name="Rectangle 40">
            <a:extLst>
              <a:ext uri="{FF2B5EF4-FFF2-40B4-BE49-F238E27FC236}">
                <a16:creationId xmlns:a16="http://schemas.microsoft.com/office/drawing/2014/main" id="{5127D94D-DCFC-5DFD-EA77-925FCC34A4D7}"/>
              </a:ext>
            </a:extLst>
          </p:cNvPr>
          <p:cNvSpPr/>
          <p:nvPr userDrawn="1"/>
        </p:nvSpPr>
        <p:spPr>
          <a:xfrm>
            <a:off x="615472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2" name="Rectangle 41">
            <a:extLst>
              <a:ext uri="{FF2B5EF4-FFF2-40B4-BE49-F238E27FC236}">
                <a16:creationId xmlns:a16="http://schemas.microsoft.com/office/drawing/2014/main" id="{7ACF9808-730A-9487-1316-4BBE4EB4937B}"/>
              </a:ext>
            </a:extLst>
          </p:cNvPr>
          <p:cNvSpPr/>
          <p:nvPr userDrawn="1"/>
        </p:nvSpPr>
        <p:spPr>
          <a:xfrm>
            <a:off x="75410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3" name="Rectangle 42">
            <a:extLst>
              <a:ext uri="{FF2B5EF4-FFF2-40B4-BE49-F238E27FC236}">
                <a16:creationId xmlns:a16="http://schemas.microsoft.com/office/drawing/2014/main" id="{5CE5A07D-9FF2-8979-5D57-8C122DB99FB7}"/>
              </a:ext>
            </a:extLst>
          </p:cNvPr>
          <p:cNvSpPr/>
          <p:nvPr userDrawn="1"/>
        </p:nvSpPr>
        <p:spPr>
          <a:xfrm>
            <a:off x="89272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4" name="Rectangle 43">
            <a:extLst>
              <a:ext uri="{FF2B5EF4-FFF2-40B4-BE49-F238E27FC236}">
                <a16:creationId xmlns:a16="http://schemas.microsoft.com/office/drawing/2014/main" id="{15263E6F-C1EE-9BCC-34DD-8FE8B2AE793A}"/>
              </a:ext>
            </a:extLst>
          </p:cNvPr>
          <p:cNvSpPr/>
          <p:nvPr userDrawn="1"/>
        </p:nvSpPr>
        <p:spPr>
          <a:xfrm>
            <a:off x="10313559"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1" name="row 1 Picture Placeholder 1">
            <a:extLst>
              <a:ext uri="{FF2B5EF4-FFF2-40B4-BE49-F238E27FC236}">
                <a16:creationId xmlns:a16="http://schemas.microsoft.com/office/drawing/2014/main" id="{F7FA6101-2BCD-3F7A-5BFE-9C338D8F8C01}"/>
              </a:ext>
            </a:extLst>
          </p:cNvPr>
          <p:cNvSpPr>
            <a:spLocks noGrp="1"/>
          </p:cNvSpPr>
          <p:nvPr>
            <p:ph type="pic" sz="quarter" idx="15"/>
          </p:nvPr>
        </p:nvSpPr>
        <p:spPr>
          <a:xfrm>
            <a:off x="652604" y="1374235"/>
            <a:ext cx="1182832" cy="1088105"/>
          </a:xfrm>
        </p:spPr>
        <p:txBody>
          <a:bodyPr/>
          <a:lstStyle/>
          <a:p>
            <a:endParaRPr lang="en-US"/>
          </a:p>
        </p:txBody>
      </p:sp>
      <p:sp>
        <p:nvSpPr>
          <p:cNvPr id="46" name="row 1 Picture Placeholder 2">
            <a:extLst>
              <a:ext uri="{FF2B5EF4-FFF2-40B4-BE49-F238E27FC236}">
                <a16:creationId xmlns:a16="http://schemas.microsoft.com/office/drawing/2014/main" id="{D4489A75-D166-8CF2-E0D8-0EDFD46D7A4D}"/>
              </a:ext>
            </a:extLst>
          </p:cNvPr>
          <p:cNvSpPr>
            <a:spLocks noGrp="1"/>
          </p:cNvSpPr>
          <p:nvPr>
            <p:ph type="pic" sz="quarter" idx="16"/>
          </p:nvPr>
        </p:nvSpPr>
        <p:spPr>
          <a:xfrm>
            <a:off x="2034595" y="1374235"/>
            <a:ext cx="1182832" cy="1088105"/>
          </a:xfrm>
        </p:spPr>
        <p:txBody>
          <a:bodyPr/>
          <a:lstStyle/>
          <a:p>
            <a:endParaRPr lang="en-US"/>
          </a:p>
        </p:txBody>
      </p:sp>
      <p:sp>
        <p:nvSpPr>
          <p:cNvPr id="47" name="row 1 Picture Placeholder 3">
            <a:extLst>
              <a:ext uri="{FF2B5EF4-FFF2-40B4-BE49-F238E27FC236}">
                <a16:creationId xmlns:a16="http://schemas.microsoft.com/office/drawing/2014/main" id="{2F08C9C9-CDFB-BCD2-FB33-888CA3CCB053}"/>
              </a:ext>
            </a:extLst>
          </p:cNvPr>
          <p:cNvSpPr>
            <a:spLocks noGrp="1"/>
          </p:cNvSpPr>
          <p:nvPr>
            <p:ph type="pic" sz="quarter" idx="17"/>
          </p:nvPr>
        </p:nvSpPr>
        <p:spPr>
          <a:xfrm>
            <a:off x="3421781" y="1374235"/>
            <a:ext cx="1182832" cy="1088105"/>
          </a:xfrm>
        </p:spPr>
        <p:txBody>
          <a:bodyPr/>
          <a:lstStyle/>
          <a:p>
            <a:endParaRPr lang="en-US"/>
          </a:p>
        </p:txBody>
      </p:sp>
      <p:sp>
        <p:nvSpPr>
          <p:cNvPr id="48" name="row 1 Picture Placeholder 4">
            <a:extLst>
              <a:ext uri="{FF2B5EF4-FFF2-40B4-BE49-F238E27FC236}">
                <a16:creationId xmlns:a16="http://schemas.microsoft.com/office/drawing/2014/main" id="{899B4827-9E43-021A-8937-A58289458431}"/>
              </a:ext>
            </a:extLst>
          </p:cNvPr>
          <p:cNvSpPr>
            <a:spLocks noGrp="1"/>
          </p:cNvSpPr>
          <p:nvPr>
            <p:ph type="pic" sz="quarter" idx="18"/>
          </p:nvPr>
        </p:nvSpPr>
        <p:spPr>
          <a:xfrm>
            <a:off x="4814163" y="1374235"/>
            <a:ext cx="1182832" cy="1088105"/>
          </a:xfrm>
        </p:spPr>
        <p:txBody>
          <a:bodyPr/>
          <a:lstStyle/>
          <a:p>
            <a:endParaRPr lang="en-US"/>
          </a:p>
        </p:txBody>
      </p:sp>
      <p:sp>
        <p:nvSpPr>
          <p:cNvPr id="49" name="row 1 Picture Placeholder 5">
            <a:extLst>
              <a:ext uri="{FF2B5EF4-FFF2-40B4-BE49-F238E27FC236}">
                <a16:creationId xmlns:a16="http://schemas.microsoft.com/office/drawing/2014/main" id="{B06F7986-6ED4-86E5-5E13-935D3BEE8F34}"/>
              </a:ext>
            </a:extLst>
          </p:cNvPr>
          <p:cNvSpPr>
            <a:spLocks noGrp="1"/>
          </p:cNvSpPr>
          <p:nvPr>
            <p:ph type="pic" sz="quarter" idx="19"/>
          </p:nvPr>
        </p:nvSpPr>
        <p:spPr>
          <a:xfrm>
            <a:off x="6196154" y="1374235"/>
            <a:ext cx="1182832" cy="1088105"/>
          </a:xfrm>
        </p:spPr>
        <p:txBody>
          <a:bodyPr/>
          <a:lstStyle/>
          <a:p>
            <a:endParaRPr lang="en-US"/>
          </a:p>
        </p:txBody>
      </p:sp>
      <p:sp>
        <p:nvSpPr>
          <p:cNvPr id="50" name="row 1 Picture Placeholder 6">
            <a:extLst>
              <a:ext uri="{FF2B5EF4-FFF2-40B4-BE49-F238E27FC236}">
                <a16:creationId xmlns:a16="http://schemas.microsoft.com/office/drawing/2014/main" id="{7C94F9B6-35CC-47D7-4715-2D9BDFED9D98}"/>
              </a:ext>
            </a:extLst>
          </p:cNvPr>
          <p:cNvSpPr>
            <a:spLocks noGrp="1"/>
          </p:cNvSpPr>
          <p:nvPr>
            <p:ph type="pic" sz="quarter" idx="20"/>
          </p:nvPr>
        </p:nvSpPr>
        <p:spPr>
          <a:xfrm>
            <a:off x="7583340" y="1374235"/>
            <a:ext cx="1182832" cy="1088105"/>
          </a:xfrm>
        </p:spPr>
        <p:txBody>
          <a:bodyPr/>
          <a:lstStyle/>
          <a:p>
            <a:endParaRPr lang="en-US"/>
          </a:p>
        </p:txBody>
      </p:sp>
      <p:sp>
        <p:nvSpPr>
          <p:cNvPr id="54" name="row 1 Picture Placeholder 7">
            <a:extLst>
              <a:ext uri="{FF2B5EF4-FFF2-40B4-BE49-F238E27FC236}">
                <a16:creationId xmlns:a16="http://schemas.microsoft.com/office/drawing/2014/main" id="{D2A4DA41-8FCC-44A0-0C9D-A7CDFAC9620D}"/>
              </a:ext>
            </a:extLst>
          </p:cNvPr>
          <p:cNvSpPr>
            <a:spLocks noGrp="1"/>
          </p:cNvSpPr>
          <p:nvPr>
            <p:ph type="pic" sz="quarter" idx="24"/>
          </p:nvPr>
        </p:nvSpPr>
        <p:spPr>
          <a:xfrm>
            <a:off x="8970527" y="1374235"/>
            <a:ext cx="1182832" cy="1088105"/>
          </a:xfrm>
        </p:spPr>
        <p:txBody>
          <a:bodyPr/>
          <a:lstStyle/>
          <a:p>
            <a:endParaRPr lang="en-US"/>
          </a:p>
        </p:txBody>
      </p:sp>
      <p:sp>
        <p:nvSpPr>
          <p:cNvPr id="55" name="row 1 Picture Placeholder 8">
            <a:extLst>
              <a:ext uri="{FF2B5EF4-FFF2-40B4-BE49-F238E27FC236}">
                <a16:creationId xmlns:a16="http://schemas.microsoft.com/office/drawing/2014/main" id="{4137539C-29C3-8821-FFE4-1C210898C681}"/>
              </a:ext>
            </a:extLst>
          </p:cNvPr>
          <p:cNvSpPr>
            <a:spLocks noGrp="1"/>
          </p:cNvSpPr>
          <p:nvPr>
            <p:ph type="pic" sz="quarter" idx="25"/>
          </p:nvPr>
        </p:nvSpPr>
        <p:spPr>
          <a:xfrm>
            <a:off x="10357713" y="1374235"/>
            <a:ext cx="1182832" cy="1088105"/>
          </a:xfrm>
        </p:spPr>
        <p:txBody>
          <a:bodyPr/>
          <a:lstStyle/>
          <a:p>
            <a:endParaRPr lang="en-US"/>
          </a:p>
        </p:txBody>
      </p:sp>
      <p:sp>
        <p:nvSpPr>
          <p:cNvPr id="2" name="row 2 Picture Placeholder 1">
            <a:extLst>
              <a:ext uri="{FF2B5EF4-FFF2-40B4-BE49-F238E27FC236}">
                <a16:creationId xmlns:a16="http://schemas.microsoft.com/office/drawing/2014/main" id="{3C1DEC0A-CFBB-A174-7825-D3E127900D3B}"/>
              </a:ext>
            </a:extLst>
          </p:cNvPr>
          <p:cNvSpPr>
            <a:spLocks noGrp="1"/>
          </p:cNvSpPr>
          <p:nvPr>
            <p:ph type="pic" sz="quarter" idx="26"/>
          </p:nvPr>
        </p:nvSpPr>
        <p:spPr>
          <a:xfrm>
            <a:off x="652604" y="2645822"/>
            <a:ext cx="1182832" cy="1088105"/>
          </a:xfrm>
        </p:spPr>
        <p:txBody>
          <a:bodyPr/>
          <a:lstStyle/>
          <a:p>
            <a:endParaRPr lang="en-US"/>
          </a:p>
        </p:txBody>
      </p:sp>
      <p:sp>
        <p:nvSpPr>
          <p:cNvPr id="3" name="row 2 Picture Placeholder 2">
            <a:extLst>
              <a:ext uri="{FF2B5EF4-FFF2-40B4-BE49-F238E27FC236}">
                <a16:creationId xmlns:a16="http://schemas.microsoft.com/office/drawing/2014/main" id="{E7BAB826-4B9F-721B-9415-8435857190BC}"/>
              </a:ext>
            </a:extLst>
          </p:cNvPr>
          <p:cNvSpPr>
            <a:spLocks noGrp="1"/>
          </p:cNvSpPr>
          <p:nvPr>
            <p:ph type="pic" sz="quarter" idx="27"/>
          </p:nvPr>
        </p:nvSpPr>
        <p:spPr>
          <a:xfrm>
            <a:off x="2034595" y="2645822"/>
            <a:ext cx="1182832" cy="1088105"/>
          </a:xfrm>
        </p:spPr>
        <p:txBody>
          <a:bodyPr/>
          <a:lstStyle/>
          <a:p>
            <a:endParaRPr lang="en-US"/>
          </a:p>
        </p:txBody>
      </p:sp>
      <p:sp>
        <p:nvSpPr>
          <p:cNvPr id="5" name="row 2 Picture Placeholder 3">
            <a:extLst>
              <a:ext uri="{FF2B5EF4-FFF2-40B4-BE49-F238E27FC236}">
                <a16:creationId xmlns:a16="http://schemas.microsoft.com/office/drawing/2014/main" id="{FF2B11DB-3A14-D3C9-2C6D-B1CA3D622F92}"/>
              </a:ext>
            </a:extLst>
          </p:cNvPr>
          <p:cNvSpPr>
            <a:spLocks noGrp="1"/>
          </p:cNvSpPr>
          <p:nvPr>
            <p:ph type="pic" sz="quarter" idx="28"/>
          </p:nvPr>
        </p:nvSpPr>
        <p:spPr>
          <a:xfrm>
            <a:off x="3421781" y="2645822"/>
            <a:ext cx="1182832" cy="1088105"/>
          </a:xfrm>
        </p:spPr>
        <p:txBody>
          <a:bodyPr/>
          <a:lstStyle/>
          <a:p>
            <a:endParaRPr lang="en-US"/>
          </a:p>
        </p:txBody>
      </p:sp>
      <p:sp>
        <p:nvSpPr>
          <p:cNvPr id="12" name="row 2 Picture Placeholder 4">
            <a:extLst>
              <a:ext uri="{FF2B5EF4-FFF2-40B4-BE49-F238E27FC236}">
                <a16:creationId xmlns:a16="http://schemas.microsoft.com/office/drawing/2014/main" id="{46336BAC-196F-BEEE-4E28-6A330A25A67B}"/>
              </a:ext>
            </a:extLst>
          </p:cNvPr>
          <p:cNvSpPr>
            <a:spLocks noGrp="1"/>
          </p:cNvSpPr>
          <p:nvPr>
            <p:ph type="pic" sz="quarter" idx="29"/>
          </p:nvPr>
        </p:nvSpPr>
        <p:spPr>
          <a:xfrm>
            <a:off x="4814163" y="2645822"/>
            <a:ext cx="1182832" cy="1088105"/>
          </a:xfrm>
        </p:spPr>
        <p:txBody>
          <a:bodyPr/>
          <a:lstStyle/>
          <a:p>
            <a:endParaRPr lang="en-US"/>
          </a:p>
        </p:txBody>
      </p:sp>
      <p:sp>
        <p:nvSpPr>
          <p:cNvPr id="13" name="row 2 Picture Placeholder 5">
            <a:extLst>
              <a:ext uri="{FF2B5EF4-FFF2-40B4-BE49-F238E27FC236}">
                <a16:creationId xmlns:a16="http://schemas.microsoft.com/office/drawing/2014/main" id="{C2FFB65A-9236-4CE6-2307-E94FE71BB879}"/>
              </a:ext>
            </a:extLst>
          </p:cNvPr>
          <p:cNvSpPr>
            <a:spLocks noGrp="1"/>
          </p:cNvSpPr>
          <p:nvPr>
            <p:ph type="pic" sz="quarter" idx="30"/>
          </p:nvPr>
        </p:nvSpPr>
        <p:spPr>
          <a:xfrm>
            <a:off x="6196154" y="2645822"/>
            <a:ext cx="1182832" cy="1088105"/>
          </a:xfrm>
        </p:spPr>
        <p:txBody>
          <a:bodyPr/>
          <a:lstStyle/>
          <a:p>
            <a:endParaRPr lang="en-US"/>
          </a:p>
        </p:txBody>
      </p:sp>
      <p:sp>
        <p:nvSpPr>
          <p:cNvPr id="45" name="row 2 Picture Placeholder 6">
            <a:extLst>
              <a:ext uri="{FF2B5EF4-FFF2-40B4-BE49-F238E27FC236}">
                <a16:creationId xmlns:a16="http://schemas.microsoft.com/office/drawing/2014/main" id="{4B9A60F2-7615-8938-B4B4-67C1CBF42CF4}"/>
              </a:ext>
            </a:extLst>
          </p:cNvPr>
          <p:cNvSpPr>
            <a:spLocks noGrp="1"/>
          </p:cNvSpPr>
          <p:nvPr>
            <p:ph type="pic" sz="quarter" idx="31"/>
          </p:nvPr>
        </p:nvSpPr>
        <p:spPr>
          <a:xfrm>
            <a:off x="7583340" y="2645822"/>
            <a:ext cx="1182832" cy="1088105"/>
          </a:xfrm>
        </p:spPr>
        <p:txBody>
          <a:bodyPr/>
          <a:lstStyle/>
          <a:p>
            <a:endParaRPr lang="en-US"/>
          </a:p>
        </p:txBody>
      </p:sp>
      <p:sp>
        <p:nvSpPr>
          <p:cNvPr id="77" name="row 2 Picture Placeholder 7">
            <a:extLst>
              <a:ext uri="{FF2B5EF4-FFF2-40B4-BE49-F238E27FC236}">
                <a16:creationId xmlns:a16="http://schemas.microsoft.com/office/drawing/2014/main" id="{3E419932-76A6-541D-128A-A84A5BEEC300}"/>
              </a:ext>
            </a:extLst>
          </p:cNvPr>
          <p:cNvSpPr>
            <a:spLocks noGrp="1"/>
          </p:cNvSpPr>
          <p:nvPr>
            <p:ph type="pic" sz="quarter" idx="32"/>
          </p:nvPr>
        </p:nvSpPr>
        <p:spPr>
          <a:xfrm>
            <a:off x="8970527" y="2645822"/>
            <a:ext cx="1182832" cy="1088105"/>
          </a:xfrm>
        </p:spPr>
        <p:txBody>
          <a:bodyPr/>
          <a:lstStyle/>
          <a:p>
            <a:endParaRPr lang="en-US"/>
          </a:p>
        </p:txBody>
      </p:sp>
      <p:sp>
        <p:nvSpPr>
          <p:cNvPr id="78" name="row 2 Picture Placeholder 8">
            <a:extLst>
              <a:ext uri="{FF2B5EF4-FFF2-40B4-BE49-F238E27FC236}">
                <a16:creationId xmlns:a16="http://schemas.microsoft.com/office/drawing/2014/main" id="{758DFE5A-82A8-803E-2660-E9B48CD58C8A}"/>
              </a:ext>
            </a:extLst>
          </p:cNvPr>
          <p:cNvSpPr>
            <a:spLocks noGrp="1"/>
          </p:cNvSpPr>
          <p:nvPr>
            <p:ph type="pic" sz="quarter" idx="33"/>
          </p:nvPr>
        </p:nvSpPr>
        <p:spPr>
          <a:xfrm>
            <a:off x="10357713" y="2645822"/>
            <a:ext cx="1182832" cy="1088105"/>
          </a:xfrm>
        </p:spPr>
        <p:txBody>
          <a:bodyPr/>
          <a:lstStyle/>
          <a:p>
            <a:endParaRPr lang="en-US"/>
          </a:p>
        </p:txBody>
      </p:sp>
      <p:sp>
        <p:nvSpPr>
          <p:cNvPr id="79" name="row 3 Picture Placeholder 1">
            <a:extLst>
              <a:ext uri="{FF2B5EF4-FFF2-40B4-BE49-F238E27FC236}">
                <a16:creationId xmlns:a16="http://schemas.microsoft.com/office/drawing/2014/main" id="{9E32F521-6FD0-503D-9FF1-BBD7A8CA51E5}"/>
              </a:ext>
            </a:extLst>
          </p:cNvPr>
          <p:cNvSpPr>
            <a:spLocks noGrp="1"/>
          </p:cNvSpPr>
          <p:nvPr>
            <p:ph type="pic" sz="quarter" idx="34"/>
          </p:nvPr>
        </p:nvSpPr>
        <p:spPr>
          <a:xfrm>
            <a:off x="652604" y="3924554"/>
            <a:ext cx="1182832" cy="1088105"/>
          </a:xfrm>
        </p:spPr>
        <p:txBody>
          <a:bodyPr/>
          <a:lstStyle/>
          <a:p>
            <a:endParaRPr lang="en-US"/>
          </a:p>
        </p:txBody>
      </p:sp>
      <p:sp>
        <p:nvSpPr>
          <p:cNvPr id="80" name="row 3 Picture Placeholder 2">
            <a:extLst>
              <a:ext uri="{FF2B5EF4-FFF2-40B4-BE49-F238E27FC236}">
                <a16:creationId xmlns:a16="http://schemas.microsoft.com/office/drawing/2014/main" id="{D836B38E-8809-B0C0-92F7-BD89C610B161}"/>
              </a:ext>
            </a:extLst>
          </p:cNvPr>
          <p:cNvSpPr>
            <a:spLocks noGrp="1"/>
          </p:cNvSpPr>
          <p:nvPr>
            <p:ph type="pic" sz="quarter" idx="35"/>
          </p:nvPr>
        </p:nvSpPr>
        <p:spPr>
          <a:xfrm>
            <a:off x="2034595" y="3924554"/>
            <a:ext cx="1182832" cy="1088105"/>
          </a:xfrm>
        </p:spPr>
        <p:txBody>
          <a:bodyPr/>
          <a:lstStyle/>
          <a:p>
            <a:endParaRPr lang="en-US"/>
          </a:p>
        </p:txBody>
      </p:sp>
      <p:sp>
        <p:nvSpPr>
          <p:cNvPr id="81" name="row 3 Picture Placeholder 3">
            <a:extLst>
              <a:ext uri="{FF2B5EF4-FFF2-40B4-BE49-F238E27FC236}">
                <a16:creationId xmlns:a16="http://schemas.microsoft.com/office/drawing/2014/main" id="{6D54014E-0644-8A1E-AAFF-5E8A476ACC3F}"/>
              </a:ext>
            </a:extLst>
          </p:cNvPr>
          <p:cNvSpPr>
            <a:spLocks noGrp="1"/>
          </p:cNvSpPr>
          <p:nvPr>
            <p:ph type="pic" sz="quarter" idx="36"/>
          </p:nvPr>
        </p:nvSpPr>
        <p:spPr>
          <a:xfrm>
            <a:off x="3421781" y="3924554"/>
            <a:ext cx="1182832" cy="1088105"/>
          </a:xfrm>
        </p:spPr>
        <p:txBody>
          <a:bodyPr/>
          <a:lstStyle/>
          <a:p>
            <a:endParaRPr lang="en-US"/>
          </a:p>
        </p:txBody>
      </p:sp>
      <p:sp>
        <p:nvSpPr>
          <p:cNvPr id="82" name="row 3 Picture Placeholder 4">
            <a:extLst>
              <a:ext uri="{FF2B5EF4-FFF2-40B4-BE49-F238E27FC236}">
                <a16:creationId xmlns:a16="http://schemas.microsoft.com/office/drawing/2014/main" id="{C50DA082-240B-5F1B-A722-C64B3BA9FD4E}"/>
              </a:ext>
            </a:extLst>
          </p:cNvPr>
          <p:cNvSpPr>
            <a:spLocks noGrp="1"/>
          </p:cNvSpPr>
          <p:nvPr>
            <p:ph type="pic" sz="quarter" idx="37"/>
          </p:nvPr>
        </p:nvSpPr>
        <p:spPr>
          <a:xfrm>
            <a:off x="4814163" y="3924554"/>
            <a:ext cx="1182832" cy="1088105"/>
          </a:xfrm>
        </p:spPr>
        <p:txBody>
          <a:bodyPr/>
          <a:lstStyle/>
          <a:p>
            <a:endParaRPr lang="en-US"/>
          </a:p>
        </p:txBody>
      </p:sp>
      <p:sp>
        <p:nvSpPr>
          <p:cNvPr id="83" name="row 3 Picture Placeholder 5">
            <a:extLst>
              <a:ext uri="{FF2B5EF4-FFF2-40B4-BE49-F238E27FC236}">
                <a16:creationId xmlns:a16="http://schemas.microsoft.com/office/drawing/2014/main" id="{7F494D05-1215-155F-73B6-BF770FF811DC}"/>
              </a:ext>
            </a:extLst>
          </p:cNvPr>
          <p:cNvSpPr>
            <a:spLocks noGrp="1"/>
          </p:cNvSpPr>
          <p:nvPr>
            <p:ph type="pic" sz="quarter" idx="38"/>
          </p:nvPr>
        </p:nvSpPr>
        <p:spPr>
          <a:xfrm>
            <a:off x="6196154" y="3924554"/>
            <a:ext cx="1182832" cy="1088105"/>
          </a:xfrm>
        </p:spPr>
        <p:txBody>
          <a:bodyPr/>
          <a:lstStyle/>
          <a:p>
            <a:endParaRPr lang="en-US"/>
          </a:p>
        </p:txBody>
      </p:sp>
      <p:sp>
        <p:nvSpPr>
          <p:cNvPr id="84" name="row 3 Picture Placeholder 6">
            <a:extLst>
              <a:ext uri="{FF2B5EF4-FFF2-40B4-BE49-F238E27FC236}">
                <a16:creationId xmlns:a16="http://schemas.microsoft.com/office/drawing/2014/main" id="{D0EC0EE6-CC94-3C74-DDBA-56893AD1E431}"/>
              </a:ext>
            </a:extLst>
          </p:cNvPr>
          <p:cNvSpPr>
            <a:spLocks noGrp="1"/>
          </p:cNvSpPr>
          <p:nvPr>
            <p:ph type="pic" sz="quarter" idx="39"/>
          </p:nvPr>
        </p:nvSpPr>
        <p:spPr>
          <a:xfrm>
            <a:off x="7583340" y="3924554"/>
            <a:ext cx="1182832" cy="1088105"/>
          </a:xfrm>
        </p:spPr>
        <p:txBody>
          <a:bodyPr/>
          <a:lstStyle/>
          <a:p>
            <a:endParaRPr lang="en-US"/>
          </a:p>
        </p:txBody>
      </p:sp>
      <p:sp>
        <p:nvSpPr>
          <p:cNvPr id="85" name="row 3 Picture Placeholder 7">
            <a:extLst>
              <a:ext uri="{FF2B5EF4-FFF2-40B4-BE49-F238E27FC236}">
                <a16:creationId xmlns:a16="http://schemas.microsoft.com/office/drawing/2014/main" id="{5FBD18F7-9E73-C66B-2846-56D8CEA15AD6}"/>
              </a:ext>
            </a:extLst>
          </p:cNvPr>
          <p:cNvSpPr>
            <a:spLocks noGrp="1"/>
          </p:cNvSpPr>
          <p:nvPr>
            <p:ph type="pic" sz="quarter" idx="40"/>
          </p:nvPr>
        </p:nvSpPr>
        <p:spPr>
          <a:xfrm>
            <a:off x="8970527" y="3924554"/>
            <a:ext cx="1182832" cy="1088105"/>
          </a:xfrm>
        </p:spPr>
        <p:txBody>
          <a:bodyPr/>
          <a:lstStyle/>
          <a:p>
            <a:endParaRPr lang="en-US"/>
          </a:p>
        </p:txBody>
      </p:sp>
      <p:sp>
        <p:nvSpPr>
          <p:cNvPr id="86" name="row 3 Picture Placeholder 8">
            <a:extLst>
              <a:ext uri="{FF2B5EF4-FFF2-40B4-BE49-F238E27FC236}">
                <a16:creationId xmlns:a16="http://schemas.microsoft.com/office/drawing/2014/main" id="{7B5CFE7D-04C3-F349-69EC-8D436A9E9208}"/>
              </a:ext>
            </a:extLst>
          </p:cNvPr>
          <p:cNvSpPr>
            <a:spLocks noGrp="1"/>
          </p:cNvSpPr>
          <p:nvPr>
            <p:ph type="pic" sz="quarter" idx="41"/>
          </p:nvPr>
        </p:nvSpPr>
        <p:spPr>
          <a:xfrm>
            <a:off x="10357713" y="3924554"/>
            <a:ext cx="1182832" cy="1088105"/>
          </a:xfrm>
        </p:spPr>
        <p:txBody>
          <a:bodyPr/>
          <a:lstStyle/>
          <a:p>
            <a:endParaRPr lang="en-US"/>
          </a:p>
        </p:txBody>
      </p:sp>
      <p:sp>
        <p:nvSpPr>
          <p:cNvPr id="87" name="row 4 Picture Placeholder 1">
            <a:extLst>
              <a:ext uri="{FF2B5EF4-FFF2-40B4-BE49-F238E27FC236}">
                <a16:creationId xmlns:a16="http://schemas.microsoft.com/office/drawing/2014/main" id="{24399C3F-6491-6E43-B837-BD446D088A0A}"/>
              </a:ext>
            </a:extLst>
          </p:cNvPr>
          <p:cNvSpPr>
            <a:spLocks noGrp="1"/>
          </p:cNvSpPr>
          <p:nvPr>
            <p:ph type="pic" sz="quarter" idx="42"/>
          </p:nvPr>
        </p:nvSpPr>
        <p:spPr>
          <a:xfrm>
            <a:off x="652604" y="5196141"/>
            <a:ext cx="1182832" cy="1088105"/>
          </a:xfrm>
        </p:spPr>
        <p:txBody>
          <a:bodyPr/>
          <a:lstStyle/>
          <a:p>
            <a:endParaRPr lang="en-US"/>
          </a:p>
        </p:txBody>
      </p:sp>
      <p:sp>
        <p:nvSpPr>
          <p:cNvPr id="88" name="row 4 Picture Placeholder 2">
            <a:extLst>
              <a:ext uri="{FF2B5EF4-FFF2-40B4-BE49-F238E27FC236}">
                <a16:creationId xmlns:a16="http://schemas.microsoft.com/office/drawing/2014/main" id="{2036CAF2-E770-6062-EF33-0DD11CD01CEA}"/>
              </a:ext>
            </a:extLst>
          </p:cNvPr>
          <p:cNvSpPr>
            <a:spLocks noGrp="1"/>
          </p:cNvSpPr>
          <p:nvPr>
            <p:ph type="pic" sz="quarter" idx="43"/>
          </p:nvPr>
        </p:nvSpPr>
        <p:spPr>
          <a:xfrm>
            <a:off x="2034595" y="5196141"/>
            <a:ext cx="1182832" cy="1088105"/>
          </a:xfrm>
        </p:spPr>
        <p:txBody>
          <a:bodyPr/>
          <a:lstStyle/>
          <a:p>
            <a:endParaRPr lang="en-US"/>
          </a:p>
        </p:txBody>
      </p:sp>
      <p:sp>
        <p:nvSpPr>
          <p:cNvPr id="89" name="row 4 Picture Placeholder 3">
            <a:extLst>
              <a:ext uri="{FF2B5EF4-FFF2-40B4-BE49-F238E27FC236}">
                <a16:creationId xmlns:a16="http://schemas.microsoft.com/office/drawing/2014/main" id="{30F775ED-4D01-9DC2-7605-D281FB771C25}"/>
              </a:ext>
            </a:extLst>
          </p:cNvPr>
          <p:cNvSpPr>
            <a:spLocks noGrp="1"/>
          </p:cNvSpPr>
          <p:nvPr>
            <p:ph type="pic" sz="quarter" idx="44"/>
          </p:nvPr>
        </p:nvSpPr>
        <p:spPr>
          <a:xfrm>
            <a:off x="3421781" y="5196141"/>
            <a:ext cx="1182832" cy="1088105"/>
          </a:xfrm>
        </p:spPr>
        <p:txBody>
          <a:bodyPr/>
          <a:lstStyle/>
          <a:p>
            <a:endParaRPr lang="en-US"/>
          </a:p>
        </p:txBody>
      </p:sp>
      <p:sp>
        <p:nvSpPr>
          <p:cNvPr id="90" name="row 4 Picture Placeholder 4">
            <a:extLst>
              <a:ext uri="{FF2B5EF4-FFF2-40B4-BE49-F238E27FC236}">
                <a16:creationId xmlns:a16="http://schemas.microsoft.com/office/drawing/2014/main" id="{DEE28737-AC75-102C-4BA8-96E6F4330BBC}"/>
              </a:ext>
            </a:extLst>
          </p:cNvPr>
          <p:cNvSpPr>
            <a:spLocks noGrp="1"/>
          </p:cNvSpPr>
          <p:nvPr>
            <p:ph type="pic" sz="quarter" idx="45"/>
          </p:nvPr>
        </p:nvSpPr>
        <p:spPr>
          <a:xfrm>
            <a:off x="4814163" y="5196141"/>
            <a:ext cx="1182832" cy="1088105"/>
          </a:xfrm>
        </p:spPr>
        <p:txBody>
          <a:bodyPr/>
          <a:lstStyle/>
          <a:p>
            <a:endParaRPr lang="en-US"/>
          </a:p>
        </p:txBody>
      </p:sp>
      <p:sp>
        <p:nvSpPr>
          <p:cNvPr id="91" name="row 4 Picture Placeholder 5">
            <a:extLst>
              <a:ext uri="{FF2B5EF4-FFF2-40B4-BE49-F238E27FC236}">
                <a16:creationId xmlns:a16="http://schemas.microsoft.com/office/drawing/2014/main" id="{E6E43258-86B0-95D8-6166-424B9F61DE56}"/>
              </a:ext>
            </a:extLst>
          </p:cNvPr>
          <p:cNvSpPr>
            <a:spLocks noGrp="1"/>
          </p:cNvSpPr>
          <p:nvPr>
            <p:ph type="pic" sz="quarter" idx="46"/>
          </p:nvPr>
        </p:nvSpPr>
        <p:spPr>
          <a:xfrm>
            <a:off x="6196154" y="5196141"/>
            <a:ext cx="1182832" cy="1088105"/>
          </a:xfrm>
        </p:spPr>
        <p:txBody>
          <a:bodyPr/>
          <a:lstStyle/>
          <a:p>
            <a:endParaRPr lang="en-US"/>
          </a:p>
        </p:txBody>
      </p:sp>
      <p:sp>
        <p:nvSpPr>
          <p:cNvPr id="92" name="row 4 Picture Placeholder 6">
            <a:extLst>
              <a:ext uri="{FF2B5EF4-FFF2-40B4-BE49-F238E27FC236}">
                <a16:creationId xmlns:a16="http://schemas.microsoft.com/office/drawing/2014/main" id="{0D08A575-C065-4FC0-28D7-6580F3156F6D}"/>
              </a:ext>
            </a:extLst>
          </p:cNvPr>
          <p:cNvSpPr>
            <a:spLocks noGrp="1"/>
          </p:cNvSpPr>
          <p:nvPr>
            <p:ph type="pic" sz="quarter" idx="47"/>
          </p:nvPr>
        </p:nvSpPr>
        <p:spPr>
          <a:xfrm>
            <a:off x="7583340" y="5196141"/>
            <a:ext cx="1182832" cy="1088105"/>
          </a:xfrm>
        </p:spPr>
        <p:txBody>
          <a:bodyPr/>
          <a:lstStyle/>
          <a:p>
            <a:endParaRPr lang="en-US"/>
          </a:p>
        </p:txBody>
      </p:sp>
      <p:sp>
        <p:nvSpPr>
          <p:cNvPr id="93" name="row 4 Picture Placeholder 7">
            <a:extLst>
              <a:ext uri="{FF2B5EF4-FFF2-40B4-BE49-F238E27FC236}">
                <a16:creationId xmlns:a16="http://schemas.microsoft.com/office/drawing/2014/main" id="{8C33A8F6-6489-D7B0-777C-E283A9697E40}"/>
              </a:ext>
            </a:extLst>
          </p:cNvPr>
          <p:cNvSpPr>
            <a:spLocks noGrp="1"/>
          </p:cNvSpPr>
          <p:nvPr>
            <p:ph type="pic" sz="quarter" idx="48"/>
          </p:nvPr>
        </p:nvSpPr>
        <p:spPr>
          <a:xfrm>
            <a:off x="8970527" y="5196141"/>
            <a:ext cx="1182832" cy="1088105"/>
          </a:xfrm>
        </p:spPr>
        <p:txBody>
          <a:bodyPr/>
          <a:lstStyle/>
          <a:p>
            <a:endParaRPr lang="en-US"/>
          </a:p>
        </p:txBody>
      </p:sp>
      <p:sp>
        <p:nvSpPr>
          <p:cNvPr id="94" name="row 4 Picture Placeholder 8">
            <a:extLst>
              <a:ext uri="{FF2B5EF4-FFF2-40B4-BE49-F238E27FC236}">
                <a16:creationId xmlns:a16="http://schemas.microsoft.com/office/drawing/2014/main" id="{9DDE374E-5A99-C8F8-8E5C-A7201FBD4B97}"/>
              </a:ext>
            </a:extLst>
          </p:cNvPr>
          <p:cNvSpPr>
            <a:spLocks noGrp="1"/>
          </p:cNvSpPr>
          <p:nvPr>
            <p:ph type="pic" sz="quarter" idx="49"/>
          </p:nvPr>
        </p:nvSpPr>
        <p:spPr>
          <a:xfrm>
            <a:off x="10357713" y="5196141"/>
            <a:ext cx="1182832" cy="1088105"/>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4/15/26</a:t>
            </a:fld>
            <a:endParaRPr lang="en-US"/>
          </a:p>
        </p:txBody>
      </p:sp>
    </p:spTree>
    <p:extLst>
      <p:ext uri="{BB962C8B-B14F-4D97-AF65-F5344CB8AC3E}">
        <p14:creationId xmlns:p14="http://schemas.microsoft.com/office/powerpoint/2010/main" val="24645520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Full Image with Thr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792CD-4DAB-B5A4-4603-43CD97AC6925}"/>
              </a:ext>
            </a:extLst>
          </p:cNvPr>
          <p:cNvSpPr>
            <a:spLocks noGrp="1"/>
          </p:cNvSpPr>
          <p:nvPr>
            <p:ph type="title"/>
          </p:nvPr>
        </p:nvSpPr>
        <p:spPr>
          <a:xfrm>
            <a:off x="609600" y="-1371600"/>
            <a:ext cx="10972800" cy="946389"/>
          </a:xfrm>
        </p:spPr>
        <p:txBody>
          <a:bodyPr/>
          <a:lstStyle/>
          <a:p>
            <a:r>
              <a:rPr lang="en-US"/>
              <a:t>Click to edit Master title style</a:t>
            </a:r>
          </a:p>
        </p:txBody>
      </p:sp>
      <p:sp>
        <p:nvSpPr>
          <p:cNvPr id="6" name="Thread">
            <a:extLst>
              <a:ext uri="{FF2B5EF4-FFF2-40B4-BE49-F238E27FC236}">
                <a16:creationId xmlns:a16="http://schemas.microsoft.com/office/drawing/2014/main" id="{58DD8459-7A64-A5A2-A463-AE3780C871C4}"/>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128016" y="0"/>
            <a:ext cx="12063984" cy="6858000"/>
          </a:xfrm>
        </p:spPr>
        <p:txBody>
          <a:bodyPr/>
          <a:lstStyle/>
          <a:p>
            <a:endParaRPr lang="en-US"/>
          </a:p>
        </p:txBody>
      </p:sp>
    </p:spTree>
    <p:extLst>
      <p:ext uri="{BB962C8B-B14F-4D97-AF65-F5344CB8AC3E}">
        <p14:creationId xmlns:p14="http://schemas.microsoft.com/office/powerpoint/2010/main" val="15849026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B8B6-68CD-E5CB-1299-D2EC1E1330D3}"/>
              </a:ext>
            </a:extLst>
          </p:cNvPr>
          <p:cNvSpPr>
            <a:spLocks noGrp="1"/>
          </p:cNvSpPr>
          <p:nvPr>
            <p:ph type="title"/>
          </p:nvPr>
        </p:nvSpPr>
        <p:spPr>
          <a:xfrm>
            <a:off x="609600" y="-1371600"/>
            <a:ext cx="10972800" cy="946389"/>
          </a:xfrm>
        </p:spPr>
        <p:txBody>
          <a:bodyPr/>
          <a:lstStyle/>
          <a:p>
            <a:r>
              <a:rPr lang="en-US"/>
              <a:t>Click to edit Master title style</a:t>
            </a:r>
          </a:p>
        </p:txBody>
      </p:sp>
    </p:spTree>
    <p:extLst>
      <p:ext uri="{BB962C8B-B14F-4D97-AF65-F5344CB8AC3E}">
        <p14:creationId xmlns:p14="http://schemas.microsoft.com/office/powerpoint/2010/main" val="19240643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Blank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49EFD-0837-876E-D532-FF1DCD5DA67A}"/>
              </a:ext>
            </a:extLst>
          </p:cNvPr>
          <p:cNvSpPr>
            <a:spLocks noGrp="1"/>
          </p:cNvSpPr>
          <p:nvPr>
            <p:ph type="title"/>
          </p:nvPr>
        </p:nvSpPr>
        <p:spPr>
          <a:xfrm>
            <a:off x="609600" y="-1371600"/>
            <a:ext cx="10972800" cy="946389"/>
          </a:xfrm>
        </p:spPr>
        <p:txBody>
          <a:bodyPr/>
          <a:lstStyle/>
          <a:p>
            <a:r>
              <a:rPr lang="en-US"/>
              <a:t>Click to edit Master title style</a:t>
            </a:r>
          </a:p>
        </p:txBody>
      </p:sp>
    </p:spTree>
    <p:extLst>
      <p:ext uri="{BB962C8B-B14F-4D97-AF65-F5344CB8AC3E}">
        <p14:creationId xmlns:p14="http://schemas.microsoft.com/office/powerpoint/2010/main" val="35988519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Gray end slide">
    <p:bg>
      <p:bgPr>
        <a:solidFill>
          <a:srgbClr val="EB1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0452-9AFC-7317-960A-0CE6F680E61D}"/>
              </a:ext>
            </a:extLst>
          </p:cNvPr>
          <p:cNvSpPr>
            <a:spLocks noGrp="1"/>
          </p:cNvSpPr>
          <p:nvPr>
            <p:ph type="title"/>
          </p:nvPr>
        </p:nvSpPr>
        <p:spPr>
          <a:xfrm>
            <a:off x="609600" y="-1371600"/>
            <a:ext cx="10972800" cy="946389"/>
          </a:xfrm>
        </p:spPr>
        <p:txBody>
          <a:bodyPr/>
          <a:lstStyle/>
          <a:p>
            <a:r>
              <a:rPr lang="en-US"/>
              <a:t>Click to edit Master title style</a:t>
            </a:r>
          </a:p>
        </p:txBody>
      </p:sp>
      <p:pic>
        <p:nvPicPr>
          <p:cNvPr id="7" name="Picture 6" descr="A white letter o on a black background&#10;&#10;Description automatically generated">
            <a:extLst>
              <a:ext uri="{FF2B5EF4-FFF2-40B4-BE49-F238E27FC236}">
                <a16:creationId xmlns:a16="http://schemas.microsoft.com/office/drawing/2014/main" id="{E9BC6135-7D8D-B5DA-3E89-19048614E65F}"/>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4283642" y="2991905"/>
            <a:ext cx="3621024" cy="875081"/>
          </a:xfrm>
          <a:prstGeom prst="rect">
            <a:avLst/>
          </a:prstGeom>
        </p:spPr>
      </p:pic>
    </p:spTree>
    <p:extLst>
      <p:ext uri="{BB962C8B-B14F-4D97-AF65-F5344CB8AC3E}">
        <p14:creationId xmlns:p14="http://schemas.microsoft.com/office/powerpoint/2010/main" val="203507704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29454463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Alt">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solidFill>
                  <a:schemeClr val="bg1"/>
                </a:solidFill>
              </a:defRPr>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8650205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2" name="Title 1"/>
          <p:cNvSpPr>
            <a:spLocks noGrp="1"/>
          </p:cNvSpPr>
          <p:nvPr>
            <p:ph type="ctrTitle"/>
          </p:nvPr>
        </p:nvSpPr>
        <p:spPr>
          <a:xfrm>
            <a:off x="612648" y="265176"/>
            <a:ext cx="10972800" cy="950976"/>
          </a:xfrm>
        </p:spPr>
        <p:txBody>
          <a:bodyPr wrap="square" lIns="0" tIns="0" rIns="0" bIns="0" anchor="ctr" anchorCtr="0">
            <a:noAutofit/>
          </a:bodyPr>
          <a:lstStyle>
            <a:lvl1pPr>
              <a:defRPr lang="en-US" sz="3200" b="1" i="0" kern="1200" spc="-50" baseline="0" dirty="0">
                <a:solidFill>
                  <a:schemeClr val="tx1"/>
                </a:solidFill>
                <a:latin typeface="Adobe Clean Display Black" panose="020B0303020404020204" pitchFamily="34" charset="77"/>
                <a:ea typeface="+mj-ea"/>
                <a:cs typeface="+mj-cs"/>
              </a:defRPr>
            </a:lvl1pPr>
          </a:lstStyle>
          <a:p>
            <a:r>
              <a:rPr lang="en-US"/>
              <a:t>Click to edit Master title style</a:t>
            </a:r>
          </a:p>
        </p:txBody>
      </p:sp>
      <p:sp>
        <p:nvSpPr>
          <p:cNvPr id="3" name="Table Placeholder 2">
            <a:extLst>
              <a:ext uri="{FF2B5EF4-FFF2-40B4-BE49-F238E27FC236}">
                <a16:creationId xmlns:a16="http://schemas.microsoft.com/office/drawing/2014/main" id="{59631ABC-0F20-4732-9A2E-F2D10704DBFA}"/>
              </a:ext>
            </a:extLst>
          </p:cNvPr>
          <p:cNvSpPr>
            <a:spLocks noGrp="1"/>
          </p:cNvSpPr>
          <p:nvPr>
            <p:ph type="tbl" sz="quarter" idx="10"/>
          </p:nvPr>
        </p:nvSpPr>
        <p:spPr>
          <a:xfrm>
            <a:off x="609600" y="1576873"/>
            <a:ext cx="10972800" cy="4504354"/>
          </a:xfrm>
        </p:spPr>
        <p:txBody>
          <a:bodyPr lIns="0" tIns="0" rIns="0" bIns="0"/>
          <a:lstStyle>
            <a:lvl1pPr>
              <a:defRPr>
                <a:latin typeface="+mn-lt"/>
              </a:defRPr>
            </a:lvl1pPr>
          </a:lstStyle>
          <a:p>
            <a:endParaRPr lang="en-US"/>
          </a:p>
        </p:txBody>
      </p:sp>
      <p:sp>
        <p:nvSpPr>
          <p:cNvPr id="4" name="Footer Placeholder 3">
            <a:extLst>
              <a:ext uri="{FF2B5EF4-FFF2-40B4-BE49-F238E27FC236}">
                <a16:creationId xmlns:a16="http://schemas.microsoft.com/office/drawing/2014/main" id="{731D6601-D56B-2A71-FB4D-43D7BD60483A}"/>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8DAE4452-EFBC-927D-A192-3B5CAD318E1B}"/>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2" name="Date Placeholder 1">
            <a:extLst>
              <a:ext uri="{FF2B5EF4-FFF2-40B4-BE49-F238E27FC236}">
                <a16:creationId xmlns:a16="http://schemas.microsoft.com/office/drawing/2014/main" id="{1B7E59D4-EB98-505F-A399-102776DA747E}"/>
              </a:ext>
            </a:extLst>
          </p:cNvPr>
          <p:cNvSpPr>
            <a:spLocks noGrp="1"/>
          </p:cNvSpPr>
          <p:nvPr>
            <p:ph type="dt" sz="half" idx="11"/>
          </p:nvPr>
        </p:nvSpPr>
        <p:spPr/>
        <p:txBody>
          <a:bodyPr/>
          <a:lstStyle/>
          <a:p>
            <a:fld id="{30169271-AB45-4F94-B977-1C39D03C236C}" type="datetime1">
              <a:rPr lang="en-US" smtClean="0"/>
              <a:t>4/15/26</a:t>
            </a:fld>
            <a:endParaRPr lang="en-US"/>
          </a:p>
        </p:txBody>
      </p:sp>
    </p:spTree>
    <p:extLst>
      <p:ext uri="{BB962C8B-B14F-4D97-AF65-F5344CB8AC3E}">
        <p14:creationId xmlns:p14="http://schemas.microsoft.com/office/powerpoint/2010/main" val="1650783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 Light Air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10972800" cy="4992624"/>
          </a:xfrm>
        </p:spPr>
        <p:txBody>
          <a:bodyPr lIns="0" rIns="0"/>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8C42940D-A5FF-4CEC-B24D-658D92D6E1F7}" type="datetime1">
              <a:rPr lang="en-US" smtClean="0"/>
              <a:t>4/15/26</a:t>
            </a:fld>
            <a:endParaRPr lang="en-US"/>
          </a:p>
        </p:txBody>
      </p:sp>
    </p:spTree>
    <p:extLst>
      <p:ext uri="{BB962C8B-B14F-4D97-AF65-F5344CB8AC3E}">
        <p14:creationId xmlns:p14="http://schemas.microsoft.com/office/powerpoint/2010/main" val="24360540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Dark Airy">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p:txBody>
          <a:bodyPr lIns="0" rIns="0"/>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2" name="Copyright">
            <a:extLst>
              <a:ext uri="{FF2B5EF4-FFF2-40B4-BE49-F238E27FC236}">
                <a16:creationId xmlns:a16="http://schemas.microsoft.com/office/drawing/2014/main" id="{C5061511-419D-2059-0E83-6196212F928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67C3B4F7-71D5-4F1C-A9CA-5E3A40F979B7}" type="datetime1">
              <a:rPr lang="en-US" smtClean="0"/>
              <a:t>4/15/26</a:t>
            </a:fld>
            <a:endParaRPr lang="en-US"/>
          </a:p>
        </p:txBody>
      </p:sp>
    </p:spTree>
    <p:extLst>
      <p:ext uri="{BB962C8B-B14F-4D97-AF65-F5344CB8AC3E}">
        <p14:creationId xmlns:p14="http://schemas.microsoft.com/office/powerpoint/2010/main" val="19302627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 y="7035913"/>
            <a:ext cx="270908" cy="107722"/>
          </a:xfrm>
        </p:spPr>
        <p:txBody>
          <a:bodyPr/>
          <a:lstStyle/>
          <a:p>
            <a:fld id="{5BCAD085-E8A6-8845-BD4E-CB4CCA059FC4}" type="datetimeFigureOut">
              <a:rPr lang="en-US" smtClean="0"/>
              <a:t>4/15/26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98615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557CE-52E6-1FB8-260F-4B9972B7C98C}"/>
              </a:ext>
            </a:extLst>
          </p:cNvPr>
          <p:cNvSpPr>
            <a:spLocks noGrp="1"/>
          </p:cNvSpPr>
          <p:nvPr>
            <p:ph type="title"/>
          </p:nvPr>
        </p:nvSpPr>
        <p:spPr>
          <a:xfrm>
            <a:off x="609600" y="264085"/>
            <a:ext cx="10972800" cy="946389"/>
          </a:xfrm>
          <a:prstGeom prst="rect">
            <a:avLst/>
          </a:prstGeom>
        </p:spPr>
        <p:txBody>
          <a:bodyPr vert="horz" lIns="0" tIns="45720" rIns="0" bIns="45720" rtlCol="0" anchor="ctr"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207D5854-D623-623A-F51E-6C503DDDB9F4}"/>
              </a:ext>
            </a:extLst>
          </p:cNvPr>
          <p:cNvSpPr>
            <a:spLocks noGrp="1"/>
          </p:cNvSpPr>
          <p:nvPr>
            <p:ph type="body" idx="1"/>
          </p:nvPr>
        </p:nvSpPr>
        <p:spPr>
          <a:xfrm>
            <a:off x="609600" y="1334324"/>
            <a:ext cx="10972800" cy="4990276"/>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744D4F-1B98-83B7-DAEA-EBD830B4D85D}"/>
              </a:ext>
            </a:extLst>
          </p:cNvPr>
          <p:cNvSpPr>
            <a:spLocks noGrp="1"/>
          </p:cNvSpPr>
          <p:nvPr>
            <p:ph type="ftr" sz="quarter" idx="3"/>
          </p:nvPr>
        </p:nvSpPr>
        <p:spPr>
          <a:xfrm>
            <a:off x="1645920" y="6583680"/>
            <a:ext cx="7844778" cy="91440"/>
          </a:xfrm>
          <a:prstGeom prst="rect">
            <a:avLst/>
          </a:prstGeom>
        </p:spPr>
        <p:txBody>
          <a:bodyPr vert="horz" wrap="none" lIns="0" tIns="0" rIns="0" bIns="0" rtlCol="0" anchor="t" anchorCtr="0"/>
          <a:lstStyle>
            <a:lvl1pPr algn="l">
              <a:defRPr sz="600">
                <a:solidFill>
                  <a:srgbClr val="191919"/>
                </a:solidFill>
              </a:defRPr>
            </a:lvl1pPr>
          </a:lstStyle>
          <a:p>
            <a:endParaRPr lang="en-US"/>
          </a:p>
        </p:txBody>
      </p:sp>
      <p:sp>
        <p:nvSpPr>
          <p:cNvPr id="25" name="Copyright">
            <a:extLst>
              <a:ext uri="{FF2B5EF4-FFF2-40B4-BE49-F238E27FC236}">
                <a16:creationId xmlns:a16="http://schemas.microsoft.com/office/drawing/2014/main" id="{F00605C0-ED67-6D23-4441-6A67F9B2E445}"/>
              </a:ext>
            </a:extLst>
          </p:cNvPr>
          <p:cNvSpPr txBox="1"/>
          <p:nvPr userDrawn="1"/>
        </p:nvSpPr>
        <p:spPr>
          <a:xfrm>
            <a:off x="9835126" y="6583680"/>
            <a:ext cx="1747274"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191919"/>
                </a:solidFill>
                <a:latin typeface="Adobe Clean" panose="020B0503020404020204" pitchFamily="34" charset="0"/>
              </a:rPr>
              <a:t>© 2026 Adobe. All Rights Reserved. Adobe Confidential.</a:t>
            </a:r>
          </a:p>
        </p:txBody>
      </p:sp>
      <p:sp>
        <p:nvSpPr>
          <p:cNvPr id="6" name="Slide Number Placeholder 5">
            <a:extLst>
              <a:ext uri="{FF2B5EF4-FFF2-40B4-BE49-F238E27FC236}">
                <a16:creationId xmlns:a16="http://schemas.microsoft.com/office/drawing/2014/main" id="{83E5B87A-A7CF-09CF-30ED-83C44A71A0E8}"/>
              </a:ext>
            </a:extLst>
          </p:cNvPr>
          <p:cNvSpPr>
            <a:spLocks noGrp="1"/>
          </p:cNvSpPr>
          <p:nvPr>
            <p:ph type="sldNum" sz="quarter" idx="4"/>
          </p:nvPr>
        </p:nvSpPr>
        <p:spPr>
          <a:xfrm>
            <a:off x="11842316" y="6583680"/>
            <a:ext cx="89768" cy="92333"/>
          </a:xfrm>
          <a:prstGeom prst="rect">
            <a:avLst/>
          </a:prstGeom>
        </p:spPr>
        <p:txBody>
          <a:bodyPr wrap="none" lIns="0" tIns="0" rIns="0" bIns="0">
            <a:spAutoFit/>
          </a:bodyPr>
          <a:lstStyle>
            <a:lvl1pPr>
              <a:defRPr lang="en-US" sz="600" baseline="0" smtClean="0">
                <a:solidFill>
                  <a:srgbClr val="191919"/>
                </a:solidFill>
                <a:latin typeface="Adobe Clean" panose="020B0503020404020204" pitchFamily="34" charset="0"/>
              </a:defRPr>
            </a:lvl1pPr>
          </a:lstStyle>
          <a:p>
            <a:pPr algn="r"/>
            <a:fld id="{DEC9D0C1-7FBA-40E3-98AB-77B8E8CCE3DF}" type="slidenum">
              <a:rPr lang="en-US" smtClean="0"/>
              <a:pPr algn="r"/>
              <a:t>‹#›</a:t>
            </a:fld>
            <a:endParaRPr lang="en-US"/>
          </a:p>
        </p:txBody>
      </p:sp>
      <p:sp>
        <p:nvSpPr>
          <p:cNvPr id="4" name="Date Placeholder 3">
            <a:extLst>
              <a:ext uri="{FF2B5EF4-FFF2-40B4-BE49-F238E27FC236}">
                <a16:creationId xmlns:a16="http://schemas.microsoft.com/office/drawing/2014/main" id="{7DFD8D59-8A23-698A-D678-69D2440DB509}"/>
              </a:ext>
            </a:extLst>
          </p:cNvPr>
          <p:cNvSpPr>
            <a:spLocks noGrp="1"/>
          </p:cNvSpPr>
          <p:nvPr>
            <p:ph type="dt" sz="half" idx="2"/>
          </p:nvPr>
        </p:nvSpPr>
        <p:spPr>
          <a:xfrm>
            <a:off x="-1" y="7035913"/>
            <a:ext cx="355867" cy="107722"/>
          </a:xfrm>
          <a:prstGeom prst="rect">
            <a:avLst/>
          </a:prstGeom>
        </p:spPr>
        <p:txBody>
          <a:bodyPr vert="horz" wrap="none" lIns="0" tIns="0" rIns="0" bIns="0" rtlCol="0" anchor="ctr">
            <a:spAutoFit/>
          </a:bodyPr>
          <a:lstStyle>
            <a:lvl1pPr algn="l">
              <a:defRPr sz="700">
                <a:solidFill>
                  <a:schemeClr val="tx1">
                    <a:tint val="75000"/>
                  </a:schemeClr>
                </a:solidFill>
              </a:defRPr>
            </a:lvl1pPr>
          </a:lstStyle>
          <a:p>
            <a:fld id="{30169271-AB45-4F94-B977-1C39D03C236C}" type="datetime1">
              <a:rPr lang="en-US" smtClean="0"/>
              <a:t>4/15/26</a:t>
            </a:fld>
            <a:endParaRPr lang="en-US"/>
          </a:p>
        </p:txBody>
      </p:sp>
      <p:sp>
        <p:nvSpPr>
          <p:cNvPr id="9" name="1/4">
            <a:extLst>
              <a:ext uri="{FF2B5EF4-FFF2-40B4-BE49-F238E27FC236}">
                <a16:creationId xmlns:a16="http://schemas.microsoft.com/office/drawing/2014/main" id="{791B36FE-59D2-67F8-88FF-8BCBCAA1B94A}"/>
              </a:ext>
              <a:ext uri="{C183D7F6-B498-43B3-948B-1728B52AA6E4}">
                <adec:decorative xmlns:adec="http://schemas.microsoft.com/office/drawing/2017/decorative" val="1"/>
              </a:ext>
            </a:extLst>
          </p:cNvPr>
          <p:cNvSpPr txBox="1"/>
          <p:nvPr userDrawn="1"/>
        </p:nvSpPr>
        <p:spPr>
          <a:xfrm>
            <a:off x="3278047" y="-563502"/>
            <a:ext cx="179536"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1/4</a:t>
            </a:r>
          </a:p>
        </p:txBody>
      </p:sp>
      <p:sp>
        <p:nvSpPr>
          <p:cNvPr id="10" name="2/4">
            <a:extLst>
              <a:ext uri="{FF2B5EF4-FFF2-40B4-BE49-F238E27FC236}">
                <a16:creationId xmlns:a16="http://schemas.microsoft.com/office/drawing/2014/main" id="{1D453459-F362-B9CD-880F-8901A7543B45}"/>
              </a:ext>
              <a:ext uri="{C183D7F6-B498-43B3-948B-1728B52AA6E4}">
                <adec:decorative xmlns:adec="http://schemas.microsoft.com/office/drawing/2017/decorative" val="1"/>
              </a:ext>
            </a:extLst>
          </p:cNvPr>
          <p:cNvSpPr txBox="1"/>
          <p:nvPr userDrawn="1"/>
        </p:nvSpPr>
        <p:spPr>
          <a:xfrm>
            <a:off x="5996614" y="-563502"/>
            <a:ext cx="198772"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2/4</a:t>
            </a:r>
          </a:p>
        </p:txBody>
      </p:sp>
      <p:sp>
        <p:nvSpPr>
          <p:cNvPr id="11" name="3/4">
            <a:extLst>
              <a:ext uri="{FF2B5EF4-FFF2-40B4-BE49-F238E27FC236}">
                <a16:creationId xmlns:a16="http://schemas.microsoft.com/office/drawing/2014/main" id="{8E72AC89-911C-7E96-6D33-BAF9B0DBE03B}"/>
              </a:ext>
              <a:ext uri="{C183D7F6-B498-43B3-948B-1728B52AA6E4}">
                <adec:decorative xmlns:adec="http://schemas.microsoft.com/office/drawing/2017/decorative" val="1"/>
              </a:ext>
            </a:extLst>
          </p:cNvPr>
          <p:cNvSpPr txBox="1"/>
          <p:nvPr userDrawn="1"/>
        </p:nvSpPr>
        <p:spPr>
          <a:xfrm>
            <a:off x="8736425" y="-563502"/>
            <a:ext cx="201979"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3/4</a:t>
            </a:r>
          </a:p>
        </p:txBody>
      </p:sp>
      <p:cxnSp>
        <p:nvCxnSpPr>
          <p:cNvPr id="12" name="2/3 arrow">
            <a:extLst>
              <a:ext uri="{FF2B5EF4-FFF2-40B4-BE49-F238E27FC236}">
                <a16:creationId xmlns:a16="http://schemas.microsoft.com/office/drawing/2014/main" id="{425FBE88-470E-60C6-8016-0453814D1C32}"/>
              </a:ext>
              <a:ext uri="{C183D7F6-B498-43B3-948B-1728B52AA6E4}">
                <adec:decorative xmlns:adec="http://schemas.microsoft.com/office/drawing/2017/decorative" val="1"/>
              </a:ext>
            </a:extLst>
          </p:cNvPr>
          <p:cNvCxnSpPr>
            <a:cxnSpLocks/>
          </p:cNvCxnSpPr>
          <p:nvPr userDrawn="1"/>
        </p:nvCxnSpPr>
        <p:spPr>
          <a:xfrm>
            <a:off x="7923212" y="-336411"/>
            <a:ext cx="0" cy="236135"/>
          </a:xfrm>
          <a:prstGeom prst="line">
            <a:avLst/>
          </a:prstGeom>
          <a:ln w="12700">
            <a:solidFill>
              <a:srgbClr val="C8C1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1/3 arrow">
            <a:extLst>
              <a:ext uri="{FF2B5EF4-FFF2-40B4-BE49-F238E27FC236}">
                <a16:creationId xmlns:a16="http://schemas.microsoft.com/office/drawing/2014/main" id="{B121034D-56B4-850B-095F-50226D1D6260}"/>
              </a:ext>
              <a:ext uri="{C183D7F6-B498-43B3-948B-1728B52AA6E4}">
                <adec:decorative xmlns:adec="http://schemas.microsoft.com/office/drawing/2017/decorative" val="1"/>
              </a:ext>
            </a:extLst>
          </p:cNvPr>
          <p:cNvCxnSpPr>
            <a:cxnSpLocks/>
          </p:cNvCxnSpPr>
          <p:nvPr userDrawn="1"/>
        </p:nvCxnSpPr>
        <p:spPr>
          <a:xfrm>
            <a:off x="4266406" y="-336411"/>
            <a:ext cx="0" cy="236135"/>
          </a:xfrm>
          <a:prstGeom prst="line">
            <a:avLst/>
          </a:prstGeom>
          <a:ln w="12700">
            <a:solidFill>
              <a:srgbClr val="C8C1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4" name="2/3">
            <a:extLst>
              <a:ext uri="{FF2B5EF4-FFF2-40B4-BE49-F238E27FC236}">
                <a16:creationId xmlns:a16="http://schemas.microsoft.com/office/drawing/2014/main" id="{FC5A2A21-4D76-D3E5-F47D-FAAEDEFAE6F2}"/>
              </a:ext>
              <a:ext uri="{C183D7F6-B498-43B3-948B-1728B52AA6E4}">
                <adec:decorative xmlns:adec="http://schemas.microsoft.com/office/drawing/2017/decorative" val="1"/>
              </a:ext>
            </a:extLst>
          </p:cNvPr>
          <p:cNvSpPr txBox="1"/>
          <p:nvPr userDrawn="1"/>
        </p:nvSpPr>
        <p:spPr>
          <a:xfrm>
            <a:off x="7826230" y="-563502"/>
            <a:ext cx="193964" cy="153888"/>
          </a:xfrm>
          <a:prstGeom prst="rect">
            <a:avLst/>
          </a:prstGeom>
          <a:noFill/>
        </p:spPr>
        <p:txBody>
          <a:bodyPr wrap="none" lIns="0" tIns="0" rIns="0" bIns="0" rtlCol="0">
            <a:spAutoFit/>
          </a:bodyPr>
          <a:lstStyle/>
          <a:p>
            <a:pPr algn="ctr"/>
            <a:r>
              <a:rPr lang="en-US" sz="1000">
                <a:solidFill>
                  <a:srgbClr val="A185B6"/>
                </a:solidFill>
                <a:latin typeface="+mj-lt"/>
              </a:rPr>
              <a:t>2/3</a:t>
            </a:r>
          </a:p>
        </p:txBody>
      </p:sp>
      <p:sp>
        <p:nvSpPr>
          <p:cNvPr id="15" name="1/3">
            <a:extLst>
              <a:ext uri="{FF2B5EF4-FFF2-40B4-BE49-F238E27FC236}">
                <a16:creationId xmlns:a16="http://schemas.microsoft.com/office/drawing/2014/main" id="{31DF4110-6679-C48B-A68B-23CCE2DC7192}"/>
              </a:ext>
              <a:ext uri="{C183D7F6-B498-43B3-948B-1728B52AA6E4}">
                <adec:decorative xmlns:adec="http://schemas.microsoft.com/office/drawing/2017/decorative" val="1"/>
              </a:ext>
            </a:extLst>
          </p:cNvPr>
          <p:cNvSpPr txBox="1"/>
          <p:nvPr userDrawn="1"/>
        </p:nvSpPr>
        <p:spPr>
          <a:xfrm>
            <a:off x="4186036" y="-563502"/>
            <a:ext cx="174728" cy="153888"/>
          </a:xfrm>
          <a:prstGeom prst="rect">
            <a:avLst/>
          </a:prstGeom>
          <a:noFill/>
        </p:spPr>
        <p:txBody>
          <a:bodyPr wrap="none" lIns="0" tIns="0" rIns="0" bIns="0" rtlCol="0">
            <a:spAutoFit/>
          </a:bodyPr>
          <a:lstStyle/>
          <a:p>
            <a:pPr algn="ctr"/>
            <a:r>
              <a:rPr lang="en-US" sz="1000">
                <a:solidFill>
                  <a:srgbClr val="A185B6"/>
                </a:solidFill>
                <a:latin typeface="+mj-lt"/>
              </a:rPr>
              <a:t>1/3</a:t>
            </a:r>
          </a:p>
        </p:txBody>
      </p:sp>
      <p:cxnSp>
        <p:nvCxnSpPr>
          <p:cNvPr id="16" name="1/4 arrow">
            <a:extLst>
              <a:ext uri="{FF2B5EF4-FFF2-40B4-BE49-F238E27FC236}">
                <a16:creationId xmlns:a16="http://schemas.microsoft.com/office/drawing/2014/main" id="{654E8F9D-6C4E-05DA-FE73-546CD08C5B57}"/>
              </a:ext>
              <a:ext uri="{C183D7F6-B498-43B3-948B-1728B52AA6E4}">
                <adec:decorative xmlns:adec="http://schemas.microsoft.com/office/drawing/2017/decorative" val="1"/>
              </a:ext>
            </a:extLst>
          </p:cNvPr>
          <p:cNvCxnSpPr>
            <a:cxnSpLocks/>
          </p:cNvCxnSpPr>
          <p:nvPr userDrawn="1"/>
        </p:nvCxnSpPr>
        <p:spPr>
          <a:xfrm>
            <a:off x="3352205"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7" name="2/4 arrow">
            <a:extLst>
              <a:ext uri="{FF2B5EF4-FFF2-40B4-BE49-F238E27FC236}">
                <a16:creationId xmlns:a16="http://schemas.microsoft.com/office/drawing/2014/main" id="{DA346B2B-DF35-381D-9BDC-1CDA53FCF74A}"/>
              </a:ext>
              <a:ext uri="{C183D7F6-B498-43B3-948B-1728B52AA6E4}">
                <adec:decorative xmlns:adec="http://schemas.microsoft.com/office/drawing/2017/decorative" val="1"/>
              </a:ext>
            </a:extLst>
          </p:cNvPr>
          <p:cNvCxnSpPr>
            <a:cxnSpLocks/>
          </p:cNvCxnSpPr>
          <p:nvPr userDrawn="1"/>
        </p:nvCxnSpPr>
        <p:spPr>
          <a:xfrm>
            <a:off x="6096000"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8" name="3/4 arrow">
            <a:extLst>
              <a:ext uri="{FF2B5EF4-FFF2-40B4-BE49-F238E27FC236}">
                <a16:creationId xmlns:a16="http://schemas.microsoft.com/office/drawing/2014/main" id="{79D2891A-8FC3-A6BB-6113-BF32856BCF47}"/>
              </a:ext>
              <a:ext uri="{C183D7F6-B498-43B3-948B-1728B52AA6E4}">
                <adec:decorative xmlns:adec="http://schemas.microsoft.com/office/drawing/2017/decorative" val="1"/>
              </a:ext>
            </a:extLst>
          </p:cNvPr>
          <p:cNvCxnSpPr>
            <a:cxnSpLocks/>
          </p:cNvCxnSpPr>
          <p:nvPr userDrawn="1"/>
        </p:nvCxnSpPr>
        <p:spPr>
          <a:xfrm>
            <a:off x="8837414"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9" name="Grid Instrux">
            <a:extLst>
              <a:ext uri="{FF2B5EF4-FFF2-40B4-BE49-F238E27FC236}">
                <a16:creationId xmlns:a16="http://schemas.microsoft.com/office/drawing/2014/main" id="{02CAB0F6-BA9D-DC91-B680-B8B29A069DD5}"/>
              </a:ext>
              <a:ext uri="{C183D7F6-B498-43B3-948B-1728B52AA6E4}">
                <adec:decorative xmlns:adec="http://schemas.microsoft.com/office/drawing/2017/decorative" val="1"/>
              </a:ext>
            </a:extLst>
          </p:cNvPr>
          <p:cNvSpPr txBox="1"/>
          <p:nvPr userDrawn="1"/>
        </p:nvSpPr>
        <p:spPr>
          <a:xfrm>
            <a:off x="1157679" y="-549443"/>
            <a:ext cx="1764907" cy="369332"/>
          </a:xfrm>
          <a:prstGeom prst="rect">
            <a:avLst/>
          </a:prstGeom>
          <a:noFill/>
        </p:spPr>
        <p:txBody>
          <a:bodyPr wrap="none" lIns="0" tIns="0" rIns="0" bIns="0" rtlCol="0">
            <a:spAutoFit/>
          </a:bodyPr>
          <a:lstStyle/>
          <a:p>
            <a:pPr algn="l"/>
            <a:r>
              <a:rPr lang="en-US" sz="800">
                <a:solidFill>
                  <a:schemeClr val="bg1">
                    <a:lumMod val="65000"/>
                  </a:schemeClr>
                </a:solidFill>
                <a:latin typeface="+mj-lt"/>
              </a:rPr>
              <a:t>Turn on Guides to see the custom grid.</a:t>
            </a:r>
            <a:br>
              <a:rPr lang="en-US" sz="800">
                <a:solidFill>
                  <a:schemeClr val="bg1">
                    <a:lumMod val="65000"/>
                  </a:schemeClr>
                </a:solidFill>
                <a:latin typeface="+mj-lt"/>
              </a:rPr>
            </a:br>
            <a:r>
              <a:rPr lang="en-US" sz="800">
                <a:solidFill>
                  <a:schemeClr val="bg1">
                    <a:lumMod val="65000"/>
                  </a:schemeClr>
                </a:solidFill>
                <a:latin typeface="+mn-lt"/>
              </a:rPr>
              <a:t>Mac: Control-option-command-G</a:t>
            </a:r>
            <a:br>
              <a:rPr lang="en-US" sz="800">
                <a:solidFill>
                  <a:schemeClr val="bg1">
                    <a:lumMod val="65000"/>
                  </a:schemeClr>
                </a:solidFill>
                <a:latin typeface="+mn-lt"/>
              </a:rPr>
            </a:br>
            <a:r>
              <a:rPr lang="en-US" sz="800">
                <a:solidFill>
                  <a:schemeClr val="bg1">
                    <a:lumMod val="65000"/>
                  </a:schemeClr>
                </a:solidFill>
                <a:latin typeface="+mn-lt"/>
              </a:rPr>
              <a:t>Win: Alt-F9 (or Alt-Fn-F9 on some laptops)</a:t>
            </a:r>
          </a:p>
        </p:txBody>
      </p:sp>
      <p:sp>
        <p:nvSpPr>
          <p:cNvPr id="7" name="Thread">
            <a:extLst>
              <a:ext uri="{FF2B5EF4-FFF2-40B4-BE49-F238E27FC236}">
                <a16:creationId xmlns:a16="http://schemas.microsoft.com/office/drawing/2014/main" id="{85D60DD5-372A-259D-1420-29F0B57C16CA}"/>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1/4">
            <a:extLst>
              <a:ext uri="{FF2B5EF4-FFF2-40B4-BE49-F238E27FC236}">
                <a16:creationId xmlns:a16="http://schemas.microsoft.com/office/drawing/2014/main" id="{424377ED-B64A-B4C7-0B71-A4CF8A90AED7}"/>
              </a:ext>
              <a:ext uri="{C183D7F6-B498-43B3-948B-1728B52AA6E4}">
                <adec:decorative xmlns:adec="http://schemas.microsoft.com/office/drawing/2017/decorative" val="1"/>
              </a:ext>
            </a:extLst>
          </p:cNvPr>
          <p:cNvSpPr txBox="1"/>
          <p:nvPr userDrawn="1"/>
        </p:nvSpPr>
        <p:spPr>
          <a:xfrm>
            <a:off x="12568866" y="2509117"/>
            <a:ext cx="179537"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1/4</a:t>
            </a:r>
          </a:p>
        </p:txBody>
      </p:sp>
      <p:sp>
        <p:nvSpPr>
          <p:cNvPr id="33" name="2/4">
            <a:extLst>
              <a:ext uri="{FF2B5EF4-FFF2-40B4-BE49-F238E27FC236}">
                <a16:creationId xmlns:a16="http://schemas.microsoft.com/office/drawing/2014/main" id="{51F3C041-8ED9-0DA6-BEAB-D9FCBAB6CCFF}"/>
              </a:ext>
              <a:ext uri="{C183D7F6-B498-43B3-948B-1728B52AA6E4}">
                <adec:decorative xmlns:adec="http://schemas.microsoft.com/office/drawing/2017/decorative" val="1"/>
              </a:ext>
            </a:extLst>
          </p:cNvPr>
          <p:cNvSpPr txBox="1"/>
          <p:nvPr userDrawn="1"/>
        </p:nvSpPr>
        <p:spPr>
          <a:xfrm>
            <a:off x="12578306" y="3754563"/>
            <a:ext cx="198772"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2/4</a:t>
            </a:r>
          </a:p>
        </p:txBody>
      </p:sp>
      <p:sp>
        <p:nvSpPr>
          <p:cNvPr id="34" name="3/4">
            <a:extLst>
              <a:ext uri="{FF2B5EF4-FFF2-40B4-BE49-F238E27FC236}">
                <a16:creationId xmlns:a16="http://schemas.microsoft.com/office/drawing/2014/main" id="{F2D0D8E2-527A-4BB8-6B7E-6D57BEB7FA78}"/>
              </a:ext>
              <a:ext uri="{C183D7F6-B498-43B3-948B-1728B52AA6E4}">
                <adec:decorative xmlns:adec="http://schemas.microsoft.com/office/drawing/2017/decorative" val="1"/>
              </a:ext>
            </a:extLst>
          </p:cNvPr>
          <p:cNvSpPr txBox="1"/>
          <p:nvPr userDrawn="1"/>
        </p:nvSpPr>
        <p:spPr>
          <a:xfrm>
            <a:off x="12635237" y="4987532"/>
            <a:ext cx="201979"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3/4</a:t>
            </a:r>
          </a:p>
        </p:txBody>
      </p:sp>
      <p:cxnSp>
        <p:nvCxnSpPr>
          <p:cNvPr id="35" name="1/4 arrow">
            <a:extLst>
              <a:ext uri="{FF2B5EF4-FFF2-40B4-BE49-F238E27FC236}">
                <a16:creationId xmlns:a16="http://schemas.microsoft.com/office/drawing/2014/main" id="{A418B525-C17C-C5AB-54B3-D48D2031FC62}"/>
              </a:ext>
              <a:ext uri="{C183D7F6-B498-43B3-948B-1728B52AA6E4}">
                <adec:decorative xmlns:adec="http://schemas.microsoft.com/office/drawing/2017/decorative" val="1"/>
              </a:ext>
            </a:extLst>
          </p:cNvPr>
          <p:cNvCxnSpPr>
            <a:cxnSpLocks/>
          </p:cNvCxnSpPr>
          <p:nvPr userDrawn="1"/>
        </p:nvCxnSpPr>
        <p:spPr>
          <a:xfrm flipH="1">
            <a:off x="12278497" y="2580869"/>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0" name="1/4 arrow">
            <a:extLst>
              <a:ext uri="{FF2B5EF4-FFF2-40B4-BE49-F238E27FC236}">
                <a16:creationId xmlns:a16="http://schemas.microsoft.com/office/drawing/2014/main" id="{9832C6B5-4860-2934-2206-0B5B7FF6B0DA}"/>
              </a:ext>
              <a:ext uri="{C183D7F6-B498-43B3-948B-1728B52AA6E4}">
                <adec:decorative xmlns:adec="http://schemas.microsoft.com/office/drawing/2017/decorative" val="1"/>
              </a:ext>
            </a:extLst>
          </p:cNvPr>
          <p:cNvCxnSpPr>
            <a:cxnSpLocks/>
          </p:cNvCxnSpPr>
          <p:nvPr userDrawn="1"/>
        </p:nvCxnSpPr>
        <p:spPr>
          <a:xfrm flipH="1">
            <a:off x="12278497" y="1334324"/>
            <a:ext cx="222825" cy="0"/>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1/4 arrow">
            <a:extLst>
              <a:ext uri="{FF2B5EF4-FFF2-40B4-BE49-F238E27FC236}">
                <a16:creationId xmlns:a16="http://schemas.microsoft.com/office/drawing/2014/main" id="{0F8F2023-3069-3524-187F-DCC6A0F9C743}"/>
              </a:ext>
              <a:ext uri="{C183D7F6-B498-43B3-948B-1728B52AA6E4}">
                <adec:decorative xmlns:adec="http://schemas.microsoft.com/office/drawing/2017/decorative" val="1"/>
              </a:ext>
            </a:extLst>
          </p:cNvPr>
          <p:cNvCxnSpPr>
            <a:cxnSpLocks/>
          </p:cNvCxnSpPr>
          <p:nvPr userDrawn="1"/>
        </p:nvCxnSpPr>
        <p:spPr>
          <a:xfrm flipH="1">
            <a:off x="12278497" y="5073959"/>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1/4 arrow">
            <a:extLst>
              <a:ext uri="{FF2B5EF4-FFF2-40B4-BE49-F238E27FC236}">
                <a16:creationId xmlns:a16="http://schemas.microsoft.com/office/drawing/2014/main" id="{A8ED2DAB-B3D9-1EA2-514C-8A23C04556CE}"/>
              </a:ext>
              <a:ext uri="{C183D7F6-B498-43B3-948B-1728B52AA6E4}">
                <adec:decorative xmlns:adec="http://schemas.microsoft.com/office/drawing/2017/decorative" val="1"/>
              </a:ext>
            </a:extLst>
          </p:cNvPr>
          <p:cNvCxnSpPr>
            <a:cxnSpLocks/>
          </p:cNvCxnSpPr>
          <p:nvPr userDrawn="1"/>
        </p:nvCxnSpPr>
        <p:spPr>
          <a:xfrm flipH="1">
            <a:off x="12278497" y="3827414"/>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1/4">
            <a:extLst>
              <a:ext uri="{FF2B5EF4-FFF2-40B4-BE49-F238E27FC236}">
                <a16:creationId xmlns:a16="http://schemas.microsoft.com/office/drawing/2014/main" id="{C8CA6760-80AA-0257-95D3-4B4DE6DE78FD}"/>
              </a:ext>
              <a:ext uri="{C183D7F6-B498-43B3-948B-1728B52AA6E4}">
                <adec:decorative xmlns:adec="http://schemas.microsoft.com/office/drawing/2017/decorative" val="1"/>
              </a:ext>
            </a:extLst>
          </p:cNvPr>
          <p:cNvSpPr txBox="1"/>
          <p:nvPr userDrawn="1"/>
        </p:nvSpPr>
        <p:spPr>
          <a:xfrm>
            <a:off x="12529254" y="1281863"/>
            <a:ext cx="290143"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HEADER</a:t>
            </a:r>
          </a:p>
        </p:txBody>
      </p:sp>
      <p:cxnSp>
        <p:nvCxnSpPr>
          <p:cNvPr id="45" name="1/4 arrow">
            <a:extLst>
              <a:ext uri="{FF2B5EF4-FFF2-40B4-BE49-F238E27FC236}">
                <a16:creationId xmlns:a16="http://schemas.microsoft.com/office/drawing/2014/main" id="{74375429-3C84-68A9-2613-B48F5A529F30}"/>
              </a:ext>
              <a:ext uri="{C183D7F6-B498-43B3-948B-1728B52AA6E4}">
                <adec:decorative xmlns:adec="http://schemas.microsoft.com/office/drawing/2017/decorative" val="1"/>
              </a:ext>
            </a:extLst>
          </p:cNvPr>
          <p:cNvCxnSpPr>
            <a:cxnSpLocks/>
          </p:cNvCxnSpPr>
          <p:nvPr userDrawn="1"/>
        </p:nvCxnSpPr>
        <p:spPr>
          <a:xfrm flipH="1">
            <a:off x="12278497" y="6320504"/>
            <a:ext cx="222825" cy="0"/>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6" name="1/4">
            <a:extLst>
              <a:ext uri="{FF2B5EF4-FFF2-40B4-BE49-F238E27FC236}">
                <a16:creationId xmlns:a16="http://schemas.microsoft.com/office/drawing/2014/main" id="{1B81506B-B5BB-D6F5-CFE5-02E97E3AFEF1}"/>
              </a:ext>
              <a:ext uri="{C183D7F6-B498-43B3-948B-1728B52AA6E4}">
                <adec:decorative xmlns:adec="http://schemas.microsoft.com/office/drawing/2017/decorative" val="1"/>
              </a:ext>
            </a:extLst>
          </p:cNvPr>
          <p:cNvSpPr txBox="1"/>
          <p:nvPr userDrawn="1"/>
        </p:nvSpPr>
        <p:spPr>
          <a:xfrm>
            <a:off x="12532460" y="6268043"/>
            <a:ext cx="283732"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FOOTER</a:t>
            </a:r>
          </a:p>
        </p:txBody>
      </p:sp>
      <p:cxnSp>
        <p:nvCxnSpPr>
          <p:cNvPr id="24" name="1/4 arrow">
            <a:extLst>
              <a:ext uri="{FF2B5EF4-FFF2-40B4-BE49-F238E27FC236}">
                <a16:creationId xmlns:a16="http://schemas.microsoft.com/office/drawing/2014/main" id="{FA5D0519-5451-A608-D797-03460DF8E37A}"/>
              </a:ext>
              <a:ext uri="{C183D7F6-B498-43B3-948B-1728B52AA6E4}">
                <adec:decorative xmlns:adec="http://schemas.microsoft.com/office/drawing/2017/decorative" val="1"/>
              </a:ext>
            </a:extLst>
          </p:cNvPr>
          <p:cNvCxnSpPr>
            <a:cxnSpLocks/>
          </p:cNvCxnSpPr>
          <p:nvPr userDrawn="1"/>
        </p:nvCxnSpPr>
        <p:spPr>
          <a:xfrm>
            <a:off x="609600" y="-336411"/>
            <a:ext cx="0" cy="236135"/>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6" name="3/4 arrow">
            <a:extLst>
              <a:ext uri="{FF2B5EF4-FFF2-40B4-BE49-F238E27FC236}">
                <a16:creationId xmlns:a16="http://schemas.microsoft.com/office/drawing/2014/main" id="{434EAFBE-DCAD-A7F5-09D7-04281AF8FDF5}"/>
              </a:ext>
              <a:ext uri="{C183D7F6-B498-43B3-948B-1728B52AA6E4}">
                <adec:decorative xmlns:adec="http://schemas.microsoft.com/office/drawing/2017/decorative" val="1"/>
              </a:ext>
            </a:extLst>
          </p:cNvPr>
          <p:cNvCxnSpPr>
            <a:cxnSpLocks/>
          </p:cNvCxnSpPr>
          <p:nvPr userDrawn="1"/>
        </p:nvCxnSpPr>
        <p:spPr>
          <a:xfrm>
            <a:off x="11580018" y="-336411"/>
            <a:ext cx="0" cy="236135"/>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7" name="1/4">
            <a:extLst>
              <a:ext uri="{FF2B5EF4-FFF2-40B4-BE49-F238E27FC236}">
                <a16:creationId xmlns:a16="http://schemas.microsoft.com/office/drawing/2014/main" id="{B26847F7-BAAC-4F5F-C73B-C98C0D60DBDC}"/>
              </a:ext>
              <a:ext uri="{C183D7F6-B498-43B3-948B-1728B52AA6E4}">
                <adec:decorative xmlns:adec="http://schemas.microsoft.com/office/drawing/2017/decorative" val="1"/>
              </a:ext>
            </a:extLst>
          </p:cNvPr>
          <p:cNvSpPr txBox="1"/>
          <p:nvPr userDrawn="1"/>
        </p:nvSpPr>
        <p:spPr>
          <a:xfrm>
            <a:off x="370753" y="-532724"/>
            <a:ext cx="477695"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LEFT MARGIN</a:t>
            </a:r>
          </a:p>
        </p:txBody>
      </p:sp>
      <p:sp>
        <p:nvSpPr>
          <p:cNvPr id="28" name="1/4">
            <a:extLst>
              <a:ext uri="{FF2B5EF4-FFF2-40B4-BE49-F238E27FC236}">
                <a16:creationId xmlns:a16="http://schemas.microsoft.com/office/drawing/2014/main" id="{C37489DE-748C-5EF5-A2DC-16A403A0AC9F}"/>
              </a:ext>
              <a:ext uri="{C183D7F6-B498-43B3-948B-1728B52AA6E4}">
                <adec:decorative xmlns:adec="http://schemas.microsoft.com/office/drawing/2017/decorative" val="1"/>
              </a:ext>
            </a:extLst>
          </p:cNvPr>
          <p:cNvSpPr txBox="1"/>
          <p:nvPr userDrawn="1"/>
        </p:nvSpPr>
        <p:spPr>
          <a:xfrm>
            <a:off x="11314721" y="-532724"/>
            <a:ext cx="530594"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RIGHT MARGIN</a:t>
            </a:r>
          </a:p>
        </p:txBody>
      </p:sp>
      <p:pic>
        <p:nvPicPr>
          <p:cNvPr id="21" name="Picture 20" descr="A red and black number&#10;&#10;Description automatically generated">
            <a:extLst>
              <a:ext uri="{FF2B5EF4-FFF2-40B4-BE49-F238E27FC236}">
                <a16:creationId xmlns:a16="http://schemas.microsoft.com/office/drawing/2014/main" id="{90D99A4A-A7D4-0CC7-5FD2-1E4A30D358E9}"/>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609600" y="6518398"/>
            <a:ext cx="603504" cy="145847"/>
          </a:xfrm>
          <a:prstGeom prst="rect">
            <a:avLst/>
          </a:prstGeom>
        </p:spPr>
      </p:pic>
    </p:spTree>
    <p:extLst>
      <p:ext uri="{BB962C8B-B14F-4D97-AF65-F5344CB8AC3E}">
        <p14:creationId xmlns:p14="http://schemas.microsoft.com/office/powerpoint/2010/main" val="165651961"/>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 id="2147483798" r:id="rId18"/>
    <p:sldLayoutId id="2147483799" r:id="rId19"/>
    <p:sldLayoutId id="2147483800" r:id="rId20"/>
    <p:sldLayoutId id="2147483801" r:id="rId21"/>
    <p:sldLayoutId id="2147483802" r:id="rId22"/>
    <p:sldLayoutId id="2147483803" r:id="rId23"/>
    <p:sldLayoutId id="2147483804" r:id="rId24"/>
    <p:sldLayoutId id="2147483805" r:id="rId25"/>
    <p:sldLayoutId id="2147483806" r:id="rId26"/>
    <p:sldLayoutId id="2147483807" r:id="rId27"/>
    <p:sldLayoutId id="2147483808" r:id="rId28"/>
    <p:sldLayoutId id="2147483809" r:id="rId29"/>
    <p:sldLayoutId id="2147483810" r:id="rId30"/>
    <p:sldLayoutId id="2147483811" r:id="rId31"/>
    <p:sldLayoutId id="2147483812" r:id="rId32"/>
    <p:sldLayoutId id="2147483813" r:id="rId33"/>
    <p:sldLayoutId id="2147483814" r:id="rId34"/>
    <p:sldLayoutId id="2147483815" r:id="rId35"/>
    <p:sldLayoutId id="2147483816" r:id="rId36"/>
    <p:sldLayoutId id="2147483817" r:id="rId37"/>
    <p:sldLayoutId id="2147483818" r:id="rId38"/>
    <p:sldLayoutId id="2147483819" r:id="rId39"/>
    <p:sldLayoutId id="2147483820" r:id="rId40"/>
    <p:sldLayoutId id="2147483821" r:id="rId41"/>
    <p:sldLayoutId id="2147483822" r:id="rId42"/>
    <p:sldLayoutId id="2147483823" r:id="rId43"/>
    <p:sldLayoutId id="2147483824" r:id="rId44"/>
    <p:sldLayoutId id="2147483825" r:id="rId45"/>
    <p:sldLayoutId id="2147483826" r:id="rId46"/>
    <p:sldLayoutId id="2147483827" r:id="rId47"/>
    <p:sldLayoutId id="2147483828" r:id="rId48"/>
    <p:sldLayoutId id="2147483829" r:id="rId49"/>
    <p:sldLayoutId id="2147483830" r:id="rId50"/>
    <p:sldLayoutId id="2147483831" r:id="rId51"/>
    <p:sldLayoutId id="2147483832" r:id="rId52"/>
    <p:sldLayoutId id="2147483833" r:id="rId53"/>
    <p:sldLayoutId id="2147483834" r:id="rId54"/>
    <p:sldLayoutId id="2147483835" r:id="rId55"/>
    <p:sldLayoutId id="2147483836" r:id="rId56"/>
    <p:sldLayoutId id="2147483837" r:id="rId57"/>
  </p:sldLayoutIdLst>
  <p:hf sldNum="0" hdr="0" ftr="0" dt="0"/>
  <p:txStyles>
    <p:titleStyle>
      <a:lvl1pPr algn="l" defTabSz="914400" rtl="0" eaLnBrk="1" latinLnBrk="0" hangingPunct="1">
        <a:lnSpc>
          <a:spcPct val="80000"/>
        </a:lnSpc>
        <a:spcBef>
          <a:spcPct val="0"/>
        </a:spcBef>
        <a:buNone/>
        <a:defRPr sz="3200" b="1" i="0" kern="1200" spc="-50" baseline="0">
          <a:solidFill>
            <a:schemeClr val="tx1"/>
          </a:solidFill>
          <a:latin typeface="Adobe Clean Display Black" panose="020B0303020404020204" pitchFamily="34" charset="77"/>
          <a:ea typeface="+mj-ea"/>
          <a:cs typeface="+mj-cs"/>
        </a:defRPr>
      </a:lvl1pPr>
    </p:titleStyle>
    <p:bodyStyle>
      <a:lvl1pPr marL="182563" indent="-182563" algn="l" defTabSz="914400" rtl="0" eaLnBrk="1" latinLnBrk="0" hangingPunct="1">
        <a:lnSpc>
          <a:spcPct val="110000"/>
        </a:lnSpc>
        <a:spcBef>
          <a:spcPts val="1200"/>
        </a:spcBef>
        <a:spcAft>
          <a:spcPts val="0"/>
        </a:spcAft>
        <a:buSzPct val="70000"/>
        <a:buFont typeface="Wingdings" panose="05000000000000000000" pitchFamily="2" charset="2"/>
        <a:buChar char="§"/>
        <a:defRPr sz="2000" kern="1200">
          <a:solidFill>
            <a:schemeClr val="tx1"/>
          </a:solidFill>
          <a:latin typeface="+mn-lt"/>
          <a:ea typeface="+mn-ea"/>
          <a:cs typeface="+mn-cs"/>
        </a:defRPr>
      </a:lvl1pPr>
      <a:lvl2pPr marL="382588" indent="-157163" algn="l" defTabSz="914400" rtl="0" eaLnBrk="1" latinLnBrk="0" hangingPunct="1">
        <a:lnSpc>
          <a:spcPct val="110000"/>
        </a:lnSpc>
        <a:spcBef>
          <a:spcPts val="1200"/>
        </a:spcBef>
        <a:spcAft>
          <a:spcPts val="0"/>
        </a:spcAft>
        <a:buSzPct val="70000"/>
        <a:buFont typeface="Wingdings" panose="05000000000000000000" pitchFamily="2" charset="2"/>
        <a:buChar char="§"/>
        <a:defRPr sz="1400" kern="1200">
          <a:solidFill>
            <a:schemeClr val="tx1"/>
          </a:solidFill>
          <a:latin typeface="+mn-lt"/>
          <a:ea typeface="+mn-ea"/>
          <a:cs typeface="+mn-cs"/>
        </a:defRPr>
      </a:lvl2pPr>
      <a:lvl3pPr marL="581025" indent="-14287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3pPr>
      <a:lvl4pPr marL="669925" indent="-12382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4pPr>
      <a:lvl5pPr marL="846138" indent="-130175" algn="l" defTabSz="914400" rtl="0" eaLnBrk="1" latinLnBrk="0" hangingPunct="1">
        <a:lnSpc>
          <a:spcPct val="110000"/>
        </a:lnSpc>
        <a:spcBef>
          <a:spcPts val="1200"/>
        </a:spcBef>
        <a:spcAft>
          <a:spcPts val="0"/>
        </a:spcAft>
        <a:buSzPct val="70000"/>
        <a:buFont typeface="Wingdings" panose="05000000000000000000" pitchFamily="2" charset="2"/>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0">
          <p15:clr>
            <a:srgbClr val="A4A3A4"/>
          </p15:clr>
        </p15:guide>
        <p15:guide id="2" pos="384">
          <p15:clr>
            <a:srgbClr val="A4A3A4"/>
          </p15:clr>
        </p15:guide>
        <p15:guide id="3" pos="7296">
          <p15:clr>
            <a:srgbClr val="A4A3A4"/>
          </p15:clr>
        </p15:guide>
        <p15:guide id="4" orient="horz" pos="398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AI Models in ColdFusion</a:t>
            </a:r>
            <a:endParaRPr sz="4400" b="1" dirty="0"/>
          </a:p>
        </p:txBody>
      </p:sp>
      <p:sp>
        <p:nvSpPr>
          <p:cNvPr id="3" name="Subtitle 2"/>
          <p:cNvSpPr>
            <a:spLocks noGrp="1"/>
          </p:cNvSpPr>
          <p:nvPr>
            <p:ph type="subTitle" idx="1"/>
          </p:nvPr>
        </p:nvSpPr>
        <p:spPr/>
        <p:txBody>
          <a:bodyPr/>
          <a:lstStyle/>
          <a:p>
            <a:r>
              <a:rPr sz="2000" dirty="0"/>
              <a:t>Building Intelligent Applications with Large Language Models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t>Agenda</a:t>
            </a:r>
          </a:p>
        </p:txBody>
      </p:sp>
      <p:sp>
        <p:nvSpPr>
          <p:cNvPr id="3" name="TextBox 2"/>
          <p:cNvSpPr txBox="1"/>
          <p:nvPr/>
        </p:nvSpPr>
        <p:spPr>
          <a:xfrm>
            <a:off x="502920" y="1325880"/>
            <a:ext cx="5577840" cy="5120640"/>
          </a:xfrm>
          <a:prstGeom prst="rect">
            <a:avLst/>
          </a:prstGeom>
          <a:noFill/>
        </p:spPr>
        <p:txBody>
          <a:bodyPr wrap="square">
            <a:spAutoFit/>
          </a:bodyPr>
          <a:lstStyle/>
          <a:p>
            <a:pPr>
              <a:spcBef>
                <a:spcPts val="400"/>
              </a:spcBef>
            </a:pPr>
            <a:r>
              <a:rPr sz="1200" b="1">
                <a:solidFill>
                  <a:srgbClr val="EB1000"/>
                </a:solidFill>
              </a:rPr>
              <a:t>Part 1  </a:t>
            </a:r>
            <a:r>
              <a:rPr sz="1200">
                <a:solidFill>
                  <a:srgbClr val="1A1A1A"/>
                </a:solidFill>
              </a:rPr>
              <a:t>Introduction to Large Language Models</a:t>
            </a:r>
          </a:p>
          <a:p>
            <a:pPr>
              <a:spcBef>
                <a:spcPts val="400"/>
              </a:spcBef>
            </a:pPr>
            <a:r>
              <a:rPr sz="1200" b="1">
                <a:solidFill>
                  <a:srgbClr val="EB1000"/>
                </a:solidFill>
              </a:rPr>
              <a:t>Part 2  </a:t>
            </a:r>
            <a:r>
              <a:rPr sz="1200">
                <a:solidFill>
                  <a:srgbClr val="1A1A1A"/>
                </a:solidFill>
              </a:rPr>
              <a:t>ChatModel() — Connecting to AI Providers</a:t>
            </a:r>
          </a:p>
          <a:p>
            <a:pPr>
              <a:spcBef>
                <a:spcPts val="400"/>
              </a:spcBef>
            </a:pPr>
            <a:r>
              <a:rPr sz="1200" b="1">
                <a:solidFill>
                  <a:srgbClr val="EB1000"/>
                </a:solidFill>
              </a:rPr>
              <a:t>Part 3  </a:t>
            </a:r>
            <a:r>
              <a:rPr sz="1200">
                <a:solidFill>
                  <a:srgbClr val="1A1A1A"/>
                </a:solidFill>
              </a:rPr>
              <a:t>Configuring LLMs in CF Administrator</a:t>
            </a:r>
          </a:p>
          <a:p>
            <a:endParaRPr sz="1200">
              <a:solidFill>
                <a:srgbClr val="1A1A1A"/>
              </a:solidFill>
            </a:endParaRPr>
          </a:p>
          <a:p>
            <a:pPr>
              <a:spcBef>
                <a:spcPts val="800"/>
              </a:spcBef>
            </a:pPr>
            <a:r>
              <a:rPr sz="1200" b="1">
                <a:solidFill>
                  <a:srgbClr val="EB1000"/>
                </a:solidFill>
              </a:rPr>
              <a:t>Nexora — Progressive Demo App</a:t>
            </a:r>
          </a:p>
          <a:p>
            <a:pPr>
              <a:spcBef>
                <a:spcPts val="400"/>
              </a:spcBef>
            </a:pPr>
            <a:r>
              <a:rPr sz="1200" b="1">
                <a:solidFill>
                  <a:srgbClr val="EB1000"/>
                </a:solidFill>
              </a:rPr>
              <a:t>Part 4  </a:t>
            </a:r>
            <a:r>
              <a:rPr sz="1200">
                <a:solidFill>
                  <a:srgbClr val="1A1A1A"/>
                </a:solidFill>
              </a:rPr>
              <a:t>agent() &amp; System Messages</a:t>
            </a:r>
          </a:p>
          <a:p>
            <a:pPr>
              <a:spcBef>
                <a:spcPts val="400"/>
              </a:spcBef>
            </a:pPr>
            <a:r>
              <a:rPr sz="1200" b="1">
                <a:solidFill>
                  <a:srgbClr val="EB1000"/>
                </a:solidFill>
              </a:rPr>
              <a:t>Part 5  </a:t>
            </a:r>
            <a:r>
              <a:rPr sz="1200">
                <a:solidFill>
                  <a:srgbClr val="1A1A1A"/>
                </a:solidFill>
              </a:rPr>
              <a:t>Chat Memory</a:t>
            </a:r>
          </a:p>
          <a:p>
            <a:pPr>
              <a:spcBef>
                <a:spcPts val="400"/>
              </a:spcBef>
            </a:pPr>
            <a:r>
              <a:rPr sz="1200" b="1">
                <a:solidFill>
                  <a:srgbClr val="EB1000"/>
                </a:solidFill>
              </a:rPr>
              <a:t>Part 6  </a:t>
            </a:r>
            <a:r>
              <a:rPr sz="1200">
                <a:solidFill>
                  <a:srgbClr val="1A1A1A"/>
                </a:solidFill>
              </a:rPr>
              <a:t>Function Tools</a:t>
            </a:r>
          </a:p>
          <a:p>
            <a:pPr>
              <a:spcBef>
                <a:spcPts val="400"/>
              </a:spcBef>
            </a:pPr>
            <a:r>
              <a:rPr sz="1200" b="1">
                <a:solidFill>
                  <a:srgbClr val="EB1000"/>
                </a:solidFill>
              </a:rPr>
              <a:t>Part 7  </a:t>
            </a:r>
            <a:r>
              <a:rPr sz="1200">
                <a:solidFill>
                  <a:srgbClr val="1A1A1A"/>
                </a:solidFill>
              </a:rPr>
              <a:t>Output GuardRails</a:t>
            </a:r>
          </a:p>
          <a:p>
            <a:pPr>
              <a:spcBef>
                <a:spcPts val="400"/>
              </a:spcBef>
            </a:pPr>
            <a:r>
              <a:rPr sz="1200" b="1">
                <a:solidFill>
                  <a:srgbClr val="EB1000"/>
                </a:solidFill>
              </a:rPr>
              <a:t>Part 8  </a:t>
            </a:r>
            <a:r>
              <a:rPr sz="1200">
                <a:solidFill>
                  <a:srgbClr val="1A1A1A"/>
                </a:solidFill>
              </a:rPr>
              <a:t>MCP — Model Context Protocol</a:t>
            </a:r>
          </a:p>
          <a:p>
            <a:pPr>
              <a:spcBef>
                <a:spcPts val="400"/>
              </a:spcBef>
            </a:pPr>
            <a:r>
              <a:rPr sz="1200" b="1">
                <a:solidFill>
                  <a:srgbClr val="EB1000"/>
                </a:solidFill>
              </a:rPr>
              <a:t>Part 9  </a:t>
            </a:r>
            <a:r>
              <a:rPr sz="1200">
                <a:solidFill>
                  <a:srgbClr val="1A1A1A"/>
                </a:solidFill>
              </a:rPr>
              <a:t>Streaming &amp; Observability</a:t>
            </a:r>
          </a:p>
          <a:p>
            <a:pPr>
              <a:spcBef>
                <a:spcPts val="400"/>
              </a:spcBef>
            </a:pPr>
            <a:r>
              <a:rPr sz="1200" b="1">
                <a:solidFill>
                  <a:srgbClr val="EB1000"/>
                </a:solidFill>
              </a:rPr>
              <a:t>Part 10  </a:t>
            </a:r>
            <a:r>
              <a:rPr sz="1200">
                <a:solidFill>
                  <a:srgbClr val="1A1A1A"/>
                </a:solidFill>
              </a:rPr>
              <a:t>RAG — Retrieval-Augmented Generation</a:t>
            </a:r>
          </a:p>
        </p:txBody>
      </p:sp>
      <p:sp>
        <p:nvSpPr>
          <p:cNvPr id="4" name="TextBox 3"/>
          <p:cNvSpPr txBox="1"/>
          <p:nvPr/>
        </p:nvSpPr>
        <p:spPr>
          <a:xfrm>
            <a:off x="6400800" y="1325880"/>
            <a:ext cx="5394960" cy="5120640"/>
          </a:xfrm>
          <a:prstGeom prst="rect">
            <a:avLst/>
          </a:prstGeom>
          <a:noFill/>
        </p:spPr>
        <p:txBody>
          <a:bodyPr wrap="square">
            <a:spAutoFit/>
          </a:bodyPr>
          <a:lstStyle/>
          <a:p>
            <a:pPr>
              <a:spcBef>
                <a:spcPts val="200"/>
              </a:spcBef>
            </a:pPr>
            <a:r>
              <a:rPr sz="1100" b="1">
                <a:solidFill>
                  <a:srgbClr val="1A1A1A"/>
                </a:solidFill>
              </a:rPr>
              <a:t>What we build — Problem → Solution arc:</a:t>
            </a:r>
          </a:p>
          <a:p>
            <a:endParaRPr sz="1100" b="1">
              <a:solidFill>
                <a:srgbClr val="1A1A1A"/>
              </a:solidFill>
            </a:endParaRPr>
          </a:p>
          <a:p>
            <a:pPr>
              <a:spcBef>
                <a:spcPts val="300"/>
              </a:spcBef>
            </a:pPr>
            <a:r>
              <a:rPr sz="1100" b="1">
                <a:solidFill>
                  <a:srgbClr val="EB1000"/>
                </a:solidFill>
              </a:rPr>
              <a:t>Problem 1  </a:t>
            </a:r>
            <a:r>
              <a:rPr sz="1100">
                <a:solidFill>
                  <a:srgbClr val="555555"/>
                </a:solidFill>
              </a:rPr>
              <a:t>50 lines of if/else  →  3 lines of ChatModel</a:t>
            </a:r>
          </a:p>
          <a:p>
            <a:pPr>
              <a:spcBef>
                <a:spcPts val="300"/>
              </a:spcBef>
            </a:pPr>
            <a:r>
              <a:rPr sz="1100" b="1">
                <a:solidFill>
                  <a:srgbClr val="EB1000"/>
                </a:solidFill>
              </a:rPr>
              <a:t>Problem 2  </a:t>
            </a:r>
            <a:r>
              <a:rPr sz="1100">
                <a:solidFill>
                  <a:srgbClr val="555555"/>
                </a:solidFill>
              </a:rPr>
              <a:t>No AI identity  →  systemMessage()</a:t>
            </a:r>
          </a:p>
          <a:p>
            <a:pPr>
              <a:spcBef>
                <a:spcPts val="300"/>
              </a:spcBef>
            </a:pPr>
            <a:r>
              <a:rPr sz="1100" b="1">
                <a:solidFill>
                  <a:srgbClr val="EB1000"/>
                </a:solidFill>
              </a:rPr>
              <a:t>Problem 3  </a:t>
            </a:r>
            <a:r>
              <a:rPr sz="1100">
                <a:solidFill>
                  <a:srgbClr val="555555"/>
                </a:solidFill>
              </a:rPr>
              <a:t>No memory  →  CHATMEMORY</a:t>
            </a:r>
          </a:p>
          <a:p>
            <a:pPr>
              <a:spcBef>
                <a:spcPts val="300"/>
              </a:spcBef>
            </a:pPr>
            <a:r>
              <a:rPr sz="1100" b="1">
                <a:solidFill>
                  <a:srgbClr val="EB1000"/>
                </a:solidFill>
              </a:rPr>
              <a:t>Problem 4  </a:t>
            </a:r>
            <a:r>
              <a:rPr sz="1100">
                <a:solidFill>
                  <a:srgbClr val="555555"/>
                </a:solidFill>
              </a:rPr>
              <a:t>No real data  →  Function Tools</a:t>
            </a:r>
          </a:p>
          <a:p>
            <a:pPr>
              <a:spcBef>
                <a:spcPts val="300"/>
              </a:spcBef>
            </a:pPr>
            <a:r>
              <a:rPr sz="1100" b="1">
                <a:solidFill>
                  <a:srgbClr val="EB1000"/>
                </a:solidFill>
              </a:rPr>
              <a:t>Problem 5  </a:t>
            </a:r>
            <a:r>
              <a:rPr sz="1100">
                <a:solidFill>
                  <a:srgbClr val="555555"/>
                </a:solidFill>
              </a:rPr>
              <a:t>PII leakage  →  OUTPUTGUARDRAIL</a:t>
            </a:r>
          </a:p>
          <a:p>
            <a:pPr>
              <a:spcBef>
                <a:spcPts val="300"/>
              </a:spcBef>
            </a:pPr>
            <a:r>
              <a:rPr sz="1100" b="1">
                <a:solidFill>
                  <a:srgbClr val="EB1000"/>
                </a:solidFill>
              </a:rPr>
              <a:t>Problem 6  </a:t>
            </a:r>
            <a:r>
              <a:rPr sz="1100">
                <a:solidFill>
                  <a:srgbClr val="555555"/>
                </a:solidFill>
              </a:rPr>
              <a:t>Mock tickets  →  MCP + real email</a:t>
            </a:r>
          </a:p>
          <a:p>
            <a:pPr>
              <a:spcBef>
                <a:spcPts val="300"/>
              </a:spcBef>
            </a:pPr>
            <a:r>
              <a:rPr sz="1100" b="1">
                <a:solidFill>
                  <a:srgbClr val="EB1000"/>
                </a:solidFill>
              </a:rPr>
              <a:t>Problem 7  </a:t>
            </a:r>
            <a:r>
              <a:rPr sz="1100">
                <a:solidFill>
                  <a:srgbClr val="555555"/>
                </a:solidFill>
              </a:rPr>
              <a:t>No observability  →  STREAMINGHANDLER</a:t>
            </a:r>
          </a:p>
          <a:p>
            <a:pPr>
              <a:spcBef>
                <a:spcPts val="300"/>
              </a:spcBef>
            </a:pPr>
            <a:r>
              <a:rPr sz="1100" b="1">
                <a:solidFill>
                  <a:srgbClr val="EB1000"/>
                </a:solidFill>
              </a:rPr>
              <a:t>Problem 8  </a:t>
            </a:r>
            <a:r>
              <a:rPr sz="1100">
                <a:solidFill>
                  <a:srgbClr val="555555"/>
                </a:solidFill>
              </a:rPr>
              <a:t>Policy confusion  →  RAG</a:t>
            </a:r>
          </a:p>
          <a:p>
            <a:endParaRPr sz="1100">
              <a:solidFill>
                <a:srgbClr val="555555"/>
              </a:solidFill>
            </a:endParaRPr>
          </a:p>
          <a:p>
            <a:pPr>
              <a:spcBef>
                <a:spcPts val="200"/>
              </a:spcBef>
            </a:pPr>
            <a:r>
              <a:rPr sz="1100" b="1">
                <a:solidFill>
                  <a:srgbClr val="EB1000"/>
                </a:solidFill>
              </a:rPr>
              <a:t>Each problem = one new feature  ·  8 steps to production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468880"/>
            <a:ext cx="10972800" cy="1371600"/>
          </a:xfrm>
          <a:prstGeom prst="rect">
            <a:avLst/>
          </a:prstGeom>
          <a:noFill/>
        </p:spPr>
        <p:txBody>
          <a:bodyPr wrap="square">
            <a:spAutoFit/>
          </a:bodyPr>
          <a:lstStyle/>
          <a:p>
            <a:pPr algn="l"/>
            <a:r>
              <a:rPr sz="3400" b="1" i="0">
                <a:solidFill>
                  <a:srgbClr val="FFFFFF"/>
                </a:solidFill>
              </a:rPr>
              <a:t>Part 1: Introduction to Large Language Models</a:t>
            </a:r>
          </a:p>
        </p:txBody>
      </p:sp>
      <p:sp>
        <p:nvSpPr>
          <p:cNvPr id="5" name="TextBox 4"/>
          <p:cNvSpPr txBox="1"/>
          <p:nvPr/>
        </p:nvSpPr>
        <p:spPr>
          <a:xfrm>
            <a:off x="502920" y="3931920"/>
            <a:ext cx="10972800" cy="594360"/>
          </a:xfrm>
          <a:prstGeom prst="rect">
            <a:avLst/>
          </a:prstGeom>
          <a:noFill/>
        </p:spPr>
        <p:txBody>
          <a:bodyPr wrap="square">
            <a:spAutoFit/>
          </a:bodyPr>
          <a:lstStyle/>
          <a:p>
            <a:pPr algn="l"/>
            <a:r>
              <a:rPr sz="1600" b="0" i="0">
                <a:solidFill>
                  <a:srgbClr val="AAAAAA"/>
                </a:solidFill>
              </a:rPr>
              <a:t>What they are  ·  How they work  ·  Key concepts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dirty="0"/>
              <a:t>What is a Large Language Model?</a:t>
            </a:r>
          </a:p>
        </p:txBody>
      </p:sp>
      <p:sp>
        <p:nvSpPr>
          <p:cNvPr id="3" name="TextBox 2"/>
          <p:cNvSpPr txBox="1"/>
          <p:nvPr/>
        </p:nvSpPr>
        <p:spPr>
          <a:xfrm>
            <a:off x="517645" y="1395350"/>
            <a:ext cx="11488308" cy="1836400"/>
          </a:xfrm>
          <a:prstGeom prst="rect">
            <a:avLst/>
          </a:prstGeom>
          <a:noFill/>
        </p:spPr>
        <p:txBody>
          <a:bodyPr wrap="square">
            <a:spAutoFit/>
          </a:bodyPr>
          <a:lstStyle/>
          <a:p>
            <a:pPr>
              <a:spcBef>
                <a:spcPts val="700"/>
              </a:spcBef>
            </a:pPr>
            <a:r>
              <a:rPr b="1" dirty="0">
                <a:solidFill>
                  <a:srgbClr val="EB1000"/>
                </a:solidFill>
              </a:rPr>
              <a:t>Trained on vast text  </a:t>
            </a:r>
            <a:r>
              <a:rPr dirty="0">
                <a:solidFill>
                  <a:srgbClr val="1A1A1A"/>
                </a:solidFill>
              </a:rPr>
              <a:t>— books, web pages, code, papers, forums: trillions of tokens</a:t>
            </a:r>
          </a:p>
          <a:p>
            <a:pPr>
              <a:spcBef>
                <a:spcPts val="700"/>
              </a:spcBef>
            </a:pPr>
            <a:r>
              <a:rPr b="1" dirty="0">
                <a:solidFill>
                  <a:srgbClr val="EB1000"/>
                </a:solidFill>
              </a:rPr>
              <a:t>Predicts the next token  </a:t>
            </a:r>
            <a:r>
              <a:rPr dirty="0">
                <a:solidFill>
                  <a:srgbClr val="1A1A1A"/>
                </a:solidFill>
              </a:rPr>
              <a:t>— given context, produces a probability distribution over possible next words</a:t>
            </a:r>
          </a:p>
          <a:p>
            <a:pPr>
              <a:spcBef>
                <a:spcPts val="700"/>
              </a:spcBef>
            </a:pPr>
            <a:r>
              <a:rPr b="1" dirty="0">
                <a:solidFill>
                  <a:srgbClr val="EB1000"/>
                </a:solidFill>
              </a:rPr>
              <a:t>No explicit rules  </a:t>
            </a:r>
            <a:r>
              <a:rPr dirty="0">
                <a:solidFill>
                  <a:srgbClr val="1A1A1A"/>
                </a:solidFill>
              </a:rPr>
              <a:t>— statistical patterns emerge from billions of examples; nothing is hand-coded</a:t>
            </a:r>
          </a:p>
          <a:p>
            <a:pPr>
              <a:spcBef>
                <a:spcPts val="700"/>
              </a:spcBef>
            </a:pPr>
            <a:r>
              <a:rPr b="1" dirty="0">
                <a:solidFill>
                  <a:srgbClr val="EB1000"/>
                </a:solidFill>
              </a:rPr>
              <a:t>Billions of parameters  </a:t>
            </a:r>
            <a:r>
              <a:rPr dirty="0">
                <a:solidFill>
                  <a:srgbClr val="1A1A1A"/>
                </a:solidFill>
              </a:rPr>
              <a:t>— GPT-4: ~1 trillion estimated · Llama 3.1 8B: 8 billion, tuned during training</a:t>
            </a:r>
          </a:p>
          <a:p>
            <a:pPr>
              <a:spcBef>
                <a:spcPts val="700"/>
              </a:spcBef>
            </a:pPr>
            <a:r>
              <a:rPr b="1" dirty="0">
                <a:solidFill>
                  <a:srgbClr val="EB1000"/>
                </a:solidFill>
              </a:rPr>
              <a:t>Fundamentally stateless  </a:t>
            </a:r>
            <a:r>
              <a:rPr dirty="0">
                <a:solidFill>
                  <a:srgbClr val="1A1A1A"/>
                </a:solidFill>
              </a:rPr>
              <a:t>— the model has no memory; all context must be sent with every single request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dirty="0"/>
              <a:t>What Shapes an LLM's Output — The Knobs You'll Configure</a:t>
            </a:r>
          </a:p>
        </p:txBody>
      </p:sp>
      <p:sp>
        <p:nvSpPr>
          <p:cNvPr id="3" name="TextBox 2"/>
          <p:cNvSpPr txBox="1"/>
          <p:nvPr/>
        </p:nvSpPr>
        <p:spPr>
          <a:xfrm>
            <a:off x="612647" y="1417320"/>
            <a:ext cx="10324527" cy="5075748"/>
          </a:xfrm>
          <a:prstGeom prst="rect">
            <a:avLst/>
          </a:prstGeom>
          <a:noFill/>
        </p:spPr>
        <p:txBody>
          <a:bodyPr wrap="square">
            <a:spAutoFit/>
          </a:bodyPr>
          <a:lstStyle/>
          <a:p>
            <a:pPr>
              <a:spcBef>
                <a:spcPts val="800"/>
              </a:spcBef>
            </a:pPr>
            <a:r>
              <a:rPr b="1" dirty="0">
                <a:solidFill>
                  <a:srgbClr val="EB1000"/>
                </a:solidFill>
              </a:rPr>
              <a:t>Tokenization  </a:t>
            </a:r>
          </a:p>
          <a:p>
            <a:pPr>
              <a:spcBef>
                <a:spcPts val="100"/>
              </a:spcBef>
            </a:pPr>
            <a:r>
              <a:rPr dirty="0">
                <a:solidFill>
                  <a:srgbClr val="555555"/>
                </a:solidFill>
              </a:rPr>
              <a:t>  Text → tokens (not words). "ColdFusion" = 2-3 tokens.</a:t>
            </a:r>
          </a:p>
          <a:p>
            <a:pPr>
              <a:spcBef>
                <a:spcPts val="100"/>
              </a:spcBef>
            </a:pPr>
            <a:r>
              <a:rPr dirty="0">
                <a:solidFill>
                  <a:srgbClr val="555555"/>
                </a:solidFill>
              </a:rPr>
              <a:t>  You pay per token, not per word.</a:t>
            </a:r>
          </a:p>
          <a:p>
            <a:pPr>
              <a:spcBef>
                <a:spcPts val="800"/>
              </a:spcBef>
            </a:pPr>
            <a:r>
              <a:rPr b="1" dirty="0">
                <a:solidFill>
                  <a:srgbClr val="EB1000"/>
                </a:solidFill>
              </a:rPr>
              <a:t>Context window  </a:t>
            </a:r>
          </a:p>
          <a:p>
            <a:pPr>
              <a:spcBef>
                <a:spcPts val="100"/>
              </a:spcBef>
            </a:pPr>
            <a:r>
              <a:rPr dirty="0">
                <a:solidFill>
                  <a:srgbClr val="555555"/>
                </a:solidFill>
              </a:rPr>
              <a:t>  Your total token budget per call (input + output).</a:t>
            </a:r>
          </a:p>
          <a:p>
            <a:pPr>
              <a:spcBef>
                <a:spcPts val="100"/>
              </a:spcBef>
            </a:pPr>
            <a:r>
              <a:rPr dirty="0">
                <a:solidFill>
                  <a:srgbClr val="555555"/>
                </a:solidFill>
              </a:rPr>
              <a:t>  GPT-4o: 128K tokens. CHATMEMORY, MAXTOKENS, and RAG</a:t>
            </a:r>
          </a:p>
          <a:p>
            <a:pPr>
              <a:spcBef>
                <a:spcPts val="100"/>
              </a:spcBef>
            </a:pPr>
            <a:r>
              <a:rPr dirty="0">
                <a:solidFill>
                  <a:srgbClr val="555555"/>
                </a:solidFill>
              </a:rPr>
              <a:t>  all exist because of this limit.</a:t>
            </a:r>
          </a:p>
          <a:p>
            <a:pPr>
              <a:spcBef>
                <a:spcPts val="800"/>
              </a:spcBef>
            </a:pPr>
            <a:r>
              <a:rPr b="1" dirty="0">
                <a:solidFill>
                  <a:srgbClr val="EB1000"/>
                </a:solidFill>
              </a:rPr>
              <a:t>Temperature  </a:t>
            </a:r>
          </a:p>
          <a:p>
            <a:pPr>
              <a:spcBef>
                <a:spcPts val="100"/>
              </a:spcBef>
            </a:pPr>
            <a:r>
              <a:rPr dirty="0">
                <a:solidFill>
                  <a:srgbClr val="555555"/>
                </a:solidFill>
              </a:rPr>
              <a:t>  Randomness dial. 0 = most likely token every time.</a:t>
            </a:r>
          </a:p>
          <a:p>
            <a:pPr>
              <a:spcBef>
                <a:spcPts val="100"/>
              </a:spcBef>
            </a:pPr>
            <a:r>
              <a:rPr dirty="0">
                <a:solidFill>
                  <a:srgbClr val="555555"/>
                </a:solidFill>
              </a:rPr>
              <a:t>  2.0 = very random. Controls creativity vs reliability.</a:t>
            </a:r>
          </a:p>
          <a:p>
            <a:pPr>
              <a:spcBef>
                <a:spcPts val="800"/>
              </a:spcBef>
            </a:pPr>
            <a:r>
              <a:rPr b="1" dirty="0">
                <a:solidFill>
                  <a:srgbClr val="EB1000"/>
                </a:solidFill>
              </a:rPr>
              <a:t>Top-P / Top-K  </a:t>
            </a:r>
          </a:p>
          <a:p>
            <a:pPr>
              <a:spcBef>
                <a:spcPts val="100"/>
              </a:spcBef>
            </a:pPr>
            <a:r>
              <a:rPr dirty="0">
                <a:solidFill>
                  <a:srgbClr val="555555"/>
                </a:solidFill>
              </a:rPr>
              <a:t>  Sampling limits. Top-P uses probability mass;</a:t>
            </a:r>
          </a:p>
          <a:p>
            <a:pPr>
              <a:spcBef>
                <a:spcPts val="100"/>
              </a:spcBef>
            </a:pPr>
            <a:r>
              <a:rPr dirty="0">
                <a:solidFill>
                  <a:srgbClr val="555555"/>
                </a:solidFill>
              </a:rPr>
              <a:t>  Top-K limits candidate count. Usually leave as defaults.</a:t>
            </a:r>
          </a:p>
          <a:p>
            <a:pPr>
              <a:spcBef>
                <a:spcPts val="800"/>
              </a:spcBef>
            </a:pPr>
            <a:r>
              <a:rPr b="1" dirty="0">
                <a:solidFill>
                  <a:srgbClr val="EB1000"/>
                </a:solidFill>
              </a:rPr>
              <a:t>Max tokens  </a:t>
            </a:r>
          </a:p>
          <a:p>
            <a:pPr>
              <a:spcBef>
                <a:spcPts val="100"/>
              </a:spcBef>
            </a:pPr>
            <a:r>
              <a:rPr dirty="0">
                <a:solidFill>
                  <a:srgbClr val="555555"/>
                </a:solidFill>
              </a:rPr>
              <a:t>  Hard cap on output length. Model stops here even</a:t>
            </a:r>
          </a:p>
          <a:p>
            <a:pPr>
              <a:spcBef>
                <a:spcPts val="100"/>
              </a:spcBef>
            </a:pPr>
            <a:r>
              <a:rPr dirty="0">
                <a:solidFill>
                  <a:srgbClr val="555555"/>
                </a:solidFill>
              </a:rPr>
              <a:t>  mid-sentence. Always set this — unbounded = expensive.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468880"/>
            <a:ext cx="10972800" cy="1371600"/>
          </a:xfrm>
          <a:prstGeom prst="rect">
            <a:avLst/>
          </a:prstGeom>
          <a:noFill/>
        </p:spPr>
        <p:txBody>
          <a:bodyPr wrap="square">
            <a:spAutoFit/>
          </a:bodyPr>
          <a:lstStyle/>
          <a:p>
            <a:pPr algn="l"/>
            <a:r>
              <a:rPr sz="3400" b="1" i="0">
                <a:solidFill>
                  <a:srgbClr val="FFFFFF"/>
                </a:solidFill>
              </a:rPr>
              <a:t>Part 2: ChatModel in ColdFusion 2025</a:t>
            </a:r>
          </a:p>
        </p:txBody>
      </p:sp>
      <p:sp>
        <p:nvSpPr>
          <p:cNvPr id="5" name="TextBox 4"/>
          <p:cNvSpPr txBox="1"/>
          <p:nvPr/>
        </p:nvSpPr>
        <p:spPr>
          <a:xfrm>
            <a:off x="502920" y="3931920"/>
            <a:ext cx="10972800" cy="338554"/>
          </a:xfrm>
          <a:prstGeom prst="rect">
            <a:avLst/>
          </a:prstGeom>
          <a:noFill/>
        </p:spPr>
        <p:txBody>
          <a:bodyPr wrap="square">
            <a:spAutoFit/>
          </a:bodyPr>
          <a:lstStyle/>
          <a:p>
            <a:r>
              <a:rPr lang="en-US" sz="1600" dirty="0">
                <a:solidFill>
                  <a:srgbClr val="AAAAAA"/>
                </a:solidFill>
              </a:rPr>
              <a:t> Provider Landscape ·  </a:t>
            </a:r>
            <a:r>
              <a:rPr sz="1600" b="0" i="0" dirty="0">
                <a:solidFill>
                  <a:srgbClr val="AAAAAA"/>
                </a:solidFill>
              </a:rPr>
              <a:t>Syntax  ·  Universal parameters  ·  Provider-specific differences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64085"/>
            <a:ext cx="10969752" cy="714323"/>
          </a:xfrm>
        </p:spPr>
        <p:txBody>
          <a:bodyPr/>
          <a:lstStyle/>
          <a:p>
            <a:r>
              <a:rPr sz="2800" b="1" dirty="0"/>
              <a:t>AI Provider Landscape — CF 2025</a:t>
            </a:r>
          </a:p>
        </p:txBody>
      </p:sp>
      <p:sp>
        <p:nvSpPr>
          <p:cNvPr id="3" name="Rectangle 2"/>
          <p:cNvSpPr/>
          <p:nvPr/>
        </p:nvSpPr>
        <p:spPr>
          <a:xfrm>
            <a:off x="612648" y="1389888"/>
            <a:ext cx="1828800" cy="365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 name="TextBox 3"/>
          <p:cNvSpPr txBox="1"/>
          <p:nvPr/>
        </p:nvSpPr>
        <p:spPr>
          <a:xfrm>
            <a:off x="658368" y="1435608"/>
            <a:ext cx="1737360" cy="338554"/>
          </a:xfrm>
          <a:prstGeom prst="rect">
            <a:avLst/>
          </a:prstGeom>
          <a:noFill/>
        </p:spPr>
        <p:txBody>
          <a:bodyPr wrap="square">
            <a:spAutoFit/>
          </a:bodyPr>
          <a:lstStyle/>
          <a:p>
            <a:pPr algn="l"/>
            <a:r>
              <a:rPr sz="1800" b="1" i="0" dirty="0">
                <a:solidFill>
                  <a:srgbClr val="FFFFFF"/>
                </a:solidFill>
              </a:rPr>
              <a:t>Provider</a:t>
            </a:r>
          </a:p>
        </p:txBody>
      </p:sp>
      <p:sp>
        <p:nvSpPr>
          <p:cNvPr id="5" name="Rectangle 4"/>
          <p:cNvSpPr/>
          <p:nvPr/>
        </p:nvSpPr>
        <p:spPr>
          <a:xfrm>
            <a:off x="2468880" y="1389888"/>
            <a:ext cx="2286000" cy="365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TextBox 5"/>
          <p:cNvSpPr txBox="1"/>
          <p:nvPr/>
        </p:nvSpPr>
        <p:spPr>
          <a:xfrm>
            <a:off x="2514600" y="1435608"/>
            <a:ext cx="2194560" cy="338554"/>
          </a:xfrm>
          <a:prstGeom prst="rect">
            <a:avLst/>
          </a:prstGeom>
          <a:noFill/>
        </p:spPr>
        <p:txBody>
          <a:bodyPr wrap="square">
            <a:spAutoFit/>
          </a:bodyPr>
          <a:lstStyle/>
          <a:p>
            <a:pPr algn="l"/>
            <a:r>
              <a:rPr sz="1800" b="1" i="0">
                <a:solidFill>
                  <a:srgbClr val="FFFFFF"/>
                </a:solidFill>
              </a:rPr>
              <a:t>PROVIDER value</a:t>
            </a:r>
          </a:p>
        </p:txBody>
      </p:sp>
      <p:sp>
        <p:nvSpPr>
          <p:cNvPr id="7" name="Rectangle 6"/>
          <p:cNvSpPr/>
          <p:nvPr/>
        </p:nvSpPr>
        <p:spPr>
          <a:xfrm>
            <a:off x="4800600" y="1389888"/>
            <a:ext cx="2606040" cy="365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p:cNvSpPr txBox="1"/>
          <p:nvPr/>
        </p:nvSpPr>
        <p:spPr>
          <a:xfrm>
            <a:off x="4846320" y="1435608"/>
            <a:ext cx="2514600" cy="338554"/>
          </a:xfrm>
          <a:prstGeom prst="rect">
            <a:avLst/>
          </a:prstGeom>
          <a:noFill/>
        </p:spPr>
        <p:txBody>
          <a:bodyPr wrap="square">
            <a:spAutoFit/>
          </a:bodyPr>
          <a:lstStyle/>
          <a:p>
            <a:pPr algn="l"/>
            <a:r>
              <a:rPr sz="1800" b="1" i="0">
                <a:solidFill>
                  <a:srgbClr val="FFFFFF"/>
                </a:solidFill>
              </a:rPr>
              <a:t>Key Models</a:t>
            </a:r>
          </a:p>
        </p:txBody>
      </p:sp>
      <p:sp>
        <p:nvSpPr>
          <p:cNvPr id="9" name="Rectangle 8"/>
          <p:cNvSpPr/>
          <p:nvPr/>
        </p:nvSpPr>
        <p:spPr>
          <a:xfrm>
            <a:off x="7452360" y="1389888"/>
            <a:ext cx="4526280" cy="365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7498080" y="1435608"/>
            <a:ext cx="4434840" cy="338554"/>
          </a:xfrm>
          <a:prstGeom prst="rect">
            <a:avLst/>
          </a:prstGeom>
          <a:noFill/>
        </p:spPr>
        <p:txBody>
          <a:bodyPr wrap="square">
            <a:spAutoFit/>
          </a:bodyPr>
          <a:lstStyle/>
          <a:p>
            <a:pPr algn="l"/>
            <a:r>
              <a:rPr sz="1800" b="1" i="0">
                <a:solidFill>
                  <a:srgbClr val="FFFFFF"/>
                </a:solidFill>
              </a:rPr>
              <a:t>Notes</a:t>
            </a:r>
          </a:p>
        </p:txBody>
      </p:sp>
      <p:sp>
        <p:nvSpPr>
          <p:cNvPr id="11" name="Rectangle 10"/>
          <p:cNvSpPr/>
          <p:nvPr/>
        </p:nvSpPr>
        <p:spPr>
          <a:xfrm>
            <a:off x="612648" y="1755648"/>
            <a:ext cx="1828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TextBox 11"/>
          <p:cNvSpPr txBox="1"/>
          <p:nvPr/>
        </p:nvSpPr>
        <p:spPr>
          <a:xfrm>
            <a:off x="658368" y="1847088"/>
            <a:ext cx="1737360" cy="338554"/>
          </a:xfrm>
          <a:prstGeom prst="rect">
            <a:avLst/>
          </a:prstGeom>
          <a:noFill/>
        </p:spPr>
        <p:txBody>
          <a:bodyPr wrap="square">
            <a:spAutoFit/>
          </a:bodyPr>
          <a:lstStyle/>
          <a:p>
            <a:pPr algn="l"/>
            <a:r>
              <a:rPr sz="1800" b="1" i="0" dirty="0">
                <a:solidFill>
                  <a:srgbClr val="1A1A1A"/>
                </a:solidFill>
              </a:rPr>
              <a:t>OpenAI</a:t>
            </a:r>
          </a:p>
        </p:txBody>
      </p:sp>
      <p:sp>
        <p:nvSpPr>
          <p:cNvPr id="13" name="Rectangle 12"/>
          <p:cNvSpPr/>
          <p:nvPr/>
        </p:nvSpPr>
        <p:spPr>
          <a:xfrm>
            <a:off x="2468880" y="1755648"/>
            <a:ext cx="22860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2514600" y="1847088"/>
            <a:ext cx="2194560" cy="338554"/>
          </a:xfrm>
          <a:prstGeom prst="rect">
            <a:avLst/>
          </a:prstGeom>
          <a:solidFill>
            <a:srgbClr val="000000"/>
          </a:solidFill>
        </p:spPr>
        <p:txBody>
          <a:bodyPr wrap="square">
            <a:spAutoFit/>
          </a:bodyPr>
          <a:lstStyle/>
          <a:p>
            <a:pPr algn="l"/>
            <a:r>
              <a:rPr sz="1800" b="0" i="0">
                <a:solidFill>
                  <a:srgbClr val="CE9178"/>
                </a:solidFill>
                <a:latin typeface="Courier New"/>
              </a:rPr>
              <a:t>"openai"</a:t>
            </a:r>
          </a:p>
        </p:txBody>
      </p:sp>
      <p:sp>
        <p:nvSpPr>
          <p:cNvPr id="15" name="Rectangle 14"/>
          <p:cNvSpPr/>
          <p:nvPr/>
        </p:nvSpPr>
        <p:spPr>
          <a:xfrm>
            <a:off x="4800600" y="1755648"/>
            <a:ext cx="26060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TextBox 15"/>
          <p:cNvSpPr txBox="1"/>
          <p:nvPr/>
        </p:nvSpPr>
        <p:spPr>
          <a:xfrm>
            <a:off x="4846320" y="1847088"/>
            <a:ext cx="2514600" cy="338554"/>
          </a:xfrm>
          <a:prstGeom prst="rect">
            <a:avLst/>
          </a:prstGeom>
          <a:noFill/>
        </p:spPr>
        <p:txBody>
          <a:bodyPr wrap="square">
            <a:spAutoFit/>
          </a:bodyPr>
          <a:lstStyle/>
          <a:p>
            <a:pPr algn="l"/>
            <a:r>
              <a:rPr sz="1800" b="0" i="0">
                <a:solidFill>
                  <a:srgbClr val="1A1A1A"/>
                </a:solidFill>
              </a:rPr>
              <a:t>gpt-4o, gpt-4o-mini, gpt-5</a:t>
            </a:r>
          </a:p>
        </p:txBody>
      </p:sp>
      <p:sp>
        <p:nvSpPr>
          <p:cNvPr id="17" name="Rectangle 16"/>
          <p:cNvSpPr/>
          <p:nvPr/>
        </p:nvSpPr>
        <p:spPr>
          <a:xfrm>
            <a:off x="7452360" y="1755648"/>
            <a:ext cx="45262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TextBox 17"/>
          <p:cNvSpPr txBox="1"/>
          <p:nvPr/>
        </p:nvSpPr>
        <p:spPr>
          <a:xfrm>
            <a:off x="7498080" y="1847088"/>
            <a:ext cx="4434840" cy="584775"/>
          </a:xfrm>
          <a:prstGeom prst="rect">
            <a:avLst/>
          </a:prstGeom>
          <a:noFill/>
        </p:spPr>
        <p:txBody>
          <a:bodyPr wrap="square">
            <a:spAutoFit/>
          </a:bodyPr>
          <a:lstStyle/>
          <a:p>
            <a:pPr algn="l"/>
            <a:r>
              <a:rPr sz="1800" b="0" i="0">
                <a:solidFill>
                  <a:srgbClr val="1A1A1A"/>
                </a:solidFill>
              </a:rPr>
              <a:t>Most popular · broadest feature set · APIKEY required</a:t>
            </a:r>
          </a:p>
        </p:txBody>
      </p:sp>
      <p:sp>
        <p:nvSpPr>
          <p:cNvPr id="19" name="Rectangle 18"/>
          <p:cNvSpPr/>
          <p:nvPr/>
        </p:nvSpPr>
        <p:spPr>
          <a:xfrm>
            <a:off x="612648" y="2185415"/>
            <a:ext cx="182880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0" name="TextBox 19"/>
          <p:cNvSpPr txBox="1"/>
          <p:nvPr/>
        </p:nvSpPr>
        <p:spPr>
          <a:xfrm>
            <a:off x="658368" y="2276856"/>
            <a:ext cx="1737360" cy="338554"/>
          </a:xfrm>
          <a:prstGeom prst="rect">
            <a:avLst/>
          </a:prstGeom>
          <a:noFill/>
        </p:spPr>
        <p:txBody>
          <a:bodyPr wrap="square">
            <a:spAutoFit/>
          </a:bodyPr>
          <a:lstStyle/>
          <a:p>
            <a:pPr algn="l"/>
            <a:r>
              <a:rPr sz="1800" b="1" i="0">
                <a:solidFill>
                  <a:srgbClr val="1A1A1A"/>
                </a:solidFill>
              </a:rPr>
              <a:t>Anthropic</a:t>
            </a:r>
          </a:p>
        </p:txBody>
      </p:sp>
      <p:sp>
        <p:nvSpPr>
          <p:cNvPr id="21" name="Rectangle 20"/>
          <p:cNvSpPr/>
          <p:nvPr/>
        </p:nvSpPr>
        <p:spPr>
          <a:xfrm>
            <a:off x="2468880" y="2185415"/>
            <a:ext cx="228600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TextBox 21"/>
          <p:cNvSpPr txBox="1"/>
          <p:nvPr/>
        </p:nvSpPr>
        <p:spPr>
          <a:xfrm>
            <a:off x="2514600" y="2276856"/>
            <a:ext cx="2194560" cy="338554"/>
          </a:xfrm>
          <a:prstGeom prst="rect">
            <a:avLst/>
          </a:prstGeom>
          <a:solidFill>
            <a:srgbClr val="000000"/>
          </a:solidFill>
        </p:spPr>
        <p:txBody>
          <a:bodyPr wrap="square">
            <a:spAutoFit/>
          </a:bodyPr>
          <a:lstStyle/>
          <a:p>
            <a:pPr algn="l"/>
            <a:r>
              <a:rPr sz="1800" b="0" i="0">
                <a:solidFill>
                  <a:srgbClr val="CE9178"/>
                </a:solidFill>
                <a:latin typeface="Courier New"/>
              </a:rPr>
              <a:t>"anthropic"</a:t>
            </a:r>
          </a:p>
        </p:txBody>
      </p:sp>
      <p:sp>
        <p:nvSpPr>
          <p:cNvPr id="23" name="Rectangle 22"/>
          <p:cNvSpPr/>
          <p:nvPr/>
        </p:nvSpPr>
        <p:spPr>
          <a:xfrm>
            <a:off x="4800600" y="2185415"/>
            <a:ext cx="260604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4" name="TextBox 23"/>
          <p:cNvSpPr txBox="1"/>
          <p:nvPr/>
        </p:nvSpPr>
        <p:spPr>
          <a:xfrm>
            <a:off x="4846320" y="2276856"/>
            <a:ext cx="2514600" cy="584775"/>
          </a:xfrm>
          <a:prstGeom prst="rect">
            <a:avLst/>
          </a:prstGeom>
          <a:noFill/>
        </p:spPr>
        <p:txBody>
          <a:bodyPr wrap="square">
            <a:spAutoFit/>
          </a:bodyPr>
          <a:lstStyle/>
          <a:p>
            <a:pPr algn="l"/>
            <a:r>
              <a:rPr sz="1800" b="0" i="0">
                <a:solidFill>
                  <a:srgbClr val="1A1A1A"/>
                </a:solidFill>
              </a:rPr>
              <a:t>claude-sonnet-4-6, claude-haiku-4-5</a:t>
            </a:r>
          </a:p>
        </p:txBody>
      </p:sp>
      <p:sp>
        <p:nvSpPr>
          <p:cNvPr id="25" name="Rectangle 24"/>
          <p:cNvSpPr/>
          <p:nvPr/>
        </p:nvSpPr>
        <p:spPr>
          <a:xfrm>
            <a:off x="7452360" y="2185415"/>
            <a:ext cx="452628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7498080" y="2276856"/>
            <a:ext cx="4434840" cy="338554"/>
          </a:xfrm>
          <a:prstGeom prst="rect">
            <a:avLst/>
          </a:prstGeom>
          <a:noFill/>
        </p:spPr>
        <p:txBody>
          <a:bodyPr wrap="square">
            <a:spAutoFit/>
          </a:bodyPr>
          <a:lstStyle/>
          <a:p>
            <a:pPr algn="l"/>
            <a:r>
              <a:rPr sz="1800" b="0" i="0">
                <a:solidFill>
                  <a:srgbClr val="1A1A1A"/>
                </a:solidFill>
              </a:rPr>
              <a:t>Temperature 0–1 · thinking mode · APIKEY required</a:t>
            </a:r>
          </a:p>
        </p:txBody>
      </p:sp>
      <p:sp>
        <p:nvSpPr>
          <p:cNvPr id="27" name="Rectangle 26"/>
          <p:cNvSpPr/>
          <p:nvPr/>
        </p:nvSpPr>
        <p:spPr>
          <a:xfrm>
            <a:off x="612648" y="2615184"/>
            <a:ext cx="1828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658368" y="2706624"/>
            <a:ext cx="1737360" cy="338554"/>
          </a:xfrm>
          <a:prstGeom prst="rect">
            <a:avLst/>
          </a:prstGeom>
          <a:noFill/>
        </p:spPr>
        <p:txBody>
          <a:bodyPr wrap="square">
            <a:spAutoFit/>
          </a:bodyPr>
          <a:lstStyle/>
          <a:p>
            <a:pPr algn="l"/>
            <a:r>
              <a:rPr sz="1800" b="1" i="0" dirty="0">
                <a:solidFill>
                  <a:srgbClr val="1A1A1A"/>
                </a:solidFill>
              </a:rPr>
              <a:t>Azure OpenAI</a:t>
            </a:r>
          </a:p>
        </p:txBody>
      </p:sp>
      <p:sp>
        <p:nvSpPr>
          <p:cNvPr id="29" name="Rectangle 28"/>
          <p:cNvSpPr/>
          <p:nvPr/>
        </p:nvSpPr>
        <p:spPr>
          <a:xfrm>
            <a:off x="2468880" y="2615184"/>
            <a:ext cx="22860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0" name="TextBox 29"/>
          <p:cNvSpPr txBox="1"/>
          <p:nvPr/>
        </p:nvSpPr>
        <p:spPr>
          <a:xfrm>
            <a:off x="2514600" y="2706624"/>
            <a:ext cx="2194560" cy="338554"/>
          </a:xfrm>
          <a:prstGeom prst="rect">
            <a:avLst/>
          </a:prstGeom>
          <a:solidFill>
            <a:srgbClr val="000000"/>
          </a:solidFill>
        </p:spPr>
        <p:txBody>
          <a:bodyPr wrap="square">
            <a:spAutoFit/>
          </a:bodyPr>
          <a:lstStyle/>
          <a:p>
            <a:pPr algn="l"/>
            <a:r>
              <a:rPr sz="1800" b="0" i="0">
                <a:solidFill>
                  <a:srgbClr val="CE9178"/>
                </a:solidFill>
                <a:latin typeface="Courier New"/>
              </a:rPr>
              <a:t>"azureopenai"</a:t>
            </a:r>
          </a:p>
        </p:txBody>
      </p:sp>
      <p:sp>
        <p:nvSpPr>
          <p:cNvPr id="31" name="Rectangle 30"/>
          <p:cNvSpPr/>
          <p:nvPr/>
        </p:nvSpPr>
        <p:spPr>
          <a:xfrm>
            <a:off x="4800600" y="2615184"/>
            <a:ext cx="26060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TextBox 31"/>
          <p:cNvSpPr txBox="1"/>
          <p:nvPr/>
        </p:nvSpPr>
        <p:spPr>
          <a:xfrm>
            <a:off x="4846320" y="2706624"/>
            <a:ext cx="2514600" cy="338554"/>
          </a:xfrm>
          <a:prstGeom prst="rect">
            <a:avLst/>
          </a:prstGeom>
          <a:noFill/>
        </p:spPr>
        <p:txBody>
          <a:bodyPr wrap="square">
            <a:spAutoFit/>
          </a:bodyPr>
          <a:lstStyle/>
          <a:p>
            <a:pPr algn="l"/>
            <a:r>
              <a:rPr sz="1800" b="0" i="0">
                <a:solidFill>
                  <a:srgbClr val="1A1A1A"/>
                </a:solidFill>
              </a:rPr>
              <a:t>Your deployment name</a:t>
            </a:r>
          </a:p>
        </p:txBody>
      </p:sp>
      <p:sp>
        <p:nvSpPr>
          <p:cNvPr id="33" name="Rectangle 32"/>
          <p:cNvSpPr/>
          <p:nvPr/>
        </p:nvSpPr>
        <p:spPr>
          <a:xfrm>
            <a:off x="7452360" y="2615184"/>
            <a:ext cx="45262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4" name="TextBox 33"/>
          <p:cNvSpPr txBox="1"/>
          <p:nvPr/>
        </p:nvSpPr>
        <p:spPr>
          <a:xfrm>
            <a:off x="7498080" y="2706624"/>
            <a:ext cx="4434840" cy="584775"/>
          </a:xfrm>
          <a:prstGeom prst="rect">
            <a:avLst/>
          </a:prstGeom>
          <a:noFill/>
        </p:spPr>
        <p:txBody>
          <a:bodyPr wrap="square">
            <a:spAutoFit/>
          </a:bodyPr>
          <a:lstStyle/>
          <a:p>
            <a:pPr algn="l"/>
            <a:r>
              <a:rPr sz="1800" b="0" i="0">
                <a:solidFill>
                  <a:srgbClr val="1A1A1A"/>
                </a:solidFill>
              </a:rPr>
              <a:t>BASEURL required · enterprise compliance · APIKEY required</a:t>
            </a:r>
          </a:p>
        </p:txBody>
      </p:sp>
      <p:sp>
        <p:nvSpPr>
          <p:cNvPr id="35" name="Rectangle 34"/>
          <p:cNvSpPr/>
          <p:nvPr/>
        </p:nvSpPr>
        <p:spPr>
          <a:xfrm>
            <a:off x="612648" y="3044952"/>
            <a:ext cx="182880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6" name="TextBox 35"/>
          <p:cNvSpPr txBox="1"/>
          <p:nvPr/>
        </p:nvSpPr>
        <p:spPr>
          <a:xfrm>
            <a:off x="658368" y="3136392"/>
            <a:ext cx="1737360" cy="338554"/>
          </a:xfrm>
          <a:prstGeom prst="rect">
            <a:avLst/>
          </a:prstGeom>
          <a:noFill/>
        </p:spPr>
        <p:txBody>
          <a:bodyPr wrap="square">
            <a:spAutoFit/>
          </a:bodyPr>
          <a:lstStyle/>
          <a:p>
            <a:pPr algn="l"/>
            <a:r>
              <a:rPr sz="1800" b="1" i="0">
                <a:solidFill>
                  <a:srgbClr val="1A1A1A"/>
                </a:solidFill>
              </a:rPr>
              <a:t>Mistral</a:t>
            </a:r>
          </a:p>
        </p:txBody>
      </p:sp>
      <p:sp>
        <p:nvSpPr>
          <p:cNvPr id="37" name="Rectangle 36"/>
          <p:cNvSpPr/>
          <p:nvPr/>
        </p:nvSpPr>
        <p:spPr>
          <a:xfrm>
            <a:off x="2468880" y="3044952"/>
            <a:ext cx="228600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8" name="TextBox 37"/>
          <p:cNvSpPr txBox="1"/>
          <p:nvPr/>
        </p:nvSpPr>
        <p:spPr>
          <a:xfrm>
            <a:off x="2514600" y="3136392"/>
            <a:ext cx="2194560" cy="338554"/>
          </a:xfrm>
          <a:prstGeom prst="rect">
            <a:avLst/>
          </a:prstGeom>
          <a:solidFill>
            <a:srgbClr val="000000"/>
          </a:solidFill>
        </p:spPr>
        <p:txBody>
          <a:bodyPr wrap="square">
            <a:spAutoFit/>
          </a:bodyPr>
          <a:lstStyle/>
          <a:p>
            <a:pPr algn="l"/>
            <a:r>
              <a:rPr sz="1800" b="0" i="0">
                <a:solidFill>
                  <a:srgbClr val="CE9178"/>
                </a:solidFill>
                <a:latin typeface="Courier New"/>
              </a:rPr>
              <a:t>"mistral"</a:t>
            </a:r>
          </a:p>
        </p:txBody>
      </p:sp>
      <p:sp>
        <p:nvSpPr>
          <p:cNvPr id="39" name="Rectangle 38"/>
          <p:cNvSpPr/>
          <p:nvPr/>
        </p:nvSpPr>
        <p:spPr>
          <a:xfrm>
            <a:off x="4800600" y="3044952"/>
            <a:ext cx="260604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0" name="TextBox 39"/>
          <p:cNvSpPr txBox="1"/>
          <p:nvPr/>
        </p:nvSpPr>
        <p:spPr>
          <a:xfrm>
            <a:off x="4846320" y="3136392"/>
            <a:ext cx="2514600" cy="584775"/>
          </a:xfrm>
          <a:prstGeom prst="rect">
            <a:avLst/>
          </a:prstGeom>
          <a:noFill/>
        </p:spPr>
        <p:txBody>
          <a:bodyPr wrap="square">
            <a:spAutoFit/>
          </a:bodyPr>
          <a:lstStyle/>
          <a:p>
            <a:pPr algn="l"/>
            <a:r>
              <a:rPr sz="1800" b="0" i="0">
                <a:solidFill>
                  <a:srgbClr val="1A1A1A"/>
                </a:solidFill>
              </a:rPr>
              <a:t>mistral-large-latest, mistral-small</a:t>
            </a:r>
          </a:p>
        </p:txBody>
      </p:sp>
      <p:sp>
        <p:nvSpPr>
          <p:cNvPr id="41" name="Rectangle 40"/>
          <p:cNvSpPr/>
          <p:nvPr/>
        </p:nvSpPr>
        <p:spPr>
          <a:xfrm>
            <a:off x="7452360" y="3044952"/>
            <a:ext cx="452628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2" name="TextBox 41"/>
          <p:cNvSpPr txBox="1"/>
          <p:nvPr/>
        </p:nvSpPr>
        <p:spPr>
          <a:xfrm>
            <a:off x="7498080" y="3136392"/>
            <a:ext cx="4434840" cy="338554"/>
          </a:xfrm>
          <a:prstGeom prst="rect">
            <a:avLst/>
          </a:prstGeom>
          <a:noFill/>
        </p:spPr>
        <p:txBody>
          <a:bodyPr wrap="square">
            <a:spAutoFit/>
          </a:bodyPr>
          <a:lstStyle/>
          <a:p>
            <a:pPr algn="l"/>
            <a:r>
              <a:rPr sz="1800" b="0" i="0">
                <a:solidFill>
                  <a:srgbClr val="1A1A1A"/>
                </a:solidFill>
              </a:rPr>
              <a:t>Temperature 0–1 · penalty range 0–1 (not −2 to 2)</a:t>
            </a:r>
          </a:p>
        </p:txBody>
      </p:sp>
      <p:sp>
        <p:nvSpPr>
          <p:cNvPr id="43" name="Rectangle 42"/>
          <p:cNvSpPr/>
          <p:nvPr/>
        </p:nvSpPr>
        <p:spPr>
          <a:xfrm>
            <a:off x="612648" y="3474720"/>
            <a:ext cx="18288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4" name="TextBox 43"/>
          <p:cNvSpPr txBox="1"/>
          <p:nvPr/>
        </p:nvSpPr>
        <p:spPr>
          <a:xfrm>
            <a:off x="658368" y="3566160"/>
            <a:ext cx="1737360" cy="338554"/>
          </a:xfrm>
          <a:prstGeom prst="rect">
            <a:avLst/>
          </a:prstGeom>
          <a:noFill/>
        </p:spPr>
        <p:txBody>
          <a:bodyPr wrap="square">
            <a:spAutoFit/>
          </a:bodyPr>
          <a:lstStyle/>
          <a:p>
            <a:pPr algn="l"/>
            <a:r>
              <a:rPr sz="1800" b="1" i="0" dirty="0">
                <a:solidFill>
                  <a:srgbClr val="1A1A1A"/>
                </a:solidFill>
              </a:rPr>
              <a:t>Ollama</a:t>
            </a:r>
          </a:p>
        </p:txBody>
      </p:sp>
      <p:sp>
        <p:nvSpPr>
          <p:cNvPr id="45" name="Rectangle 44"/>
          <p:cNvSpPr/>
          <p:nvPr/>
        </p:nvSpPr>
        <p:spPr>
          <a:xfrm>
            <a:off x="2468880" y="3474720"/>
            <a:ext cx="22860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6" name="TextBox 45"/>
          <p:cNvSpPr txBox="1"/>
          <p:nvPr/>
        </p:nvSpPr>
        <p:spPr>
          <a:xfrm>
            <a:off x="2514600" y="3566160"/>
            <a:ext cx="2194560" cy="338554"/>
          </a:xfrm>
          <a:prstGeom prst="rect">
            <a:avLst/>
          </a:prstGeom>
          <a:solidFill>
            <a:srgbClr val="000000"/>
          </a:solidFill>
        </p:spPr>
        <p:txBody>
          <a:bodyPr wrap="square">
            <a:spAutoFit/>
          </a:bodyPr>
          <a:lstStyle/>
          <a:p>
            <a:pPr algn="l"/>
            <a:r>
              <a:rPr sz="1800" b="0" i="0">
                <a:solidFill>
                  <a:srgbClr val="CE9178"/>
                </a:solidFill>
                <a:latin typeface="Courier New"/>
              </a:rPr>
              <a:t>"ollama"</a:t>
            </a:r>
          </a:p>
        </p:txBody>
      </p:sp>
      <p:sp>
        <p:nvSpPr>
          <p:cNvPr id="47" name="Rectangle 46"/>
          <p:cNvSpPr/>
          <p:nvPr/>
        </p:nvSpPr>
        <p:spPr>
          <a:xfrm>
            <a:off x="4800600" y="3474720"/>
            <a:ext cx="260604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8" name="TextBox 47"/>
          <p:cNvSpPr txBox="1"/>
          <p:nvPr/>
        </p:nvSpPr>
        <p:spPr>
          <a:xfrm>
            <a:off x="4846320" y="3566160"/>
            <a:ext cx="2514600" cy="338554"/>
          </a:xfrm>
          <a:prstGeom prst="rect">
            <a:avLst/>
          </a:prstGeom>
          <a:noFill/>
        </p:spPr>
        <p:txBody>
          <a:bodyPr wrap="square">
            <a:spAutoFit/>
          </a:bodyPr>
          <a:lstStyle/>
          <a:p>
            <a:pPr algn="l"/>
            <a:r>
              <a:rPr sz="1800" b="0" i="0">
                <a:solidFill>
                  <a:srgbClr val="1A1A1A"/>
                </a:solidFill>
              </a:rPr>
              <a:t>llama3.2, mistral, phi3</a:t>
            </a:r>
          </a:p>
        </p:txBody>
      </p:sp>
      <p:sp>
        <p:nvSpPr>
          <p:cNvPr id="49" name="Rectangle 48"/>
          <p:cNvSpPr/>
          <p:nvPr/>
        </p:nvSpPr>
        <p:spPr>
          <a:xfrm>
            <a:off x="7452360" y="3474720"/>
            <a:ext cx="45262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0" name="TextBox 49"/>
          <p:cNvSpPr txBox="1"/>
          <p:nvPr/>
        </p:nvSpPr>
        <p:spPr>
          <a:xfrm>
            <a:off x="7498080" y="3566160"/>
            <a:ext cx="4434840" cy="338554"/>
          </a:xfrm>
          <a:prstGeom prst="rect">
            <a:avLst/>
          </a:prstGeom>
          <a:noFill/>
        </p:spPr>
        <p:txBody>
          <a:bodyPr wrap="square">
            <a:spAutoFit/>
          </a:bodyPr>
          <a:lstStyle/>
          <a:p>
            <a:pPr algn="l"/>
            <a:r>
              <a:rPr sz="1800" b="0" i="0">
                <a:solidFill>
                  <a:srgbClr val="1A1A1A"/>
                </a:solidFill>
              </a:rPr>
              <a:t>Local models · no APIKEY · BASEURL required</a:t>
            </a:r>
          </a:p>
        </p:txBody>
      </p:sp>
      <p:sp>
        <p:nvSpPr>
          <p:cNvPr id="51" name="Rectangle 50"/>
          <p:cNvSpPr/>
          <p:nvPr/>
        </p:nvSpPr>
        <p:spPr>
          <a:xfrm>
            <a:off x="612648" y="3904487"/>
            <a:ext cx="182880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2" name="TextBox 51"/>
          <p:cNvSpPr txBox="1"/>
          <p:nvPr/>
        </p:nvSpPr>
        <p:spPr>
          <a:xfrm>
            <a:off x="658368" y="3995927"/>
            <a:ext cx="1737360" cy="338554"/>
          </a:xfrm>
          <a:prstGeom prst="rect">
            <a:avLst/>
          </a:prstGeom>
          <a:noFill/>
        </p:spPr>
        <p:txBody>
          <a:bodyPr wrap="square">
            <a:spAutoFit/>
          </a:bodyPr>
          <a:lstStyle/>
          <a:p>
            <a:pPr algn="l"/>
            <a:r>
              <a:rPr sz="1800" b="1" i="0" dirty="0">
                <a:solidFill>
                  <a:srgbClr val="1A1A1A"/>
                </a:solidFill>
              </a:rPr>
              <a:t>Google Gemini</a:t>
            </a:r>
          </a:p>
        </p:txBody>
      </p:sp>
      <p:sp>
        <p:nvSpPr>
          <p:cNvPr id="53" name="Rectangle 52"/>
          <p:cNvSpPr/>
          <p:nvPr/>
        </p:nvSpPr>
        <p:spPr>
          <a:xfrm>
            <a:off x="2468880" y="3904487"/>
            <a:ext cx="228600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4" name="TextBox 53"/>
          <p:cNvSpPr txBox="1"/>
          <p:nvPr/>
        </p:nvSpPr>
        <p:spPr>
          <a:xfrm>
            <a:off x="2514600" y="3995927"/>
            <a:ext cx="2194560" cy="338554"/>
          </a:xfrm>
          <a:prstGeom prst="rect">
            <a:avLst/>
          </a:prstGeom>
          <a:solidFill>
            <a:srgbClr val="000000"/>
          </a:solidFill>
        </p:spPr>
        <p:txBody>
          <a:bodyPr wrap="square">
            <a:spAutoFit/>
          </a:bodyPr>
          <a:lstStyle/>
          <a:p>
            <a:pPr algn="l"/>
            <a:r>
              <a:rPr sz="1800" b="0" i="0">
                <a:solidFill>
                  <a:srgbClr val="CE9178"/>
                </a:solidFill>
                <a:latin typeface="Courier New"/>
              </a:rPr>
              <a:t>"gemini"</a:t>
            </a:r>
          </a:p>
        </p:txBody>
      </p:sp>
      <p:sp>
        <p:nvSpPr>
          <p:cNvPr id="55" name="Rectangle 54"/>
          <p:cNvSpPr/>
          <p:nvPr/>
        </p:nvSpPr>
        <p:spPr>
          <a:xfrm>
            <a:off x="4800600" y="3904487"/>
            <a:ext cx="260604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6" name="TextBox 55"/>
          <p:cNvSpPr txBox="1"/>
          <p:nvPr/>
        </p:nvSpPr>
        <p:spPr>
          <a:xfrm>
            <a:off x="4846320" y="3995927"/>
            <a:ext cx="2514600" cy="584775"/>
          </a:xfrm>
          <a:prstGeom prst="rect">
            <a:avLst/>
          </a:prstGeom>
          <a:noFill/>
        </p:spPr>
        <p:txBody>
          <a:bodyPr wrap="square">
            <a:spAutoFit/>
          </a:bodyPr>
          <a:lstStyle/>
          <a:p>
            <a:pPr algn="l"/>
            <a:r>
              <a:rPr sz="1800" b="0" i="0" dirty="0">
                <a:solidFill>
                  <a:srgbClr val="1A1A1A"/>
                </a:solidFill>
              </a:rPr>
              <a:t>gemini-2.0-flash-001, gemini-1.5-pro</a:t>
            </a:r>
          </a:p>
        </p:txBody>
      </p:sp>
      <p:sp>
        <p:nvSpPr>
          <p:cNvPr id="57" name="Rectangle 56"/>
          <p:cNvSpPr/>
          <p:nvPr/>
        </p:nvSpPr>
        <p:spPr>
          <a:xfrm>
            <a:off x="7452360" y="3904487"/>
            <a:ext cx="4526280" cy="411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8" name="TextBox 57"/>
          <p:cNvSpPr txBox="1"/>
          <p:nvPr/>
        </p:nvSpPr>
        <p:spPr>
          <a:xfrm>
            <a:off x="7498080" y="3995927"/>
            <a:ext cx="4434840" cy="338554"/>
          </a:xfrm>
          <a:prstGeom prst="rect">
            <a:avLst/>
          </a:prstGeom>
          <a:noFill/>
        </p:spPr>
        <p:txBody>
          <a:bodyPr wrap="square">
            <a:spAutoFit/>
          </a:bodyPr>
          <a:lstStyle/>
          <a:p>
            <a:pPr algn="l"/>
            <a:r>
              <a:rPr sz="1800" b="0" i="0">
                <a:solidFill>
                  <a:srgbClr val="1A1A1A"/>
                </a:solidFill>
              </a:rPr>
              <a:t>Temperature 0–2 · APIKEY from Google AI Studio</a:t>
            </a:r>
          </a:p>
        </p:txBody>
      </p:sp>
      <p:sp>
        <p:nvSpPr>
          <p:cNvPr id="59" name="TextBox 58"/>
          <p:cNvSpPr txBox="1"/>
          <p:nvPr/>
        </p:nvSpPr>
        <p:spPr>
          <a:xfrm>
            <a:off x="612648" y="5253115"/>
            <a:ext cx="11274552" cy="338554"/>
          </a:xfrm>
          <a:prstGeom prst="rect">
            <a:avLst/>
          </a:prstGeom>
          <a:noFill/>
        </p:spPr>
        <p:txBody>
          <a:bodyPr wrap="square">
            <a:spAutoFit/>
          </a:bodyPr>
          <a:lstStyle/>
          <a:p>
            <a:pPr algn="l"/>
            <a:r>
              <a:rPr sz="1800" b="0" i="1" dirty="0">
                <a:solidFill>
                  <a:srgbClr val="888888"/>
                </a:solidFill>
              </a:rPr>
              <a:t>* All providers use the same .chat() call — switching provider = changing two config values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dirty="0" err="1"/>
              <a:t>ChatModel</a:t>
            </a:r>
            <a:r>
              <a:rPr sz="3000" b="1" dirty="0"/>
              <a:t>() — Syntax</a:t>
            </a:r>
          </a:p>
        </p:txBody>
      </p:sp>
      <p:sp>
        <p:nvSpPr>
          <p:cNvPr id="4" name="TextBox 3"/>
          <p:cNvSpPr txBox="1"/>
          <p:nvPr/>
        </p:nvSpPr>
        <p:spPr>
          <a:xfrm>
            <a:off x="7699248" y="1417320"/>
            <a:ext cx="4251960" cy="411480"/>
          </a:xfrm>
          <a:prstGeom prst="rect">
            <a:avLst/>
          </a:prstGeom>
          <a:solidFill>
            <a:srgbClr val="000000"/>
          </a:solidFill>
        </p:spPr>
        <p:txBody>
          <a:bodyPr wrap="none" lIns="109728" tIns="54864" bIns="54864">
            <a:spAutoFit/>
          </a:bodyPr>
          <a:lstStyle/>
          <a:p>
            <a:pPr>
              <a:spcBef>
                <a:spcPts val="300"/>
              </a:spcBef>
            </a:pPr>
            <a:r>
              <a:rPr sz="1300" b="1" dirty="0">
                <a:solidFill>
                  <a:srgbClr val="9CDCFE"/>
                </a:solidFill>
                <a:latin typeface="Courier New"/>
              </a:rPr>
              <a:t>Response Object</a:t>
            </a:r>
            <a:endParaRPr lang="en-US" sz="1100" dirty="0">
              <a:solidFill>
                <a:srgbClr val="555555"/>
              </a:solidFill>
            </a:endParaRPr>
          </a:p>
        </p:txBody>
      </p:sp>
      <p:pic>
        <p:nvPicPr>
          <p:cNvPr id="8" name="Picture 7">
            <a:extLst>
              <a:ext uri="{FF2B5EF4-FFF2-40B4-BE49-F238E27FC236}">
                <a16:creationId xmlns:a16="http://schemas.microsoft.com/office/drawing/2014/main" id="{626D722B-DAA3-61DE-4CAA-ED51B4175EFD}"/>
              </a:ext>
            </a:extLst>
          </p:cNvPr>
          <p:cNvPicPr>
            <a:picLocks noChangeAspect="1"/>
          </p:cNvPicPr>
          <p:nvPr/>
        </p:nvPicPr>
        <p:blipFill>
          <a:blip r:embed="rId3"/>
          <a:stretch>
            <a:fillRect/>
          </a:stretch>
        </p:blipFill>
        <p:spPr>
          <a:xfrm>
            <a:off x="7699248" y="1920240"/>
            <a:ext cx="4251960" cy="2896909"/>
          </a:xfrm>
          <a:prstGeom prst="rect">
            <a:avLst/>
          </a:prstGeom>
        </p:spPr>
      </p:pic>
      <p:sp>
        <p:nvSpPr>
          <p:cNvPr id="30" name="TextBox 29"/>
          <p:cNvSpPr txBox="1"/>
          <p:nvPr/>
        </p:nvSpPr>
        <p:spPr>
          <a:xfrm>
            <a:off x="612648" y="1417320"/>
            <a:ext cx="6858000" cy="2286000"/>
          </a:xfrm>
          <a:prstGeom prst="rect">
            <a:avLst/>
          </a:prstGeom>
          <a:solidFill>
            <a:srgbClr val="000000"/>
          </a:solidFill>
        </p:spPr>
        <p:txBody>
          <a:bodyPr wrap="none" lIns="109728" tIns="91440" bIns="73152">
            <a:spAutoFit/>
          </a:bodyPr>
          <a:lstStyle/>
          <a:p>
            <a:pPr>
              <a:lnSpc>
                <a:spcPct val="115000"/>
              </a:lnSpc>
              <a:spcBef>
                <a:spcPts val="0"/>
              </a:spcBef>
            </a:pPr>
            <a:r>
              <a:rPr sz="1300" b="0" dirty="0">
                <a:solidFill>
                  <a:srgbClr val="6A9955"/>
                </a:solidFill>
                <a:latin typeface="Courier New"/>
              </a:rPr>
              <a:t>// 1. Inline config</a:t>
            </a:r>
          </a:p>
          <a:p>
            <a:pPr>
              <a:lnSpc>
                <a:spcPct val="115000"/>
              </a:lnSpc>
              <a:spcBef>
                <a:spcPts val="0"/>
              </a:spcBef>
            </a:pPr>
            <a:r>
              <a:rPr sz="1300" b="0" dirty="0" err="1">
                <a:solidFill>
                  <a:srgbClr val="9CDCFE"/>
                </a:solidFill>
                <a:latin typeface="Courier New"/>
              </a:rPr>
              <a:t>chatModel</a:t>
            </a:r>
            <a:r>
              <a:rPr sz="1300" b="0" dirty="0">
                <a:solidFill>
                  <a:srgbClr val="D4D4D4"/>
                </a:solidFill>
                <a:latin typeface="Courier New"/>
              </a:rPr>
              <a:t> = </a:t>
            </a:r>
            <a:r>
              <a:rPr sz="1300" b="0" dirty="0" err="1">
                <a:solidFill>
                  <a:srgbClr val="4EC9B0"/>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9CDCFE"/>
                </a:solidFill>
                <a:latin typeface="Courier New"/>
              </a:rPr>
              <a:t>    PROVIDER    </a:t>
            </a:r>
            <a:r>
              <a:rPr sz="1300" b="0" dirty="0">
                <a:solidFill>
                  <a:srgbClr val="D4D4D4"/>
                </a:solidFill>
                <a:latin typeface="Courier New"/>
              </a:rPr>
              <a:t>: </a:t>
            </a:r>
            <a:r>
              <a:rPr sz="1300" b="0" dirty="0">
                <a:solidFill>
                  <a:srgbClr val="CE9178"/>
                </a:solidFill>
                <a:latin typeface="Courier New"/>
              </a:rPr>
              <a:t>"</a:t>
            </a:r>
            <a:r>
              <a:rPr sz="1300" b="0" dirty="0" err="1">
                <a:solidFill>
                  <a:srgbClr val="CE9178"/>
                </a:solidFill>
                <a:latin typeface="Courier New"/>
              </a:rPr>
              <a:t>openai</a:t>
            </a:r>
            <a:r>
              <a:rPr sz="1300" b="0" dirty="0">
                <a:solidFill>
                  <a:srgbClr val="CE9178"/>
                </a:solidFill>
                <a:latin typeface="Courier New"/>
              </a:rPr>
              <a:t>"</a:t>
            </a:r>
            <a:r>
              <a:rPr sz="1300" b="0" dirty="0">
                <a:solidFill>
                  <a:srgbClr val="D4D4D4"/>
                </a:solidFill>
                <a:latin typeface="Courier New"/>
              </a:rPr>
              <a:t>,</a:t>
            </a:r>
          </a:p>
          <a:p>
            <a:pPr>
              <a:lnSpc>
                <a:spcPct val="115000"/>
              </a:lnSpc>
              <a:spcBef>
                <a:spcPts val="0"/>
              </a:spcBef>
            </a:pPr>
            <a:r>
              <a:rPr sz="1300" b="0" dirty="0">
                <a:solidFill>
                  <a:srgbClr val="9CDCFE"/>
                </a:solidFill>
                <a:latin typeface="Courier New"/>
              </a:rPr>
              <a:t>    APIKEY      </a:t>
            </a:r>
            <a:r>
              <a:rPr sz="1300" b="0" dirty="0">
                <a:solidFill>
                  <a:srgbClr val="D4D4D4"/>
                </a:solidFill>
                <a:latin typeface="Courier New"/>
              </a:rPr>
              <a:t>: </a:t>
            </a:r>
            <a:r>
              <a:rPr sz="1300" b="0" dirty="0" err="1">
                <a:solidFill>
                  <a:srgbClr val="9CDCFE"/>
                </a:solidFill>
                <a:latin typeface="Courier New"/>
              </a:rPr>
              <a:t>application</a:t>
            </a:r>
            <a:r>
              <a:rPr sz="1300" b="0" dirty="0" err="1">
                <a:solidFill>
                  <a:srgbClr val="D4D4D4"/>
                </a:solidFill>
                <a:latin typeface="Courier New"/>
              </a:rPr>
              <a:t>.</a:t>
            </a:r>
            <a:r>
              <a:rPr sz="1300" b="0" dirty="0" err="1">
                <a:solidFill>
                  <a:srgbClr val="9CDCFE"/>
                </a:solidFill>
                <a:latin typeface="Courier New"/>
              </a:rPr>
              <a:t>openaiKey</a:t>
            </a:r>
            <a:r>
              <a:rPr sz="1300" b="0" dirty="0">
                <a:solidFill>
                  <a:srgbClr val="D4D4D4"/>
                </a:solidFill>
                <a:latin typeface="Courier New"/>
              </a:rPr>
              <a:t>,</a:t>
            </a:r>
          </a:p>
          <a:p>
            <a:pPr>
              <a:lnSpc>
                <a:spcPct val="115000"/>
              </a:lnSpc>
              <a:spcBef>
                <a:spcPts val="0"/>
              </a:spcBef>
            </a:pPr>
            <a:r>
              <a:rPr sz="1300" b="0" dirty="0">
                <a:solidFill>
                  <a:srgbClr val="9CDCFE"/>
                </a:solidFill>
                <a:latin typeface="Courier New"/>
              </a:rPr>
              <a:t>    MODELNAME   </a:t>
            </a:r>
            <a:r>
              <a:rPr sz="1300" b="0" dirty="0">
                <a:solidFill>
                  <a:srgbClr val="D4D4D4"/>
                </a:solidFill>
                <a:latin typeface="Courier New"/>
              </a:rPr>
              <a:t>: </a:t>
            </a:r>
            <a:r>
              <a:rPr sz="1300" b="0" dirty="0">
                <a:solidFill>
                  <a:srgbClr val="CE9178"/>
                </a:solidFill>
                <a:latin typeface="Courier New"/>
              </a:rPr>
              <a:t>"gpt-4o-mini"</a:t>
            </a:r>
            <a:r>
              <a:rPr sz="1300" b="0" dirty="0">
                <a:solidFill>
                  <a:srgbClr val="D4D4D4"/>
                </a:solidFill>
                <a:latin typeface="Courier New"/>
              </a:rPr>
              <a:t>,</a:t>
            </a:r>
          </a:p>
          <a:p>
            <a:pPr>
              <a:lnSpc>
                <a:spcPct val="115000"/>
              </a:lnSpc>
              <a:spcBef>
                <a:spcPts val="0"/>
              </a:spcBef>
            </a:pPr>
            <a:r>
              <a:rPr sz="1300" b="0" dirty="0">
                <a:solidFill>
                  <a:srgbClr val="9CDCFE"/>
                </a:solidFill>
                <a:latin typeface="Courier New"/>
              </a:rPr>
              <a:t>    TEMPERATURE </a:t>
            </a:r>
            <a:r>
              <a:rPr sz="1300" b="0" dirty="0">
                <a:solidFill>
                  <a:srgbClr val="D4D4D4"/>
                </a:solidFill>
                <a:latin typeface="Courier New"/>
              </a:rPr>
              <a:t>: </a:t>
            </a:r>
            <a:r>
              <a:rPr sz="1300" b="0" dirty="0">
                <a:solidFill>
                  <a:srgbClr val="B5CEA8"/>
                </a:solidFill>
                <a:latin typeface="Courier New"/>
              </a:rPr>
              <a:t>0.7</a:t>
            </a:r>
            <a:r>
              <a:rPr sz="1300" b="0" dirty="0">
                <a:solidFill>
                  <a:srgbClr val="D4D4D4"/>
                </a:solidFill>
                <a:latin typeface="Courier New"/>
              </a:rPr>
              <a:t>,</a:t>
            </a:r>
          </a:p>
          <a:p>
            <a:pPr>
              <a:lnSpc>
                <a:spcPct val="115000"/>
              </a:lnSpc>
              <a:spcBef>
                <a:spcPts val="0"/>
              </a:spcBef>
            </a:pPr>
            <a:r>
              <a:rPr sz="1300" b="0" dirty="0">
                <a:solidFill>
                  <a:srgbClr val="9CDCFE"/>
                </a:solidFill>
                <a:latin typeface="Courier New"/>
              </a:rPr>
              <a:t>    MAXTOKENS   </a:t>
            </a:r>
            <a:r>
              <a:rPr sz="1300" b="0" dirty="0">
                <a:solidFill>
                  <a:srgbClr val="D4D4D4"/>
                </a:solidFill>
                <a:latin typeface="Courier New"/>
              </a:rPr>
              <a:t>: </a:t>
            </a:r>
            <a:r>
              <a:rPr sz="1300" b="0" dirty="0">
                <a:solidFill>
                  <a:srgbClr val="B5CEA8"/>
                </a:solidFill>
                <a:latin typeface="Courier New"/>
              </a:rPr>
              <a:t>500</a:t>
            </a:r>
          </a:p>
          <a:p>
            <a:pPr>
              <a:lnSpc>
                <a:spcPct val="115000"/>
              </a:lnSpc>
              <a:spcBef>
                <a:spcPts val="0"/>
              </a:spcBef>
            </a:pPr>
            <a:r>
              <a:rPr sz="1300" b="0" dirty="0">
                <a:solidFill>
                  <a:srgbClr val="D4D4D4"/>
                </a:solidFill>
                <a:latin typeface="Courier New"/>
              </a:rPr>
              <a:t>});</a:t>
            </a:r>
          </a:p>
          <a:p>
            <a:pPr>
              <a:lnSpc>
                <a:spcPct val="115000"/>
              </a:lnSpc>
              <a:spcBef>
                <a:spcPts val="0"/>
              </a:spcBef>
            </a:pPr>
            <a:r>
              <a:rPr sz="1300" b="0" dirty="0">
                <a:solidFill>
                  <a:srgbClr val="9CDCFE"/>
                </a:solidFill>
                <a:latin typeface="Courier New"/>
              </a:rPr>
              <a:t>response</a:t>
            </a:r>
            <a:r>
              <a:rPr sz="1300" b="0" dirty="0">
                <a:solidFill>
                  <a:srgbClr val="D4D4D4"/>
                </a:solidFill>
                <a:latin typeface="Courier New"/>
              </a:rPr>
              <a:t> = </a:t>
            </a:r>
            <a:r>
              <a:rPr sz="1300" b="0" dirty="0" err="1">
                <a:solidFill>
                  <a:srgbClr val="9CDCFE"/>
                </a:solidFill>
                <a:latin typeface="Courier New"/>
              </a:rPr>
              <a:t>chatModel</a:t>
            </a:r>
            <a:r>
              <a:rPr sz="1300" b="0" dirty="0" err="1">
                <a:solidFill>
                  <a:srgbClr val="D4D4D4"/>
                </a:solidFill>
                <a:latin typeface="Courier New"/>
              </a:rPr>
              <a:t>.</a:t>
            </a:r>
            <a:r>
              <a:rPr sz="1300" b="0" dirty="0" err="1">
                <a:solidFill>
                  <a:srgbClr val="4EC9B0"/>
                </a:solidFill>
                <a:latin typeface="Courier New"/>
              </a:rPr>
              <a:t>chat</a:t>
            </a:r>
            <a:r>
              <a:rPr sz="1300" b="0" dirty="0">
                <a:solidFill>
                  <a:srgbClr val="D4D4D4"/>
                </a:solidFill>
                <a:latin typeface="Courier New"/>
              </a:rPr>
              <a:t>( </a:t>
            </a:r>
            <a:r>
              <a:rPr sz="1300" b="0" dirty="0">
                <a:solidFill>
                  <a:srgbClr val="CE9178"/>
                </a:solidFill>
                <a:latin typeface="Courier New"/>
              </a:rPr>
              <a:t>"What is ColdFusion?"</a:t>
            </a:r>
            <a:r>
              <a:rPr sz="1300" b="0" dirty="0">
                <a:solidFill>
                  <a:srgbClr val="D4D4D4"/>
                </a:solidFill>
                <a:latin typeface="Courier New"/>
              </a:rPr>
              <a:t> );</a:t>
            </a:r>
          </a:p>
        </p:txBody>
      </p:sp>
      <p:sp>
        <p:nvSpPr>
          <p:cNvPr id="31" name="TextBox 30"/>
          <p:cNvSpPr txBox="1"/>
          <p:nvPr/>
        </p:nvSpPr>
        <p:spPr>
          <a:xfrm>
            <a:off x="612648" y="3776472"/>
            <a:ext cx="6858000" cy="960120"/>
          </a:xfrm>
          <a:prstGeom prst="rect">
            <a:avLst/>
          </a:prstGeom>
          <a:solidFill>
            <a:srgbClr val="000000"/>
          </a:solidFill>
        </p:spPr>
        <p:txBody>
          <a:bodyPr wrap="none" lIns="109728" tIns="91440" bIns="73152">
            <a:spAutoFit/>
          </a:bodyPr>
          <a:lstStyle/>
          <a:p>
            <a:pPr>
              <a:lnSpc>
                <a:spcPct val="115000"/>
              </a:lnSpc>
              <a:spcBef>
                <a:spcPts val="0"/>
              </a:spcBef>
            </a:pPr>
            <a:r>
              <a:rPr sz="1300" b="0" dirty="0">
                <a:solidFill>
                  <a:srgbClr val="6A9955"/>
                </a:solidFill>
                <a:latin typeface="Courier New"/>
              </a:rPr>
              <a:t>// 2. CF Admin alias</a:t>
            </a:r>
          </a:p>
          <a:p>
            <a:pPr>
              <a:lnSpc>
                <a:spcPct val="115000"/>
              </a:lnSpc>
              <a:spcBef>
                <a:spcPts val="0"/>
              </a:spcBef>
            </a:pPr>
            <a:r>
              <a:rPr sz="1300" b="0" dirty="0" err="1">
                <a:solidFill>
                  <a:srgbClr val="9CDCFE"/>
                </a:solidFill>
                <a:latin typeface="Courier New"/>
              </a:rPr>
              <a:t>chatModel</a:t>
            </a:r>
            <a:r>
              <a:rPr sz="1300" b="0" dirty="0">
                <a:solidFill>
                  <a:srgbClr val="D4D4D4"/>
                </a:solidFill>
                <a:latin typeface="Courier New"/>
              </a:rPr>
              <a:t> = </a:t>
            </a:r>
            <a:r>
              <a:rPr sz="1300" b="0" dirty="0" err="1">
                <a:solidFill>
                  <a:srgbClr val="4EC9B0"/>
                </a:solidFill>
                <a:latin typeface="Courier New"/>
              </a:rPr>
              <a:t>ChatModel</a:t>
            </a:r>
            <a:r>
              <a:rPr sz="1300" b="0" dirty="0">
                <a:solidFill>
                  <a:srgbClr val="D4D4D4"/>
                </a:solidFill>
                <a:latin typeface="Courier New"/>
              </a:rPr>
              <a:t>( </a:t>
            </a:r>
            <a:r>
              <a:rPr sz="1300" b="0" dirty="0">
                <a:solidFill>
                  <a:srgbClr val="CE9178"/>
                </a:solidFill>
                <a:latin typeface="Courier New"/>
              </a:rPr>
              <a:t>"my-</a:t>
            </a:r>
            <a:r>
              <a:rPr sz="1300" b="0" dirty="0" err="1">
                <a:solidFill>
                  <a:srgbClr val="CE9178"/>
                </a:solidFill>
                <a:latin typeface="Courier New"/>
              </a:rPr>
              <a:t>openai</a:t>
            </a:r>
            <a:r>
              <a:rPr sz="1300" b="0" dirty="0">
                <a:solidFill>
                  <a:srgbClr val="CE9178"/>
                </a:solidFill>
                <a:latin typeface="Courier New"/>
              </a:rPr>
              <a:t>-alias"</a:t>
            </a:r>
            <a:r>
              <a:rPr sz="1300" b="0" dirty="0">
                <a:solidFill>
                  <a:srgbClr val="D4D4D4"/>
                </a:solidFill>
                <a:latin typeface="Courier New"/>
              </a:rPr>
              <a:t> );</a:t>
            </a:r>
          </a:p>
          <a:p>
            <a:pPr>
              <a:lnSpc>
                <a:spcPct val="115000"/>
              </a:lnSpc>
              <a:spcBef>
                <a:spcPts val="0"/>
              </a:spcBef>
            </a:pPr>
            <a:r>
              <a:rPr sz="1300" b="0" dirty="0">
                <a:solidFill>
                  <a:srgbClr val="9CDCFE"/>
                </a:solidFill>
                <a:latin typeface="Courier New"/>
              </a:rPr>
              <a:t>response</a:t>
            </a:r>
            <a:r>
              <a:rPr sz="1300" b="0" dirty="0">
                <a:solidFill>
                  <a:srgbClr val="D4D4D4"/>
                </a:solidFill>
                <a:latin typeface="Courier New"/>
              </a:rPr>
              <a:t>  = </a:t>
            </a:r>
            <a:r>
              <a:rPr sz="1300" b="0" dirty="0" err="1">
                <a:solidFill>
                  <a:srgbClr val="9CDCFE"/>
                </a:solidFill>
                <a:latin typeface="Courier New"/>
              </a:rPr>
              <a:t>chatModel</a:t>
            </a:r>
            <a:r>
              <a:rPr sz="1300" b="0" dirty="0" err="1">
                <a:solidFill>
                  <a:srgbClr val="D4D4D4"/>
                </a:solidFill>
                <a:latin typeface="Courier New"/>
              </a:rPr>
              <a:t>.</a:t>
            </a:r>
            <a:r>
              <a:rPr sz="1300" b="0" dirty="0" err="1">
                <a:solidFill>
                  <a:srgbClr val="4EC9B0"/>
                </a:solidFill>
                <a:latin typeface="Courier New"/>
              </a:rPr>
              <a:t>chat</a:t>
            </a:r>
            <a:r>
              <a:rPr sz="1300" b="0" dirty="0">
                <a:solidFill>
                  <a:srgbClr val="D4D4D4"/>
                </a:solidFill>
                <a:latin typeface="Courier New"/>
              </a:rPr>
              <a:t>( </a:t>
            </a:r>
            <a:r>
              <a:rPr sz="1300" b="0" dirty="0">
                <a:solidFill>
                  <a:srgbClr val="CE9178"/>
                </a:solidFill>
                <a:latin typeface="Courier New"/>
              </a:rPr>
              <a:t>"What is ColdFusion?"</a:t>
            </a:r>
            <a:r>
              <a:rPr sz="1300" b="0" dirty="0">
                <a:solidFill>
                  <a:srgbClr val="D4D4D4"/>
                </a:solidFill>
                <a:latin typeface="Courier New"/>
              </a:rPr>
              <a:t> );</a:t>
            </a:r>
          </a:p>
        </p:txBody>
      </p:sp>
      <p:sp>
        <p:nvSpPr>
          <p:cNvPr id="32" name="TextBox 31"/>
          <p:cNvSpPr txBox="1"/>
          <p:nvPr/>
        </p:nvSpPr>
        <p:spPr>
          <a:xfrm>
            <a:off x="612648" y="4809744"/>
            <a:ext cx="6858000" cy="1965960"/>
          </a:xfrm>
          <a:prstGeom prst="rect">
            <a:avLst/>
          </a:prstGeom>
          <a:solidFill>
            <a:srgbClr val="000000"/>
          </a:solidFill>
        </p:spPr>
        <p:txBody>
          <a:bodyPr wrap="none" lIns="109728" tIns="91440" bIns="73152">
            <a:spAutoFit/>
          </a:bodyPr>
          <a:lstStyle/>
          <a:p>
            <a:pPr>
              <a:lnSpc>
                <a:spcPct val="115000"/>
              </a:lnSpc>
              <a:spcBef>
                <a:spcPts val="0"/>
              </a:spcBef>
            </a:pPr>
            <a:r>
              <a:rPr sz="1300" b="0" dirty="0">
                <a:solidFill>
                  <a:srgbClr val="6A9955"/>
                </a:solidFill>
                <a:latin typeface="Courier New"/>
              </a:rPr>
              <a:t>// 3. Alias + runtime overrides</a:t>
            </a:r>
          </a:p>
          <a:p>
            <a:pPr>
              <a:lnSpc>
                <a:spcPct val="115000"/>
              </a:lnSpc>
              <a:spcBef>
                <a:spcPts val="0"/>
              </a:spcBef>
            </a:pPr>
            <a:r>
              <a:rPr sz="1300" b="0" dirty="0" err="1">
                <a:solidFill>
                  <a:srgbClr val="9CDCFE"/>
                </a:solidFill>
                <a:latin typeface="Courier New"/>
              </a:rPr>
              <a:t>chatModel</a:t>
            </a:r>
            <a:r>
              <a:rPr sz="1300" b="0" dirty="0">
                <a:solidFill>
                  <a:srgbClr val="D4D4D4"/>
                </a:solidFill>
                <a:latin typeface="Courier New"/>
              </a:rPr>
              <a:t> = </a:t>
            </a:r>
            <a:r>
              <a:rPr sz="1300" b="0" dirty="0" err="1">
                <a:solidFill>
                  <a:srgbClr val="4EC9B0"/>
                </a:solidFill>
                <a:latin typeface="Courier New"/>
              </a:rPr>
              <a:t>ChatModel</a:t>
            </a:r>
            <a:r>
              <a:rPr sz="1300" b="0" dirty="0">
                <a:solidFill>
                  <a:srgbClr val="D4D4D4"/>
                </a:solidFill>
                <a:latin typeface="Courier New"/>
              </a:rPr>
              <a:t>( </a:t>
            </a:r>
            <a:r>
              <a:rPr sz="1300" b="0" dirty="0">
                <a:solidFill>
                  <a:srgbClr val="CE9178"/>
                </a:solidFill>
                <a:latin typeface="Courier New"/>
              </a:rPr>
              <a:t>"my-</a:t>
            </a:r>
            <a:r>
              <a:rPr sz="1300" b="0" dirty="0" err="1">
                <a:solidFill>
                  <a:srgbClr val="CE9178"/>
                </a:solidFill>
                <a:latin typeface="Courier New"/>
              </a:rPr>
              <a:t>openai</a:t>
            </a:r>
            <a:r>
              <a:rPr sz="1300" b="0" dirty="0">
                <a:solidFill>
                  <a:srgbClr val="CE9178"/>
                </a:solidFill>
                <a:latin typeface="Courier New"/>
              </a:rPr>
              <a:t>-alias"</a:t>
            </a:r>
            <a:r>
              <a:rPr sz="1300" b="0" dirty="0">
                <a:solidFill>
                  <a:srgbClr val="D4D4D4"/>
                </a:solidFill>
                <a:latin typeface="Courier New"/>
              </a:rPr>
              <a:t>, {</a:t>
            </a:r>
          </a:p>
          <a:p>
            <a:pPr>
              <a:lnSpc>
                <a:spcPct val="115000"/>
              </a:lnSpc>
              <a:spcBef>
                <a:spcPts val="0"/>
              </a:spcBef>
            </a:pPr>
            <a:r>
              <a:rPr sz="1300" b="0" dirty="0">
                <a:solidFill>
                  <a:srgbClr val="9CDCFE"/>
                </a:solidFill>
                <a:latin typeface="Courier New"/>
              </a:rPr>
              <a:t>    TEMPERATURE </a:t>
            </a:r>
            <a:r>
              <a:rPr sz="1300" b="0" dirty="0">
                <a:solidFill>
                  <a:srgbClr val="D4D4D4"/>
                </a:solidFill>
                <a:latin typeface="Courier New"/>
              </a:rPr>
              <a:t>: </a:t>
            </a:r>
            <a:r>
              <a:rPr sz="1300" b="0" dirty="0">
                <a:solidFill>
                  <a:srgbClr val="B5CEA8"/>
                </a:solidFill>
                <a:latin typeface="Courier New"/>
              </a:rPr>
              <a:t>0.0</a:t>
            </a:r>
            <a:r>
              <a:rPr sz="1300" b="0" dirty="0">
                <a:solidFill>
                  <a:srgbClr val="D4D4D4"/>
                </a:solidFill>
                <a:latin typeface="Courier New"/>
              </a:rPr>
              <a:t>,</a:t>
            </a:r>
          </a:p>
          <a:p>
            <a:pPr>
              <a:lnSpc>
                <a:spcPct val="115000"/>
              </a:lnSpc>
              <a:spcBef>
                <a:spcPts val="0"/>
              </a:spcBef>
            </a:pPr>
            <a:r>
              <a:rPr sz="1300" b="0" dirty="0">
                <a:solidFill>
                  <a:srgbClr val="9CDCFE"/>
                </a:solidFill>
                <a:latin typeface="Courier New"/>
              </a:rPr>
              <a:t>    MAXTOKENS   </a:t>
            </a:r>
            <a:r>
              <a:rPr sz="1300" b="0" dirty="0">
                <a:solidFill>
                  <a:srgbClr val="D4D4D4"/>
                </a:solidFill>
                <a:latin typeface="Courier New"/>
              </a:rPr>
              <a:t>: </a:t>
            </a:r>
            <a:r>
              <a:rPr sz="1300" b="0" dirty="0">
                <a:solidFill>
                  <a:srgbClr val="B5CEA8"/>
                </a:solidFill>
                <a:latin typeface="Courier New"/>
              </a:rPr>
              <a:t>100</a:t>
            </a:r>
          </a:p>
          <a:p>
            <a:pPr>
              <a:lnSpc>
                <a:spcPct val="115000"/>
              </a:lnSpc>
              <a:spcBef>
                <a:spcPts val="0"/>
              </a:spcBef>
            </a:pPr>
            <a:r>
              <a:rPr sz="1300" b="0" dirty="0">
                <a:solidFill>
                  <a:srgbClr val="D4D4D4"/>
                </a:solidFill>
                <a:latin typeface="Courier New"/>
              </a:rPr>
              <a:t>});</a:t>
            </a:r>
          </a:p>
          <a:p>
            <a:pPr>
              <a:lnSpc>
                <a:spcPct val="115000"/>
              </a:lnSpc>
              <a:spcBef>
                <a:spcPts val="0"/>
              </a:spcBef>
            </a:pPr>
            <a:r>
              <a:rPr sz="1300" b="0" dirty="0">
                <a:solidFill>
                  <a:srgbClr val="9CDCFE"/>
                </a:solidFill>
                <a:latin typeface="Courier New"/>
              </a:rPr>
              <a:t>response</a:t>
            </a:r>
            <a:r>
              <a:rPr sz="1300" b="0" dirty="0">
                <a:solidFill>
                  <a:srgbClr val="D4D4D4"/>
                </a:solidFill>
                <a:latin typeface="Courier New"/>
              </a:rPr>
              <a:t> = </a:t>
            </a:r>
            <a:r>
              <a:rPr sz="1300" b="0" dirty="0" err="1">
                <a:solidFill>
                  <a:srgbClr val="9CDCFE"/>
                </a:solidFill>
                <a:latin typeface="Courier New"/>
              </a:rPr>
              <a:t>chatModel</a:t>
            </a:r>
            <a:r>
              <a:rPr sz="1300" b="0" dirty="0" err="1">
                <a:solidFill>
                  <a:srgbClr val="D4D4D4"/>
                </a:solidFill>
                <a:latin typeface="Courier New"/>
              </a:rPr>
              <a:t>.</a:t>
            </a:r>
            <a:r>
              <a:rPr sz="1300" b="0" dirty="0" err="1">
                <a:solidFill>
                  <a:srgbClr val="4EC9B0"/>
                </a:solidFill>
                <a:latin typeface="Courier New"/>
              </a:rPr>
              <a:t>chat</a:t>
            </a:r>
            <a:r>
              <a:rPr sz="1300" b="0" dirty="0">
                <a:solidFill>
                  <a:srgbClr val="D4D4D4"/>
                </a:solidFill>
                <a:latin typeface="Courier New"/>
              </a:rPr>
              <a:t>( </a:t>
            </a:r>
            <a:r>
              <a:rPr sz="1300" b="0" dirty="0">
                <a:solidFill>
                  <a:srgbClr val="CE9178"/>
                </a:solidFill>
                <a:latin typeface="Courier New"/>
              </a:rPr>
              <a:t>"</a:t>
            </a:r>
            <a:r>
              <a:rPr sz="1300" b="0" dirty="0" err="1">
                <a:solidFill>
                  <a:srgbClr val="CE9178"/>
                </a:solidFill>
                <a:latin typeface="Courier New"/>
              </a:rPr>
              <a:t>Summarise</a:t>
            </a:r>
            <a:r>
              <a:rPr sz="1300" b="0" dirty="0">
                <a:solidFill>
                  <a:srgbClr val="CE9178"/>
                </a:solidFill>
                <a:latin typeface="Courier New"/>
              </a:rPr>
              <a:t> in one sentence."</a:t>
            </a:r>
            <a:r>
              <a:rPr sz="1300" b="0" dirty="0">
                <a:solidFill>
                  <a:srgbClr val="D4D4D4"/>
                </a:solidFill>
                <a:latin typeface="Courier New"/>
              </a:rPr>
              <a:t> );</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1" dur="indefinite" nodeType="mainSeq">
                <p:childTnLst>
                  <p:par>
                    <p:cTn id="22" fill="hold">
                      <p:stCondLst>
                        <p:cond evt="onBegin" delay="indefinite"/>
                      </p:stCondLst>
                      <p:childTnLst>
                        <p:par>
                          <p:cTn id="23" fill="hold">
                            <p:stCondLst>
                              <p:cond evt="begin" delay="0"/>
                            </p:stCondLst>
                            <p:childTnLst>
                              <p:par>
                                <p:cTn id="24" presetID="1" presetClass="entr" presetSubtype="0" fill="hold" grpId="0" nodeType="clickEffect">
                                  <p:stCondLst>
                                    <p:cond evt="begin" delay="0"/>
                                  </p:stCondLst>
                                  <p:childTnLst>
                                    <p:set>
                                      <p:cBhvr>
                                        <p:cTn id="25" dur="1" fill="hold"/>
                                        <p:tgtEl>
                                          <p:spTgt spid="30">
                                            <p:bg/>
                                          </p:spTgt>
                                        </p:tgtEl>
                                        <p:attrNameLst>
                                          <p:attrName>style.visibility</p:attrName>
                                        </p:attrNameLst>
                                      </p:cBhvr>
                                      <p:to>
                                        <p:strVal val="visible"/>
                                      </p:to>
                                    </p:set>
                                  </p:childTnLst>
                                </p:cTn>
                              </p:par>
                            </p:childTnLst>
                          </p:cTn>
                        </p:par>
                      </p:childTnLst>
                    </p:cTn>
                  </p:par>
                  <p:par>
                    <p:cTn id="26" fill="hold">
                      <p:stCondLst>
                        <p:cond evt="onBegin" delay="indefinite"/>
                      </p:stCondLst>
                      <p:childTnLst>
                        <p:par>
                          <p:cTn id="27" fill="hold">
                            <p:stCondLst>
                              <p:cond evt="begin" delay="0"/>
                            </p:stCondLst>
                            <p:childTnLst>
                              <p:par>
                                <p:cTn id="28" presetID="1" presetClass="entr" presetSubtype="0" fill="hold" grpId="1" nodeType="clickEffect">
                                  <p:stCondLst>
                                    <p:cond evt="begin" delay="0"/>
                                  </p:stCondLst>
                                  <p:childTnLst>
                                    <p:set>
                                      <p:cBhvr>
                                        <p:cTn id="29" dur="1" fill="hold"/>
                                        <p:tgtEl>
                                          <p:spTgt spid="31">
                                            <p:bg/>
                                          </p:spTgt>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4" grpId="0" animBg="1"/>
      <p:bldP spid="30" grpId="0" build="p" animBg="1"/>
      <p:bldP spid="30" grpId="1" animBg="1"/>
      <p:bldP spid="31" grpId="1" build="p" animBg="1"/>
      <p:bldP spid="31" grpId="2" animBg="1"/>
      <p:bldP spid="32" grpId="3"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1"/>
            <a:ext cx="11274552" cy="450573"/>
          </a:xfrm>
          <a:prstGeom prst="rect">
            <a:avLst/>
          </a:prstGeom>
          <a:noFill/>
        </p:spPr>
        <p:txBody>
          <a:bodyPr wrap="square" lIns="73152" tIns="36576" rIns="54864" bIns="27432">
            <a:spAutoFit/>
          </a:bodyPr>
          <a:lstStyle/>
          <a:p>
            <a:pPr>
              <a:lnSpc>
                <a:spcPct val="110000"/>
              </a:lnSpc>
            </a:pPr>
            <a:r>
              <a:rPr sz="2400" b="1">
                <a:solidFill>
                  <a:srgbClr val="1A1A1A"/>
                </a:solidFill>
                <a:latin typeface="Calibri"/>
              </a:rPr>
              <a:t>ChatModel Parameters — Universal (All Providers)</a:t>
            </a:r>
          </a:p>
        </p:txBody>
      </p:sp>
      <p:sp>
        <p:nvSpPr>
          <p:cNvPr id="3" name="Rectangle 2"/>
          <p:cNvSpPr/>
          <p:nvPr/>
        </p:nvSpPr>
        <p:spPr>
          <a:xfrm>
            <a:off x="458788" y="676656"/>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8788" y="731520"/>
            <a:ext cx="2103120" cy="365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4509" y="777241"/>
            <a:ext cx="2029967" cy="257635"/>
          </a:xfrm>
          <a:prstGeom prst="rect">
            <a:avLst/>
          </a:prstGeom>
          <a:noFill/>
        </p:spPr>
        <p:txBody>
          <a:bodyPr wrap="square" lIns="73152" tIns="36576" rIns="54864" bIns="27432">
            <a:spAutoFit/>
          </a:bodyPr>
          <a:lstStyle/>
          <a:p>
            <a:pPr>
              <a:lnSpc>
                <a:spcPct val="110000"/>
              </a:lnSpc>
            </a:pPr>
            <a:r>
              <a:rPr sz="1200" b="1">
                <a:solidFill>
                  <a:srgbClr val="FFFFFF"/>
                </a:solidFill>
                <a:latin typeface="Calibri"/>
              </a:rPr>
              <a:t>Parameter</a:t>
            </a:r>
          </a:p>
        </p:txBody>
      </p:sp>
      <p:sp>
        <p:nvSpPr>
          <p:cNvPr id="6" name="Rectangle 5"/>
          <p:cNvSpPr/>
          <p:nvPr/>
        </p:nvSpPr>
        <p:spPr>
          <a:xfrm>
            <a:off x="2607628" y="731520"/>
            <a:ext cx="2240280" cy="365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53348" y="777241"/>
            <a:ext cx="2167128" cy="257635"/>
          </a:xfrm>
          <a:prstGeom prst="rect">
            <a:avLst/>
          </a:prstGeom>
          <a:noFill/>
        </p:spPr>
        <p:txBody>
          <a:bodyPr wrap="square" lIns="73152" tIns="36576" rIns="54864" bIns="27432">
            <a:spAutoFit/>
          </a:bodyPr>
          <a:lstStyle/>
          <a:p>
            <a:pPr>
              <a:lnSpc>
                <a:spcPct val="110000"/>
              </a:lnSpc>
            </a:pPr>
            <a:r>
              <a:rPr sz="1200" b="1">
                <a:solidFill>
                  <a:srgbClr val="FFFFFF"/>
                </a:solidFill>
                <a:latin typeface="Calibri"/>
              </a:rPr>
              <a:t>Type / Range</a:t>
            </a:r>
          </a:p>
        </p:txBody>
      </p:sp>
      <p:sp>
        <p:nvSpPr>
          <p:cNvPr id="8" name="Rectangle 7"/>
          <p:cNvSpPr/>
          <p:nvPr/>
        </p:nvSpPr>
        <p:spPr>
          <a:xfrm>
            <a:off x="4893628" y="731520"/>
            <a:ext cx="6922008" cy="365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39347" y="777241"/>
            <a:ext cx="6848856" cy="257635"/>
          </a:xfrm>
          <a:prstGeom prst="rect">
            <a:avLst/>
          </a:prstGeom>
          <a:noFill/>
        </p:spPr>
        <p:txBody>
          <a:bodyPr wrap="square" lIns="73152" tIns="36576" rIns="54864" bIns="27432">
            <a:spAutoFit/>
          </a:bodyPr>
          <a:lstStyle/>
          <a:p>
            <a:pPr>
              <a:lnSpc>
                <a:spcPct val="110000"/>
              </a:lnSpc>
            </a:pPr>
            <a:r>
              <a:rPr sz="1200" b="1">
                <a:solidFill>
                  <a:srgbClr val="FFFFFF"/>
                </a:solidFill>
                <a:latin typeface="Calibri"/>
              </a:rPr>
              <a:t>Description</a:t>
            </a:r>
          </a:p>
        </p:txBody>
      </p:sp>
      <p:sp>
        <p:nvSpPr>
          <p:cNvPr id="10" name="Rectangle 9"/>
          <p:cNvSpPr/>
          <p:nvPr/>
        </p:nvSpPr>
        <p:spPr>
          <a:xfrm>
            <a:off x="458788" y="1097280"/>
            <a:ext cx="210312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607628" y="1097280"/>
            <a:ext cx="224028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893628" y="1097280"/>
            <a:ext cx="6922008"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2797" y="1152145"/>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PROVIDER</a:t>
            </a:r>
          </a:p>
        </p:txBody>
      </p:sp>
      <p:sp>
        <p:nvSpPr>
          <p:cNvPr id="14" name="TextBox 13"/>
          <p:cNvSpPr txBox="1"/>
          <p:nvPr/>
        </p:nvSpPr>
        <p:spPr>
          <a:xfrm>
            <a:off x="2671636" y="1152144"/>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String — required</a:t>
            </a:r>
          </a:p>
        </p:txBody>
      </p:sp>
      <p:sp>
        <p:nvSpPr>
          <p:cNvPr id="15" name="TextBox 14"/>
          <p:cNvSpPr txBox="1"/>
          <p:nvPr/>
        </p:nvSpPr>
        <p:spPr>
          <a:xfrm>
            <a:off x="4957636" y="1152145"/>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Provider: "openai" | "anthropic" | "azureopenai" | "mistral" | "ollama"</a:t>
            </a:r>
          </a:p>
        </p:txBody>
      </p:sp>
      <p:sp>
        <p:nvSpPr>
          <p:cNvPr id="16" name="Rectangle 15"/>
          <p:cNvSpPr/>
          <p:nvPr/>
        </p:nvSpPr>
        <p:spPr>
          <a:xfrm>
            <a:off x="458788" y="1421892"/>
            <a:ext cx="210312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607628" y="1421892"/>
            <a:ext cx="224028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893628" y="1421892"/>
            <a:ext cx="6922008"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22797" y="1476757"/>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APIKEY</a:t>
            </a:r>
          </a:p>
        </p:txBody>
      </p:sp>
      <p:sp>
        <p:nvSpPr>
          <p:cNvPr id="20" name="TextBox 19"/>
          <p:cNvSpPr txBox="1"/>
          <p:nvPr/>
        </p:nvSpPr>
        <p:spPr>
          <a:xfrm>
            <a:off x="2671636" y="1476756"/>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String — required*</a:t>
            </a:r>
          </a:p>
        </p:txBody>
      </p:sp>
      <p:sp>
        <p:nvSpPr>
          <p:cNvPr id="21" name="TextBox 20"/>
          <p:cNvSpPr txBox="1"/>
          <p:nvPr/>
        </p:nvSpPr>
        <p:spPr>
          <a:xfrm>
            <a:off x="4957636" y="1476757"/>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Provider API key.  * Ollama uses BASEURL instead; no APIKEY needed</a:t>
            </a:r>
          </a:p>
        </p:txBody>
      </p:sp>
      <p:sp>
        <p:nvSpPr>
          <p:cNvPr id="22" name="Rectangle 21"/>
          <p:cNvSpPr/>
          <p:nvPr/>
        </p:nvSpPr>
        <p:spPr>
          <a:xfrm>
            <a:off x="458788" y="1746504"/>
            <a:ext cx="210312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607628" y="1746504"/>
            <a:ext cx="224028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893628" y="1746504"/>
            <a:ext cx="6922008"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2797" y="1801369"/>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MODELNAME</a:t>
            </a:r>
          </a:p>
        </p:txBody>
      </p:sp>
      <p:sp>
        <p:nvSpPr>
          <p:cNvPr id="26" name="TextBox 25"/>
          <p:cNvSpPr txBox="1"/>
          <p:nvPr/>
        </p:nvSpPr>
        <p:spPr>
          <a:xfrm>
            <a:off x="2671636" y="1801368"/>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String — required</a:t>
            </a:r>
          </a:p>
        </p:txBody>
      </p:sp>
      <p:sp>
        <p:nvSpPr>
          <p:cNvPr id="27" name="TextBox 26"/>
          <p:cNvSpPr txBox="1"/>
          <p:nvPr/>
        </p:nvSpPr>
        <p:spPr>
          <a:xfrm>
            <a:off x="4957636" y="1801369"/>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Model ID: "gpt-4o-mini", "claude-haiku-4-5-20251001", "llama3.2"…</a:t>
            </a:r>
          </a:p>
        </p:txBody>
      </p:sp>
      <p:sp>
        <p:nvSpPr>
          <p:cNvPr id="28" name="Rectangle 27"/>
          <p:cNvSpPr/>
          <p:nvPr/>
        </p:nvSpPr>
        <p:spPr>
          <a:xfrm>
            <a:off x="458788" y="2071116"/>
            <a:ext cx="210312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607628" y="2071116"/>
            <a:ext cx="224028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893628" y="2071116"/>
            <a:ext cx="6922008"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2797" y="2125981"/>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TEMPERATURE</a:t>
            </a:r>
          </a:p>
        </p:txBody>
      </p:sp>
      <p:sp>
        <p:nvSpPr>
          <p:cNvPr id="32" name="TextBox 31"/>
          <p:cNvSpPr txBox="1"/>
          <p:nvPr/>
        </p:nvSpPr>
        <p:spPr>
          <a:xfrm>
            <a:off x="2671636" y="2125980"/>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Numeric — see note</a:t>
            </a:r>
          </a:p>
        </p:txBody>
      </p:sp>
      <p:sp>
        <p:nvSpPr>
          <p:cNvPr id="33" name="TextBox 32"/>
          <p:cNvSpPr txBox="1"/>
          <p:nvPr/>
        </p:nvSpPr>
        <p:spPr>
          <a:xfrm>
            <a:off x="4957636" y="2125981"/>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Randomness: 0 = deterministic, higher = varied. Range differs by provider</a:t>
            </a:r>
          </a:p>
        </p:txBody>
      </p:sp>
      <p:sp>
        <p:nvSpPr>
          <p:cNvPr id="34" name="Rectangle 33"/>
          <p:cNvSpPr/>
          <p:nvPr/>
        </p:nvSpPr>
        <p:spPr>
          <a:xfrm>
            <a:off x="458788" y="2395728"/>
            <a:ext cx="210312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607628" y="2395728"/>
            <a:ext cx="224028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893628" y="2395728"/>
            <a:ext cx="6922008"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2797" y="2450593"/>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MAXTOKENS</a:t>
            </a:r>
          </a:p>
        </p:txBody>
      </p:sp>
      <p:sp>
        <p:nvSpPr>
          <p:cNvPr id="38" name="TextBox 37"/>
          <p:cNvSpPr txBox="1"/>
          <p:nvPr/>
        </p:nvSpPr>
        <p:spPr>
          <a:xfrm>
            <a:off x="2671636" y="2450592"/>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Integer — recommended</a:t>
            </a:r>
          </a:p>
        </p:txBody>
      </p:sp>
      <p:sp>
        <p:nvSpPr>
          <p:cNvPr id="39" name="TextBox 38"/>
          <p:cNvSpPr txBox="1"/>
          <p:nvPr/>
        </p:nvSpPr>
        <p:spPr>
          <a:xfrm>
            <a:off x="4957636" y="2450593"/>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Hard cap on output tokens. Always set. Unbounded = expensive surprises</a:t>
            </a:r>
          </a:p>
        </p:txBody>
      </p:sp>
      <p:sp>
        <p:nvSpPr>
          <p:cNvPr id="40" name="Rectangle 39"/>
          <p:cNvSpPr/>
          <p:nvPr/>
        </p:nvSpPr>
        <p:spPr>
          <a:xfrm>
            <a:off x="458788" y="2720340"/>
            <a:ext cx="210312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607628" y="2720340"/>
            <a:ext cx="224028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893628" y="2720340"/>
            <a:ext cx="6922008"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22797" y="2775205"/>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TOPP</a:t>
            </a:r>
          </a:p>
        </p:txBody>
      </p:sp>
      <p:sp>
        <p:nvSpPr>
          <p:cNvPr id="44" name="TextBox 43"/>
          <p:cNvSpPr txBox="1"/>
          <p:nvPr/>
        </p:nvSpPr>
        <p:spPr>
          <a:xfrm>
            <a:off x="2671636" y="2775204"/>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Numeric 0–1</a:t>
            </a:r>
          </a:p>
        </p:txBody>
      </p:sp>
      <p:sp>
        <p:nvSpPr>
          <p:cNvPr id="45" name="TextBox 44"/>
          <p:cNvSpPr txBox="1"/>
          <p:nvPr/>
        </p:nvSpPr>
        <p:spPr>
          <a:xfrm>
            <a:off x="4957636" y="2775205"/>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Top-P nucleus sampling. Probability mass to sample from. Default 1.0</a:t>
            </a:r>
          </a:p>
        </p:txBody>
      </p:sp>
      <p:sp>
        <p:nvSpPr>
          <p:cNvPr id="46" name="Rectangle 45"/>
          <p:cNvSpPr/>
          <p:nvPr/>
        </p:nvSpPr>
        <p:spPr>
          <a:xfrm>
            <a:off x="458788" y="3044952"/>
            <a:ext cx="210312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2607628" y="3044952"/>
            <a:ext cx="224028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893628" y="3044952"/>
            <a:ext cx="6922008"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2797" y="3099817"/>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TOPK</a:t>
            </a:r>
          </a:p>
        </p:txBody>
      </p:sp>
      <p:sp>
        <p:nvSpPr>
          <p:cNvPr id="50" name="TextBox 49"/>
          <p:cNvSpPr txBox="1"/>
          <p:nvPr/>
        </p:nvSpPr>
        <p:spPr>
          <a:xfrm>
            <a:off x="2671636" y="3099816"/>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Integer ≥1</a:t>
            </a:r>
          </a:p>
        </p:txBody>
      </p:sp>
      <p:sp>
        <p:nvSpPr>
          <p:cNvPr id="51" name="TextBox 50"/>
          <p:cNvSpPr txBox="1"/>
          <p:nvPr/>
        </p:nvSpPr>
        <p:spPr>
          <a:xfrm>
            <a:off x="4957636" y="3099817"/>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Top-K sampling — limit candidate tokens. Used by Anthropic / Ollama</a:t>
            </a:r>
          </a:p>
        </p:txBody>
      </p:sp>
      <p:sp>
        <p:nvSpPr>
          <p:cNvPr id="52" name="Rectangle 51"/>
          <p:cNvSpPr/>
          <p:nvPr/>
        </p:nvSpPr>
        <p:spPr>
          <a:xfrm>
            <a:off x="458788" y="3369564"/>
            <a:ext cx="210312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2607628" y="3369564"/>
            <a:ext cx="224028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893628" y="3369564"/>
            <a:ext cx="6922008"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22797" y="3424429"/>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RESPONSEFORMAT</a:t>
            </a:r>
          </a:p>
        </p:txBody>
      </p:sp>
      <p:sp>
        <p:nvSpPr>
          <p:cNvPr id="56" name="TextBox 55"/>
          <p:cNvSpPr txBox="1"/>
          <p:nvPr/>
        </p:nvSpPr>
        <p:spPr>
          <a:xfrm>
            <a:off x="2671636" y="3424428"/>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"text" | "json"</a:t>
            </a:r>
          </a:p>
        </p:txBody>
      </p:sp>
      <p:sp>
        <p:nvSpPr>
          <p:cNvPr id="57" name="TextBox 56"/>
          <p:cNvSpPr txBox="1"/>
          <p:nvPr/>
        </p:nvSpPr>
        <p:spPr>
          <a:xfrm>
            <a:off x="4957636" y="3424429"/>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"json" forces valid JSON output. Prompt must also request JSON structure</a:t>
            </a:r>
          </a:p>
        </p:txBody>
      </p:sp>
      <p:sp>
        <p:nvSpPr>
          <p:cNvPr id="58" name="Rectangle 57"/>
          <p:cNvSpPr/>
          <p:nvPr/>
        </p:nvSpPr>
        <p:spPr>
          <a:xfrm>
            <a:off x="458788" y="3694176"/>
            <a:ext cx="210312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2607628" y="3694176"/>
            <a:ext cx="224028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893628" y="3694176"/>
            <a:ext cx="6922008"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22797" y="3749040"/>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SEED</a:t>
            </a:r>
          </a:p>
        </p:txBody>
      </p:sp>
      <p:sp>
        <p:nvSpPr>
          <p:cNvPr id="62" name="TextBox 61"/>
          <p:cNvSpPr txBox="1"/>
          <p:nvPr/>
        </p:nvSpPr>
        <p:spPr>
          <a:xfrm>
            <a:off x="2671636" y="3749039"/>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Integer</a:t>
            </a:r>
          </a:p>
        </p:txBody>
      </p:sp>
      <p:sp>
        <p:nvSpPr>
          <p:cNvPr id="63" name="TextBox 62"/>
          <p:cNvSpPr txBox="1"/>
          <p:nvPr/>
        </p:nvSpPr>
        <p:spPr>
          <a:xfrm>
            <a:off x="4957636" y="3749040"/>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Reproducible output: same seed + same prompt ≈ same response</a:t>
            </a:r>
          </a:p>
        </p:txBody>
      </p:sp>
      <p:sp>
        <p:nvSpPr>
          <p:cNvPr id="64" name="Rectangle 63"/>
          <p:cNvSpPr/>
          <p:nvPr/>
        </p:nvSpPr>
        <p:spPr>
          <a:xfrm>
            <a:off x="458788" y="4018787"/>
            <a:ext cx="210312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2607628" y="4018787"/>
            <a:ext cx="224028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4893628" y="4018787"/>
            <a:ext cx="6922008"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22797" y="4073652"/>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TIMEOUT</a:t>
            </a:r>
          </a:p>
        </p:txBody>
      </p:sp>
      <p:sp>
        <p:nvSpPr>
          <p:cNvPr id="68" name="TextBox 67"/>
          <p:cNvSpPr txBox="1"/>
          <p:nvPr/>
        </p:nvSpPr>
        <p:spPr>
          <a:xfrm>
            <a:off x="2671636" y="4073651"/>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Integer (seconds)</a:t>
            </a:r>
          </a:p>
        </p:txBody>
      </p:sp>
      <p:sp>
        <p:nvSpPr>
          <p:cNvPr id="69" name="TextBox 68"/>
          <p:cNvSpPr txBox="1"/>
          <p:nvPr/>
        </p:nvSpPr>
        <p:spPr>
          <a:xfrm>
            <a:off x="4957636" y="4073652"/>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HTTP timeout. Set for long-running prompts. Default varies by provider</a:t>
            </a:r>
          </a:p>
        </p:txBody>
      </p:sp>
      <p:sp>
        <p:nvSpPr>
          <p:cNvPr id="70" name="Rectangle 69"/>
          <p:cNvSpPr/>
          <p:nvPr/>
        </p:nvSpPr>
        <p:spPr>
          <a:xfrm>
            <a:off x="458788" y="4343400"/>
            <a:ext cx="210312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2607628" y="4343400"/>
            <a:ext cx="224028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4893628" y="4343400"/>
            <a:ext cx="6922008"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22797" y="4398265"/>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MAXRETRIES</a:t>
            </a:r>
          </a:p>
        </p:txBody>
      </p:sp>
      <p:sp>
        <p:nvSpPr>
          <p:cNvPr id="74" name="TextBox 73"/>
          <p:cNvSpPr txBox="1"/>
          <p:nvPr/>
        </p:nvSpPr>
        <p:spPr>
          <a:xfrm>
            <a:off x="2671636" y="4398264"/>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Integer</a:t>
            </a:r>
          </a:p>
        </p:txBody>
      </p:sp>
      <p:sp>
        <p:nvSpPr>
          <p:cNvPr id="75" name="TextBox 74"/>
          <p:cNvSpPr txBox="1"/>
          <p:nvPr/>
        </p:nvSpPr>
        <p:spPr>
          <a:xfrm>
            <a:off x="4957636" y="4398265"/>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Retry count on transient API errors. Default 3</a:t>
            </a:r>
          </a:p>
        </p:txBody>
      </p:sp>
      <p:sp>
        <p:nvSpPr>
          <p:cNvPr id="76" name="Rectangle 75"/>
          <p:cNvSpPr/>
          <p:nvPr/>
        </p:nvSpPr>
        <p:spPr>
          <a:xfrm>
            <a:off x="458788" y="4668012"/>
            <a:ext cx="210312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2607628" y="4668012"/>
            <a:ext cx="224028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4893628" y="4668012"/>
            <a:ext cx="6922008"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22797" y="4722877"/>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STOPSEQUENCES</a:t>
            </a:r>
          </a:p>
        </p:txBody>
      </p:sp>
      <p:sp>
        <p:nvSpPr>
          <p:cNvPr id="80" name="TextBox 79"/>
          <p:cNvSpPr txBox="1"/>
          <p:nvPr/>
        </p:nvSpPr>
        <p:spPr>
          <a:xfrm>
            <a:off x="2671636" y="4722876"/>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Array of strings</a:t>
            </a:r>
          </a:p>
        </p:txBody>
      </p:sp>
      <p:sp>
        <p:nvSpPr>
          <p:cNvPr id="81" name="TextBox 80"/>
          <p:cNvSpPr txBox="1"/>
          <p:nvPr/>
        </p:nvSpPr>
        <p:spPr>
          <a:xfrm>
            <a:off x="4957636" y="4722877"/>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Stop generating when any listed token is produced</a:t>
            </a:r>
          </a:p>
        </p:txBody>
      </p:sp>
      <p:sp>
        <p:nvSpPr>
          <p:cNvPr id="82" name="Rectangle 81"/>
          <p:cNvSpPr/>
          <p:nvPr/>
        </p:nvSpPr>
        <p:spPr>
          <a:xfrm>
            <a:off x="458788" y="4992624"/>
            <a:ext cx="210312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2607628" y="4992624"/>
            <a:ext cx="2240280"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4893628" y="4992624"/>
            <a:ext cx="6922008" cy="3246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522797" y="5047489"/>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LOGREQUESTS</a:t>
            </a:r>
          </a:p>
        </p:txBody>
      </p:sp>
      <p:sp>
        <p:nvSpPr>
          <p:cNvPr id="86" name="TextBox 85"/>
          <p:cNvSpPr txBox="1"/>
          <p:nvPr/>
        </p:nvSpPr>
        <p:spPr>
          <a:xfrm>
            <a:off x="2671636" y="5047488"/>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Boolean</a:t>
            </a:r>
          </a:p>
        </p:txBody>
      </p:sp>
      <p:sp>
        <p:nvSpPr>
          <p:cNvPr id="87" name="TextBox 86"/>
          <p:cNvSpPr txBox="1"/>
          <p:nvPr/>
        </p:nvSpPr>
        <p:spPr>
          <a:xfrm>
            <a:off x="4957636" y="5047489"/>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Log raw request payload — useful for debugging</a:t>
            </a:r>
          </a:p>
        </p:txBody>
      </p:sp>
      <p:sp>
        <p:nvSpPr>
          <p:cNvPr id="88" name="Rectangle 87"/>
          <p:cNvSpPr/>
          <p:nvPr/>
        </p:nvSpPr>
        <p:spPr>
          <a:xfrm>
            <a:off x="458788" y="5317236"/>
            <a:ext cx="210312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2607628" y="5317236"/>
            <a:ext cx="2240280"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4893628" y="5317236"/>
            <a:ext cx="6922008" cy="3246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522797" y="5372101"/>
            <a:ext cx="2011679" cy="241541"/>
          </a:xfrm>
          <a:prstGeom prst="rect">
            <a:avLst/>
          </a:prstGeom>
          <a:noFill/>
        </p:spPr>
        <p:txBody>
          <a:bodyPr wrap="square" lIns="73152" tIns="36576" rIns="54864" bIns="27432">
            <a:spAutoFit/>
          </a:bodyPr>
          <a:lstStyle/>
          <a:p>
            <a:pPr>
              <a:lnSpc>
                <a:spcPct val="110000"/>
              </a:lnSpc>
            </a:pPr>
            <a:r>
              <a:rPr sz="1100" b="1">
                <a:solidFill>
                  <a:srgbClr val="1D4ED8"/>
                </a:solidFill>
                <a:latin typeface="Calibri"/>
              </a:rPr>
              <a:t>LOGRESPONSES</a:t>
            </a:r>
          </a:p>
        </p:txBody>
      </p:sp>
      <p:sp>
        <p:nvSpPr>
          <p:cNvPr id="92" name="TextBox 91"/>
          <p:cNvSpPr txBox="1"/>
          <p:nvPr/>
        </p:nvSpPr>
        <p:spPr>
          <a:xfrm>
            <a:off x="2671636" y="5372100"/>
            <a:ext cx="2148840" cy="225446"/>
          </a:xfrm>
          <a:prstGeom prst="rect">
            <a:avLst/>
          </a:prstGeom>
          <a:noFill/>
        </p:spPr>
        <p:txBody>
          <a:bodyPr wrap="square" lIns="73152" tIns="36576" rIns="54864" bIns="27432">
            <a:spAutoFit/>
          </a:bodyPr>
          <a:lstStyle/>
          <a:p>
            <a:pPr>
              <a:lnSpc>
                <a:spcPct val="110000"/>
              </a:lnSpc>
            </a:pPr>
            <a:r>
              <a:rPr sz="1000">
                <a:solidFill>
                  <a:srgbClr val="059669"/>
                </a:solidFill>
                <a:latin typeface="Calibri"/>
              </a:rPr>
              <a:t>Boolean</a:t>
            </a:r>
          </a:p>
        </p:txBody>
      </p:sp>
      <p:sp>
        <p:nvSpPr>
          <p:cNvPr id="93" name="TextBox 92"/>
          <p:cNvSpPr txBox="1"/>
          <p:nvPr/>
        </p:nvSpPr>
        <p:spPr>
          <a:xfrm>
            <a:off x="4957636" y="5372101"/>
            <a:ext cx="6830568" cy="241541"/>
          </a:xfrm>
          <a:prstGeom prst="rect">
            <a:avLst/>
          </a:prstGeom>
          <a:noFill/>
        </p:spPr>
        <p:txBody>
          <a:bodyPr wrap="square" lIns="73152" tIns="36576" rIns="54864" bIns="27432">
            <a:spAutoFit/>
          </a:bodyPr>
          <a:lstStyle/>
          <a:p>
            <a:pPr>
              <a:lnSpc>
                <a:spcPct val="110000"/>
              </a:lnSpc>
            </a:pPr>
            <a:r>
              <a:rPr sz="1100">
                <a:solidFill>
                  <a:srgbClr val="444444"/>
                </a:solidFill>
                <a:latin typeface="Calibri"/>
              </a:rPr>
              <a:t>Log raw response payload — useful for debugging</a:t>
            </a:r>
          </a:p>
        </p:txBody>
      </p:sp>
      <p:sp>
        <p:nvSpPr>
          <p:cNvPr id="94" name="TextBox 93"/>
          <p:cNvSpPr txBox="1"/>
          <p:nvPr/>
        </p:nvSpPr>
        <p:spPr>
          <a:xfrm>
            <a:off x="458788" y="5733288"/>
            <a:ext cx="11274552" cy="225446"/>
          </a:xfrm>
          <a:prstGeom prst="rect">
            <a:avLst/>
          </a:prstGeom>
          <a:noFill/>
        </p:spPr>
        <p:txBody>
          <a:bodyPr wrap="square" lIns="73152" tIns="36576" rIns="54864" bIns="27432">
            <a:spAutoFit/>
          </a:bodyPr>
          <a:lstStyle/>
          <a:p>
            <a:pPr>
              <a:lnSpc>
                <a:spcPct val="110000"/>
              </a:lnSpc>
            </a:pPr>
            <a:r>
              <a:rPr sz="1000">
                <a:solidFill>
                  <a:srgbClr val="444444"/>
                </a:solidFill>
                <a:latin typeface="Calibri"/>
              </a:rPr>
              <a:t>* All providers use the same .chat() call — switching provider = changing two config values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Provider-Specific Parameters</a:t>
            </a:r>
          </a:p>
        </p:txBody>
      </p:sp>
      <p:sp>
        <p:nvSpPr>
          <p:cNvPr id="3" name="Rectangle 2"/>
          <p:cNvSpPr/>
          <p:nvPr/>
        </p:nvSpPr>
        <p:spPr>
          <a:xfrm>
            <a:off x="612648" y="1417320"/>
            <a:ext cx="5394960" cy="32918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435608"/>
            <a:ext cx="5303520" cy="274320"/>
          </a:xfrm>
          <a:prstGeom prst="rect">
            <a:avLst/>
          </a:prstGeom>
          <a:noFill/>
        </p:spPr>
        <p:txBody>
          <a:bodyPr wrap="square">
            <a:spAutoFit/>
          </a:bodyPr>
          <a:lstStyle/>
          <a:p>
            <a:pPr algn="l"/>
            <a:r>
              <a:rPr sz="1200" b="1" i="0" dirty="0">
                <a:solidFill>
                  <a:srgbClr val="FFFFFF"/>
                </a:solidFill>
              </a:rPr>
              <a:t>Anthropic</a:t>
            </a:r>
          </a:p>
        </p:txBody>
      </p:sp>
      <p:sp>
        <p:nvSpPr>
          <p:cNvPr id="5" name="TextBox 4"/>
          <p:cNvSpPr txBox="1"/>
          <p:nvPr/>
        </p:nvSpPr>
        <p:spPr>
          <a:xfrm>
            <a:off x="612648" y="1764792"/>
            <a:ext cx="5394960" cy="1737360"/>
          </a:xfrm>
          <a:prstGeom prst="rect">
            <a:avLst/>
          </a:prstGeom>
          <a:noFill/>
        </p:spPr>
        <p:txBody>
          <a:bodyPr wrap="square">
            <a:spAutoFit/>
          </a:bodyPr>
          <a:lstStyle/>
          <a:p>
            <a:pPr>
              <a:spcBef>
                <a:spcPts val="200"/>
              </a:spcBef>
            </a:pPr>
            <a:r>
              <a:rPr sz="1100" b="1" dirty="0">
                <a:solidFill>
                  <a:srgbClr val="EB1000"/>
                </a:solidFill>
                <a:latin typeface="Courier New"/>
              </a:rPr>
              <a:t>THINKINGTYPE  </a:t>
            </a:r>
            <a:r>
              <a:rPr sz="1050" dirty="0">
                <a:solidFill>
                  <a:srgbClr val="1A1A1A"/>
                </a:solidFill>
              </a:rPr>
              <a:t>"enabled" — extended reasoning mode (Claude thinks before answering)</a:t>
            </a:r>
          </a:p>
          <a:p>
            <a:pPr>
              <a:spcBef>
                <a:spcPts val="200"/>
              </a:spcBef>
            </a:pPr>
            <a:r>
              <a:rPr sz="1100" b="1" dirty="0">
                <a:solidFill>
                  <a:srgbClr val="EB1000"/>
                </a:solidFill>
                <a:latin typeface="Courier New"/>
              </a:rPr>
              <a:t>THINKINGBUDGET  </a:t>
            </a:r>
            <a:r>
              <a:rPr sz="1050" dirty="0">
                <a:solidFill>
                  <a:srgbClr val="1A1A1A"/>
                </a:solidFill>
              </a:rPr>
              <a:t>Token budget for thinking (requires THINKINGTYPE)</a:t>
            </a:r>
          </a:p>
          <a:p>
            <a:pPr>
              <a:spcBef>
                <a:spcPts val="200"/>
              </a:spcBef>
            </a:pPr>
            <a:r>
              <a:rPr sz="1100" b="1" dirty="0">
                <a:solidFill>
                  <a:srgbClr val="EB1000"/>
                </a:solidFill>
                <a:latin typeface="Courier New"/>
              </a:rPr>
              <a:t>CACHE  </a:t>
            </a:r>
            <a:r>
              <a:rPr sz="1050" dirty="0">
                <a:solidFill>
                  <a:srgbClr val="1A1A1A"/>
                </a:solidFill>
              </a:rPr>
              <a:t>"ephemeral" — prompt caching to reduce costs on repeated context</a:t>
            </a:r>
          </a:p>
          <a:p>
            <a:pPr>
              <a:spcBef>
                <a:spcPts val="200"/>
              </a:spcBef>
            </a:pPr>
            <a:r>
              <a:rPr sz="1100" b="1" dirty="0">
                <a:solidFill>
                  <a:srgbClr val="EB1000"/>
                </a:solidFill>
                <a:latin typeface="Courier New"/>
              </a:rPr>
              <a:t>BETA  </a:t>
            </a:r>
            <a:r>
              <a:rPr sz="1050" dirty="0">
                <a:solidFill>
                  <a:srgbClr val="1A1A1A"/>
                </a:solidFill>
              </a:rPr>
              <a:t>Beta feature flags string</a:t>
            </a:r>
          </a:p>
          <a:p>
            <a:pPr>
              <a:spcBef>
                <a:spcPts val="200"/>
              </a:spcBef>
            </a:pPr>
            <a:r>
              <a:rPr sz="1100" b="1" dirty="0">
                <a:solidFill>
                  <a:srgbClr val="EB1000"/>
                </a:solidFill>
                <a:latin typeface="Courier New"/>
              </a:rPr>
              <a:t>Temperature  </a:t>
            </a:r>
            <a:r>
              <a:rPr sz="1050" dirty="0">
                <a:solidFill>
                  <a:srgbClr val="1A1A1A"/>
                </a:solidFill>
              </a:rPr>
              <a:t>Range: 0.0 – 1.0  (NOT 0–2)</a:t>
            </a:r>
          </a:p>
        </p:txBody>
      </p:sp>
      <p:sp>
        <p:nvSpPr>
          <p:cNvPr id="6" name="Rectangle 5"/>
          <p:cNvSpPr/>
          <p:nvPr/>
        </p:nvSpPr>
        <p:spPr>
          <a:xfrm>
            <a:off x="612648" y="3611880"/>
            <a:ext cx="5394960" cy="32918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3630168"/>
            <a:ext cx="5303520" cy="274320"/>
          </a:xfrm>
          <a:prstGeom prst="rect">
            <a:avLst/>
          </a:prstGeom>
          <a:noFill/>
        </p:spPr>
        <p:txBody>
          <a:bodyPr wrap="square">
            <a:spAutoFit/>
          </a:bodyPr>
          <a:lstStyle/>
          <a:p>
            <a:pPr algn="l"/>
            <a:r>
              <a:rPr sz="1200" b="1" i="0" dirty="0">
                <a:solidFill>
                  <a:srgbClr val="FFFFFF"/>
                </a:solidFill>
              </a:rPr>
              <a:t>Mistral</a:t>
            </a:r>
          </a:p>
        </p:txBody>
      </p:sp>
      <p:sp>
        <p:nvSpPr>
          <p:cNvPr id="8" name="TextBox 7"/>
          <p:cNvSpPr txBox="1"/>
          <p:nvPr/>
        </p:nvSpPr>
        <p:spPr>
          <a:xfrm>
            <a:off x="612648" y="3959352"/>
            <a:ext cx="5394960" cy="1344168"/>
          </a:xfrm>
          <a:prstGeom prst="rect">
            <a:avLst/>
          </a:prstGeom>
          <a:noFill/>
        </p:spPr>
        <p:txBody>
          <a:bodyPr wrap="square">
            <a:spAutoFit/>
          </a:bodyPr>
          <a:lstStyle/>
          <a:p>
            <a:pPr>
              <a:spcBef>
                <a:spcPts val="200"/>
              </a:spcBef>
            </a:pPr>
            <a:r>
              <a:rPr sz="1100" b="1">
                <a:solidFill>
                  <a:srgbClr val="EB1000"/>
                </a:solidFill>
                <a:latin typeface="Courier New"/>
              </a:rPr>
              <a:t>SAFEPROMPT  </a:t>
            </a:r>
            <a:r>
              <a:rPr sz="1050">
                <a:solidFill>
                  <a:srgbClr val="1A1A1A"/>
                </a:solidFill>
              </a:rPr>
              <a:t>Boolean — prepend built-in safety system prompt</a:t>
            </a:r>
          </a:p>
          <a:p>
            <a:pPr>
              <a:spcBef>
                <a:spcPts val="200"/>
              </a:spcBef>
            </a:pPr>
            <a:r>
              <a:rPr sz="1100" b="1">
                <a:solidFill>
                  <a:srgbClr val="EB1000"/>
                </a:solidFill>
                <a:latin typeface="Courier New"/>
              </a:rPr>
              <a:t>FREQUENCYPENALTY  </a:t>
            </a:r>
            <a:r>
              <a:rPr sz="1050">
                <a:solidFill>
                  <a:srgbClr val="1A1A1A"/>
                </a:solidFill>
              </a:rPr>
              <a:t>Numeric 0–1  (NOT -2 to 2 like OpenAI!)</a:t>
            </a:r>
          </a:p>
          <a:p>
            <a:pPr>
              <a:spcBef>
                <a:spcPts val="200"/>
              </a:spcBef>
            </a:pPr>
            <a:r>
              <a:rPr sz="1100" b="1">
                <a:solidFill>
                  <a:srgbClr val="EB1000"/>
                </a:solidFill>
                <a:latin typeface="Courier New"/>
              </a:rPr>
              <a:t>PRESENCEPENALTY  </a:t>
            </a:r>
            <a:r>
              <a:rPr sz="1050">
                <a:solidFill>
                  <a:srgbClr val="1A1A1A"/>
                </a:solidFill>
              </a:rPr>
              <a:t>Numeric 0–1  (NOT -2 to 2 like OpenAI!)</a:t>
            </a:r>
          </a:p>
          <a:p>
            <a:pPr>
              <a:spcBef>
                <a:spcPts val="200"/>
              </a:spcBef>
            </a:pPr>
            <a:r>
              <a:rPr sz="1100" b="1">
                <a:solidFill>
                  <a:srgbClr val="EB1000"/>
                </a:solidFill>
                <a:latin typeface="Courier New"/>
              </a:rPr>
              <a:t>Temperature  </a:t>
            </a:r>
            <a:r>
              <a:rPr sz="1050">
                <a:solidFill>
                  <a:srgbClr val="1A1A1A"/>
                </a:solidFill>
              </a:rPr>
              <a:t>Range: 0.0 – 1.0  (NOT 0–2)</a:t>
            </a:r>
          </a:p>
        </p:txBody>
      </p:sp>
      <p:sp>
        <p:nvSpPr>
          <p:cNvPr id="9" name="Rectangle 8"/>
          <p:cNvSpPr/>
          <p:nvPr/>
        </p:nvSpPr>
        <p:spPr>
          <a:xfrm>
            <a:off x="6236208" y="1417320"/>
            <a:ext cx="5650992" cy="32918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81928" y="1435608"/>
            <a:ext cx="5559552" cy="274320"/>
          </a:xfrm>
          <a:prstGeom prst="rect">
            <a:avLst/>
          </a:prstGeom>
          <a:noFill/>
        </p:spPr>
        <p:txBody>
          <a:bodyPr wrap="square">
            <a:spAutoFit/>
          </a:bodyPr>
          <a:lstStyle/>
          <a:p>
            <a:pPr algn="l"/>
            <a:r>
              <a:rPr sz="1200" b="1" i="0" dirty="0">
                <a:solidFill>
                  <a:srgbClr val="FFFFFF"/>
                </a:solidFill>
              </a:rPr>
              <a:t>Azure OpenAI</a:t>
            </a:r>
          </a:p>
        </p:txBody>
      </p:sp>
      <p:sp>
        <p:nvSpPr>
          <p:cNvPr id="11" name="TextBox 10"/>
          <p:cNvSpPr txBox="1"/>
          <p:nvPr/>
        </p:nvSpPr>
        <p:spPr>
          <a:xfrm>
            <a:off x="6236208" y="1764792"/>
            <a:ext cx="5650992" cy="1371600"/>
          </a:xfrm>
          <a:prstGeom prst="rect">
            <a:avLst/>
          </a:prstGeom>
          <a:noFill/>
        </p:spPr>
        <p:txBody>
          <a:bodyPr wrap="square">
            <a:spAutoFit/>
          </a:bodyPr>
          <a:lstStyle/>
          <a:p>
            <a:pPr>
              <a:spcBef>
                <a:spcPts val="200"/>
              </a:spcBef>
            </a:pPr>
            <a:r>
              <a:rPr sz="1100" b="1">
                <a:solidFill>
                  <a:srgbClr val="EB1000"/>
                </a:solidFill>
                <a:latin typeface="Courier New"/>
              </a:rPr>
              <a:t>BASEURL  </a:t>
            </a:r>
            <a:r>
              <a:rPr sz="1050">
                <a:solidFill>
                  <a:srgbClr val="1A1A1A"/>
                </a:solidFill>
              </a:rPr>
              <a:t>[REQUIRED] Your Azure OpenAI endpoint URL</a:t>
            </a:r>
          </a:p>
          <a:p>
            <a:pPr>
              <a:spcBef>
                <a:spcPts val="200"/>
              </a:spcBef>
            </a:pPr>
            <a:r>
              <a:rPr sz="1100" b="1">
                <a:solidFill>
                  <a:srgbClr val="EB1000"/>
                </a:solidFill>
                <a:latin typeface="Courier New"/>
              </a:rPr>
              <a:t>SERVICEVERSION  </a:t>
            </a:r>
            <a:r>
              <a:rPr sz="1050">
                <a:solidFill>
                  <a:srgbClr val="1A1A1A"/>
                </a:solidFill>
              </a:rPr>
              <a:t>Azure API version string</a:t>
            </a:r>
          </a:p>
          <a:p>
            <a:pPr>
              <a:spcBef>
                <a:spcPts val="200"/>
              </a:spcBef>
            </a:pPr>
            <a:r>
              <a:rPr sz="1100" b="1">
                <a:solidFill>
                  <a:srgbClr val="EB1000"/>
                </a:solidFill>
                <a:latin typeface="Courier New"/>
              </a:rPr>
              <a:t>MAXCOMPLETIONTOKENS  </a:t>
            </a:r>
            <a:r>
              <a:rPr sz="1050">
                <a:solidFill>
                  <a:srgbClr val="1A1A1A"/>
                </a:solidFill>
              </a:rPr>
              <a:t>Output token cap (Azure o-series: use this not MAXTOKENS)</a:t>
            </a:r>
          </a:p>
        </p:txBody>
      </p:sp>
      <p:sp>
        <p:nvSpPr>
          <p:cNvPr id="12" name="Rectangle 11"/>
          <p:cNvSpPr/>
          <p:nvPr/>
        </p:nvSpPr>
        <p:spPr>
          <a:xfrm>
            <a:off x="6236208" y="3246120"/>
            <a:ext cx="5650992" cy="32918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81928" y="3264408"/>
            <a:ext cx="5559552" cy="274320"/>
          </a:xfrm>
          <a:prstGeom prst="rect">
            <a:avLst/>
          </a:prstGeom>
          <a:noFill/>
        </p:spPr>
        <p:txBody>
          <a:bodyPr wrap="square">
            <a:spAutoFit/>
          </a:bodyPr>
          <a:lstStyle/>
          <a:p>
            <a:pPr algn="l"/>
            <a:r>
              <a:rPr sz="1200" b="1" i="0" dirty="0">
                <a:solidFill>
                  <a:srgbClr val="FFFFFF"/>
                </a:solidFill>
              </a:rPr>
              <a:t>Ollama  (local models)</a:t>
            </a:r>
          </a:p>
        </p:txBody>
      </p:sp>
      <p:sp>
        <p:nvSpPr>
          <p:cNvPr id="14" name="TextBox 13"/>
          <p:cNvSpPr txBox="1"/>
          <p:nvPr/>
        </p:nvSpPr>
        <p:spPr>
          <a:xfrm>
            <a:off x="6236208" y="3593592"/>
            <a:ext cx="5650992" cy="1709928"/>
          </a:xfrm>
          <a:prstGeom prst="rect">
            <a:avLst/>
          </a:prstGeom>
          <a:noFill/>
        </p:spPr>
        <p:txBody>
          <a:bodyPr wrap="square">
            <a:spAutoFit/>
          </a:bodyPr>
          <a:lstStyle/>
          <a:p>
            <a:pPr>
              <a:spcBef>
                <a:spcPts val="200"/>
              </a:spcBef>
            </a:pPr>
            <a:r>
              <a:rPr sz="1100" b="1">
                <a:solidFill>
                  <a:srgbClr val="EB1000"/>
                </a:solidFill>
                <a:latin typeface="Courier New"/>
              </a:rPr>
              <a:t>BASEURL  </a:t>
            </a:r>
            <a:r>
              <a:rPr sz="1050">
                <a:solidFill>
                  <a:srgbClr val="1A1A1A"/>
                </a:solidFill>
              </a:rPr>
              <a:t>[REQUIRED] e.g. "http://localhost:11434"  — no APIKEY needed</a:t>
            </a:r>
          </a:p>
          <a:p>
            <a:pPr>
              <a:spcBef>
                <a:spcPts val="200"/>
              </a:spcBef>
            </a:pPr>
            <a:r>
              <a:rPr sz="1100" b="1">
                <a:solidFill>
                  <a:srgbClr val="EB1000"/>
                </a:solidFill>
                <a:latin typeface="Courier New"/>
              </a:rPr>
              <a:t>NUMPREDICT  </a:t>
            </a:r>
            <a:r>
              <a:rPr sz="1050">
                <a:solidFill>
                  <a:srgbClr val="1A1A1A"/>
                </a:solidFill>
              </a:rPr>
              <a:t>Max tokens to predict (equivalent to MAXTOKENS)</a:t>
            </a:r>
          </a:p>
          <a:p>
            <a:pPr>
              <a:spcBef>
                <a:spcPts val="200"/>
              </a:spcBef>
            </a:pPr>
            <a:r>
              <a:rPr sz="1100" b="1">
                <a:solidFill>
                  <a:srgbClr val="EB1000"/>
                </a:solidFill>
                <a:latin typeface="Courier New"/>
              </a:rPr>
              <a:t>NUMCTX  </a:t>
            </a:r>
            <a:r>
              <a:rPr sz="1050">
                <a:solidFill>
                  <a:srgbClr val="1A1A1A"/>
                </a:solidFill>
              </a:rPr>
              <a:t>Context window size in tokens</a:t>
            </a:r>
          </a:p>
          <a:p>
            <a:pPr>
              <a:spcBef>
                <a:spcPts val="200"/>
              </a:spcBef>
            </a:pPr>
            <a:r>
              <a:rPr sz="1100" b="1">
                <a:solidFill>
                  <a:srgbClr val="EB1000"/>
                </a:solidFill>
                <a:latin typeface="Courier New"/>
              </a:rPr>
              <a:t>MIROSTAT  </a:t>
            </a:r>
            <a:r>
              <a:rPr sz="1050">
                <a:solidFill>
                  <a:srgbClr val="1A1A1A"/>
                </a:solidFill>
              </a:rPr>
              <a:t>Mirostat sampling algorithm: 0 (off) / 1 / 2</a:t>
            </a:r>
          </a:p>
          <a:p>
            <a:pPr>
              <a:spcBef>
                <a:spcPts val="200"/>
              </a:spcBef>
            </a:pPr>
            <a:r>
              <a:rPr sz="1100" b="1">
                <a:solidFill>
                  <a:srgbClr val="EB1000"/>
                </a:solidFill>
                <a:latin typeface="Courier New"/>
              </a:rPr>
              <a:t>MINP  </a:t>
            </a:r>
            <a:r>
              <a:rPr sz="1050">
                <a:solidFill>
                  <a:srgbClr val="1A1A1A"/>
                </a:solidFill>
              </a:rPr>
              <a:t>Minimum probability threshold for token sampling</a:t>
            </a:r>
          </a:p>
          <a:p>
            <a:pPr>
              <a:spcBef>
                <a:spcPts val="200"/>
              </a:spcBef>
            </a:pPr>
            <a:r>
              <a:rPr sz="1100" b="1">
                <a:solidFill>
                  <a:srgbClr val="EB1000"/>
                </a:solidFill>
                <a:latin typeface="Courier New"/>
              </a:rPr>
              <a:t>REPEATLASTN  </a:t>
            </a:r>
            <a:r>
              <a:rPr sz="1050">
                <a:solidFill>
                  <a:srgbClr val="1A1A1A"/>
                </a:solidFill>
              </a:rPr>
              <a:t>Look-back window size for repeat penalty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10" grpId="0"/>
      <p:bldP spid="11" grpId="0"/>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dirty="0"/>
              <a:t>Provider-Specific Parameters</a:t>
            </a:r>
          </a:p>
        </p:txBody>
      </p:sp>
      <p:sp>
        <p:nvSpPr>
          <p:cNvPr id="3" name="Rectangle 2"/>
          <p:cNvSpPr/>
          <p:nvPr/>
        </p:nvSpPr>
        <p:spPr>
          <a:xfrm>
            <a:off x="612648" y="1417320"/>
            <a:ext cx="5394960" cy="32918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435608"/>
            <a:ext cx="5303520" cy="274320"/>
          </a:xfrm>
          <a:prstGeom prst="rect">
            <a:avLst/>
          </a:prstGeom>
          <a:noFill/>
        </p:spPr>
        <p:txBody>
          <a:bodyPr wrap="square">
            <a:spAutoFit/>
          </a:bodyPr>
          <a:lstStyle/>
          <a:p>
            <a:pPr algn="l"/>
            <a:r>
              <a:rPr sz="1200" b="1" i="0">
                <a:solidFill>
                  <a:srgbClr val="FFFFFF"/>
                </a:solidFill>
              </a:rPr>
              <a:t>OpenAI</a:t>
            </a:r>
          </a:p>
        </p:txBody>
      </p:sp>
      <p:sp>
        <p:nvSpPr>
          <p:cNvPr id="5" name="TextBox 4"/>
          <p:cNvSpPr txBox="1"/>
          <p:nvPr/>
        </p:nvSpPr>
        <p:spPr>
          <a:xfrm>
            <a:off x="612648" y="1764792"/>
            <a:ext cx="5394960" cy="3950208"/>
          </a:xfrm>
          <a:prstGeom prst="rect">
            <a:avLst/>
          </a:prstGeom>
          <a:noFill/>
        </p:spPr>
        <p:txBody>
          <a:bodyPr wrap="square">
            <a:spAutoFit/>
          </a:bodyPr>
          <a:lstStyle/>
          <a:p>
            <a:pPr>
              <a:spcBef>
                <a:spcPts val="300"/>
              </a:spcBef>
            </a:pPr>
            <a:r>
              <a:rPr sz="1100" b="1" dirty="0">
                <a:solidFill>
                  <a:srgbClr val="EB1000"/>
                </a:solidFill>
                <a:latin typeface="Courier New"/>
              </a:rPr>
              <a:t>MAXCOMPLETIONTOKENS  </a:t>
            </a:r>
            <a:r>
              <a:rPr sz="1050" dirty="0">
                <a:solidFill>
                  <a:srgbClr val="1A1A1A"/>
                </a:solidFill>
              </a:rPr>
              <a:t>o-series (o1, o3) token cap — use instead of MAXTOKENS</a:t>
            </a:r>
          </a:p>
          <a:p>
            <a:pPr>
              <a:spcBef>
                <a:spcPts val="300"/>
              </a:spcBef>
            </a:pPr>
            <a:r>
              <a:rPr sz="1100" b="1" dirty="0">
                <a:solidFill>
                  <a:srgbClr val="EB1000"/>
                </a:solidFill>
                <a:latin typeface="Courier New"/>
              </a:rPr>
              <a:t>LOGITBIAS  </a:t>
            </a:r>
            <a:r>
              <a:rPr sz="1050" dirty="0">
                <a:solidFill>
                  <a:srgbClr val="1A1A1A"/>
                </a:solidFill>
              </a:rPr>
              <a:t>Struct { </a:t>
            </a:r>
            <a:r>
              <a:rPr sz="1050" dirty="0" err="1">
                <a:solidFill>
                  <a:srgbClr val="1A1A1A"/>
                </a:solidFill>
              </a:rPr>
              <a:t>token_id</a:t>
            </a:r>
            <a:r>
              <a:rPr sz="1050" dirty="0">
                <a:solidFill>
                  <a:srgbClr val="1A1A1A"/>
                </a:solidFill>
              </a:rPr>
              <a:t>: −100–100 }. Force or suppress specific tokens</a:t>
            </a:r>
          </a:p>
          <a:p>
            <a:pPr>
              <a:spcBef>
                <a:spcPts val="300"/>
              </a:spcBef>
            </a:pPr>
            <a:r>
              <a:rPr sz="1100" b="1" dirty="0">
                <a:solidFill>
                  <a:srgbClr val="EB1000"/>
                </a:solidFill>
                <a:latin typeface="Courier New"/>
              </a:rPr>
              <a:t>PARALLELCOOLCALLS  </a:t>
            </a:r>
            <a:r>
              <a:rPr sz="1050" dirty="0">
                <a:solidFill>
                  <a:srgbClr val="1A1A1A"/>
                </a:solidFill>
              </a:rPr>
              <a:t>Boolean. Allow parallel tool calls in one response (default: true)</a:t>
            </a:r>
          </a:p>
          <a:p>
            <a:pPr>
              <a:spcBef>
                <a:spcPts val="300"/>
              </a:spcBef>
            </a:pPr>
            <a:r>
              <a:rPr sz="1100" b="1" dirty="0">
                <a:solidFill>
                  <a:srgbClr val="EB1000"/>
                </a:solidFill>
                <a:latin typeface="Courier New"/>
              </a:rPr>
              <a:t>STRICTJSONSCHEMA  </a:t>
            </a:r>
            <a:r>
              <a:rPr sz="1050" dirty="0">
                <a:solidFill>
                  <a:srgbClr val="1A1A1A"/>
                </a:solidFill>
              </a:rPr>
              <a:t>Boolean. Enforce strict schema validation on JSON output</a:t>
            </a:r>
          </a:p>
          <a:p>
            <a:pPr>
              <a:spcBef>
                <a:spcPts val="300"/>
              </a:spcBef>
            </a:pPr>
            <a:r>
              <a:rPr sz="1100" b="1" dirty="0">
                <a:solidFill>
                  <a:srgbClr val="EB1000"/>
                </a:solidFill>
                <a:latin typeface="Courier New"/>
              </a:rPr>
              <a:t>METADATA  </a:t>
            </a:r>
            <a:r>
              <a:rPr sz="1050" dirty="0">
                <a:solidFill>
                  <a:srgbClr val="1A1A1A"/>
                </a:solidFill>
              </a:rPr>
              <a:t>Struct. Tracking keys (user ID, session). Visible in OpenAI dashboard</a:t>
            </a:r>
          </a:p>
          <a:p>
            <a:pPr>
              <a:spcBef>
                <a:spcPts val="300"/>
              </a:spcBef>
            </a:pPr>
            <a:r>
              <a:rPr sz="1100" b="1" dirty="0">
                <a:solidFill>
                  <a:srgbClr val="EB1000"/>
                </a:solidFill>
                <a:latin typeface="Courier New"/>
              </a:rPr>
              <a:t>FREQUENCYPENALTY  </a:t>
            </a:r>
            <a:r>
              <a:rPr sz="1050" dirty="0">
                <a:solidFill>
                  <a:srgbClr val="1A1A1A"/>
                </a:solidFill>
              </a:rPr>
              <a:t>Numeric −2.0 to 2.0. Reduce frequency-based repetition</a:t>
            </a:r>
          </a:p>
          <a:p>
            <a:pPr>
              <a:spcBef>
                <a:spcPts val="300"/>
              </a:spcBef>
            </a:pPr>
            <a:r>
              <a:rPr sz="1100" b="1" dirty="0">
                <a:solidFill>
                  <a:srgbClr val="EB1000"/>
                </a:solidFill>
                <a:latin typeface="Courier New"/>
              </a:rPr>
              <a:t>PRESENCEPENALTY  </a:t>
            </a:r>
            <a:r>
              <a:rPr sz="1050" dirty="0">
                <a:solidFill>
                  <a:srgbClr val="1A1A1A"/>
                </a:solidFill>
              </a:rPr>
              <a:t>Numeric −2.0 to 2.0. </a:t>
            </a:r>
            <a:r>
              <a:rPr sz="1050" dirty="0" err="1">
                <a:solidFill>
                  <a:srgbClr val="1A1A1A"/>
                </a:solidFill>
              </a:rPr>
              <a:t>Penalise</a:t>
            </a:r>
            <a:r>
              <a:rPr sz="1050" dirty="0">
                <a:solidFill>
                  <a:srgbClr val="1A1A1A"/>
                </a:solidFill>
              </a:rPr>
              <a:t> already-present tokens</a:t>
            </a:r>
          </a:p>
          <a:p>
            <a:pPr>
              <a:spcBef>
                <a:spcPts val="300"/>
              </a:spcBef>
            </a:pPr>
            <a:r>
              <a:rPr sz="1100" b="1" dirty="0">
                <a:solidFill>
                  <a:srgbClr val="EB1000"/>
                </a:solidFill>
                <a:latin typeface="Courier New"/>
              </a:rPr>
              <a:t>Temperature  </a:t>
            </a:r>
            <a:r>
              <a:rPr sz="1050" dirty="0">
                <a:solidFill>
                  <a:srgbClr val="1A1A1A"/>
                </a:solidFill>
              </a:rPr>
              <a:t>Range: 0.0–2.0  (higher ceiling than Anthropic / Mistral)</a:t>
            </a:r>
          </a:p>
        </p:txBody>
      </p:sp>
      <p:sp>
        <p:nvSpPr>
          <p:cNvPr id="8" name="Rectangle 7"/>
          <p:cNvSpPr/>
          <p:nvPr/>
        </p:nvSpPr>
        <p:spPr>
          <a:xfrm>
            <a:off x="6236208" y="1417320"/>
            <a:ext cx="5650992" cy="32918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81928" y="1435608"/>
            <a:ext cx="5559552" cy="274320"/>
          </a:xfrm>
          <a:prstGeom prst="rect">
            <a:avLst/>
          </a:prstGeom>
          <a:noFill/>
        </p:spPr>
        <p:txBody>
          <a:bodyPr wrap="square">
            <a:spAutoFit/>
          </a:bodyPr>
          <a:lstStyle/>
          <a:p>
            <a:pPr algn="l"/>
            <a:r>
              <a:rPr sz="1200" b="1" i="0" dirty="0">
                <a:solidFill>
                  <a:srgbClr val="FFFFFF"/>
                </a:solidFill>
              </a:rPr>
              <a:t>Google Gemini</a:t>
            </a:r>
          </a:p>
        </p:txBody>
      </p:sp>
      <p:sp>
        <p:nvSpPr>
          <p:cNvPr id="10" name="TextBox 9"/>
          <p:cNvSpPr txBox="1"/>
          <p:nvPr/>
        </p:nvSpPr>
        <p:spPr>
          <a:xfrm>
            <a:off x="6184395" y="1764791"/>
            <a:ext cx="5883558" cy="1046440"/>
          </a:xfrm>
          <a:prstGeom prst="rect">
            <a:avLst/>
          </a:prstGeom>
          <a:noFill/>
        </p:spPr>
        <p:txBody>
          <a:bodyPr wrap="square">
            <a:spAutoFit/>
          </a:bodyPr>
          <a:lstStyle/>
          <a:p>
            <a:pPr>
              <a:spcBef>
                <a:spcPts val="300"/>
              </a:spcBef>
            </a:pPr>
            <a:r>
              <a:rPr sz="1100" b="1" dirty="0">
                <a:solidFill>
                  <a:srgbClr val="EB1000"/>
                </a:solidFill>
              </a:rPr>
              <a:t>CANDIDATECOUNT  </a:t>
            </a:r>
            <a:r>
              <a:rPr sz="1050" b="0" dirty="0">
                <a:solidFill>
                  <a:srgbClr val="1A1A1A"/>
                </a:solidFill>
              </a:rPr>
              <a:t>Integer 1–8. Ask Gemini for N candidate responses at once — unique to Gemini</a:t>
            </a:r>
          </a:p>
          <a:p>
            <a:pPr>
              <a:spcBef>
                <a:spcPts val="300"/>
              </a:spcBef>
            </a:pPr>
            <a:r>
              <a:rPr sz="1100" b="1" dirty="0">
                <a:solidFill>
                  <a:srgbClr val="EB1000"/>
                </a:solidFill>
              </a:rPr>
              <a:t>STOPSEQUENCES  </a:t>
            </a:r>
            <a:r>
              <a:rPr sz="1050" b="0" dirty="0">
                <a:solidFill>
                  <a:srgbClr val="1A1A1A"/>
                </a:solidFill>
              </a:rPr>
              <a:t>Array of strings. Generation halts when any sequence is encountered</a:t>
            </a:r>
          </a:p>
          <a:p>
            <a:pPr>
              <a:spcBef>
                <a:spcPts val="300"/>
              </a:spcBef>
            </a:pPr>
            <a:r>
              <a:rPr sz="1100" b="1" dirty="0">
                <a:solidFill>
                  <a:srgbClr val="EB1000"/>
                </a:solidFill>
              </a:rPr>
              <a:t>SAFETYSETTINGS  </a:t>
            </a:r>
            <a:r>
              <a:rPr sz="1050" b="0" dirty="0">
                <a:solidFill>
                  <a:srgbClr val="1A1A1A"/>
                </a:solidFill>
              </a:rPr>
              <a:t>Struct. Per-category harm filtering — HARASSMENT, HATE_SPEECH, DANGEROUS_CONTENT</a:t>
            </a:r>
          </a:p>
          <a:p>
            <a:pPr>
              <a:spcBef>
                <a:spcPts val="300"/>
              </a:spcBef>
            </a:pPr>
            <a:r>
              <a:rPr sz="1100" b="1" dirty="0">
                <a:solidFill>
                  <a:srgbClr val="EB1000"/>
                </a:solidFill>
              </a:rPr>
              <a:t>RESPONSEMIMETYPE  </a:t>
            </a:r>
            <a:r>
              <a:rPr sz="1050" b="0" dirty="0">
                <a:solidFill>
                  <a:srgbClr val="1A1A1A"/>
                </a:solidFill>
              </a:rPr>
              <a:t>"text/plain" (default) or "application/</a:t>
            </a:r>
            <a:r>
              <a:rPr sz="1050" b="0" dirty="0" err="1">
                <a:solidFill>
                  <a:srgbClr val="1A1A1A"/>
                </a:solidFill>
              </a:rPr>
              <a:t>json</a:t>
            </a:r>
            <a:r>
              <a:rPr sz="1050" b="0" dirty="0">
                <a:solidFill>
                  <a:srgbClr val="1A1A1A"/>
                </a:solidFill>
              </a:rPr>
              <a:t>" for structured JSON 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TEMPERATURE — A Critical Provider Difference</a:t>
            </a:r>
          </a:p>
        </p:txBody>
      </p:sp>
      <p:sp>
        <p:nvSpPr>
          <p:cNvPr id="3" name="Rectangle 2"/>
          <p:cNvSpPr/>
          <p:nvPr/>
        </p:nvSpPr>
        <p:spPr>
          <a:xfrm>
            <a:off x="612648" y="1417320"/>
            <a:ext cx="5394960" cy="384048"/>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444752"/>
            <a:ext cx="5303520" cy="320040"/>
          </a:xfrm>
          <a:prstGeom prst="rect">
            <a:avLst/>
          </a:prstGeom>
          <a:noFill/>
        </p:spPr>
        <p:txBody>
          <a:bodyPr wrap="square">
            <a:spAutoFit/>
          </a:bodyPr>
          <a:lstStyle/>
          <a:p>
            <a:pPr algn="l"/>
            <a:r>
              <a:rPr sz="1500" b="1" i="0">
                <a:solidFill>
                  <a:srgbClr val="FFFFFF"/>
                </a:solidFill>
              </a:rPr>
              <a:t>Range: 0.0 – 2.0</a:t>
            </a:r>
          </a:p>
        </p:txBody>
      </p:sp>
      <p:sp>
        <p:nvSpPr>
          <p:cNvPr id="5" name="Rectangle 4"/>
          <p:cNvSpPr/>
          <p:nvPr/>
        </p:nvSpPr>
        <p:spPr>
          <a:xfrm>
            <a:off x="658368" y="1828800"/>
            <a:ext cx="530352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56231"/>
            <a:ext cx="5120640" cy="237744"/>
          </a:xfrm>
          <a:prstGeom prst="rect">
            <a:avLst/>
          </a:prstGeom>
          <a:noFill/>
        </p:spPr>
        <p:txBody>
          <a:bodyPr wrap="square">
            <a:spAutoFit/>
          </a:bodyPr>
          <a:lstStyle/>
          <a:p>
            <a:pPr algn="l"/>
            <a:r>
              <a:rPr sz="1100" b="0" i="0">
                <a:solidFill>
                  <a:srgbClr val="1A1A1A"/>
                </a:solidFill>
              </a:rPr>
              <a:t>OpenAI   ·   PROVIDER:"openai"</a:t>
            </a:r>
          </a:p>
        </p:txBody>
      </p:sp>
      <p:sp>
        <p:nvSpPr>
          <p:cNvPr id="7" name="Rectangle 6"/>
          <p:cNvSpPr/>
          <p:nvPr/>
        </p:nvSpPr>
        <p:spPr>
          <a:xfrm>
            <a:off x="658368" y="2148840"/>
            <a:ext cx="530352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176272"/>
            <a:ext cx="5120640" cy="237744"/>
          </a:xfrm>
          <a:prstGeom prst="rect">
            <a:avLst/>
          </a:prstGeom>
          <a:noFill/>
        </p:spPr>
        <p:txBody>
          <a:bodyPr wrap="square">
            <a:spAutoFit/>
          </a:bodyPr>
          <a:lstStyle/>
          <a:p>
            <a:pPr algn="l"/>
            <a:r>
              <a:rPr sz="1100" b="0" i="0">
                <a:solidFill>
                  <a:srgbClr val="1A1A1A"/>
                </a:solidFill>
              </a:rPr>
              <a:t>Azure OpenAI   ·   PROVIDER:"azureopenai"</a:t>
            </a:r>
          </a:p>
        </p:txBody>
      </p:sp>
      <p:sp>
        <p:nvSpPr>
          <p:cNvPr id="9" name="Rectangle 8"/>
          <p:cNvSpPr/>
          <p:nvPr/>
        </p:nvSpPr>
        <p:spPr>
          <a:xfrm>
            <a:off x="658368" y="2468880"/>
            <a:ext cx="530352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2496311"/>
            <a:ext cx="5120640" cy="237744"/>
          </a:xfrm>
          <a:prstGeom prst="rect">
            <a:avLst/>
          </a:prstGeom>
          <a:noFill/>
        </p:spPr>
        <p:txBody>
          <a:bodyPr wrap="square">
            <a:spAutoFit/>
          </a:bodyPr>
          <a:lstStyle/>
          <a:p>
            <a:pPr algn="l"/>
            <a:r>
              <a:rPr sz="1100" b="0" i="0">
                <a:solidFill>
                  <a:srgbClr val="1A1A1A"/>
                </a:solidFill>
              </a:rPr>
              <a:t>Ollama   ·   PROVIDER:"ollama"</a:t>
            </a:r>
          </a:p>
        </p:txBody>
      </p:sp>
      <p:sp>
        <p:nvSpPr>
          <p:cNvPr id="11" name="Rectangle 10"/>
          <p:cNvSpPr/>
          <p:nvPr/>
        </p:nvSpPr>
        <p:spPr>
          <a:xfrm>
            <a:off x="658368" y="2788920"/>
            <a:ext cx="530352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816351"/>
            <a:ext cx="5120640" cy="237744"/>
          </a:xfrm>
          <a:prstGeom prst="rect">
            <a:avLst/>
          </a:prstGeom>
          <a:noFill/>
        </p:spPr>
        <p:txBody>
          <a:bodyPr wrap="square">
            <a:spAutoFit/>
          </a:bodyPr>
          <a:lstStyle/>
          <a:p>
            <a:pPr algn="l"/>
            <a:r>
              <a:rPr sz="1100" b="0" i="0">
                <a:solidFill>
                  <a:srgbClr val="1A1A1A"/>
                </a:solidFill>
              </a:rPr>
              <a:t>Google Gemini   ·   PROVIDER:"gemini"</a:t>
            </a:r>
          </a:p>
        </p:txBody>
      </p:sp>
      <p:sp>
        <p:nvSpPr>
          <p:cNvPr id="14" name="Rectangle 13"/>
          <p:cNvSpPr/>
          <p:nvPr/>
        </p:nvSpPr>
        <p:spPr>
          <a:xfrm>
            <a:off x="6236208" y="1417320"/>
            <a:ext cx="5669280" cy="384048"/>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81928" y="1444752"/>
            <a:ext cx="5577840" cy="320040"/>
          </a:xfrm>
          <a:prstGeom prst="rect">
            <a:avLst/>
          </a:prstGeom>
          <a:noFill/>
        </p:spPr>
        <p:txBody>
          <a:bodyPr wrap="square">
            <a:spAutoFit/>
          </a:bodyPr>
          <a:lstStyle/>
          <a:p>
            <a:pPr algn="l"/>
            <a:r>
              <a:rPr sz="1500" b="1" i="0">
                <a:solidFill>
                  <a:srgbClr val="FFFFFF"/>
                </a:solidFill>
              </a:rPr>
              <a:t>Range: 0.0 – 1.0</a:t>
            </a:r>
          </a:p>
        </p:txBody>
      </p:sp>
      <p:sp>
        <p:nvSpPr>
          <p:cNvPr id="16" name="Rectangle 15"/>
          <p:cNvSpPr/>
          <p:nvPr/>
        </p:nvSpPr>
        <p:spPr>
          <a:xfrm>
            <a:off x="6281928" y="1828800"/>
            <a:ext cx="557784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3368" y="1856231"/>
            <a:ext cx="5394960" cy="256032"/>
          </a:xfrm>
          <a:prstGeom prst="rect">
            <a:avLst/>
          </a:prstGeom>
          <a:noFill/>
        </p:spPr>
        <p:txBody>
          <a:bodyPr wrap="square">
            <a:spAutoFit/>
          </a:bodyPr>
          <a:lstStyle/>
          <a:p>
            <a:pPr algn="l"/>
            <a:r>
              <a:rPr sz="1150" b="0" i="0">
                <a:solidFill>
                  <a:srgbClr val="1A1A1A"/>
                </a:solidFill>
              </a:rPr>
              <a:t>Anthropic   ·   PROVIDER:"anthropic"</a:t>
            </a:r>
          </a:p>
        </p:txBody>
      </p:sp>
      <p:sp>
        <p:nvSpPr>
          <p:cNvPr id="18" name="Rectangle 17"/>
          <p:cNvSpPr/>
          <p:nvPr/>
        </p:nvSpPr>
        <p:spPr>
          <a:xfrm>
            <a:off x="6281928" y="2167128"/>
            <a:ext cx="5577840"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73368" y="2194560"/>
            <a:ext cx="5394960" cy="256032"/>
          </a:xfrm>
          <a:prstGeom prst="rect">
            <a:avLst/>
          </a:prstGeom>
          <a:noFill/>
        </p:spPr>
        <p:txBody>
          <a:bodyPr wrap="square">
            <a:spAutoFit/>
          </a:bodyPr>
          <a:lstStyle/>
          <a:p>
            <a:pPr algn="l"/>
            <a:r>
              <a:rPr sz="1150" b="0" i="0">
                <a:solidFill>
                  <a:srgbClr val="1A1A1A"/>
                </a:solidFill>
              </a:rPr>
              <a:t>Mistral   ·   PROVIDER:"mistral"</a:t>
            </a:r>
          </a:p>
        </p:txBody>
      </p:sp>
      <p:sp>
        <p:nvSpPr>
          <p:cNvPr id="20" name="TextBox 19"/>
          <p:cNvSpPr txBox="1"/>
          <p:nvPr/>
        </p:nvSpPr>
        <p:spPr>
          <a:xfrm>
            <a:off x="612648" y="1216152"/>
            <a:ext cx="5120640" cy="1409699"/>
          </a:xfrm>
          <a:prstGeom prst="rect">
            <a:avLst/>
          </a:prstGeom>
          <a:solidFill>
            <a:srgbClr val="000000"/>
          </a:solidFill>
        </p:spPr>
        <p:txBody>
          <a:bodyPr wrap="none" lIns="109728" tIns="82296" bIns="64008">
            <a:spAutoFit/>
          </a:bodyPr>
          <a:lstStyle/>
          <a:p>
            <a:pPr>
              <a:lnSpc>
                <a:spcPct val="115000"/>
              </a:lnSpc>
              <a:spcBef>
                <a:spcPts val="0"/>
              </a:spcBef>
            </a:pPr>
            <a:r>
              <a:rPr sz="1300" b="0" dirty="0">
                <a:solidFill>
                  <a:srgbClr val="6A9955"/>
                </a:solidFill>
                <a:latin typeface="Courier New"/>
              </a:rPr>
              <a:t>// ✓ Valid for OpenAI / Azure / Ollama / Gemini</a:t>
            </a:r>
          </a:p>
          <a:p>
            <a:pPr>
              <a:lnSpc>
                <a:spcPct val="115000"/>
              </a:lnSpc>
              <a:spcBef>
                <a:spcPts val="0"/>
              </a:spcBef>
            </a:pPr>
            <a:r>
              <a:rPr sz="1300" b="0" dirty="0" err="1">
                <a:solidFill>
                  <a:srgbClr val="9CDCFE"/>
                </a:solidFill>
                <a:latin typeface="Courier New"/>
              </a:rPr>
              <a:t>chatModel</a:t>
            </a:r>
            <a:r>
              <a:rPr sz="1300" b="0" dirty="0">
                <a:solidFill>
                  <a:srgbClr val="D4D4D4"/>
                </a:solidFill>
                <a:latin typeface="Courier New"/>
              </a:rPr>
              <a:t> = </a:t>
            </a:r>
            <a:r>
              <a:rPr sz="1300" b="0" dirty="0" err="1">
                <a:solidFill>
                  <a:srgbClr val="4EC9B0"/>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PROVIDER</a:t>
            </a:r>
            <a:r>
              <a:rPr sz="1300" b="0" dirty="0">
                <a:solidFill>
                  <a:srgbClr val="D4D4D4"/>
                </a:solidFill>
                <a:latin typeface="Courier New"/>
              </a:rPr>
              <a:t>    : </a:t>
            </a:r>
            <a:r>
              <a:rPr sz="1300" b="0" dirty="0">
                <a:solidFill>
                  <a:srgbClr val="CE9178"/>
                </a:solidFill>
                <a:latin typeface="Courier New"/>
              </a:rPr>
              <a:t>"</a:t>
            </a:r>
            <a:r>
              <a:rPr sz="1300" b="0" dirty="0" err="1">
                <a:solidFill>
                  <a:srgbClr val="CE9178"/>
                </a:solidFill>
                <a:latin typeface="Courier New"/>
              </a:rPr>
              <a:t>openai</a:t>
            </a:r>
            <a:r>
              <a:rPr sz="1300" b="0" dirty="0">
                <a:solidFill>
                  <a:srgbClr val="CE9178"/>
                </a:solidFill>
                <a:latin typeface="Courier New"/>
              </a:rPr>
              <a: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APIKEY</a:t>
            </a:r>
            <a:r>
              <a:rPr sz="1300" b="0" dirty="0">
                <a:solidFill>
                  <a:srgbClr val="D4D4D4"/>
                </a:solidFill>
                <a:latin typeface="Courier New"/>
              </a:rPr>
              <a:t>      : </a:t>
            </a:r>
            <a:r>
              <a:rPr sz="1300" b="0" dirty="0" err="1">
                <a:solidFill>
                  <a:srgbClr val="9CDCFE"/>
                </a:solidFill>
                <a:latin typeface="Courier New"/>
              </a:rPr>
              <a:t>application</a:t>
            </a:r>
            <a:r>
              <a:rPr sz="1300" b="0" dirty="0" err="1">
                <a:solidFill>
                  <a:srgbClr val="D4D4D4"/>
                </a:solidFill>
                <a:latin typeface="Courier New"/>
              </a:rPr>
              <a:t>.</a:t>
            </a:r>
            <a:r>
              <a:rPr sz="1300" b="0" dirty="0" err="1">
                <a:solidFill>
                  <a:srgbClr val="9CDCFE"/>
                </a:solidFill>
                <a:latin typeface="Courier New"/>
              </a:rPr>
              <a:t>openaiKey</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MODELNAME</a:t>
            </a:r>
            <a:r>
              <a:rPr sz="1300" b="0" dirty="0">
                <a:solidFill>
                  <a:srgbClr val="D4D4D4"/>
                </a:solidFill>
                <a:latin typeface="Courier New"/>
              </a:rPr>
              <a:t>   : </a:t>
            </a:r>
            <a:r>
              <a:rPr sz="1300" b="0" dirty="0">
                <a:solidFill>
                  <a:srgbClr val="CE9178"/>
                </a:solidFill>
                <a:latin typeface="Courier New"/>
              </a:rPr>
              <a:t>"gpt-4o-mini"</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TEMPERATURE</a:t>
            </a:r>
            <a:r>
              <a:rPr sz="1300" b="0" dirty="0">
                <a:solidFill>
                  <a:srgbClr val="D4D4D4"/>
                </a:solidFill>
                <a:latin typeface="Courier New"/>
              </a:rPr>
              <a:t> : </a:t>
            </a:r>
            <a:r>
              <a:rPr sz="1300" b="0" dirty="0">
                <a:solidFill>
                  <a:srgbClr val="B5CEA8"/>
                </a:solidFill>
                <a:latin typeface="Courier New"/>
              </a:rPr>
              <a:t>1.5</a:t>
            </a:r>
            <a:r>
              <a:rPr sz="1300" b="0" dirty="0">
                <a:solidFill>
                  <a:srgbClr val="D4D4D4"/>
                </a:solidFill>
                <a:latin typeface="Courier New"/>
              </a:rPr>
              <a:t>   </a:t>
            </a:r>
            <a:r>
              <a:rPr sz="1300" b="0" dirty="0">
                <a:solidFill>
                  <a:srgbClr val="6A9955"/>
                </a:solidFill>
                <a:latin typeface="Courier New"/>
              </a:rPr>
              <a:t>// within 0–2</a:t>
            </a:r>
          </a:p>
          <a:p>
            <a:pPr>
              <a:lnSpc>
                <a:spcPct val="115000"/>
              </a:lnSpc>
              <a:spcBef>
                <a:spcPts val="0"/>
              </a:spcBef>
            </a:pPr>
            <a:r>
              <a:rPr sz="1300" b="0" dirty="0">
                <a:solidFill>
                  <a:srgbClr val="D4D4D4"/>
                </a:solidFill>
                <a:latin typeface="Courier New"/>
              </a:rPr>
              <a:t>});</a:t>
            </a:r>
          </a:p>
        </p:txBody>
      </p:sp>
      <p:sp>
        <p:nvSpPr>
          <p:cNvPr id="21" name="TextBox 20"/>
          <p:cNvSpPr txBox="1"/>
          <p:nvPr/>
        </p:nvSpPr>
        <p:spPr>
          <a:xfrm>
            <a:off x="6236208" y="2808731"/>
            <a:ext cx="5577840" cy="1234439"/>
          </a:xfrm>
          <a:prstGeom prst="rect">
            <a:avLst/>
          </a:prstGeom>
          <a:solidFill>
            <a:srgbClr val="000000"/>
          </a:solidFill>
        </p:spPr>
        <p:txBody>
          <a:bodyPr wrap="none" lIns="109728" tIns="82296" bIns="64008">
            <a:spAutoFit/>
          </a:bodyPr>
          <a:lstStyle/>
          <a:p>
            <a:pPr>
              <a:lnSpc>
                <a:spcPct val="115000"/>
              </a:lnSpc>
              <a:spcBef>
                <a:spcPts val="0"/>
              </a:spcBef>
            </a:pPr>
            <a:r>
              <a:rPr sz="1300" b="0">
                <a:solidFill>
                  <a:srgbClr val="6A9955"/>
                </a:solidFill>
                <a:latin typeface="Courier New"/>
              </a:rPr>
              <a:t>// ✗ Throws — Anthropic / Mistral max is 1.0</a:t>
            </a:r>
          </a:p>
          <a:p>
            <a:pPr>
              <a:lnSpc>
                <a:spcPct val="115000"/>
              </a:lnSpc>
              <a:spcBef>
                <a:spcPts val="0"/>
              </a:spcBef>
            </a:pPr>
            <a:r>
              <a:rPr sz="1300" b="0">
                <a:solidFill>
                  <a:srgbClr val="9CDCFE"/>
                </a:solidFill>
                <a:latin typeface="Courier New"/>
              </a:rPr>
              <a:t>chatModel</a:t>
            </a:r>
            <a:r>
              <a:rPr sz="1300" b="0">
                <a:solidFill>
                  <a:srgbClr val="D4D4D4"/>
                </a:solidFill>
                <a:latin typeface="Courier New"/>
              </a:rPr>
              <a:t> = </a:t>
            </a:r>
            <a:r>
              <a:rPr sz="1300" b="0">
                <a:solidFill>
                  <a:srgbClr val="4EC9B0"/>
                </a:solidFill>
                <a:latin typeface="Courier New"/>
              </a:rPr>
              <a:t>ChatModel</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PROVIDER</a:t>
            </a:r>
            <a:r>
              <a:rPr sz="1300" b="0">
                <a:solidFill>
                  <a:srgbClr val="D4D4D4"/>
                </a:solidFill>
                <a:latin typeface="Courier New"/>
              </a:rPr>
              <a:t>    : </a:t>
            </a:r>
            <a:r>
              <a:rPr sz="1300" b="0">
                <a:solidFill>
                  <a:srgbClr val="CE9178"/>
                </a:solidFill>
                <a:latin typeface="Courier New"/>
              </a:rPr>
              <a:t>"anthropic"</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APIKEY</a:t>
            </a:r>
            <a:r>
              <a:rPr sz="1300" b="0">
                <a:solidFill>
                  <a:srgbClr val="D4D4D4"/>
                </a:solidFill>
                <a:latin typeface="Courier New"/>
              </a:rPr>
              <a:t>      : </a:t>
            </a:r>
            <a:r>
              <a:rPr sz="1300" b="0">
                <a:solidFill>
                  <a:srgbClr val="9CDCFE"/>
                </a:solidFill>
                <a:latin typeface="Courier New"/>
              </a:rPr>
              <a:t>application</a:t>
            </a:r>
            <a:r>
              <a:rPr sz="1300" b="0">
                <a:solidFill>
                  <a:srgbClr val="D4D4D4"/>
                </a:solidFill>
                <a:latin typeface="Courier New"/>
              </a:rPr>
              <a:t>.</a:t>
            </a:r>
            <a:r>
              <a:rPr sz="1300" b="0">
                <a:solidFill>
                  <a:srgbClr val="9CDCFE"/>
                </a:solidFill>
                <a:latin typeface="Courier New"/>
              </a:rPr>
              <a:t>anthropicKey</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TEMPERATURE</a:t>
            </a:r>
            <a:r>
              <a:rPr sz="1300" b="0">
                <a:solidFill>
                  <a:srgbClr val="D4D4D4"/>
                </a:solidFill>
                <a:latin typeface="Courier New"/>
              </a:rPr>
              <a:t> : </a:t>
            </a:r>
            <a:r>
              <a:rPr sz="1300" b="0">
                <a:solidFill>
                  <a:srgbClr val="B5CEA8"/>
                </a:solidFill>
                <a:latin typeface="Courier New"/>
              </a:rPr>
              <a:t>1.5</a:t>
            </a:r>
            <a:r>
              <a:rPr sz="1300" b="0">
                <a:solidFill>
                  <a:srgbClr val="D4D4D4"/>
                </a:solidFill>
                <a:latin typeface="Courier New"/>
              </a:rPr>
              <a:t>   </a:t>
            </a:r>
            <a:r>
              <a:rPr sz="1300" b="0">
                <a:solidFill>
                  <a:srgbClr val="6A9955"/>
                </a:solidFill>
                <a:latin typeface="Courier New"/>
              </a:rPr>
              <a:t>// ✗ exception!</a:t>
            </a:r>
          </a:p>
          <a:p>
            <a:pPr>
              <a:lnSpc>
                <a:spcPct val="115000"/>
              </a:lnSpc>
              <a:spcBef>
                <a:spcPts val="0"/>
              </a:spcBef>
            </a:pPr>
            <a:r>
              <a:rPr sz="1300" b="0">
                <a:solidFill>
                  <a:srgbClr val="D4D4D4"/>
                </a:solidFill>
                <a:latin typeface="Courier New"/>
              </a:rPr>
              <a:t>});</a:t>
            </a:r>
          </a:p>
        </p:txBody>
      </p:sp>
      <p:sp>
        <p:nvSpPr>
          <p:cNvPr id="22" name="TextBox 21"/>
          <p:cNvSpPr txBox="1"/>
          <p:nvPr/>
        </p:nvSpPr>
        <p:spPr>
          <a:xfrm>
            <a:off x="6236208" y="4226051"/>
            <a:ext cx="5577840" cy="1409699"/>
          </a:xfrm>
          <a:prstGeom prst="rect">
            <a:avLst/>
          </a:prstGeom>
          <a:solidFill>
            <a:srgbClr val="000000"/>
          </a:solidFill>
        </p:spPr>
        <p:txBody>
          <a:bodyPr wrap="none" lIns="109728" tIns="82296" bIns="64008">
            <a:spAutoFit/>
          </a:bodyPr>
          <a:lstStyle/>
          <a:p>
            <a:pPr>
              <a:lnSpc>
                <a:spcPct val="115000"/>
              </a:lnSpc>
              <a:spcBef>
                <a:spcPts val="0"/>
              </a:spcBef>
            </a:pPr>
            <a:r>
              <a:rPr sz="1300" b="0">
                <a:solidFill>
                  <a:srgbClr val="6A9955"/>
                </a:solidFill>
                <a:latin typeface="Courier New"/>
              </a:rPr>
              <a:t>// ✓ Safe for ALL six providers</a:t>
            </a:r>
          </a:p>
          <a:p>
            <a:pPr>
              <a:lnSpc>
                <a:spcPct val="115000"/>
              </a:lnSpc>
              <a:spcBef>
                <a:spcPts val="0"/>
              </a:spcBef>
            </a:pPr>
            <a:r>
              <a:rPr sz="1300" b="0">
                <a:solidFill>
                  <a:srgbClr val="9CDCFE"/>
                </a:solidFill>
                <a:latin typeface="Courier New"/>
              </a:rPr>
              <a:t>chatModel</a:t>
            </a:r>
            <a:r>
              <a:rPr sz="1300" b="0">
                <a:solidFill>
                  <a:srgbClr val="D4D4D4"/>
                </a:solidFill>
                <a:latin typeface="Courier New"/>
              </a:rPr>
              <a:t> = </a:t>
            </a:r>
            <a:r>
              <a:rPr sz="1300" b="0">
                <a:solidFill>
                  <a:srgbClr val="4EC9B0"/>
                </a:solidFill>
                <a:latin typeface="Courier New"/>
              </a:rPr>
              <a:t>ChatModel</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PROVIDER</a:t>
            </a:r>
            <a:r>
              <a:rPr sz="1300" b="0">
                <a:solidFill>
                  <a:srgbClr val="D4D4D4"/>
                </a:solidFill>
                <a:latin typeface="Courier New"/>
              </a:rPr>
              <a:t>    : </a:t>
            </a:r>
            <a:r>
              <a:rPr sz="1300" b="0">
                <a:solidFill>
                  <a:srgbClr val="CE9178"/>
                </a:solidFill>
                <a:latin typeface="Courier New"/>
              </a:rPr>
              <a:t>"anthropic"</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APIKEY</a:t>
            </a:r>
            <a:r>
              <a:rPr sz="1300" b="0">
                <a:solidFill>
                  <a:srgbClr val="D4D4D4"/>
                </a:solidFill>
                <a:latin typeface="Courier New"/>
              </a:rPr>
              <a:t>      : </a:t>
            </a:r>
            <a:r>
              <a:rPr sz="1300" b="0">
                <a:solidFill>
                  <a:srgbClr val="9CDCFE"/>
                </a:solidFill>
                <a:latin typeface="Courier New"/>
              </a:rPr>
              <a:t>application</a:t>
            </a:r>
            <a:r>
              <a:rPr sz="1300" b="0">
                <a:solidFill>
                  <a:srgbClr val="D4D4D4"/>
                </a:solidFill>
                <a:latin typeface="Courier New"/>
              </a:rPr>
              <a:t>.</a:t>
            </a:r>
            <a:r>
              <a:rPr sz="1300" b="0">
                <a:solidFill>
                  <a:srgbClr val="9CDCFE"/>
                </a:solidFill>
                <a:latin typeface="Courier New"/>
              </a:rPr>
              <a:t>anthropicKey</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MODELNAME</a:t>
            </a:r>
            <a:r>
              <a:rPr sz="1300" b="0">
                <a:solidFill>
                  <a:srgbClr val="D4D4D4"/>
                </a:solidFill>
                <a:latin typeface="Courier New"/>
              </a:rPr>
              <a:t>   : </a:t>
            </a:r>
            <a:r>
              <a:rPr sz="1300" b="0">
                <a:solidFill>
                  <a:srgbClr val="CE9178"/>
                </a:solidFill>
                <a:latin typeface="Courier New"/>
              </a:rPr>
              <a:t>"claude-haiku-4-5-20251001"</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TEMPERATURE</a:t>
            </a:r>
            <a:r>
              <a:rPr sz="1300" b="0">
                <a:solidFill>
                  <a:srgbClr val="D4D4D4"/>
                </a:solidFill>
                <a:latin typeface="Courier New"/>
              </a:rPr>
              <a:t> : </a:t>
            </a:r>
            <a:r>
              <a:rPr sz="1300" b="0">
                <a:solidFill>
                  <a:srgbClr val="B5CEA8"/>
                </a:solidFill>
                <a:latin typeface="Courier New"/>
              </a:rPr>
              <a:t>0.9</a:t>
            </a:r>
            <a:r>
              <a:rPr sz="1300" b="0">
                <a:solidFill>
                  <a:srgbClr val="D4D4D4"/>
                </a:solidFill>
                <a:latin typeface="Courier New"/>
              </a:rPr>
              <a:t>   </a:t>
            </a:r>
            <a:r>
              <a:rPr sz="1300" b="0">
                <a:solidFill>
                  <a:srgbClr val="6A9955"/>
                </a:solidFill>
                <a:latin typeface="Courier New"/>
              </a:rPr>
              <a:t>// ≤ 1 works everywhere</a:t>
            </a:r>
          </a:p>
          <a:p>
            <a:pPr>
              <a:lnSpc>
                <a:spcPct val="115000"/>
              </a:lnSpc>
              <a:spcBef>
                <a:spcPts val="0"/>
              </a:spcBef>
            </a:pPr>
            <a:r>
              <a:rPr sz="1300" b="0">
                <a:solidFill>
                  <a:srgbClr val="D4D4D4"/>
                </a:solidFill>
                <a:latin typeface="Courier New"/>
              </a:rPr>
              <a:t>});</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20" grpId="1" animBg="1"/>
      <p:bldP spid="21" grpId="2" animBg="1"/>
      <p:bldP spid="22" grpId="3"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RESPONSEFORMAT — JSON Mode</a:t>
            </a:r>
          </a:p>
        </p:txBody>
      </p:sp>
      <p:sp>
        <p:nvSpPr>
          <p:cNvPr id="4" name="TextBox 3"/>
          <p:cNvSpPr txBox="1"/>
          <p:nvPr/>
        </p:nvSpPr>
        <p:spPr>
          <a:xfrm>
            <a:off x="7699248" y="1417320"/>
            <a:ext cx="4251960" cy="4846320"/>
          </a:xfrm>
          <a:prstGeom prst="rect">
            <a:avLst/>
          </a:prstGeom>
          <a:noFill/>
        </p:spPr>
        <p:txBody>
          <a:bodyPr wrap="square">
            <a:spAutoFit/>
          </a:bodyPr>
          <a:lstStyle/>
          <a:p>
            <a:pPr>
              <a:spcBef>
                <a:spcPts val="300"/>
              </a:spcBef>
            </a:pPr>
            <a:r>
              <a:rPr sz="1200" b="1">
                <a:solidFill>
                  <a:srgbClr val="EB1000"/>
                </a:solidFill>
              </a:rPr>
              <a:t>What JSON mode does:</a:t>
            </a:r>
          </a:p>
          <a:p>
            <a:pPr>
              <a:spcBef>
                <a:spcPts val="300"/>
              </a:spcBef>
            </a:pPr>
            <a:r>
              <a:rPr sz="1100">
                <a:solidFill>
                  <a:srgbClr val="555555"/>
                </a:solidFill>
              </a:rPr>
              <a:t>  Guarantees valid JSON output</a:t>
            </a:r>
          </a:p>
          <a:p>
            <a:pPr>
              <a:spcBef>
                <a:spcPts val="300"/>
              </a:spcBef>
            </a:pPr>
            <a:r>
              <a:rPr sz="1100">
                <a:solidFill>
                  <a:srgbClr val="555555"/>
                </a:solidFill>
              </a:rPr>
              <a:t>  Model refuses to write free text</a:t>
            </a:r>
          </a:p>
          <a:p>
            <a:pPr>
              <a:spcBef>
                <a:spcPts val="300"/>
              </a:spcBef>
            </a:pPr>
            <a:r>
              <a:rPr sz="1100">
                <a:solidFill>
                  <a:srgbClr val="555555"/>
                </a:solidFill>
              </a:rPr>
              <a:t>  No markdown wrappers, no preamble</a:t>
            </a:r>
          </a:p>
          <a:p>
            <a:pPr>
              <a:spcBef>
                <a:spcPts val="300"/>
              </a:spcBef>
            </a:pPr>
            <a:r>
              <a:rPr sz="1100">
                <a:solidFill>
                  <a:srgbClr val="555555"/>
                </a:solidFill>
              </a:rPr>
              <a:t>  CF can deserializeJSON() safely</a:t>
            </a:r>
          </a:p>
          <a:p>
            <a:pPr>
              <a:spcBef>
                <a:spcPts val="300"/>
              </a:spcBef>
            </a:pPr>
            <a:endParaRPr sz="1100">
              <a:solidFill>
                <a:srgbClr val="555555"/>
              </a:solidFill>
            </a:endParaRPr>
          </a:p>
          <a:p>
            <a:pPr>
              <a:spcBef>
                <a:spcPts val="300"/>
              </a:spcBef>
            </a:pPr>
            <a:r>
              <a:rPr sz="1200" b="1">
                <a:solidFill>
                  <a:srgbClr val="EB1000"/>
                </a:solidFill>
              </a:rPr>
              <a:t>Rules:</a:t>
            </a:r>
          </a:p>
          <a:p>
            <a:pPr>
              <a:spcBef>
                <a:spcPts val="300"/>
              </a:spcBef>
            </a:pPr>
            <a:r>
              <a:rPr sz="1100">
                <a:solidFill>
                  <a:srgbClr val="555555"/>
                </a:solidFill>
              </a:rPr>
              <a:t>  Prompt must ask for JSON</a:t>
            </a:r>
          </a:p>
          <a:p>
            <a:pPr>
              <a:spcBef>
                <a:spcPts val="300"/>
              </a:spcBef>
            </a:pPr>
            <a:r>
              <a:rPr sz="1100">
                <a:solidFill>
                  <a:srgbClr val="555555"/>
                </a:solidFill>
              </a:rPr>
              <a:t>  Describe the structure you want</a:t>
            </a:r>
          </a:p>
          <a:p>
            <a:pPr>
              <a:spcBef>
                <a:spcPts val="300"/>
              </a:spcBef>
            </a:pPr>
            <a:r>
              <a:rPr sz="1100">
                <a:solidFill>
                  <a:srgbClr val="107C10"/>
                </a:solidFill>
              </a:rPr>
              <a:t>  Works: OpenAI ✓ Anthropic ✓ Azure ✓</a:t>
            </a:r>
          </a:p>
          <a:p>
            <a:pPr>
              <a:spcBef>
                <a:spcPts val="300"/>
              </a:spcBef>
            </a:pPr>
            <a:r>
              <a:rPr sz="1100">
                <a:solidFill>
                  <a:srgbClr val="555555"/>
                </a:solidFill>
              </a:rPr>
              <a:t>  Ollama: varies by model</a:t>
            </a:r>
          </a:p>
          <a:p>
            <a:pPr>
              <a:spcBef>
                <a:spcPts val="300"/>
              </a:spcBef>
            </a:pPr>
            <a:endParaRPr sz="1100">
              <a:solidFill>
                <a:srgbClr val="555555"/>
              </a:solidFill>
            </a:endParaRPr>
          </a:p>
          <a:p>
            <a:pPr>
              <a:spcBef>
                <a:spcPts val="300"/>
              </a:spcBef>
            </a:pPr>
            <a:r>
              <a:rPr sz="1200" b="1">
                <a:solidFill>
                  <a:srgbClr val="EB1000"/>
                </a:solidFill>
              </a:rPr>
              <a:t>Use cases:</a:t>
            </a:r>
          </a:p>
          <a:p>
            <a:pPr>
              <a:spcBef>
                <a:spcPts val="300"/>
              </a:spcBef>
            </a:pPr>
            <a:r>
              <a:rPr sz="1100">
                <a:solidFill>
                  <a:srgbClr val="555555"/>
                </a:solidFill>
              </a:rPr>
              <a:t>  AI-driven data extraction</a:t>
            </a:r>
          </a:p>
          <a:p>
            <a:pPr>
              <a:spcBef>
                <a:spcPts val="300"/>
              </a:spcBef>
            </a:pPr>
            <a:r>
              <a:rPr sz="1100">
                <a:solidFill>
                  <a:srgbClr val="555555"/>
                </a:solidFill>
              </a:rPr>
              <a:t>  Classify support ticket category</a:t>
            </a:r>
          </a:p>
          <a:p>
            <a:pPr>
              <a:spcBef>
                <a:spcPts val="300"/>
              </a:spcBef>
            </a:pPr>
            <a:r>
              <a:rPr sz="1100">
                <a:solidFill>
                  <a:srgbClr val="555555"/>
                </a:solidFill>
              </a:rPr>
              <a:t>  Parse unstructured customer input</a:t>
            </a:r>
          </a:p>
          <a:p>
            <a:pPr>
              <a:spcBef>
                <a:spcPts val="300"/>
              </a:spcBef>
            </a:pPr>
            <a:r>
              <a:rPr sz="1100">
                <a:solidFill>
                  <a:srgbClr val="555555"/>
                </a:solidFill>
              </a:rPr>
              <a:t>  Auto-fill form from free text</a:t>
            </a:r>
          </a:p>
        </p:txBody>
      </p:sp>
      <p:sp>
        <p:nvSpPr>
          <p:cNvPr id="7" name="TextBox 6"/>
          <p:cNvSpPr txBox="1"/>
          <p:nvPr/>
        </p:nvSpPr>
        <p:spPr>
          <a:xfrm>
            <a:off x="612648" y="1216152"/>
            <a:ext cx="7040880" cy="1511934"/>
          </a:xfrm>
          <a:prstGeom prst="rect">
            <a:avLst/>
          </a:prstGeom>
          <a:solidFill>
            <a:srgbClr val="000000"/>
          </a:solidFill>
        </p:spPr>
        <p:txBody>
          <a:bodyPr wrap="none" lIns="109728" tIns="82296" bIns="64008">
            <a:spAutoFit/>
          </a:bodyPr>
          <a:lstStyle/>
          <a:p>
            <a:pPr>
              <a:lnSpc>
                <a:spcPct val="115000"/>
              </a:lnSpc>
              <a:spcBef>
                <a:spcPts val="0"/>
              </a:spcBef>
            </a:pPr>
            <a:r>
              <a:rPr sz="1300" b="0">
                <a:solidFill>
                  <a:srgbClr val="6A9955"/>
                </a:solidFill>
                <a:latin typeface="Courier New"/>
              </a:rPr>
              <a:t>// 1. Enable JSON mode</a:t>
            </a:r>
          </a:p>
          <a:p>
            <a:pPr>
              <a:lnSpc>
                <a:spcPct val="115000"/>
              </a:lnSpc>
              <a:spcBef>
                <a:spcPts val="0"/>
              </a:spcBef>
            </a:pPr>
            <a:r>
              <a:rPr sz="1300" b="0">
                <a:solidFill>
                  <a:srgbClr val="9CDCFE"/>
                </a:solidFill>
                <a:latin typeface="Courier New"/>
              </a:rPr>
              <a:t>chatModel</a:t>
            </a:r>
            <a:r>
              <a:rPr sz="1300" b="0">
                <a:solidFill>
                  <a:srgbClr val="D4D4D4"/>
                </a:solidFill>
                <a:latin typeface="Courier New"/>
              </a:rPr>
              <a:t> = </a:t>
            </a:r>
            <a:r>
              <a:rPr sz="1300" b="0">
                <a:solidFill>
                  <a:srgbClr val="4EC9B0"/>
                </a:solidFill>
                <a:latin typeface="Courier New"/>
              </a:rPr>
              <a:t>ChatModel</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PROVIDER</a:t>
            </a:r>
            <a:r>
              <a:rPr sz="1300" b="0">
                <a:solidFill>
                  <a:srgbClr val="D4D4D4"/>
                </a:solidFill>
                <a:latin typeface="Courier New"/>
              </a:rPr>
              <a:t>       : </a:t>
            </a:r>
            <a:r>
              <a:rPr sz="1300" b="0">
                <a:solidFill>
                  <a:srgbClr val="CE9178"/>
                </a:solidFill>
                <a:latin typeface="Courier New"/>
              </a:rPr>
              <a:t>"openai"</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APIKEY</a:t>
            </a:r>
            <a:r>
              <a:rPr sz="1300" b="0">
                <a:solidFill>
                  <a:srgbClr val="D4D4D4"/>
                </a:solidFill>
                <a:latin typeface="Courier New"/>
              </a:rPr>
              <a:t>         : </a:t>
            </a:r>
            <a:r>
              <a:rPr sz="1300" b="0">
                <a:solidFill>
                  <a:srgbClr val="9CDCFE"/>
                </a:solidFill>
                <a:latin typeface="Courier New"/>
              </a:rPr>
              <a:t>application</a:t>
            </a:r>
            <a:r>
              <a:rPr sz="1300" b="0">
                <a:solidFill>
                  <a:srgbClr val="D4D4D4"/>
                </a:solidFill>
                <a:latin typeface="Courier New"/>
              </a:rPr>
              <a:t>.</a:t>
            </a:r>
            <a:r>
              <a:rPr sz="1300" b="0">
                <a:solidFill>
                  <a:srgbClr val="9CDCFE"/>
                </a:solidFill>
                <a:latin typeface="Courier New"/>
              </a:rPr>
              <a:t>openaiKey</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MODELNAME</a:t>
            </a:r>
            <a:r>
              <a:rPr sz="1300" b="0">
                <a:solidFill>
                  <a:srgbClr val="D4D4D4"/>
                </a:solidFill>
                <a:latin typeface="Courier New"/>
              </a:rPr>
              <a:t>      : </a:t>
            </a:r>
            <a:r>
              <a:rPr sz="1300" b="0">
                <a:solidFill>
                  <a:srgbClr val="CE9178"/>
                </a:solidFill>
                <a:latin typeface="Courier New"/>
              </a:rPr>
              <a:t>"gpt-4o-mini"</a:t>
            </a:r>
            <a:r>
              <a:rPr sz="1300" b="0">
                <a:solidFill>
                  <a:srgbClr val="D4D4D4"/>
                </a:solidFill>
                <a:latin typeface="Courier New"/>
              </a:rPr>
              <a:t>,</a:t>
            </a:r>
          </a:p>
          <a:p>
            <a:pPr>
              <a:lnSpc>
                <a:spcPct val="115000"/>
              </a:lnSpc>
              <a:spcBef>
                <a:spcPts val="0"/>
              </a:spcBef>
            </a:pPr>
            <a:r>
              <a:rPr sz="1300" b="0">
                <a:solidFill>
                  <a:srgbClr val="D4D4D4"/>
                </a:solidFill>
                <a:latin typeface="Courier New"/>
              </a:rPr>
              <a:t>    </a:t>
            </a:r>
            <a:r>
              <a:rPr sz="1300" b="0">
                <a:solidFill>
                  <a:srgbClr val="9CDCFE"/>
                </a:solidFill>
                <a:latin typeface="Courier New"/>
              </a:rPr>
              <a:t>RESPONSEFORMAT</a:t>
            </a:r>
            <a:r>
              <a:rPr sz="1300" b="0">
                <a:solidFill>
                  <a:srgbClr val="D4D4D4"/>
                </a:solidFill>
                <a:latin typeface="Courier New"/>
              </a:rPr>
              <a:t> : </a:t>
            </a:r>
            <a:r>
              <a:rPr sz="1300" b="0">
                <a:solidFill>
                  <a:srgbClr val="CE9178"/>
                </a:solidFill>
                <a:latin typeface="Courier New"/>
              </a:rPr>
              <a:t>"json"</a:t>
            </a:r>
            <a:r>
              <a:rPr sz="1300" b="0">
                <a:solidFill>
                  <a:srgbClr val="D4D4D4"/>
                </a:solidFill>
                <a:latin typeface="Courier New"/>
              </a:rPr>
              <a:t>   </a:t>
            </a:r>
            <a:r>
              <a:rPr sz="1300" b="0">
                <a:solidFill>
                  <a:srgbClr val="6A9955"/>
                </a:solidFill>
                <a:latin typeface="Courier New"/>
              </a:rPr>
              <a:t>// ← the switch</a:t>
            </a:r>
          </a:p>
          <a:p>
            <a:pPr>
              <a:lnSpc>
                <a:spcPct val="115000"/>
              </a:lnSpc>
              <a:spcBef>
                <a:spcPts val="0"/>
              </a:spcBef>
            </a:pPr>
            <a:r>
              <a:rPr sz="1300" b="0">
                <a:solidFill>
                  <a:srgbClr val="D4D4D4"/>
                </a:solidFill>
                <a:latin typeface="Courier New"/>
              </a:rPr>
              <a:t>});</a:t>
            </a:r>
          </a:p>
        </p:txBody>
      </p:sp>
      <p:sp>
        <p:nvSpPr>
          <p:cNvPr id="8" name="TextBox 7"/>
          <p:cNvSpPr txBox="1"/>
          <p:nvPr/>
        </p:nvSpPr>
        <p:spPr>
          <a:xfrm>
            <a:off x="612648" y="2865247"/>
            <a:ext cx="7040880" cy="2110740"/>
          </a:xfrm>
          <a:prstGeom prst="rect">
            <a:avLst/>
          </a:prstGeom>
          <a:solidFill>
            <a:srgbClr val="000000"/>
          </a:solidFill>
        </p:spPr>
        <p:txBody>
          <a:bodyPr wrap="none" lIns="109728" tIns="82296" bIns="64008">
            <a:spAutoFit/>
          </a:bodyPr>
          <a:lstStyle/>
          <a:p>
            <a:pPr>
              <a:lnSpc>
                <a:spcPct val="115000"/>
              </a:lnSpc>
              <a:spcBef>
                <a:spcPts val="0"/>
              </a:spcBef>
            </a:pPr>
            <a:r>
              <a:rPr sz="1200" b="0">
                <a:solidFill>
                  <a:srgbClr val="6A9955"/>
                </a:solidFill>
                <a:latin typeface="Courier New"/>
              </a:rPr>
              <a:t>// 2. Prompt MUST name the expected JSON keys</a:t>
            </a:r>
          </a:p>
          <a:p>
            <a:pPr>
              <a:lnSpc>
                <a:spcPct val="115000"/>
              </a:lnSpc>
              <a:spcBef>
                <a:spcPts val="0"/>
              </a:spcBef>
            </a:pPr>
            <a:r>
              <a:rPr sz="1200" b="0">
                <a:solidFill>
                  <a:srgbClr val="9CDCFE"/>
                </a:solidFill>
                <a:latin typeface="Courier New"/>
              </a:rPr>
              <a:t>response</a:t>
            </a:r>
            <a:r>
              <a:rPr sz="1200" b="0">
                <a:solidFill>
                  <a:srgbClr val="D4D4D4"/>
                </a:solidFill>
                <a:latin typeface="Courier New"/>
              </a:rPr>
              <a:t> = </a:t>
            </a:r>
            <a:r>
              <a:rPr sz="1200" b="0">
                <a:solidFill>
                  <a:srgbClr val="9CDCFE"/>
                </a:solidFill>
                <a:latin typeface="Courier New"/>
              </a:rPr>
              <a:t>chatModel</a:t>
            </a:r>
            <a:r>
              <a:rPr sz="1200" b="0">
                <a:solidFill>
                  <a:srgbClr val="D4D4D4"/>
                </a:solidFill>
                <a:latin typeface="Courier New"/>
              </a:rPr>
              <a:t>.</a:t>
            </a:r>
            <a:r>
              <a:rPr sz="1200" b="0">
                <a:solidFill>
                  <a:srgbClr val="4EC9B0"/>
                </a:solidFill>
                <a:latin typeface="Courier New"/>
              </a:rPr>
              <a:t>chat</a:t>
            </a:r>
            <a:r>
              <a:rPr sz="1200" b="0">
                <a:solidFill>
                  <a:srgbClr val="D4D4D4"/>
                </a:solidFill>
                <a:latin typeface="Courier New"/>
              </a:rPr>
              <a:t>(</a:t>
            </a:r>
          </a:p>
          <a:p>
            <a:pPr>
              <a:lnSpc>
                <a:spcPct val="115000"/>
              </a:lnSpc>
              <a:spcBef>
                <a:spcPts val="0"/>
              </a:spcBef>
            </a:pPr>
            <a:r>
              <a:rPr sz="1200" b="0">
                <a:solidFill>
                  <a:srgbClr val="D4D4D4"/>
                </a:solidFill>
                <a:latin typeface="Courier New"/>
              </a:rPr>
              <a:t>    </a:t>
            </a:r>
            <a:r>
              <a:rPr sz="1200" b="0">
                <a:solidFill>
                  <a:srgbClr val="CE9178"/>
                </a:solidFill>
                <a:latin typeface="Courier New"/>
              </a:rPr>
              <a:t>"Return JSON with keys: orderNumber,</a:t>
            </a:r>
          </a:p>
          <a:p>
            <a:pPr>
              <a:lnSpc>
                <a:spcPct val="115000"/>
              </a:lnSpc>
              <a:spcBef>
                <a:spcPts val="0"/>
              </a:spcBef>
            </a:pPr>
            <a:r>
              <a:rPr sz="1200" b="0">
                <a:solidFill>
                  <a:srgbClr val="D4D4D4"/>
                </a:solidFill>
                <a:latin typeface="Courier New"/>
              </a:rPr>
              <a:t>     </a:t>
            </a:r>
            <a:r>
              <a:rPr sz="1200" b="0">
                <a:solidFill>
                  <a:srgbClr val="9CDCFE"/>
                </a:solidFill>
                <a:latin typeface="Courier New"/>
              </a:rPr>
              <a:t>customerName</a:t>
            </a:r>
            <a:r>
              <a:rPr sz="1200" b="0">
                <a:solidFill>
                  <a:srgbClr val="D4D4D4"/>
                </a:solidFill>
                <a:latin typeface="Courier New"/>
              </a:rPr>
              <a:t>, </a:t>
            </a:r>
            <a:r>
              <a:rPr sz="1200" b="0">
                <a:solidFill>
                  <a:srgbClr val="9CDCFE"/>
                </a:solidFill>
                <a:latin typeface="Courier New"/>
              </a:rPr>
              <a:t>totalAmount</a:t>
            </a:r>
            <a:r>
              <a:rPr sz="1200" b="0">
                <a:solidFill>
                  <a:srgbClr val="D4D4D4"/>
                </a:solidFill>
                <a:latin typeface="Courier New"/>
              </a:rPr>
              <a:t>.</a:t>
            </a:r>
          </a:p>
          <a:p>
            <a:pPr>
              <a:lnSpc>
                <a:spcPct val="115000"/>
              </a:lnSpc>
              <a:spcBef>
                <a:spcPts val="0"/>
              </a:spcBef>
            </a:pPr>
            <a:r>
              <a:rPr sz="1200" b="0">
                <a:solidFill>
                  <a:srgbClr val="D4D4D4"/>
                </a:solidFill>
                <a:latin typeface="Courier New"/>
              </a:rPr>
              <a:t>     </a:t>
            </a:r>
            <a:r>
              <a:rPr sz="1200" b="0">
                <a:solidFill>
                  <a:srgbClr val="9CDCFE"/>
                </a:solidFill>
                <a:latin typeface="Courier New"/>
              </a:rPr>
              <a:t>Text</a:t>
            </a:r>
            <a:r>
              <a:rPr sz="1200" b="0">
                <a:solidFill>
                  <a:srgbClr val="D4D4D4"/>
                </a:solidFill>
                <a:latin typeface="Courier New"/>
              </a:rPr>
              <a:t>: </a:t>
            </a:r>
            <a:r>
              <a:rPr sz="1200" b="0">
                <a:solidFill>
                  <a:srgbClr val="CE9178"/>
                </a:solidFill>
                <a:latin typeface="Courier New"/>
              </a:rPr>
              <a:t>'Order #12345 — Sarah, $49.99'"</a:t>
            </a:r>
          </a:p>
          <a:p>
            <a:pPr>
              <a:lnSpc>
                <a:spcPct val="115000"/>
              </a:lnSpc>
              <a:spcBef>
                <a:spcPts val="0"/>
              </a:spcBef>
            </a:pPr>
            <a:r>
              <a:rPr sz="1200" b="0">
                <a:solidFill>
                  <a:srgbClr val="D4D4D4"/>
                </a:solidFill>
                <a:latin typeface="Courier New"/>
              </a:rPr>
              <a:t>);</a:t>
            </a:r>
          </a:p>
          <a:p>
            <a:pPr>
              <a:lnSpc>
                <a:spcPct val="115000"/>
              </a:lnSpc>
              <a:spcBef>
                <a:spcPts val="0"/>
              </a:spcBef>
            </a:pPr>
            <a:endParaRPr sz="1200" b="0">
              <a:solidFill>
                <a:srgbClr val="D4D4D4"/>
              </a:solidFill>
              <a:latin typeface="Courier New"/>
            </a:endParaRPr>
          </a:p>
          <a:p>
            <a:pPr>
              <a:lnSpc>
                <a:spcPct val="115000"/>
              </a:lnSpc>
              <a:spcBef>
                <a:spcPts val="0"/>
              </a:spcBef>
            </a:pPr>
            <a:r>
              <a:rPr sz="1200" b="0">
                <a:solidFill>
                  <a:srgbClr val="6A9955"/>
                </a:solidFill>
                <a:latin typeface="Courier New"/>
              </a:rPr>
              <a:t>// 3. response.message is guaranteed valid JSON</a:t>
            </a:r>
          </a:p>
          <a:p>
            <a:pPr>
              <a:lnSpc>
                <a:spcPct val="115000"/>
              </a:lnSpc>
              <a:spcBef>
                <a:spcPts val="0"/>
              </a:spcBef>
            </a:pPr>
            <a:r>
              <a:rPr sz="1200" b="0">
                <a:solidFill>
                  <a:srgbClr val="9CDCFE"/>
                </a:solidFill>
                <a:latin typeface="Courier New"/>
              </a:rPr>
              <a:t>data</a:t>
            </a:r>
            <a:r>
              <a:rPr sz="1200" b="0">
                <a:solidFill>
                  <a:srgbClr val="D4D4D4"/>
                </a:solidFill>
                <a:latin typeface="Courier New"/>
              </a:rPr>
              <a:t> = </a:t>
            </a:r>
            <a:r>
              <a:rPr sz="1200" b="0">
                <a:solidFill>
                  <a:srgbClr val="4EC9B0"/>
                </a:solidFill>
                <a:latin typeface="Courier New"/>
              </a:rPr>
              <a:t>deserializeJSON</a:t>
            </a:r>
            <a:r>
              <a:rPr sz="1200" b="0">
                <a:solidFill>
                  <a:srgbClr val="D4D4D4"/>
                </a:solidFill>
                <a:latin typeface="Courier New"/>
              </a:rPr>
              <a:t>( </a:t>
            </a:r>
            <a:r>
              <a:rPr sz="1200" b="0">
                <a:solidFill>
                  <a:srgbClr val="9CDCFE"/>
                </a:solidFill>
                <a:latin typeface="Courier New"/>
              </a:rPr>
              <a:t>response</a:t>
            </a:r>
            <a:r>
              <a:rPr sz="1200" b="0">
                <a:solidFill>
                  <a:srgbClr val="D4D4D4"/>
                </a:solidFill>
                <a:latin typeface="Courier New"/>
              </a:rPr>
              <a:t>.</a:t>
            </a:r>
            <a:r>
              <a:rPr sz="1200" b="0">
                <a:solidFill>
                  <a:srgbClr val="9CDCFE"/>
                </a:solidFill>
                <a:latin typeface="Courier New"/>
              </a:rPr>
              <a:t>message</a:t>
            </a:r>
            <a:r>
              <a:rPr sz="1200" b="0">
                <a:solidFill>
                  <a:srgbClr val="D4D4D4"/>
                </a:solidFill>
                <a:latin typeface="Courier New"/>
              </a:rPr>
              <a:t> );</a:t>
            </a:r>
          </a:p>
          <a:p>
            <a:pPr>
              <a:lnSpc>
                <a:spcPct val="115000"/>
              </a:lnSpc>
              <a:spcBef>
                <a:spcPts val="0"/>
              </a:spcBef>
            </a:pPr>
            <a:r>
              <a:rPr sz="1200" b="0">
                <a:solidFill>
                  <a:srgbClr val="4EC9B0"/>
                </a:solidFill>
                <a:latin typeface="Courier New"/>
              </a:rPr>
              <a:t>writeOutput</a:t>
            </a:r>
            <a:r>
              <a:rPr sz="1200" b="0">
                <a:solidFill>
                  <a:srgbClr val="D4D4D4"/>
                </a:solidFill>
                <a:latin typeface="Courier New"/>
              </a:rPr>
              <a:t>( </a:t>
            </a:r>
            <a:r>
              <a:rPr sz="1200" b="0">
                <a:solidFill>
                  <a:srgbClr val="9CDCFE"/>
                </a:solidFill>
                <a:latin typeface="Courier New"/>
              </a:rPr>
              <a:t>data</a:t>
            </a:r>
            <a:r>
              <a:rPr sz="1200" b="0">
                <a:solidFill>
                  <a:srgbClr val="D4D4D4"/>
                </a:solidFill>
                <a:latin typeface="Courier New"/>
              </a:rPr>
              <a:t>.</a:t>
            </a:r>
            <a:r>
              <a:rPr sz="1200" b="0">
                <a:solidFill>
                  <a:srgbClr val="9CDCFE"/>
                </a:solidFill>
                <a:latin typeface="Courier New"/>
              </a:rPr>
              <a:t>orderNumber</a:t>
            </a:r>
            <a:r>
              <a:rPr sz="1200" b="0">
                <a:solidFill>
                  <a:srgbClr val="D4D4D4"/>
                </a:solidFill>
                <a:latin typeface="Courier New"/>
              </a:rPr>
              <a:t> );   </a:t>
            </a:r>
            <a:r>
              <a:rPr sz="1200" b="0">
                <a:solidFill>
                  <a:srgbClr val="6A9955"/>
                </a:solidFill>
                <a:latin typeface="Courier New"/>
              </a:rPr>
              <a:t>// 12345</a:t>
            </a:r>
          </a:p>
          <a:p>
            <a:pPr>
              <a:lnSpc>
                <a:spcPct val="115000"/>
              </a:lnSpc>
              <a:spcBef>
                <a:spcPts val="0"/>
              </a:spcBef>
            </a:pPr>
            <a:r>
              <a:rPr sz="1200" b="0">
                <a:solidFill>
                  <a:srgbClr val="4EC9B0"/>
                </a:solidFill>
                <a:latin typeface="Courier New"/>
              </a:rPr>
              <a:t>writeOutput</a:t>
            </a:r>
            <a:r>
              <a:rPr sz="1200" b="0">
                <a:solidFill>
                  <a:srgbClr val="D4D4D4"/>
                </a:solidFill>
                <a:latin typeface="Courier New"/>
              </a:rPr>
              <a:t>( </a:t>
            </a:r>
            <a:r>
              <a:rPr sz="1200" b="0">
                <a:solidFill>
                  <a:srgbClr val="9CDCFE"/>
                </a:solidFill>
                <a:latin typeface="Courier New"/>
              </a:rPr>
              <a:t>data</a:t>
            </a:r>
            <a:r>
              <a:rPr sz="1200" b="0">
                <a:solidFill>
                  <a:srgbClr val="D4D4D4"/>
                </a:solidFill>
                <a:latin typeface="Courier New"/>
              </a:rPr>
              <a:t>.</a:t>
            </a:r>
            <a:r>
              <a:rPr sz="1200" b="0">
                <a:solidFill>
                  <a:srgbClr val="9CDCFE"/>
                </a:solidFill>
                <a:latin typeface="Courier New"/>
              </a:rPr>
              <a:t>customerName</a:t>
            </a:r>
            <a:r>
              <a:rPr sz="1200" b="0">
                <a:solidFill>
                  <a:srgbClr val="D4D4D4"/>
                </a:solidFill>
                <a:latin typeface="Courier New"/>
              </a:rPr>
              <a:t> );  </a:t>
            </a:r>
            <a:r>
              <a:rPr sz="1200" b="0">
                <a:solidFill>
                  <a:srgbClr val="6A9955"/>
                </a:solidFill>
                <a:latin typeface="Courier New"/>
              </a:rPr>
              <a:t>// Sarah</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7" grpId="1" animBg="1"/>
      <p:bldP spid="8" grpId="2"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468880"/>
            <a:ext cx="10972800" cy="1371600"/>
          </a:xfrm>
          <a:prstGeom prst="rect">
            <a:avLst/>
          </a:prstGeom>
          <a:noFill/>
        </p:spPr>
        <p:txBody>
          <a:bodyPr wrap="square">
            <a:spAutoFit/>
          </a:bodyPr>
          <a:lstStyle/>
          <a:p>
            <a:pPr algn="l"/>
            <a:r>
              <a:rPr sz="3400" b="1" i="0">
                <a:solidFill>
                  <a:srgbClr val="FFFFFF"/>
                </a:solidFill>
              </a:rPr>
              <a:t>Part 3: Configuring LLMs in CF Administrator</a:t>
            </a:r>
          </a:p>
        </p:txBody>
      </p:sp>
      <p:sp>
        <p:nvSpPr>
          <p:cNvPr id="5" name="TextBox 4"/>
          <p:cNvSpPr txBox="1"/>
          <p:nvPr/>
        </p:nvSpPr>
        <p:spPr>
          <a:xfrm>
            <a:off x="502920" y="3931920"/>
            <a:ext cx="10972800" cy="594360"/>
          </a:xfrm>
          <a:prstGeom prst="rect">
            <a:avLst/>
          </a:prstGeom>
          <a:noFill/>
        </p:spPr>
        <p:txBody>
          <a:bodyPr wrap="square">
            <a:spAutoFit/>
          </a:bodyPr>
          <a:lstStyle/>
          <a:p>
            <a:pPr algn="l"/>
            <a:r>
              <a:rPr sz="1600" b="0" i="0">
                <a:solidFill>
                  <a:srgbClr val="AAAAAA"/>
                </a:solidFill>
              </a:rPr>
              <a:t>CF Admin UI  ·  Admin API  ·  Aliases in code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t>CF Administrator — AI Model Configuration</a:t>
            </a:r>
          </a:p>
        </p:txBody>
      </p:sp>
      <p:sp>
        <p:nvSpPr>
          <p:cNvPr id="3" name="Rectangle 2"/>
          <p:cNvSpPr/>
          <p:nvPr/>
        </p:nvSpPr>
        <p:spPr>
          <a:xfrm>
            <a:off x="612648" y="1417320"/>
            <a:ext cx="7132320" cy="42062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3246120"/>
            <a:ext cx="7132320" cy="548640"/>
          </a:xfrm>
          <a:prstGeom prst="rect">
            <a:avLst/>
          </a:prstGeom>
          <a:noFill/>
        </p:spPr>
        <p:txBody>
          <a:bodyPr wrap="square">
            <a:spAutoFit/>
          </a:bodyPr>
          <a:lstStyle/>
          <a:p>
            <a:pPr algn="ctr"/>
            <a:r>
              <a:rPr sz="1400" b="0" i="1">
                <a:solidFill>
                  <a:srgbClr val="888888"/>
                </a:solidFill>
              </a:rPr>
              <a:t>[ INSERT CF ADMIN SCREENSHOT HERE ]</a:t>
            </a:r>
          </a:p>
        </p:txBody>
      </p:sp>
      <p:sp>
        <p:nvSpPr>
          <p:cNvPr id="5" name="TextBox 4"/>
          <p:cNvSpPr txBox="1"/>
          <p:nvPr/>
        </p:nvSpPr>
        <p:spPr>
          <a:xfrm>
            <a:off x="8386276" y="1417320"/>
            <a:ext cx="3656371" cy="4154984"/>
          </a:xfrm>
          <a:prstGeom prst="rect">
            <a:avLst/>
          </a:prstGeom>
          <a:noFill/>
        </p:spPr>
        <p:txBody>
          <a:bodyPr wrap="square">
            <a:spAutoFit/>
          </a:bodyPr>
          <a:lstStyle/>
          <a:p>
            <a:pPr>
              <a:spcBef>
                <a:spcPts val="300"/>
              </a:spcBef>
            </a:pPr>
            <a:r>
              <a:rPr dirty="0">
                <a:solidFill>
                  <a:srgbClr val="EB1000"/>
                </a:solidFill>
              </a:rPr>
              <a:t>What you configure:</a:t>
            </a:r>
          </a:p>
          <a:p>
            <a:pPr>
              <a:spcBef>
                <a:spcPts val="300"/>
              </a:spcBef>
            </a:pPr>
            <a:r>
              <a:rPr dirty="0">
                <a:solidFill>
                  <a:srgbClr val="555555"/>
                </a:solidFill>
              </a:rPr>
              <a:t>  Provider (</a:t>
            </a:r>
            <a:r>
              <a:rPr dirty="0" err="1">
                <a:solidFill>
                  <a:srgbClr val="555555"/>
                </a:solidFill>
              </a:rPr>
              <a:t>openai</a:t>
            </a:r>
            <a:r>
              <a:rPr dirty="0">
                <a:solidFill>
                  <a:srgbClr val="555555"/>
                </a:solidFill>
              </a:rPr>
              <a:t> / anthropic / …)</a:t>
            </a:r>
          </a:p>
          <a:p>
            <a:pPr>
              <a:spcBef>
                <a:spcPts val="300"/>
              </a:spcBef>
            </a:pPr>
            <a:r>
              <a:rPr dirty="0">
                <a:solidFill>
                  <a:srgbClr val="555555"/>
                </a:solidFill>
              </a:rPr>
              <a:t>  Model name</a:t>
            </a:r>
          </a:p>
          <a:p>
            <a:pPr>
              <a:spcBef>
                <a:spcPts val="300"/>
              </a:spcBef>
            </a:pPr>
            <a:r>
              <a:rPr dirty="0">
                <a:solidFill>
                  <a:srgbClr val="555555"/>
                </a:solidFill>
              </a:rPr>
              <a:t>  API key — stored encrypted at rest</a:t>
            </a:r>
          </a:p>
          <a:p>
            <a:pPr>
              <a:spcBef>
                <a:spcPts val="300"/>
              </a:spcBef>
            </a:pPr>
            <a:r>
              <a:rPr dirty="0">
                <a:solidFill>
                  <a:srgbClr val="555555"/>
                </a:solidFill>
              </a:rPr>
              <a:t>  Temperature, </a:t>
            </a:r>
            <a:r>
              <a:rPr dirty="0" err="1">
                <a:solidFill>
                  <a:srgbClr val="555555"/>
                </a:solidFill>
              </a:rPr>
              <a:t>MaxTokens</a:t>
            </a:r>
            <a:r>
              <a:rPr dirty="0">
                <a:solidFill>
                  <a:srgbClr val="555555"/>
                </a:solidFill>
              </a:rPr>
              <a:t>, and more</a:t>
            </a:r>
          </a:p>
          <a:p>
            <a:pPr>
              <a:spcBef>
                <a:spcPts val="300"/>
              </a:spcBef>
            </a:pPr>
            <a:r>
              <a:rPr dirty="0">
                <a:solidFill>
                  <a:srgbClr val="555555"/>
                </a:solidFill>
              </a:rPr>
              <a:t>  Provider-specific options</a:t>
            </a:r>
          </a:p>
          <a:p>
            <a:pPr>
              <a:spcBef>
                <a:spcPts val="300"/>
              </a:spcBef>
            </a:pPr>
            <a:endParaRPr dirty="0">
              <a:solidFill>
                <a:srgbClr val="555555"/>
              </a:solidFill>
            </a:endParaRPr>
          </a:p>
          <a:p>
            <a:pPr>
              <a:spcBef>
                <a:spcPts val="300"/>
              </a:spcBef>
            </a:pPr>
            <a:r>
              <a:rPr dirty="0">
                <a:solidFill>
                  <a:srgbClr val="EB1000"/>
                </a:solidFill>
              </a:rPr>
              <a:t>Benefits:</a:t>
            </a:r>
          </a:p>
          <a:p>
            <a:pPr>
              <a:spcBef>
                <a:spcPts val="300"/>
              </a:spcBef>
            </a:pPr>
            <a:r>
              <a:rPr dirty="0">
                <a:solidFill>
                  <a:srgbClr val="555555"/>
                </a:solidFill>
              </a:rPr>
              <a:t>  API keys out of source code</a:t>
            </a:r>
          </a:p>
          <a:p>
            <a:pPr>
              <a:spcBef>
                <a:spcPts val="300"/>
              </a:spcBef>
            </a:pPr>
            <a:r>
              <a:rPr dirty="0">
                <a:solidFill>
                  <a:srgbClr val="555555"/>
                </a:solidFill>
              </a:rPr>
              <a:t>  Change model without code deploy</a:t>
            </a:r>
          </a:p>
          <a:p>
            <a:pPr>
              <a:spcBef>
                <a:spcPts val="300"/>
              </a:spcBef>
            </a:pPr>
            <a:r>
              <a:rPr dirty="0">
                <a:solidFill>
                  <a:srgbClr val="555555"/>
                </a:solidFill>
              </a:rPr>
              <a:t>  One alias used across all .cfm files</a:t>
            </a:r>
          </a:p>
          <a:p>
            <a:pPr>
              <a:spcBef>
                <a:spcPts val="300"/>
              </a:spcBef>
            </a:pPr>
            <a:r>
              <a:rPr dirty="0">
                <a:solidFill>
                  <a:srgbClr val="555555"/>
                </a:solidFill>
              </a:rPr>
              <a:t>  Key rotation in one place</a:t>
            </a:r>
          </a:p>
          <a:p>
            <a:pPr>
              <a:spcBef>
                <a:spcPts val="300"/>
              </a:spcBef>
            </a:pPr>
            <a:endParaRPr dirty="0">
              <a:solidFill>
                <a:srgbClr val="555555"/>
              </a:solidFill>
            </a:endParaRPr>
          </a:p>
        </p:txBody>
      </p:sp>
      <p:pic>
        <p:nvPicPr>
          <p:cNvPr id="6" name="Picture 5">
            <a:extLst>
              <a:ext uri="{FF2B5EF4-FFF2-40B4-BE49-F238E27FC236}">
                <a16:creationId xmlns:a16="http://schemas.microsoft.com/office/drawing/2014/main" id="{43151BE3-7E74-98BB-B030-8669CE85B262}"/>
              </a:ext>
            </a:extLst>
          </p:cNvPr>
          <p:cNvPicPr>
            <a:picLocks noChangeAspect="1"/>
          </p:cNvPicPr>
          <p:nvPr/>
        </p:nvPicPr>
        <p:blipFill>
          <a:blip r:embed="rId3"/>
          <a:stretch>
            <a:fillRect/>
          </a:stretch>
        </p:blipFill>
        <p:spPr>
          <a:xfrm>
            <a:off x="154219" y="1348215"/>
            <a:ext cx="7773629" cy="42753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5060"/>
            <a:ext cx="10972800" cy="648588"/>
          </a:xfrm>
        </p:spPr>
        <p:txBody>
          <a:bodyPr/>
          <a:lstStyle/>
          <a:p>
            <a:r>
              <a:rPr sz="2700" b="1" dirty="0"/>
              <a:t>Admin API — </a:t>
            </a:r>
            <a:r>
              <a:rPr sz="2700" b="1" dirty="0" err="1"/>
              <a:t>cfide.adminapi.llm</a:t>
            </a:r>
            <a:endParaRPr sz="2700" b="1" dirty="0"/>
          </a:p>
        </p:txBody>
      </p:sp>
      <p:sp>
        <p:nvSpPr>
          <p:cNvPr id="12" name="TextBox 11"/>
          <p:cNvSpPr txBox="1"/>
          <p:nvPr/>
        </p:nvSpPr>
        <p:spPr>
          <a:xfrm>
            <a:off x="609600" y="768095"/>
            <a:ext cx="4600353" cy="5643853"/>
          </a:xfrm>
          <a:prstGeom prst="rect">
            <a:avLst/>
          </a:prstGeom>
          <a:solidFill>
            <a:srgbClr val="000000"/>
          </a:solidFill>
        </p:spPr>
        <p:txBody>
          <a:bodyPr wrap="square" lIns="109728" tIns="73152" rIns="73152" bIns="54864">
            <a:spAutoFit/>
          </a:bodyPr>
          <a:lstStyle/>
          <a:p>
            <a:pPr>
              <a:lnSpc>
                <a:spcPct val="115000"/>
              </a:lnSpc>
              <a:spcBef>
                <a:spcPts val="0"/>
              </a:spcBef>
            </a:pPr>
            <a:r>
              <a:rPr sz="1200" b="0" dirty="0">
                <a:solidFill>
                  <a:srgbClr val="6A9955"/>
                </a:solidFill>
                <a:latin typeface="Courier New"/>
              </a:rPr>
              <a:t>// Authenticate</a:t>
            </a:r>
          </a:p>
          <a:p>
            <a:pPr>
              <a:lnSpc>
                <a:spcPct val="115000"/>
              </a:lnSpc>
              <a:spcBef>
                <a:spcPts val="0"/>
              </a:spcBef>
            </a:pPr>
            <a:r>
              <a:rPr sz="1200" b="0" dirty="0" err="1">
                <a:solidFill>
                  <a:srgbClr val="9CDCFE"/>
                </a:solidFill>
                <a:latin typeface="Courier New"/>
              </a:rPr>
              <a:t>adminObj</a:t>
            </a:r>
            <a:r>
              <a:rPr sz="1200" b="0" dirty="0">
                <a:solidFill>
                  <a:srgbClr val="D4D4D4"/>
                </a:solidFill>
                <a:latin typeface="Courier New"/>
              </a:rPr>
              <a:t> = </a:t>
            </a:r>
            <a:r>
              <a:rPr sz="1200" b="0" dirty="0" err="1">
                <a:solidFill>
                  <a:srgbClr val="4EC9B0"/>
                </a:solidFill>
                <a:latin typeface="Courier New"/>
              </a:rPr>
              <a:t>createObject</a:t>
            </a:r>
            <a:r>
              <a:rPr sz="1200" b="0" dirty="0">
                <a:solidFill>
                  <a:srgbClr val="D4D4D4"/>
                </a:solidFill>
                <a:latin typeface="Courier New"/>
              </a:rPr>
              <a:t>(</a:t>
            </a:r>
            <a:r>
              <a:rPr sz="1200" b="0" dirty="0">
                <a:solidFill>
                  <a:srgbClr val="CE9178"/>
                </a:solidFill>
                <a:latin typeface="Courier New"/>
              </a:rPr>
              <a:t>"component"</a:t>
            </a:r>
            <a:r>
              <a:rPr sz="1200" b="0" dirty="0">
                <a:solidFill>
                  <a:srgbClr val="D4D4D4"/>
                </a:solidFill>
                <a:latin typeface="Courier New"/>
              </a:rPr>
              <a:t>, </a:t>
            </a:r>
            <a:r>
              <a:rPr sz="1200" b="0" dirty="0">
                <a:solidFill>
                  <a:srgbClr val="CE9178"/>
                </a:solidFill>
                <a:latin typeface="Courier New"/>
              </a:rPr>
              <a:t>"</a:t>
            </a:r>
            <a:r>
              <a:rPr sz="1200" b="0" dirty="0" err="1">
                <a:solidFill>
                  <a:srgbClr val="CE9178"/>
                </a:solidFill>
                <a:latin typeface="Courier New"/>
              </a:rPr>
              <a:t>cfide.adminapi.administrator</a:t>
            </a:r>
            <a:r>
              <a:rPr sz="1200" b="0" dirty="0">
                <a:solidFill>
                  <a:srgbClr val="CE9178"/>
                </a:solidFill>
                <a:latin typeface="Courier New"/>
              </a:rPr>
              <a:t>"</a:t>
            </a:r>
            <a:r>
              <a:rPr sz="1200" b="0" dirty="0">
                <a:solidFill>
                  <a:srgbClr val="D4D4D4"/>
                </a:solidFill>
                <a:latin typeface="Courier New"/>
              </a:rPr>
              <a:t>);</a:t>
            </a:r>
            <a:endParaRPr lang="en-US" sz="1200" b="0" dirty="0">
              <a:solidFill>
                <a:srgbClr val="D4D4D4"/>
              </a:solidFill>
              <a:latin typeface="Courier New"/>
            </a:endParaRPr>
          </a:p>
          <a:p>
            <a:pPr>
              <a:lnSpc>
                <a:spcPct val="115000"/>
              </a:lnSpc>
              <a:spcBef>
                <a:spcPts val="0"/>
              </a:spcBef>
            </a:pPr>
            <a:r>
              <a:rPr sz="1200" b="0" dirty="0" err="1">
                <a:solidFill>
                  <a:srgbClr val="9CDCFE"/>
                </a:solidFill>
                <a:latin typeface="Courier New"/>
              </a:rPr>
              <a:t>adminObj</a:t>
            </a:r>
            <a:r>
              <a:rPr sz="1200" b="0" dirty="0" err="1">
                <a:solidFill>
                  <a:srgbClr val="D4D4D4"/>
                </a:solidFill>
                <a:latin typeface="Courier New"/>
              </a:rPr>
              <a:t>.</a:t>
            </a:r>
            <a:r>
              <a:rPr sz="1200" b="0" dirty="0" err="1">
                <a:solidFill>
                  <a:srgbClr val="4EC9B0"/>
                </a:solidFill>
                <a:latin typeface="Courier New"/>
              </a:rPr>
              <a:t>login</a:t>
            </a:r>
            <a:r>
              <a:rPr sz="1200" b="0" dirty="0">
                <a:solidFill>
                  <a:srgbClr val="D4D4D4"/>
                </a:solidFill>
                <a:latin typeface="Courier New"/>
              </a:rPr>
              <a:t>(</a:t>
            </a:r>
            <a:r>
              <a:rPr sz="1200" b="0" dirty="0">
                <a:solidFill>
                  <a:srgbClr val="CE9178"/>
                </a:solidFill>
                <a:latin typeface="Courier New"/>
              </a:rPr>
              <a:t>"</a:t>
            </a:r>
            <a:r>
              <a:rPr sz="1200" b="0" dirty="0" err="1">
                <a:solidFill>
                  <a:srgbClr val="CE9178"/>
                </a:solidFill>
                <a:latin typeface="Courier New"/>
              </a:rPr>
              <a:t>YourAdminPassword</a:t>
            </a:r>
            <a:r>
              <a:rPr sz="1200" b="0" dirty="0">
                <a:solidFill>
                  <a:srgbClr val="CE9178"/>
                </a:solidFill>
                <a:latin typeface="Courier New"/>
              </a:rPr>
              <a:t>"</a:t>
            </a:r>
            <a:r>
              <a:rPr sz="1200" b="0" dirty="0">
                <a:solidFill>
                  <a:srgbClr val="D4D4D4"/>
                </a:solidFill>
                <a:latin typeface="Courier New"/>
              </a:rPr>
              <a:t>);</a:t>
            </a:r>
          </a:p>
          <a:p>
            <a:pPr>
              <a:lnSpc>
                <a:spcPct val="115000"/>
              </a:lnSpc>
              <a:spcBef>
                <a:spcPts val="0"/>
              </a:spcBef>
            </a:pPr>
            <a:endParaRPr lang="en-US" sz="1200" b="0" dirty="0">
              <a:solidFill>
                <a:srgbClr val="9CDCFE"/>
              </a:solidFill>
              <a:latin typeface="Courier New"/>
            </a:endParaRPr>
          </a:p>
          <a:p>
            <a:pPr>
              <a:lnSpc>
                <a:spcPct val="115000"/>
              </a:lnSpc>
              <a:spcBef>
                <a:spcPts val="0"/>
              </a:spcBef>
            </a:pPr>
            <a:r>
              <a:rPr sz="1200" b="0" dirty="0" err="1">
                <a:solidFill>
                  <a:srgbClr val="9CDCFE"/>
                </a:solidFill>
                <a:latin typeface="Courier New"/>
              </a:rPr>
              <a:t>llmAPI</a:t>
            </a:r>
            <a:r>
              <a:rPr sz="1200" b="0" dirty="0">
                <a:solidFill>
                  <a:srgbClr val="D4D4D4"/>
                </a:solidFill>
                <a:latin typeface="Courier New"/>
              </a:rPr>
              <a:t>   = </a:t>
            </a:r>
            <a:r>
              <a:rPr sz="1200" b="0" dirty="0" err="1">
                <a:solidFill>
                  <a:srgbClr val="4EC9B0"/>
                </a:solidFill>
                <a:latin typeface="Courier New"/>
              </a:rPr>
              <a:t>createObject</a:t>
            </a:r>
            <a:r>
              <a:rPr sz="1200" b="0" dirty="0">
                <a:solidFill>
                  <a:srgbClr val="D4D4D4"/>
                </a:solidFill>
                <a:latin typeface="Courier New"/>
              </a:rPr>
              <a:t>(</a:t>
            </a:r>
            <a:r>
              <a:rPr sz="1200" b="0" dirty="0">
                <a:solidFill>
                  <a:srgbClr val="CE9178"/>
                </a:solidFill>
                <a:latin typeface="Courier New"/>
              </a:rPr>
              <a:t>"component"</a:t>
            </a:r>
            <a:r>
              <a:rPr sz="1200" b="0" dirty="0">
                <a:solidFill>
                  <a:srgbClr val="D4D4D4"/>
                </a:solidFill>
                <a:latin typeface="Courier New"/>
              </a:rPr>
              <a:t>, </a:t>
            </a:r>
            <a:r>
              <a:rPr sz="1200" b="0" dirty="0">
                <a:solidFill>
                  <a:srgbClr val="CE9178"/>
                </a:solidFill>
                <a:latin typeface="Courier New"/>
              </a:rPr>
              <a:t>"</a:t>
            </a:r>
            <a:r>
              <a:rPr sz="1200" b="0" dirty="0" err="1">
                <a:solidFill>
                  <a:srgbClr val="CE9178"/>
                </a:solidFill>
                <a:latin typeface="Courier New"/>
              </a:rPr>
              <a:t>cfide.adminapi.llm</a:t>
            </a:r>
            <a:r>
              <a:rPr sz="1200" b="0" dirty="0">
                <a:solidFill>
                  <a:srgbClr val="CE9178"/>
                </a:solidFill>
                <a:latin typeface="Courier New"/>
              </a:rPr>
              <a:t>"</a:t>
            </a:r>
            <a:r>
              <a:rPr sz="1200" b="0" dirty="0">
                <a:solidFill>
                  <a:srgbClr val="D4D4D4"/>
                </a:solidFill>
                <a:latin typeface="Courier New"/>
              </a:rPr>
              <a:t>);</a:t>
            </a:r>
          </a:p>
          <a:p>
            <a:pPr>
              <a:lnSpc>
                <a:spcPct val="115000"/>
              </a:lnSpc>
              <a:spcBef>
                <a:spcPts val="0"/>
              </a:spcBef>
            </a:pPr>
            <a:endParaRPr sz="1200" b="0" dirty="0">
              <a:solidFill>
                <a:srgbClr val="D4D4D4"/>
              </a:solidFill>
              <a:latin typeface="Courier New"/>
            </a:endParaRPr>
          </a:p>
          <a:p>
            <a:pPr>
              <a:lnSpc>
                <a:spcPct val="115000"/>
              </a:lnSpc>
              <a:spcBef>
                <a:spcPts val="0"/>
              </a:spcBef>
            </a:pPr>
            <a:r>
              <a:rPr sz="1200" b="0" dirty="0">
                <a:solidFill>
                  <a:srgbClr val="6A9955"/>
                </a:solidFill>
                <a:latin typeface="Courier New"/>
              </a:rPr>
              <a:t>// CREATE / UPDATE an alias (re-calling with same name = update)</a:t>
            </a:r>
          </a:p>
          <a:p>
            <a:pPr>
              <a:lnSpc>
                <a:spcPct val="115000"/>
              </a:lnSpc>
              <a:spcBef>
                <a:spcPts val="0"/>
              </a:spcBef>
            </a:pPr>
            <a:r>
              <a:rPr sz="1200" b="0" dirty="0" err="1">
                <a:solidFill>
                  <a:srgbClr val="9CDCFE"/>
                </a:solidFill>
                <a:latin typeface="Courier New"/>
              </a:rPr>
              <a:t>llmAPI</a:t>
            </a:r>
            <a:r>
              <a:rPr sz="1200" b="0" dirty="0" err="1">
                <a:solidFill>
                  <a:srgbClr val="D4D4D4"/>
                </a:solidFill>
                <a:latin typeface="Courier New"/>
              </a:rPr>
              <a:t>.</a:t>
            </a:r>
            <a:r>
              <a:rPr sz="1200" b="0" dirty="0" err="1">
                <a:solidFill>
                  <a:srgbClr val="4EC9B0"/>
                </a:solidFill>
                <a:latin typeface="Courier New"/>
              </a:rPr>
              <a:t>setLLMModel</a:t>
            </a:r>
            <a:r>
              <a:rPr sz="1200" b="0" dirty="0">
                <a:solidFill>
                  <a:srgbClr val="D4D4D4"/>
                </a:solidFill>
                <a:latin typeface="Courier New"/>
              </a:rPr>
              <a:t>( </a:t>
            </a:r>
            <a:r>
              <a:rPr sz="1200" b="0" dirty="0">
                <a:solidFill>
                  <a:srgbClr val="CE9178"/>
                </a:solidFill>
                <a:latin typeface="Courier New"/>
              </a:rPr>
              <a:t>"acme-support-bot"</a:t>
            </a:r>
            <a:r>
              <a:rPr sz="1200" b="0" dirty="0">
                <a:solidFill>
                  <a:srgbClr val="D4D4D4"/>
                </a:solidFill>
                <a:latin typeface="Courier New"/>
              </a:rPr>
              <a:t>, </a:t>
            </a:r>
            <a:endParaRPr lang="en-US" sz="1200" b="0" dirty="0">
              <a:solidFill>
                <a:srgbClr val="D4D4D4"/>
              </a:solidFill>
              <a:latin typeface="Courier New"/>
            </a:endParaRPr>
          </a:p>
          <a:p>
            <a:pPr>
              <a:lnSpc>
                <a:spcPct val="115000"/>
              </a:lnSpc>
              <a:spcBef>
                <a:spcPts val="0"/>
              </a:spcBef>
            </a:pP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PROVIDER</a:t>
            </a:r>
            <a:r>
              <a:rPr sz="1200" b="0" dirty="0">
                <a:solidFill>
                  <a:srgbClr val="D4D4D4"/>
                </a:solidFill>
                <a:latin typeface="Courier New"/>
              </a:rPr>
              <a:t>:    </a:t>
            </a:r>
            <a:r>
              <a:rPr sz="1200" b="0" dirty="0">
                <a:solidFill>
                  <a:srgbClr val="CE9178"/>
                </a:solidFill>
                <a:latin typeface="Courier New"/>
              </a:rPr>
              <a:t>"</a:t>
            </a:r>
            <a:r>
              <a:rPr sz="1200" b="0" dirty="0" err="1">
                <a:solidFill>
                  <a:srgbClr val="CE9178"/>
                </a:solidFill>
                <a:latin typeface="Courier New"/>
              </a:rPr>
              <a:t>openai</a:t>
            </a:r>
            <a:r>
              <a:rPr sz="1200" b="0" dirty="0">
                <a:solidFill>
                  <a:srgbClr val="CE9178"/>
                </a:solidFill>
                <a:latin typeface="Courier New"/>
              </a:rPr>
              <a:t>"</a:t>
            </a:r>
            <a:r>
              <a:rPr sz="1200" b="0" dirty="0">
                <a:solidFill>
                  <a:srgbClr val="D4D4D4"/>
                </a:solidFill>
                <a:latin typeface="Courier New"/>
              </a:rPr>
              <a:t>,   </a:t>
            </a:r>
            <a:endParaRPr lang="en-US" sz="1200" b="0" dirty="0">
              <a:solidFill>
                <a:srgbClr val="D4D4D4"/>
              </a:solidFill>
              <a:latin typeface="Courier New"/>
            </a:endParaRPr>
          </a:p>
          <a:p>
            <a:pPr>
              <a:lnSpc>
                <a:spcPct val="115000"/>
              </a:lnSpc>
              <a:spcBef>
                <a:spcPts val="0"/>
              </a:spcBef>
            </a:pPr>
            <a:r>
              <a:rPr lang="en-US" sz="1200" dirty="0">
                <a:solidFill>
                  <a:srgbClr val="D4D4D4"/>
                </a:solidFill>
                <a:latin typeface="Courier New"/>
              </a:rPr>
              <a:t>   </a:t>
            </a:r>
            <a:r>
              <a:rPr sz="1200" b="0" dirty="0">
                <a:solidFill>
                  <a:srgbClr val="D4D4D4"/>
                </a:solidFill>
                <a:latin typeface="Courier New"/>
              </a:rPr>
              <a:t> </a:t>
            </a:r>
            <a:r>
              <a:rPr sz="1200" b="0" dirty="0">
                <a:solidFill>
                  <a:srgbClr val="9CDCFE"/>
                </a:solidFill>
                <a:latin typeface="Courier New"/>
              </a:rPr>
              <a:t>MODELNAME</a:t>
            </a:r>
            <a:r>
              <a:rPr sz="1200" b="0" dirty="0">
                <a:solidFill>
                  <a:srgbClr val="D4D4D4"/>
                </a:solidFill>
                <a:latin typeface="Courier New"/>
              </a:rPr>
              <a:t>: </a:t>
            </a:r>
            <a:r>
              <a:rPr sz="1200" b="0" dirty="0">
                <a:solidFill>
                  <a:srgbClr val="CE9178"/>
                </a:solidFill>
                <a:latin typeface="Courier New"/>
              </a:rPr>
              <a:t>"gpt-4o-mini"</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APIKEY</a:t>
            </a:r>
            <a:r>
              <a:rPr sz="1200" b="0" dirty="0">
                <a:solidFill>
                  <a:srgbClr val="D4D4D4"/>
                </a:solidFill>
                <a:latin typeface="Courier New"/>
              </a:rPr>
              <a:t>:      </a:t>
            </a:r>
            <a:r>
              <a:rPr sz="1200" b="0" dirty="0">
                <a:solidFill>
                  <a:srgbClr val="CE9178"/>
                </a:solidFill>
                <a:latin typeface="Courier New"/>
              </a:rPr>
              <a:t>"</a:t>
            </a:r>
            <a:r>
              <a:rPr sz="1200" b="0" dirty="0" err="1">
                <a:solidFill>
                  <a:srgbClr val="CE9178"/>
                </a:solidFill>
                <a:latin typeface="Courier New"/>
              </a:rPr>
              <a:t>sk</a:t>
            </a:r>
            <a:r>
              <a:rPr sz="1200" b="0" dirty="0">
                <a:solidFill>
                  <a:srgbClr val="CE9178"/>
                </a:solidFill>
                <a:latin typeface="Courier New"/>
              </a:rPr>
              <a:t>-prod-..."</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TEMPERATURE</a:t>
            </a:r>
            <a:r>
              <a:rPr sz="1200" b="0" dirty="0">
                <a:solidFill>
                  <a:srgbClr val="D4D4D4"/>
                </a:solidFill>
                <a:latin typeface="Courier New"/>
              </a:rPr>
              <a:t>: </a:t>
            </a:r>
            <a:r>
              <a:rPr sz="1200" b="0" dirty="0">
                <a:solidFill>
                  <a:srgbClr val="B5CEA8"/>
                </a:solidFill>
                <a:latin typeface="Courier New"/>
              </a:rPr>
              <a:t>0.4</a:t>
            </a:r>
            <a:r>
              <a:rPr sz="1200" b="0" dirty="0">
                <a:solidFill>
                  <a:srgbClr val="D4D4D4"/>
                </a:solidFill>
                <a:latin typeface="Courier New"/>
              </a:rPr>
              <a:t>,         </a:t>
            </a:r>
            <a:endParaRPr lang="en-US" sz="1200" b="0" dirty="0">
              <a:solidFill>
                <a:srgbClr val="D4D4D4"/>
              </a:solidFill>
              <a:latin typeface="Courier New"/>
            </a:endParaRPr>
          </a:p>
          <a:p>
            <a:pPr>
              <a:lnSpc>
                <a:spcPct val="115000"/>
              </a:lnSpc>
              <a:spcBef>
                <a:spcPts val="0"/>
              </a:spcBef>
            </a:pPr>
            <a:r>
              <a:rPr lang="en-US" sz="1200" dirty="0">
                <a:solidFill>
                  <a:srgbClr val="D4D4D4"/>
                </a:solidFill>
                <a:latin typeface="Courier New"/>
              </a:rPr>
              <a:t>    </a:t>
            </a:r>
            <a:r>
              <a:rPr sz="1200" b="0" dirty="0">
                <a:solidFill>
                  <a:srgbClr val="9CDCFE"/>
                </a:solidFill>
                <a:latin typeface="Courier New"/>
              </a:rPr>
              <a:t>MAXTOKENS</a:t>
            </a:r>
            <a:r>
              <a:rPr sz="1200" b="0" dirty="0">
                <a:solidFill>
                  <a:srgbClr val="D4D4D4"/>
                </a:solidFill>
                <a:latin typeface="Courier New"/>
              </a:rPr>
              <a:t>: </a:t>
            </a:r>
            <a:r>
              <a:rPr sz="1200" b="0" dirty="0">
                <a:solidFill>
                  <a:srgbClr val="B5CEA8"/>
                </a:solidFill>
                <a:latin typeface="Courier New"/>
              </a:rPr>
              <a:t>300</a:t>
            </a:r>
          </a:p>
          <a:p>
            <a:pPr>
              <a:lnSpc>
                <a:spcPct val="115000"/>
              </a:lnSpc>
              <a:spcBef>
                <a:spcPts val="0"/>
              </a:spcBef>
            </a:pPr>
            <a:r>
              <a:rPr sz="1200" b="0" dirty="0">
                <a:solidFill>
                  <a:srgbClr val="D4D4D4"/>
                </a:solidFill>
                <a:latin typeface="Courier New"/>
              </a:rPr>
              <a:t>});</a:t>
            </a:r>
          </a:p>
          <a:p>
            <a:pPr>
              <a:lnSpc>
                <a:spcPct val="115000"/>
              </a:lnSpc>
              <a:spcBef>
                <a:spcPts val="0"/>
              </a:spcBef>
            </a:pPr>
            <a:r>
              <a:rPr sz="1200" b="0" dirty="0">
                <a:solidFill>
                  <a:srgbClr val="6A9955"/>
                </a:solidFill>
                <a:latin typeface="Courier New"/>
              </a:rPr>
              <a:t>// Ollama: BASEURL, no APIKEY.</a:t>
            </a:r>
          </a:p>
          <a:p>
            <a:pPr>
              <a:lnSpc>
                <a:spcPct val="115000"/>
              </a:lnSpc>
              <a:spcBef>
                <a:spcPts val="0"/>
              </a:spcBef>
            </a:pPr>
            <a:r>
              <a:rPr sz="1200" b="0" dirty="0" err="1">
                <a:solidFill>
                  <a:srgbClr val="9CDCFE"/>
                </a:solidFill>
                <a:latin typeface="Courier New"/>
              </a:rPr>
              <a:t>llmAPI</a:t>
            </a:r>
            <a:r>
              <a:rPr sz="1200" b="0" dirty="0" err="1">
                <a:solidFill>
                  <a:srgbClr val="D4D4D4"/>
                </a:solidFill>
                <a:latin typeface="Courier New"/>
              </a:rPr>
              <a:t>.</a:t>
            </a:r>
            <a:r>
              <a:rPr sz="1200" b="0" dirty="0" err="1">
                <a:solidFill>
                  <a:srgbClr val="4EC9B0"/>
                </a:solidFill>
                <a:latin typeface="Courier New"/>
              </a:rPr>
              <a:t>setLLMModel</a:t>
            </a:r>
            <a:r>
              <a:rPr sz="1200" b="0" dirty="0">
                <a:solidFill>
                  <a:srgbClr val="D4D4D4"/>
                </a:solidFill>
                <a:latin typeface="Courier New"/>
              </a:rPr>
              <a:t>( </a:t>
            </a:r>
            <a:r>
              <a:rPr sz="1200" b="0" dirty="0">
                <a:solidFill>
                  <a:srgbClr val="CE9178"/>
                </a:solidFill>
                <a:latin typeface="Courier New"/>
              </a:rPr>
              <a:t>"acme-local"</a:t>
            </a:r>
            <a:r>
              <a:rPr sz="1200" b="0" dirty="0">
                <a:solidFill>
                  <a:srgbClr val="D4D4D4"/>
                </a:solidFill>
                <a:latin typeface="Courier New"/>
              </a:rPr>
              <a:t>, </a:t>
            </a:r>
            <a:endParaRPr lang="en-US" sz="1200" b="0" dirty="0">
              <a:solidFill>
                <a:srgbClr val="D4D4D4"/>
              </a:solidFill>
              <a:latin typeface="Courier New"/>
            </a:endParaRPr>
          </a:p>
          <a:p>
            <a:pPr>
              <a:lnSpc>
                <a:spcPct val="115000"/>
              </a:lnSpc>
              <a:spcBef>
                <a:spcPts val="0"/>
              </a:spcBef>
            </a:pPr>
            <a:r>
              <a:rPr sz="1200" b="0" dirty="0">
                <a:solidFill>
                  <a:srgbClr val="D4D4D4"/>
                </a:solidFill>
                <a:latin typeface="Courier New"/>
              </a:rPr>
              <a:t>{</a:t>
            </a:r>
            <a:r>
              <a:rPr lang="en-US" sz="1200" b="0" dirty="0">
                <a:solidFill>
                  <a:srgbClr val="D4D4D4"/>
                </a:solidFill>
                <a:latin typeface="Courier New"/>
              </a:rPr>
              <a:t>.  </a:t>
            </a:r>
            <a:r>
              <a:rPr lang="en-US" sz="1200" dirty="0">
                <a:solidFill>
                  <a:srgbClr val="9CDCFE"/>
                </a:solidFill>
                <a:latin typeface="Courier New"/>
              </a:rPr>
              <a:t>PROVIDER</a:t>
            </a:r>
            <a:r>
              <a:rPr lang="en-US" sz="1200" dirty="0">
                <a:solidFill>
                  <a:srgbClr val="D4D4D4"/>
                </a:solidFill>
                <a:latin typeface="Courier New"/>
              </a:rPr>
              <a:t>: </a:t>
            </a:r>
            <a:r>
              <a:rPr lang="en-US" sz="1200" dirty="0">
                <a:solidFill>
                  <a:srgbClr val="CE9178"/>
                </a:solidFill>
                <a:latin typeface="Courier New"/>
              </a:rPr>
              <a:t>"</a:t>
            </a:r>
            <a:r>
              <a:rPr lang="en-US" sz="1200" dirty="0" err="1">
                <a:solidFill>
                  <a:srgbClr val="CE9178"/>
                </a:solidFill>
                <a:latin typeface="Courier New"/>
              </a:rPr>
              <a:t>ollama</a:t>
            </a:r>
            <a:r>
              <a:rPr lang="en-US" sz="1200" dirty="0">
                <a:solidFill>
                  <a:srgbClr val="CE9178"/>
                </a:solidFill>
                <a:latin typeface="Courier New"/>
              </a:rPr>
              <a:t>"</a:t>
            </a:r>
            <a:r>
              <a:rPr lang="en-US" sz="1200" dirty="0">
                <a:solidFill>
                  <a:srgbClr val="D4D4D4"/>
                </a:solidFill>
                <a:latin typeface="Courier New"/>
              </a:rPr>
              <a:t>,  </a:t>
            </a:r>
          </a:p>
          <a:p>
            <a:pPr>
              <a:lnSpc>
                <a:spcPct val="115000"/>
              </a:lnSpc>
              <a:spcBef>
                <a:spcPts val="0"/>
              </a:spcBef>
            </a:pPr>
            <a:r>
              <a:rPr lang="en-US" sz="1200" dirty="0">
                <a:solidFill>
                  <a:srgbClr val="9CDCFE"/>
                </a:solidFill>
                <a:latin typeface="Courier New"/>
              </a:rPr>
              <a:t>    MODELNAME</a:t>
            </a:r>
            <a:r>
              <a:rPr lang="en-US" sz="1200" dirty="0">
                <a:solidFill>
                  <a:srgbClr val="D4D4D4"/>
                </a:solidFill>
                <a:latin typeface="Courier New"/>
              </a:rPr>
              <a:t>: </a:t>
            </a:r>
            <a:r>
              <a:rPr lang="en-US" sz="1200" dirty="0">
                <a:solidFill>
                  <a:srgbClr val="CE9178"/>
                </a:solidFill>
                <a:latin typeface="Courier New"/>
              </a:rPr>
              <a:t>"llama3.2"</a:t>
            </a:r>
            <a:r>
              <a:rPr lang="en-US" sz="1200" dirty="0">
                <a:solidFill>
                  <a:srgbClr val="D4D4D4"/>
                </a:solidFill>
                <a:latin typeface="Courier New"/>
              </a:rPr>
              <a:t>,</a:t>
            </a:r>
          </a:p>
          <a:p>
            <a:pPr>
              <a:lnSpc>
                <a:spcPct val="115000"/>
              </a:lnSpc>
              <a:spcBef>
                <a:spcPts val="0"/>
              </a:spcBef>
            </a:pPr>
            <a:r>
              <a:rPr lang="en-US" sz="1200" dirty="0">
                <a:solidFill>
                  <a:srgbClr val="D4D4D4"/>
                </a:solidFill>
                <a:latin typeface="Courier New"/>
              </a:rPr>
              <a:t>    </a:t>
            </a:r>
            <a:r>
              <a:rPr lang="en-US" sz="1200" dirty="0">
                <a:solidFill>
                  <a:srgbClr val="9CDCFE"/>
                </a:solidFill>
                <a:latin typeface="Courier New"/>
              </a:rPr>
              <a:t>BASEURL</a:t>
            </a:r>
            <a:r>
              <a:rPr lang="en-US" sz="1200" dirty="0">
                <a:solidFill>
                  <a:srgbClr val="D4D4D4"/>
                </a:solidFill>
                <a:latin typeface="Courier New"/>
              </a:rPr>
              <a:t>:  </a:t>
            </a:r>
            <a:r>
              <a:rPr lang="en-US" sz="1200" dirty="0">
                <a:solidFill>
                  <a:srgbClr val="CE9178"/>
                </a:solidFill>
                <a:latin typeface="Courier New"/>
              </a:rPr>
              <a:t>"http://localhost:11434"</a:t>
            </a:r>
          </a:p>
          <a:p>
            <a:pPr>
              <a:lnSpc>
                <a:spcPct val="115000"/>
              </a:lnSpc>
              <a:spcBef>
                <a:spcPts val="0"/>
              </a:spcBef>
            </a:pPr>
            <a:r>
              <a:rPr lang="en-US" sz="1200" dirty="0">
                <a:solidFill>
                  <a:srgbClr val="D4D4D4"/>
                </a:solidFill>
                <a:latin typeface="Courier New"/>
              </a:rPr>
              <a:t>});</a:t>
            </a:r>
          </a:p>
          <a:p>
            <a:pPr>
              <a:lnSpc>
                <a:spcPct val="115000"/>
              </a:lnSpc>
              <a:spcBef>
                <a:spcPts val="0"/>
              </a:spcBef>
            </a:pPr>
            <a:endParaRPr sz="1200" b="0" dirty="0">
              <a:solidFill>
                <a:srgbClr val="D4D4D4"/>
              </a:solidFill>
              <a:latin typeface="Courier New"/>
            </a:endParaRPr>
          </a:p>
          <a:p>
            <a:pPr>
              <a:lnSpc>
                <a:spcPct val="115000"/>
              </a:lnSpc>
              <a:spcBef>
                <a:spcPts val="0"/>
              </a:spcBef>
            </a:pPr>
            <a:r>
              <a:rPr sz="1200" b="0" dirty="0">
                <a:solidFill>
                  <a:srgbClr val="D4D4D4"/>
                </a:solidFill>
                <a:latin typeface="Courier New"/>
              </a:rPr>
              <a:t>    </a:t>
            </a:r>
          </a:p>
        </p:txBody>
      </p:sp>
      <p:sp>
        <p:nvSpPr>
          <p:cNvPr id="13" name="TextBox 12"/>
          <p:cNvSpPr txBox="1"/>
          <p:nvPr/>
        </p:nvSpPr>
        <p:spPr>
          <a:xfrm>
            <a:off x="5422605" y="768095"/>
            <a:ext cx="6159795" cy="2422394"/>
          </a:xfrm>
          <a:prstGeom prst="rect">
            <a:avLst/>
          </a:prstGeom>
          <a:solidFill>
            <a:srgbClr val="000000"/>
          </a:solidFill>
        </p:spPr>
        <p:txBody>
          <a:bodyPr wrap="square" lIns="109728" tIns="73152" rIns="73152" bIns="54864">
            <a:spAutoFit/>
          </a:bodyPr>
          <a:lstStyle/>
          <a:p>
            <a:pPr>
              <a:lnSpc>
                <a:spcPct val="115000"/>
              </a:lnSpc>
              <a:spcBef>
                <a:spcPts val="0"/>
              </a:spcBef>
            </a:pPr>
            <a:r>
              <a:rPr sz="1300" b="0" dirty="0">
                <a:solidFill>
                  <a:srgbClr val="6A9955"/>
                </a:solidFill>
                <a:latin typeface="Courier New"/>
              </a:rPr>
              <a:t>// READ — one alias or all</a:t>
            </a:r>
          </a:p>
          <a:p>
            <a:pPr>
              <a:lnSpc>
                <a:spcPct val="115000"/>
              </a:lnSpc>
              <a:spcBef>
                <a:spcPts val="0"/>
              </a:spcBef>
            </a:pPr>
            <a:r>
              <a:rPr sz="1300" b="0" dirty="0" err="1">
                <a:solidFill>
                  <a:srgbClr val="9CDCFE"/>
                </a:solidFill>
                <a:latin typeface="Courier New"/>
              </a:rPr>
              <a:t>cfg</a:t>
            </a:r>
            <a:r>
              <a:rPr sz="1300" b="0" dirty="0">
                <a:solidFill>
                  <a:srgbClr val="D4D4D4"/>
                </a:solidFill>
                <a:latin typeface="Courier New"/>
              </a:rPr>
              <a:t>     = </a:t>
            </a:r>
            <a:r>
              <a:rPr sz="1300" b="0" dirty="0" err="1">
                <a:solidFill>
                  <a:srgbClr val="9CDCFE"/>
                </a:solidFill>
                <a:latin typeface="Courier New"/>
              </a:rPr>
              <a:t>llmAPI</a:t>
            </a:r>
            <a:r>
              <a:rPr sz="1300" b="0" dirty="0" err="1">
                <a:solidFill>
                  <a:srgbClr val="D4D4D4"/>
                </a:solidFill>
                <a:latin typeface="Courier New"/>
              </a:rPr>
              <a:t>.</a:t>
            </a:r>
            <a:r>
              <a:rPr sz="1300" b="0" dirty="0" err="1">
                <a:solidFill>
                  <a:srgbClr val="4EC9B0"/>
                </a:solidFill>
                <a:latin typeface="Courier New"/>
              </a:rPr>
              <a:t>getLLMModels</a:t>
            </a:r>
            <a:r>
              <a:rPr sz="1300" b="0" dirty="0">
                <a:solidFill>
                  <a:srgbClr val="D4D4D4"/>
                </a:solidFill>
                <a:latin typeface="Courier New"/>
              </a:rPr>
              <a:t>( </a:t>
            </a:r>
            <a:r>
              <a:rPr sz="1300" b="0" dirty="0">
                <a:solidFill>
                  <a:srgbClr val="CE9178"/>
                </a:solidFill>
                <a:latin typeface="Courier New"/>
              </a:rPr>
              <a:t>"acme-support-bot"</a:t>
            </a:r>
            <a:r>
              <a:rPr sz="1300" b="0" dirty="0">
                <a:solidFill>
                  <a:srgbClr val="D4D4D4"/>
                </a:solidFill>
                <a:latin typeface="Courier New"/>
              </a:rPr>
              <a:t> );  </a:t>
            </a:r>
            <a:r>
              <a:rPr sz="1300" b="0" dirty="0">
                <a:solidFill>
                  <a:srgbClr val="6A9955"/>
                </a:solidFill>
                <a:latin typeface="Courier New"/>
              </a:rPr>
              <a:t>// one</a:t>
            </a:r>
          </a:p>
          <a:p>
            <a:pPr>
              <a:lnSpc>
                <a:spcPct val="115000"/>
              </a:lnSpc>
              <a:spcBef>
                <a:spcPts val="0"/>
              </a:spcBef>
            </a:pPr>
            <a:r>
              <a:rPr sz="1300" b="0" dirty="0" err="1">
                <a:solidFill>
                  <a:srgbClr val="9CDCFE"/>
                </a:solidFill>
                <a:latin typeface="Courier New"/>
              </a:rPr>
              <a:t>allCfgs</a:t>
            </a:r>
            <a:r>
              <a:rPr sz="1300" b="0" dirty="0">
                <a:solidFill>
                  <a:srgbClr val="D4D4D4"/>
                </a:solidFill>
                <a:latin typeface="Courier New"/>
              </a:rPr>
              <a:t> = </a:t>
            </a:r>
            <a:r>
              <a:rPr sz="1300" b="0" dirty="0" err="1">
                <a:solidFill>
                  <a:srgbClr val="9CDCFE"/>
                </a:solidFill>
                <a:latin typeface="Courier New"/>
              </a:rPr>
              <a:t>llmAPI</a:t>
            </a:r>
            <a:r>
              <a:rPr sz="1300" b="0" dirty="0" err="1">
                <a:solidFill>
                  <a:srgbClr val="D4D4D4"/>
                </a:solidFill>
                <a:latin typeface="Courier New"/>
              </a:rPr>
              <a:t>.</a:t>
            </a:r>
            <a:r>
              <a:rPr sz="1300" b="0" dirty="0" err="1">
                <a:solidFill>
                  <a:srgbClr val="4EC9B0"/>
                </a:solidFill>
                <a:latin typeface="Courier New"/>
              </a:rPr>
              <a:t>getLLMModels</a:t>
            </a:r>
            <a:r>
              <a:rPr sz="1300" b="0" dirty="0">
                <a:solidFill>
                  <a:srgbClr val="D4D4D4"/>
                </a:solidFill>
                <a:latin typeface="Courier New"/>
              </a:rPr>
              <a:t>();       </a:t>
            </a:r>
            <a:r>
              <a:rPr lang="en-US" sz="1300" b="0" dirty="0">
                <a:solidFill>
                  <a:srgbClr val="D4D4D4"/>
                </a:solidFill>
                <a:latin typeface="Courier New"/>
              </a:rPr>
              <a:t>// fetch </a:t>
            </a:r>
            <a:r>
              <a:rPr sz="1300" b="0" dirty="0">
                <a:solidFill>
                  <a:srgbClr val="6A9955"/>
                </a:solidFill>
                <a:latin typeface="Courier New"/>
              </a:rPr>
              <a:t>all (struct)</a:t>
            </a:r>
          </a:p>
          <a:p>
            <a:pPr>
              <a:lnSpc>
                <a:spcPct val="115000"/>
              </a:lnSpc>
              <a:spcBef>
                <a:spcPts val="0"/>
              </a:spcBef>
            </a:pPr>
            <a:endParaRPr sz="1300" b="0" dirty="0">
              <a:solidFill>
                <a:srgbClr val="6A9955"/>
              </a:solidFill>
              <a:latin typeface="Courier New"/>
            </a:endParaRPr>
          </a:p>
          <a:p>
            <a:pPr>
              <a:lnSpc>
                <a:spcPct val="115000"/>
              </a:lnSpc>
              <a:spcBef>
                <a:spcPts val="0"/>
              </a:spcBef>
            </a:pPr>
            <a:r>
              <a:rPr sz="1300" b="0" dirty="0">
                <a:solidFill>
                  <a:srgbClr val="6A9955"/>
                </a:solidFill>
                <a:latin typeface="Courier New"/>
              </a:rPr>
              <a:t>// USE the alias in any .cfm</a:t>
            </a:r>
          </a:p>
          <a:p>
            <a:pPr>
              <a:lnSpc>
                <a:spcPct val="115000"/>
              </a:lnSpc>
              <a:spcBef>
                <a:spcPts val="0"/>
              </a:spcBef>
            </a:pPr>
            <a:r>
              <a:rPr sz="1300" b="0" dirty="0" err="1">
                <a:solidFill>
                  <a:srgbClr val="9CDCFE"/>
                </a:solidFill>
                <a:latin typeface="Courier New"/>
              </a:rPr>
              <a:t>chatModel</a:t>
            </a:r>
            <a:r>
              <a:rPr sz="1300" b="0" dirty="0">
                <a:solidFill>
                  <a:srgbClr val="D4D4D4"/>
                </a:solidFill>
                <a:latin typeface="Courier New"/>
              </a:rPr>
              <a:t> = </a:t>
            </a:r>
            <a:r>
              <a:rPr sz="1300" b="0" dirty="0" err="1">
                <a:solidFill>
                  <a:srgbClr val="4EC9B0"/>
                </a:solidFill>
                <a:latin typeface="Courier New"/>
              </a:rPr>
              <a:t>ChatModel</a:t>
            </a:r>
            <a:r>
              <a:rPr sz="1300" b="0" dirty="0">
                <a:solidFill>
                  <a:srgbClr val="D4D4D4"/>
                </a:solidFill>
                <a:latin typeface="Courier New"/>
              </a:rPr>
              <a:t>( </a:t>
            </a:r>
            <a:r>
              <a:rPr sz="1300" b="0" dirty="0">
                <a:solidFill>
                  <a:srgbClr val="CE9178"/>
                </a:solidFill>
                <a:latin typeface="Courier New"/>
              </a:rPr>
              <a:t>"acme-support-bot"</a:t>
            </a:r>
            <a:r>
              <a:rPr sz="1300" b="0" dirty="0">
                <a:solidFill>
                  <a:srgbClr val="D4D4D4"/>
                </a:solidFill>
                <a:latin typeface="Courier New"/>
              </a:rPr>
              <a:t> );</a:t>
            </a:r>
          </a:p>
          <a:p>
            <a:pPr>
              <a:lnSpc>
                <a:spcPct val="115000"/>
              </a:lnSpc>
              <a:spcBef>
                <a:spcPts val="0"/>
              </a:spcBef>
            </a:pPr>
            <a:r>
              <a:rPr sz="1300" b="0" dirty="0">
                <a:solidFill>
                  <a:srgbClr val="9CDCFE"/>
                </a:solidFill>
                <a:latin typeface="Courier New"/>
              </a:rPr>
              <a:t>response</a:t>
            </a:r>
            <a:r>
              <a:rPr sz="1300" b="0" dirty="0">
                <a:solidFill>
                  <a:srgbClr val="D4D4D4"/>
                </a:solidFill>
                <a:latin typeface="Courier New"/>
              </a:rPr>
              <a:t>  = </a:t>
            </a:r>
            <a:r>
              <a:rPr sz="1300" b="0" dirty="0" err="1">
                <a:solidFill>
                  <a:srgbClr val="9CDCFE"/>
                </a:solidFill>
                <a:latin typeface="Courier New"/>
              </a:rPr>
              <a:t>chatModel</a:t>
            </a:r>
            <a:r>
              <a:rPr sz="1300" b="0" dirty="0" err="1">
                <a:solidFill>
                  <a:srgbClr val="D4D4D4"/>
                </a:solidFill>
                <a:latin typeface="Courier New"/>
              </a:rPr>
              <a:t>.</a:t>
            </a:r>
            <a:r>
              <a:rPr sz="1300" b="0" dirty="0" err="1">
                <a:solidFill>
                  <a:srgbClr val="4EC9B0"/>
                </a:solidFill>
                <a:latin typeface="Courier New"/>
              </a:rPr>
              <a:t>chat</a:t>
            </a:r>
            <a:r>
              <a:rPr sz="1300" b="0" dirty="0">
                <a:solidFill>
                  <a:srgbClr val="D4D4D4"/>
                </a:solidFill>
                <a:latin typeface="Courier New"/>
              </a:rPr>
              <a:t>( </a:t>
            </a:r>
            <a:r>
              <a:rPr sz="1300" b="0" dirty="0">
                <a:solidFill>
                  <a:srgbClr val="CE9178"/>
                </a:solidFill>
                <a:latin typeface="Courier New"/>
              </a:rPr>
              <a:t>"What is your return policy?"</a:t>
            </a:r>
            <a:r>
              <a:rPr sz="1300" b="0" dirty="0">
                <a:solidFill>
                  <a:srgbClr val="D4D4D4"/>
                </a:solidFill>
                <a:latin typeface="Courier New"/>
              </a:rPr>
              <a:t> );</a:t>
            </a:r>
          </a:p>
          <a:p>
            <a:pPr>
              <a:lnSpc>
                <a:spcPct val="115000"/>
              </a:lnSpc>
              <a:spcBef>
                <a:spcPts val="0"/>
              </a:spcBef>
            </a:pPr>
            <a:endParaRPr sz="1300" b="0" dirty="0">
              <a:solidFill>
                <a:srgbClr val="D4D4D4"/>
              </a:solidFill>
              <a:latin typeface="Courier New"/>
            </a:endParaRPr>
          </a:p>
          <a:p>
            <a:pPr>
              <a:lnSpc>
                <a:spcPct val="115000"/>
              </a:lnSpc>
              <a:spcBef>
                <a:spcPts val="0"/>
              </a:spcBef>
            </a:pPr>
            <a:r>
              <a:rPr sz="1300" b="0" dirty="0">
                <a:solidFill>
                  <a:srgbClr val="6A9955"/>
                </a:solidFill>
                <a:latin typeface="Courier New"/>
              </a:rPr>
              <a:t>// DELETE</a:t>
            </a:r>
          </a:p>
          <a:p>
            <a:pPr>
              <a:lnSpc>
                <a:spcPct val="115000"/>
              </a:lnSpc>
              <a:spcBef>
                <a:spcPts val="0"/>
              </a:spcBef>
            </a:pPr>
            <a:r>
              <a:rPr sz="1300" b="0" dirty="0" err="1">
                <a:solidFill>
                  <a:srgbClr val="9CDCFE"/>
                </a:solidFill>
                <a:latin typeface="Courier New"/>
              </a:rPr>
              <a:t>llmAPI</a:t>
            </a:r>
            <a:r>
              <a:rPr sz="1300" b="0" dirty="0" err="1">
                <a:solidFill>
                  <a:srgbClr val="D4D4D4"/>
                </a:solidFill>
                <a:latin typeface="Courier New"/>
              </a:rPr>
              <a:t>.</a:t>
            </a:r>
            <a:r>
              <a:rPr sz="1300" b="0" dirty="0" err="1">
                <a:solidFill>
                  <a:srgbClr val="4EC9B0"/>
                </a:solidFill>
                <a:latin typeface="Courier New"/>
              </a:rPr>
              <a:t>deleteLLMModel</a:t>
            </a:r>
            <a:r>
              <a:rPr sz="1300" b="0" dirty="0">
                <a:solidFill>
                  <a:srgbClr val="D4D4D4"/>
                </a:solidFill>
                <a:latin typeface="Courier New"/>
              </a:rPr>
              <a:t>( </a:t>
            </a:r>
            <a:r>
              <a:rPr sz="1300" b="0" dirty="0">
                <a:solidFill>
                  <a:srgbClr val="CE9178"/>
                </a:solidFill>
                <a:latin typeface="Courier New"/>
              </a:rPr>
              <a:t>"acme-support-bot"</a:t>
            </a:r>
            <a:r>
              <a:rPr sz="1300" b="0" dirty="0">
                <a:solidFill>
                  <a:srgbClr val="D4D4D4"/>
                </a:solidFill>
                <a:latin typeface="Courier New"/>
              </a:rPr>
              <a:t> );</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dur="indefinite" nodeType="mainSeq">
                <p:childTnLst>
                  <p:par>
                    <p:cTn id="12" fill="hold">
                      <p:stCondLst>
                        <p:cond delay="indefinite"/>
                      </p:stCondLst>
                      <p:childTnLst>
                        <p:par>
                          <p:cTn id="13" fill="hold">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2"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12" grpId="1" animBg="1"/>
      <p:bldP spid="12" grpId="2" animBg="1"/>
      <p:bldP spid="13" grpId="2" animBg="1"/>
      <p:bldP spid="13" grpId="3"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t>Meet Nexora — Our Demo Application</a:t>
            </a:r>
          </a:p>
        </p:txBody>
      </p:sp>
      <p:sp>
        <p:nvSpPr>
          <p:cNvPr id="3" name="TextBox 2"/>
          <p:cNvSpPr txBox="1"/>
          <p:nvPr/>
        </p:nvSpPr>
        <p:spPr>
          <a:xfrm>
            <a:off x="612648" y="1417320"/>
            <a:ext cx="5349240" cy="1592744"/>
          </a:xfrm>
          <a:prstGeom prst="rect">
            <a:avLst/>
          </a:prstGeom>
          <a:noFill/>
        </p:spPr>
        <p:txBody>
          <a:bodyPr wrap="square">
            <a:spAutoFit/>
          </a:bodyPr>
          <a:lstStyle/>
          <a:p>
            <a:r>
              <a:rPr b="1" dirty="0">
                <a:solidFill>
                  <a:srgbClr val="1A1A1A"/>
                </a:solidFill>
              </a:rPr>
              <a:t>The company</a:t>
            </a:r>
          </a:p>
          <a:p>
            <a:pPr>
              <a:spcBef>
                <a:spcPts val="300"/>
              </a:spcBef>
            </a:pPr>
            <a:r>
              <a:rPr dirty="0">
                <a:solidFill>
                  <a:srgbClr val="1A1A1A"/>
                </a:solidFill>
              </a:rPr>
              <a:t>  • Mid-size e-commerce — widgets, gadgets, accessories</a:t>
            </a:r>
          </a:p>
          <a:p>
            <a:pPr>
              <a:spcBef>
                <a:spcPts val="300"/>
              </a:spcBef>
            </a:pPr>
            <a:r>
              <a:rPr dirty="0">
                <a:solidFill>
                  <a:srgbClr val="1A1A1A"/>
                </a:solidFill>
              </a:rPr>
              <a:t>  • 500+ customer support queries per day</a:t>
            </a:r>
          </a:p>
          <a:p>
            <a:pPr>
              <a:spcBef>
                <a:spcPts val="300"/>
              </a:spcBef>
            </a:pPr>
            <a:r>
              <a:rPr dirty="0">
                <a:solidFill>
                  <a:srgbClr val="1A1A1A"/>
                </a:solidFill>
              </a:rPr>
              <a:t>  • Current system: if/else routing to static FAQ pages</a:t>
            </a:r>
          </a:p>
        </p:txBody>
      </p:sp>
      <p:sp>
        <p:nvSpPr>
          <p:cNvPr id="5" name="TextBox 4"/>
          <p:cNvSpPr txBox="1"/>
          <p:nvPr/>
        </p:nvSpPr>
        <p:spPr>
          <a:xfrm>
            <a:off x="6236208" y="1417320"/>
            <a:ext cx="5669280" cy="5029200"/>
          </a:xfrm>
          <a:prstGeom prst="rect">
            <a:avLst/>
          </a:prstGeom>
          <a:noFill/>
        </p:spPr>
        <p:txBody>
          <a:bodyPr wrap="square">
            <a:spAutoFit/>
          </a:bodyPr>
          <a:lstStyle/>
          <a:p>
            <a:r>
              <a:rPr b="1" dirty="0">
                <a:solidFill>
                  <a:srgbClr val="1A1A1A"/>
                </a:solidFill>
              </a:rPr>
              <a:t>8 problems, 8 solutions</a:t>
            </a:r>
          </a:p>
          <a:p>
            <a:r>
              <a:rPr b="1" dirty="0">
                <a:solidFill>
                  <a:srgbClr val="EB1000"/>
                </a:solidFill>
              </a:rPr>
              <a:t>Problem 1 — Basic Chat</a:t>
            </a:r>
          </a:p>
          <a:p>
            <a:r>
              <a:rPr b="0" dirty="0">
                <a:solidFill>
                  <a:srgbClr val="1A1A1A"/>
                </a:solidFill>
              </a:rPr>
              <a:t>  Replace if/else with </a:t>
            </a:r>
            <a:r>
              <a:rPr b="0" dirty="0" err="1">
                <a:solidFill>
                  <a:srgbClr val="1A1A1A"/>
                </a:solidFill>
              </a:rPr>
              <a:t>ChatModel</a:t>
            </a:r>
            <a:r>
              <a:rPr b="0" dirty="0">
                <a:solidFill>
                  <a:srgbClr val="1A1A1A"/>
                </a:solidFill>
              </a:rPr>
              <a:t>()</a:t>
            </a:r>
          </a:p>
          <a:p>
            <a:r>
              <a:rPr b="1" dirty="0">
                <a:solidFill>
                  <a:srgbClr val="EB1000"/>
                </a:solidFill>
              </a:rPr>
              <a:t>Problem 2 — System Message</a:t>
            </a:r>
          </a:p>
          <a:p>
            <a:r>
              <a:rPr b="0" dirty="0">
                <a:solidFill>
                  <a:srgbClr val="1A1A1A"/>
                </a:solidFill>
              </a:rPr>
              <a:t>  Give the AI an identity + constraints</a:t>
            </a:r>
          </a:p>
          <a:p>
            <a:r>
              <a:rPr b="1" dirty="0">
                <a:solidFill>
                  <a:srgbClr val="EB1000"/>
                </a:solidFill>
              </a:rPr>
              <a:t>Problem 3 — Chat Memory</a:t>
            </a:r>
          </a:p>
          <a:p>
            <a:r>
              <a:rPr b="0" dirty="0">
                <a:solidFill>
                  <a:srgbClr val="1A1A1A"/>
                </a:solidFill>
              </a:rPr>
              <a:t>  Remember the customer across turns</a:t>
            </a:r>
          </a:p>
          <a:p>
            <a:r>
              <a:rPr b="1" dirty="0">
                <a:solidFill>
                  <a:srgbClr val="EB1000"/>
                </a:solidFill>
              </a:rPr>
              <a:t>Problem 4 — Function Tools</a:t>
            </a:r>
          </a:p>
          <a:p>
            <a:r>
              <a:rPr b="0" dirty="0">
                <a:solidFill>
                  <a:srgbClr val="1A1A1A"/>
                </a:solidFill>
              </a:rPr>
              <a:t>  Let the AI call real backend functions</a:t>
            </a:r>
          </a:p>
          <a:p>
            <a:r>
              <a:rPr b="1" dirty="0">
                <a:solidFill>
                  <a:srgbClr val="EB1000"/>
                </a:solidFill>
              </a:rPr>
              <a:t>Problem 5 — Guardrails</a:t>
            </a:r>
          </a:p>
          <a:p>
            <a:r>
              <a:rPr b="0" dirty="0">
                <a:solidFill>
                  <a:srgbClr val="1A1A1A"/>
                </a:solidFill>
              </a:rPr>
              <a:t>  Block / redact sensitive AI output</a:t>
            </a:r>
          </a:p>
          <a:p>
            <a:r>
              <a:rPr b="1" dirty="0">
                <a:solidFill>
                  <a:srgbClr val="EB1000"/>
                </a:solidFill>
              </a:rPr>
              <a:t>Problem 6 — MCP</a:t>
            </a:r>
          </a:p>
          <a:p>
            <a:r>
              <a:rPr b="0" dirty="0">
                <a:solidFill>
                  <a:srgbClr val="1A1A1A"/>
                </a:solidFill>
              </a:rPr>
              <a:t>  Plug in external tool servers</a:t>
            </a:r>
          </a:p>
          <a:p>
            <a:r>
              <a:rPr b="1" dirty="0">
                <a:solidFill>
                  <a:srgbClr val="EB1000"/>
                </a:solidFill>
              </a:rPr>
              <a:t>Problem 7 — Streaming</a:t>
            </a:r>
          </a:p>
          <a:p>
            <a:r>
              <a:rPr b="0" dirty="0">
                <a:solidFill>
                  <a:srgbClr val="1A1A1A"/>
                </a:solidFill>
              </a:rPr>
              <a:t>  Show tokens live as the AI responds</a:t>
            </a:r>
          </a:p>
          <a:p>
            <a:r>
              <a:rPr b="1" dirty="0">
                <a:solidFill>
                  <a:srgbClr val="EB1000"/>
                </a:solidFill>
              </a:rPr>
              <a:t>Problem 8 — RAG</a:t>
            </a:r>
          </a:p>
          <a:p>
            <a:r>
              <a:rPr b="0" dirty="0">
                <a:solidFill>
                  <a:srgbClr val="1A1A1A"/>
                </a:solidFill>
              </a:rPr>
              <a:t>  Retrieve only the relevant context</a:t>
            </a:r>
          </a:p>
        </p:txBody>
      </p:sp>
      <p:sp>
        <p:nvSpPr>
          <p:cNvPr id="7" name="TextBox 6"/>
          <p:cNvSpPr txBox="1"/>
          <p:nvPr/>
        </p:nvSpPr>
        <p:spPr>
          <a:xfrm>
            <a:off x="612648" y="3459260"/>
            <a:ext cx="4990710" cy="2670924"/>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Before: 50 lines of rigid keyword matching</a:t>
            </a:r>
          </a:p>
          <a:p>
            <a:pPr>
              <a:lnSpc>
                <a:spcPct val="115000"/>
              </a:lnSpc>
              <a:spcBef>
                <a:spcPts val="0"/>
              </a:spcBef>
            </a:pPr>
            <a:r>
              <a:rPr sz="1300" b="0" dirty="0">
                <a:solidFill>
                  <a:srgbClr val="569CD6"/>
                </a:solidFill>
                <a:latin typeface="Courier New"/>
              </a:rPr>
              <a:t>if</a:t>
            </a:r>
            <a:r>
              <a:rPr sz="1300" b="0" dirty="0">
                <a:solidFill>
                  <a:srgbClr val="D4D4D4"/>
                </a:solidFill>
                <a:latin typeface="Courier New"/>
              </a:rPr>
              <a:t> ( </a:t>
            </a:r>
            <a:r>
              <a:rPr sz="1300" b="0" dirty="0" err="1">
                <a:solidFill>
                  <a:srgbClr val="4EC9B0"/>
                </a:solidFill>
                <a:latin typeface="Courier New"/>
              </a:rPr>
              <a:t>findNoCase</a:t>
            </a:r>
            <a:r>
              <a:rPr sz="1300" b="0" dirty="0">
                <a:solidFill>
                  <a:srgbClr val="D4D4D4"/>
                </a:solidFill>
                <a:latin typeface="Courier New"/>
              </a:rPr>
              <a:t>(</a:t>
            </a:r>
            <a:r>
              <a:rPr sz="1300" b="0" dirty="0">
                <a:solidFill>
                  <a:srgbClr val="CE9178"/>
                </a:solidFill>
                <a:latin typeface="Courier New"/>
              </a:rPr>
              <a:t>"return"</a:t>
            </a:r>
            <a:r>
              <a:rPr sz="1300" b="0" dirty="0">
                <a:solidFill>
                  <a:srgbClr val="D4D4D4"/>
                </a:solidFill>
                <a:latin typeface="Courier New"/>
              </a:rPr>
              <a:t>, </a:t>
            </a:r>
            <a:r>
              <a:rPr sz="1300" b="0" dirty="0">
                <a:solidFill>
                  <a:srgbClr val="9CDCFE"/>
                </a:solidFill>
                <a:latin typeface="Courier New"/>
              </a:rPr>
              <a:t>q</a:t>
            </a:r>
            <a:r>
              <a:rPr sz="1300" b="0" dirty="0">
                <a:solidFill>
                  <a:srgbClr val="D4D4D4"/>
                </a:solidFill>
                <a:latin typeface="Courier New"/>
              </a:rPr>
              <a:t>) ) {</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return</a:t>
            </a:r>
            <a:r>
              <a:rPr sz="1300" b="0" dirty="0">
                <a:solidFill>
                  <a:srgbClr val="D4D4D4"/>
                </a:solidFill>
                <a:latin typeface="Courier New"/>
              </a:rPr>
              <a:t> </a:t>
            </a:r>
            <a:r>
              <a:rPr sz="1300" b="0" dirty="0">
                <a:solidFill>
                  <a:srgbClr val="CE9178"/>
                </a:solidFill>
                <a:latin typeface="Courier New"/>
              </a:rPr>
              <a:t>"30-day return policy."</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else</a:t>
            </a:r>
            <a:r>
              <a:rPr sz="1300" b="0" dirty="0">
                <a:solidFill>
                  <a:srgbClr val="D4D4D4"/>
                </a:solidFill>
                <a:latin typeface="Courier New"/>
              </a:rPr>
              <a:t> </a:t>
            </a:r>
            <a:r>
              <a:rPr sz="1300" b="0" dirty="0">
                <a:solidFill>
                  <a:srgbClr val="569CD6"/>
                </a:solidFill>
                <a:latin typeface="Courier New"/>
              </a:rPr>
              <a:t>if</a:t>
            </a:r>
            <a:r>
              <a:rPr sz="1300" b="0" dirty="0">
                <a:solidFill>
                  <a:srgbClr val="D4D4D4"/>
                </a:solidFill>
                <a:latin typeface="Courier New"/>
              </a:rPr>
              <a:t> ( </a:t>
            </a:r>
            <a:r>
              <a:rPr sz="1300" b="0" dirty="0" err="1">
                <a:solidFill>
                  <a:srgbClr val="4EC9B0"/>
                </a:solidFill>
                <a:latin typeface="Courier New"/>
              </a:rPr>
              <a:t>findNoCase</a:t>
            </a:r>
            <a:r>
              <a:rPr sz="1300" b="0" dirty="0">
                <a:solidFill>
                  <a:srgbClr val="D4D4D4"/>
                </a:solidFill>
                <a:latin typeface="Courier New"/>
              </a:rPr>
              <a:t>(</a:t>
            </a:r>
            <a:r>
              <a:rPr sz="1300" b="0" dirty="0">
                <a:solidFill>
                  <a:srgbClr val="CE9178"/>
                </a:solidFill>
                <a:latin typeface="Courier New"/>
              </a:rPr>
              <a:t>"shipping"</a:t>
            </a:r>
            <a:r>
              <a:rPr sz="1300" b="0" dirty="0">
                <a:solidFill>
                  <a:srgbClr val="D4D4D4"/>
                </a:solidFill>
                <a:latin typeface="Courier New"/>
              </a:rPr>
              <a:t>, </a:t>
            </a:r>
            <a:r>
              <a:rPr sz="1300" b="0" dirty="0">
                <a:solidFill>
                  <a:srgbClr val="9CDCFE"/>
                </a:solidFill>
                <a:latin typeface="Courier New"/>
              </a:rPr>
              <a:t>q</a:t>
            </a:r>
            <a:r>
              <a:rPr sz="1300" b="0" dirty="0">
                <a:solidFill>
                  <a:srgbClr val="D4D4D4"/>
                </a:solidFill>
                <a:latin typeface="Courier New"/>
              </a:rPr>
              <a:t>) ) {</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return</a:t>
            </a:r>
            <a:r>
              <a:rPr sz="1300" b="0" dirty="0">
                <a:solidFill>
                  <a:srgbClr val="D4D4D4"/>
                </a:solidFill>
                <a:latin typeface="Courier New"/>
              </a:rPr>
              <a:t> </a:t>
            </a:r>
            <a:r>
              <a:rPr sz="1300" b="0" dirty="0">
                <a:solidFill>
                  <a:srgbClr val="CE9178"/>
                </a:solidFill>
                <a:latin typeface="Courier New"/>
              </a:rPr>
              <a:t>"3-5 day standard shipping."</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else</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return</a:t>
            </a:r>
            <a:r>
              <a:rPr sz="1300" b="0" dirty="0">
                <a:solidFill>
                  <a:srgbClr val="D4D4D4"/>
                </a:solidFill>
                <a:latin typeface="Courier New"/>
              </a:rPr>
              <a:t> </a:t>
            </a:r>
            <a:r>
              <a:rPr sz="1300" b="0" dirty="0">
                <a:solidFill>
                  <a:srgbClr val="CE9178"/>
                </a:solidFill>
                <a:latin typeface="Courier New"/>
              </a:rPr>
              <a:t>"Contact </a:t>
            </a:r>
            <a:r>
              <a:rPr sz="1300" b="0" dirty="0" err="1">
                <a:solidFill>
                  <a:srgbClr val="CE9178"/>
                </a:solidFill>
                <a:latin typeface="Courier New"/>
              </a:rPr>
              <a:t>support@acmecorp.com</a:t>
            </a:r>
            <a:r>
              <a:rPr sz="1300" b="0" dirty="0">
                <a:solidFill>
                  <a:srgbClr val="CE9178"/>
                </a:solidFill>
                <a:latin typeface="Courier New"/>
              </a:rPr>
              <a: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a:t>
            </a:r>
            <a:endParaRPr lang="en-US" sz="1300" b="0" dirty="0">
              <a:solidFill>
                <a:srgbClr val="D4D4D4"/>
              </a:solidFill>
              <a:latin typeface="Courier New"/>
            </a:endParaRPr>
          </a:p>
          <a:p>
            <a:pPr>
              <a:lnSpc>
                <a:spcPct val="115000"/>
              </a:lnSpc>
              <a:spcBef>
                <a:spcPts val="0"/>
              </a:spcBef>
            </a:pPr>
            <a:r>
              <a:rPr lang="en-US" sz="1300" dirty="0">
                <a:solidFill>
                  <a:srgbClr val="6A9955"/>
                </a:solidFill>
                <a:latin typeface="Courier New"/>
              </a:rPr>
              <a:t>// Fails on: "Can I send it back?" or</a:t>
            </a:r>
          </a:p>
          <a:p>
            <a:pPr>
              <a:lnSpc>
                <a:spcPct val="115000"/>
              </a:lnSpc>
              <a:spcBef>
                <a:spcPts val="0"/>
              </a:spcBef>
            </a:pPr>
            <a:r>
              <a:rPr lang="en-US" sz="1300" dirty="0">
                <a:solidFill>
                  <a:srgbClr val="6A9955"/>
                </a:solidFill>
                <a:latin typeface="Courier New"/>
              </a:rPr>
              <a:t>//   "How long does delivery take?"</a:t>
            </a:r>
          </a:p>
          <a:p>
            <a:pPr>
              <a:lnSpc>
                <a:spcPct val="115000"/>
              </a:lnSpc>
              <a:spcBef>
                <a:spcPts val="0"/>
              </a:spcBef>
            </a:pPr>
            <a:endParaRPr sz="1300" b="0" dirty="0">
              <a:solidFill>
                <a:srgbClr val="D4D4D4"/>
              </a:solidFill>
              <a:latin typeface="Courier New"/>
            </a:endParaRP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dur="indefinite" nodeType="mainSeq">
                <p:childTnLst>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3" grpId="0"/>
      <p:bldP spid="5" grpId="0"/>
      <p:bldP spid="7" grpId="1" animBg="1"/>
      <p:bldP spid="7" grpId="2"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Problem 1 — 50 Lines of Brittle if/else</a:t>
            </a:r>
          </a:p>
        </p:txBody>
      </p:sp>
      <p:sp>
        <p:nvSpPr>
          <p:cNvPr id="3" name="Rectangle 2"/>
          <p:cNvSpPr/>
          <p:nvPr/>
        </p:nvSpPr>
        <p:spPr>
          <a:xfrm>
            <a:off x="612648" y="1417320"/>
            <a:ext cx="11576304" cy="960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536192"/>
            <a:ext cx="11247120" cy="713232"/>
          </a:xfrm>
          <a:prstGeom prst="rect">
            <a:avLst/>
          </a:prstGeom>
          <a:noFill/>
        </p:spPr>
        <p:txBody>
          <a:bodyPr wrap="square">
            <a:spAutoFit/>
          </a:bodyPr>
          <a:lstStyle/>
          <a:p>
            <a:pPr algn="l"/>
            <a:r>
              <a:rPr sz="1500" b="1" i="0">
                <a:solidFill>
                  <a:srgbClr val="FFFFFF"/>
                </a:solidFill>
              </a:rPr>
              <a:t>Problem 1: Nexora's support is 50 lines of keyword if/else that breaks on real questions.</a:t>
            </a:r>
          </a:p>
        </p:txBody>
      </p:sp>
      <p:sp>
        <p:nvSpPr>
          <p:cNvPr id="5" name="TextBox 4"/>
          <p:cNvSpPr txBox="1"/>
          <p:nvPr/>
        </p:nvSpPr>
        <p:spPr>
          <a:xfrm>
            <a:off x="612648" y="2496312"/>
            <a:ext cx="11576304" cy="320040"/>
          </a:xfrm>
          <a:prstGeom prst="rect">
            <a:avLst/>
          </a:prstGeom>
          <a:noFill/>
        </p:spPr>
        <p:txBody>
          <a:bodyPr wrap="square">
            <a:spAutoFit/>
          </a:bodyPr>
          <a:lstStyle/>
          <a:p>
            <a:pPr algn="l"/>
            <a:r>
              <a:rPr sz="1200" b="0" i="1">
                <a:solidFill>
                  <a:srgbClr val="555555"/>
                </a:solidFill>
              </a:rPr>
              <a:t>Real questions the current system can't handle:</a:t>
            </a:r>
          </a:p>
        </p:txBody>
      </p:sp>
      <p:sp>
        <p:nvSpPr>
          <p:cNvPr id="6" name="TextBox 5"/>
          <p:cNvSpPr txBox="1"/>
          <p:nvPr/>
        </p:nvSpPr>
        <p:spPr>
          <a:xfrm>
            <a:off x="612648" y="2898648"/>
            <a:ext cx="11576304" cy="2194560"/>
          </a:xfrm>
          <a:prstGeom prst="rect">
            <a:avLst/>
          </a:prstGeom>
          <a:noFill/>
        </p:spPr>
        <p:txBody>
          <a:bodyPr wrap="square">
            <a:spAutoFit/>
          </a:bodyPr>
          <a:lstStyle/>
          <a:p>
            <a:pPr>
              <a:spcBef>
                <a:spcPts val="300"/>
              </a:spcBef>
            </a:pPr>
            <a:r>
              <a:rPr sz="1150" b="1" dirty="0">
                <a:solidFill>
                  <a:srgbClr val="00788C"/>
                </a:solidFill>
              </a:rPr>
              <a:t>Customer:  </a:t>
            </a:r>
            <a:r>
              <a:rPr sz="1150" dirty="0">
                <a:solidFill>
                  <a:srgbClr val="1A1A1A"/>
                </a:solidFill>
              </a:rPr>
              <a:t>What's your return policy if I bought it as a gift?</a:t>
            </a:r>
          </a:p>
          <a:p>
            <a:pPr>
              <a:spcBef>
                <a:spcPts val="300"/>
              </a:spcBef>
            </a:pPr>
            <a:r>
              <a:rPr sz="1150" b="1" dirty="0">
                <a:solidFill>
                  <a:srgbClr val="EB1000"/>
                </a:solidFill>
              </a:rPr>
              <a:t>System:  </a:t>
            </a:r>
            <a:r>
              <a:rPr sz="1150" dirty="0">
                <a:solidFill>
                  <a:srgbClr val="EB1000"/>
                </a:solidFill>
              </a:rPr>
              <a:t>Contact </a:t>
            </a:r>
            <a:r>
              <a:rPr sz="1150" dirty="0" err="1">
                <a:solidFill>
                  <a:srgbClr val="EB1000"/>
                </a:solidFill>
              </a:rPr>
              <a:t>support@acmecorp.com</a:t>
            </a:r>
            <a:r>
              <a:rPr sz="1150" dirty="0">
                <a:solidFill>
                  <a:srgbClr val="EB1000"/>
                </a:solidFill>
              </a:rPr>
              <a:t>  ❌  keyword "return" hit generic fallback</a:t>
            </a:r>
          </a:p>
          <a:p>
            <a:pPr>
              <a:spcBef>
                <a:spcPts val="300"/>
              </a:spcBef>
            </a:pPr>
            <a:r>
              <a:rPr sz="1150" b="1" dirty="0">
                <a:solidFill>
                  <a:srgbClr val="00788C"/>
                </a:solidFill>
              </a:rPr>
              <a:t>Customer:  </a:t>
            </a:r>
            <a:r>
              <a:rPr sz="1150" dirty="0">
                <a:solidFill>
                  <a:srgbClr val="1A1A1A"/>
                </a:solidFill>
              </a:rPr>
              <a:t>How long until my order ships AND can I change the address?</a:t>
            </a:r>
          </a:p>
          <a:p>
            <a:pPr>
              <a:spcBef>
                <a:spcPts val="300"/>
              </a:spcBef>
            </a:pPr>
            <a:r>
              <a:rPr sz="1150" b="1" dirty="0">
                <a:solidFill>
                  <a:srgbClr val="EB1000"/>
                </a:solidFill>
              </a:rPr>
              <a:t>System:  </a:t>
            </a:r>
            <a:r>
              <a:rPr sz="1150" dirty="0">
                <a:solidFill>
                  <a:srgbClr val="EB1000"/>
                </a:solidFill>
              </a:rPr>
              <a:t>Standard shipping is 3-5 days.  ❌  missed the address-change question entirely</a:t>
            </a:r>
          </a:p>
          <a:p>
            <a:pPr>
              <a:spcBef>
                <a:spcPts val="300"/>
              </a:spcBef>
            </a:pPr>
            <a:r>
              <a:rPr sz="1150" b="1" dirty="0">
                <a:solidFill>
                  <a:srgbClr val="00788C"/>
                </a:solidFill>
              </a:rPr>
              <a:t>Customer:  </a:t>
            </a:r>
            <a:r>
              <a:rPr sz="1150" dirty="0">
                <a:solidFill>
                  <a:srgbClr val="1A1A1A"/>
                </a:solidFill>
              </a:rPr>
              <a:t>I need to cancel — my credit card was charged twice</a:t>
            </a:r>
          </a:p>
          <a:p>
            <a:pPr>
              <a:spcBef>
                <a:spcPts val="300"/>
              </a:spcBef>
            </a:pPr>
            <a:r>
              <a:rPr sz="1150" b="1" dirty="0">
                <a:solidFill>
                  <a:srgbClr val="EB1000"/>
                </a:solidFill>
              </a:rPr>
              <a:t>System:  </a:t>
            </a:r>
            <a:r>
              <a:rPr sz="1150" dirty="0">
                <a:solidFill>
                  <a:srgbClr val="EB1000"/>
                </a:solidFill>
              </a:rPr>
              <a:t>Contact </a:t>
            </a:r>
            <a:r>
              <a:rPr sz="1150" dirty="0" err="1">
                <a:solidFill>
                  <a:srgbClr val="EB1000"/>
                </a:solidFill>
              </a:rPr>
              <a:t>support@acmecorp.com</a:t>
            </a:r>
            <a:r>
              <a:rPr sz="1150" dirty="0">
                <a:solidFill>
                  <a:srgbClr val="EB1000"/>
                </a:solidFill>
              </a:rPr>
              <a:t>  ❌  no keyword matched</a:t>
            </a:r>
          </a:p>
        </p:txBody>
      </p:sp>
      <p:sp>
        <p:nvSpPr>
          <p:cNvPr id="7" name="TextBox 6"/>
          <p:cNvSpPr txBox="1"/>
          <p:nvPr/>
        </p:nvSpPr>
        <p:spPr>
          <a:xfrm>
            <a:off x="612648" y="5193792"/>
            <a:ext cx="11576304" cy="292388"/>
          </a:xfrm>
          <a:prstGeom prst="rect">
            <a:avLst/>
          </a:prstGeom>
          <a:noFill/>
        </p:spPr>
        <p:txBody>
          <a:bodyPr wrap="square">
            <a:spAutoFit/>
          </a:bodyPr>
          <a:lstStyle/>
          <a:p>
            <a:pPr algn="l"/>
            <a:r>
              <a:rPr sz="1300" b="1" i="0" dirty="0">
                <a:solidFill>
                  <a:srgbClr val="107C10"/>
                </a:solidFill>
              </a:rPr>
              <a:t>Solution: Replace 50 lines of if/else with 3 lines of </a:t>
            </a:r>
            <a:r>
              <a:rPr sz="1300" b="1" i="0" dirty="0" err="1">
                <a:solidFill>
                  <a:srgbClr val="107C10"/>
                </a:solidFill>
              </a:rPr>
              <a:t>ChatModel</a:t>
            </a:r>
            <a:r>
              <a:rPr sz="1300" b="1" i="0" dirty="0">
                <a:solidFill>
                  <a:srgbClr val="107C10"/>
                </a:solidFill>
              </a:rPr>
              <a:t>() — the AI handles any phrasing.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t>Problem 1 — Basic Chat with ChatModel</a:t>
            </a:r>
          </a:p>
        </p:txBody>
      </p:sp>
      <p:sp>
        <p:nvSpPr>
          <p:cNvPr id="4" name="TextBox 3"/>
          <p:cNvSpPr txBox="1"/>
          <p:nvPr/>
        </p:nvSpPr>
        <p:spPr>
          <a:xfrm>
            <a:off x="8208578" y="1417320"/>
            <a:ext cx="3742629" cy="4031873"/>
          </a:xfrm>
          <a:prstGeom prst="rect">
            <a:avLst/>
          </a:prstGeom>
          <a:noFill/>
        </p:spPr>
        <p:txBody>
          <a:bodyPr wrap="square">
            <a:spAutoFit/>
          </a:bodyPr>
          <a:lstStyle/>
          <a:p>
            <a:pPr>
              <a:spcBef>
                <a:spcPts val="300"/>
              </a:spcBef>
            </a:pPr>
            <a:r>
              <a:rPr sz="1200" b="1" dirty="0">
                <a:solidFill>
                  <a:srgbClr val="EB1000"/>
                </a:solidFill>
              </a:rPr>
              <a:t>50 lines of if/else  →  3 lines</a:t>
            </a:r>
          </a:p>
          <a:p>
            <a:pPr>
              <a:spcBef>
                <a:spcPts val="300"/>
              </a:spcBef>
            </a:pPr>
            <a:endParaRPr sz="1200" b="1" dirty="0">
              <a:solidFill>
                <a:srgbClr val="EB1000"/>
              </a:solidFill>
            </a:endParaRPr>
          </a:p>
          <a:p>
            <a:pPr>
              <a:spcBef>
                <a:spcPts val="300"/>
              </a:spcBef>
            </a:pPr>
            <a:r>
              <a:rPr b="1" dirty="0">
                <a:solidFill>
                  <a:srgbClr val="EB1000"/>
                </a:solidFill>
              </a:rPr>
              <a:t>What we gained:</a:t>
            </a:r>
          </a:p>
          <a:p>
            <a:pPr>
              <a:spcBef>
                <a:spcPts val="300"/>
              </a:spcBef>
            </a:pPr>
            <a:r>
              <a:rPr dirty="0">
                <a:solidFill>
                  <a:srgbClr val="555555"/>
                </a:solidFill>
              </a:rPr>
              <a:t>  Handles any phrasing of a question</a:t>
            </a:r>
          </a:p>
          <a:p>
            <a:pPr>
              <a:spcBef>
                <a:spcPts val="300"/>
              </a:spcBef>
            </a:pPr>
            <a:r>
              <a:rPr dirty="0">
                <a:solidFill>
                  <a:srgbClr val="555555"/>
                </a:solidFill>
              </a:rPr>
              <a:t>  Answers multi-topic questions</a:t>
            </a:r>
          </a:p>
          <a:p>
            <a:pPr>
              <a:spcBef>
                <a:spcPts val="300"/>
              </a:spcBef>
            </a:pPr>
            <a:r>
              <a:rPr dirty="0">
                <a:solidFill>
                  <a:srgbClr val="555555"/>
                </a:solidFill>
              </a:rPr>
              <a:t>  No code change for new FAQ topics</a:t>
            </a:r>
          </a:p>
          <a:p>
            <a:pPr>
              <a:spcBef>
                <a:spcPts val="300"/>
              </a:spcBef>
            </a:pPr>
            <a:r>
              <a:rPr dirty="0">
                <a:solidFill>
                  <a:srgbClr val="555555"/>
                </a:solidFill>
              </a:rPr>
              <a:t>  Responds in natural language</a:t>
            </a:r>
          </a:p>
          <a:p>
            <a:pPr>
              <a:spcBef>
                <a:spcPts val="300"/>
              </a:spcBef>
            </a:pPr>
            <a:endParaRPr sz="1100" dirty="0">
              <a:solidFill>
                <a:srgbClr val="555555"/>
              </a:solidFill>
            </a:endParaRPr>
          </a:p>
          <a:p>
            <a:pPr>
              <a:spcBef>
                <a:spcPts val="300"/>
              </a:spcBef>
            </a:pPr>
            <a:r>
              <a:rPr b="1" dirty="0">
                <a:solidFill>
                  <a:srgbClr val="EB1000"/>
                </a:solidFill>
              </a:rPr>
              <a:t>What we still need:</a:t>
            </a:r>
          </a:p>
          <a:p>
            <a:pPr>
              <a:spcBef>
                <a:spcPts val="300"/>
              </a:spcBef>
            </a:pPr>
            <a:r>
              <a:rPr dirty="0">
                <a:solidFill>
                  <a:srgbClr val="EB1000"/>
                </a:solidFill>
              </a:rPr>
              <a:t>  ✗</a:t>
            </a:r>
            <a:r>
              <a:rPr lang="en-US" dirty="0">
                <a:solidFill>
                  <a:srgbClr val="EB1000"/>
                </a:solidFill>
              </a:rPr>
              <a:t>  </a:t>
            </a:r>
            <a:r>
              <a:rPr dirty="0">
                <a:solidFill>
                  <a:srgbClr val="EB1000"/>
                </a:solidFill>
              </a:rPr>
              <a:t>AI doesn't know it works for</a:t>
            </a:r>
            <a:r>
              <a:rPr lang="en-US" dirty="0">
                <a:solidFill>
                  <a:srgbClr val="EB1000"/>
                </a:solidFill>
              </a:rPr>
              <a:t>       </a:t>
            </a:r>
            <a:r>
              <a:rPr lang="en-US" dirty="0" err="1">
                <a:solidFill>
                  <a:srgbClr val="EB1000"/>
                </a:solidFill>
              </a:rPr>
              <a:t>Nexora</a:t>
            </a:r>
            <a:endParaRPr dirty="0">
              <a:solidFill>
                <a:srgbClr val="EB1000"/>
              </a:solidFill>
            </a:endParaRPr>
          </a:p>
          <a:p>
            <a:pPr>
              <a:spcBef>
                <a:spcPts val="300"/>
              </a:spcBef>
            </a:pPr>
            <a:r>
              <a:rPr dirty="0">
                <a:solidFill>
                  <a:srgbClr val="EB1000"/>
                </a:solidFill>
              </a:rPr>
              <a:t>  ✗  Will discuss competitors freely</a:t>
            </a:r>
          </a:p>
          <a:p>
            <a:pPr>
              <a:spcBef>
                <a:spcPts val="300"/>
              </a:spcBef>
            </a:pPr>
            <a:r>
              <a:rPr dirty="0">
                <a:solidFill>
                  <a:srgbClr val="EB1000"/>
                </a:solidFill>
              </a:rPr>
              <a:t>  ✗  No memory across turns</a:t>
            </a:r>
          </a:p>
          <a:p>
            <a:pPr>
              <a:spcBef>
                <a:spcPts val="300"/>
              </a:spcBef>
            </a:pPr>
            <a:endParaRPr sz="1100" dirty="0">
              <a:solidFill>
                <a:srgbClr val="EB1000"/>
              </a:solidFill>
            </a:endParaRPr>
          </a:p>
        </p:txBody>
      </p:sp>
      <p:sp>
        <p:nvSpPr>
          <p:cNvPr id="7" name="TextBox 6"/>
          <p:cNvSpPr txBox="1"/>
          <p:nvPr/>
        </p:nvSpPr>
        <p:spPr>
          <a:xfrm>
            <a:off x="612648" y="1216152"/>
            <a:ext cx="7086600" cy="1520609"/>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Before: 50 lines of brittle if/else</a:t>
            </a:r>
          </a:p>
          <a:p>
            <a:pPr>
              <a:lnSpc>
                <a:spcPct val="115000"/>
              </a:lnSpc>
              <a:spcBef>
                <a:spcPts val="0"/>
              </a:spcBef>
            </a:pPr>
            <a:r>
              <a:rPr sz="1300" b="0" dirty="0">
                <a:solidFill>
                  <a:srgbClr val="569CD6"/>
                </a:solidFill>
                <a:latin typeface="Courier New"/>
              </a:rPr>
              <a:t>if</a:t>
            </a:r>
            <a:r>
              <a:rPr sz="1300" b="0" dirty="0">
                <a:solidFill>
                  <a:srgbClr val="D4D4D4"/>
                </a:solidFill>
                <a:latin typeface="Courier New"/>
              </a:rPr>
              <a:t> ( </a:t>
            </a:r>
            <a:r>
              <a:rPr sz="1300" b="0" dirty="0" err="1">
                <a:solidFill>
                  <a:srgbClr val="4EC9B0"/>
                </a:solidFill>
                <a:latin typeface="Courier New"/>
              </a:rPr>
              <a:t>findNoCase</a:t>
            </a:r>
            <a:r>
              <a:rPr sz="1300" b="0" dirty="0">
                <a:solidFill>
                  <a:srgbClr val="D4D4D4"/>
                </a:solidFill>
                <a:latin typeface="Courier New"/>
              </a:rPr>
              <a:t>(</a:t>
            </a:r>
            <a:r>
              <a:rPr sz="1300" b="0" dirty="0">
                <a:solidFill>
                  <a:srgbClr val="CE9178"/>
                </a:solidFill>
                <a:latin typeface="Courier New"/>
              </a:rPr>
              <a:t>"return"</a:t>
            </a:r>
            <a:r>
              <a:rPr sz="1300" b="0" dirty="0">
                <a:solidFill>
                  <a:srgbClr val="D4D4D4"/>
                </a:solidFill>
                <a:latin typeface="Courier New"/>
              </a:rPr>
              <a:t>, </a:t>
            </a:r>
            <a:r>
              <a:rPr sz="1300" b="0" dirty="0">
                <a:solidFill>
                  <a:srgbClr val="9CDCFE"/>
                </a:solidFill>
                <a:latin typeface="Courier New"/>
              </a:rPr>
              <a:t>q</a:t>
            </a:r>
            <a:r>
              <a:rPr sz="1300" b="0" dirty="0">
                <a:solidFill>
                  <a:srgbClr val="D4D4D4"/>
                </a:solidFill>
                <a:latin typeface="Courier New"/>
              </a:rPr>
              <a:t>) ) {</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return</a:t>
            </a:r>
            <a:r>
              <a:rPr sz="1300" b="0" dirty="0">
                <a:solidFill>
                  <a:srgbClr val="D4D4D4"/>
                </a:solidFill>
                <a:latin typeface="Courier New"/>
              </a:rPr>
              <a:t> </a:t>
            </a:r>
            <a:r>
              <a:rPr sz="1300" b="0" dirty="0">
                <a:solidFill>
                  <a:srgbClr val="CE9178"/>
                </a:solidFill>
                <a:latin typeface="Courier New"/>
              </a:rPr>
              <a:t>"30-day policy."</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else</a:t>
            </a:r>
            <a:r>
              <a:rPr sz="1300" b="0" dirty="0">
                <a:solidFill>
                  <a:srgbClr val="D4D4D4"/>
                </a:solidFill>
                <a:latin typeface="Courier New"/>
              </a:rPr>
              <a:t> </a:t>
            </a:r>
            <a:r>
              <a:rPr sz="1300" b="0" dirty="0">
                <a:solidFill>
                  <a:srgbClr val="569CD6"/>
                </a:solidFill>
                <a:latin typeface="Courier New"/>
              </a:rPr>
              <a:t>if</a:t>
            </a:r>
            <a:r>
              <a:rPr sz="1300" b="0" dirty="0">
                <a:solidFill>
                  <a:srgbClr val="D4D4D4"/>
                </a:solidFill>
                <a:latin typeface="Courier New"/>
              </a:rPr>
              <a:t> ( </a:t>
            </a:r>
            <a:r>
              <a:rPr sz="1300" b="0" dirty="0" err="1">
                <a:solidFill>
                  <a:srgbClr val="4EC9B0"/>
                </a:solidFill>
                <a:latin typeface="Courier New"/>
              </a:rPr>
              <a:t>findNoCase</a:t>
            </a:r>
            <a:r>
              <a:rPr sz="1300" b="0" dirty="0">
                <a:solidFill>
                  <a:srgbClr val="D4D4D4"/>
                </a:solidFill>
                <a:latin typeface="Courier New"/>
              </a:rPr>
              <a:t>(</a:t>
            </a:r>
            <a:r>
              <a:rPr sz="1300" b="0" dirty="0">
                <a:solidFill>
                  <a:srgbClr val="CE9178"/>
                </a:solidFill>
                <a:latin typeface="Courier New"/>
              </a:rPr>
              <a:t>"shipping"</a:t>
            </a:r>
            <a:r>
              <a:rPr sz="1300" b="0" dirty="0">
                <a:solidFill>
                  <a:srgbClr val="D4D4D4"/>
                </a:solidFill>
                <a:latin typeface="Courier New"/>
              </a:rPr>
              <a:t>, </a:t>
            </a:r>
            <a:r>
              <a:rPr sz="1300" b="0" dirty="0">
                <a:solidFill>
                  <a:srgbClr val="9CDCFE"/>
                </a:solidFill>
                <a:latin typeface="Courier New"/>
              </a:rPr>
              <a:t>q</a:t>
            </a:r>
            <a:r>
              <a:rPr sz="1300" b="0" dirty="0">
                <a:solidFill>
                  <a:srgbClr val="D4D4D4"/>
                </a:solidFill>
                <a:latin typeface="Courier New"/>
              </a:rPr>
              <a:t>) ) {</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return</a:t>
            </a:r>
            <a:r>
              <a:rPr sz="1300" b="0" dirty="0">
                <a:solidFill>
                  <a:srgbClr val="D4D4D4"/>
                </a:solidFill>
                <a:latin typeface="Courier New"/>
              </a:rPr>
              <a:t> </a:t>
            </a:r>
            <a:r>
              <a:rPr sz="1300" b="0" dirty="0">
                <a:solidFill>
                  <a:srgbClr val="CE9178"/>
                </a:solidFill>
                <a:latin typeface="Courier New"/>
              </a:rPr>
              <a:t>"3-5 day shipping."</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6A9955"/>
                </a:solidFill>
                <a:latin typeface="Courier New"/>
              </a:rPr>
              <a:t>// ... 45 more conditions that still miss queries</a:t>
            </a:r>
          </a:p>
        </p:txBody>
      </p:sp>
      <p:sp>
        <p:nvSpPr>
          <p:cNvPr id="8" name="TextBox 7"/>
          <p:cNvSpPr txBox="1"/>
          <p:nvPr/>
        </p:nvSpPr>
        <p:spPr>
          <a:xfrm>
            <a:off x="609600" y="3080474"/>
            <a:ext cx="7086600" cy="2440861"/>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After: 3 lines replace all of it</a:t>
            </a:r>
          </a:p>
          <a:p>
            <a:pPr>
              <a:lnSpc>
                <a:spcPct val="115000"/>
              </a:lnSpc>
              <a:spcBef>
                <a:spcPts val="0"/>
              </a:spcBef>
            </a:pPr>
            <a:r>
              <a:rPr sz="1300" b="0" dirty="0" err="1">
                <a:solidFill>
                  <a:srgbClr val="9CDCFE"/>
                </a:solidFill>
                <a:latin typeface="Courier New"/>
              </a:rPr>
              <a:t>chatModel</a:t>
            </a:r>
            <a:r>
              <a:rPr sz="1300" b="0" dirty="0">
                <a:solidFill>
                  <a:srgbClr val="D4D4D4"/>
                </a:solidFill>
                <a:latin typeface="Courier New"/>
              </a:rPr>
              <a:t> = </a:t>
            </a:r>
            <a:r>
              <a:rPr sz="1300" b="0" dirty="0" err="1">
                <a:solidFill>
                  <a:srgbClr val="4EC9B0"/>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PROVIDER</a:t>
            </a:r>
            <a:r>
              <a:rPr sz="1300" b="0" dirty="0">
                <a:solidFill>
                  <a:srgbClr val="D4D4D4"/>
                </a:solidFill>
                <a:latin typeface="Courier New"/>
              </a:rPr>
              <a:t>    : </a:t>
            </a:r>
            <a:r>
              <a:rPr sz="1300" b="0" dirty="0">
                <a:solidFill>
                  <a:srgbClr val="CE9178"/>
                </a:solidFill>
                <a:latin typeface="Courier New"/>
              </a:rPr>
              <a:t>"</a:t>
            </a:r>
            <a:r>
              <a:rPr sz="1300" b="0" dirty="0" err="1">
                <a:solidFill>
                  <a:srgbClr val="CE9178"/>
                </a:solidFill>
                <a:latin typeface="Courier New"/>
              </a:rPr>
              <a:t>openai</a:t>
            </a:r>
            <a:r>
              <a:rPr sz="1300" b="0" dirty="0">
                <a:solidFill>
                  <a:srgbClr val="CE9178"/>
                </a:solidFill>
                <a:latin typeface="Courier New"/>
              </a:rPr>
              <a: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APIKEY</a:t>
            </a:r>
            <a:r>
              <a:rPr sz="1300" b="0" dirty="0">
                <a:solidFill>
                  <a:srgbClr val="D4D4D4"/>
                </a:solidFill>
                <a:latin typeface="Courier New"/>
              </a:rPr>
              <a:t>      : </a:t>
            </a:r>
            <a:r>
              <a:rPr sz="1300" b="0" dirty="0" err="1">
                <a:solidFill>
                  <a:srgbClr val="9CDCFE"/>
                </a:solidFill>
                <a:latin typeface="Courier New"/>
              </a:rPr>
              <a:t>application</a:t>
            </a:r>
            <a:r>
              <a:rPr sz="1300" b="0" dirty="0" err="1">
                <a:solidFill>
                  <a:srgbClr val="D4D4D4"/>
                </a:solidFill>
                <a:latin typeface="Courier New"/>
              </a:rPr>
              <a:t>.</a:t>
            </a:r>
            <a:r>
              <a:rPr sz="1300" b="0" dirty="0" err="1">
                <a:solidFill>
                  <a:srgbClr val="9CDCFE"/>
                </a:solidFill>
                <a:latin typeface="Courier New"/>
              </a:rPr>
              <a:t>openaiKey</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MODELNAME</a:t>
            </a:r>
            <a:r>
              <a:rPr sz="1300" b="0" dirty="0">
                <a:solidFill>
                  <a:srgbClr val="D4D4D4"/>
                </a:solidFill>
                <a:latin typeface="Courier New"/>
              </a:rPr>
              <a:t>   : </a:t>
            </a:r>
            <a:r>
              <a:rPr sz="1300" b="0" dirty="0">
                <a:solidFill>
                  <a:srgbClr val="CE9178"/>
                </a:solidFill>
                <a:latin typeface="Courier New"/>
              </a:rPr>
              <a:t>"gpt-4o-mini"</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TEMPERATURE</a:t>
            </a:r>
            <a:r>
              <a:rPr sz="1300" b="0" dirty="0">
                <a:solidFill>
                  <a:srgbClr val="D4D4D4"/>
                </a:solidFill>
                <a:latin typeface="Courier New"/>
              </a:rPr>
              <a:t> : </a:t>
            </a:r>
            <a:r>
              <a:rPr sz="1300" b="0" dirty="0">
                <a:solidFill>
                  <a:srgbClr val="B5CEA8"/>
                </a:solidFill>
                <a:latin typeface="Courier New"/>
              </a:rPr>
              <a:t>0.4</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MAXTOKENS</a:t>
            </a:r>
            <a:r>
              <a:rPr sz="1300" b="0" dirty="0">
                <a:solidFill>
                  <a:srgbClr val="D4D4D4"/>
                </a:solidFill>
                <a:latin typeface="Courier New"/>
              </a:rPr>
              <a:t>   : </a:t>
            </a:r>
            <a:r>
              <a:rPr sz="1300" b="0" dirty="0">
                <a:solidFill>
                  <a:srgbClr val="B5CEA8"/>
                </a:solidFill>
                <a:latin typeface="Courier New"/>
              </a:rPr>
              <a:t>300</a:t>
            </a:r>
          </a:p>
          <a:p>
            <a:pPr>
              <a:lnSpc>
                <a:spcPct val="115000"/>
              </a:lnSpc>
              <a:spcBef>
                <a:spcPts val="0"/>
              </a:spcBef>
            </a:pPr>
            <a:r>
              <a:rPr sz="1300" b="0" dirty="0">
                <a:solidFill>
                  <a:srgbClr val="D4D4D4"/>
                </a:solidFill>
                <a:latin typeface="Courier New"/>
              </a:rPr>
              <a:t>});</a:t>
            </a:r>
          </a:p>
          <a:p>
            <a:pPr>
              <a:lnSpc>
                <a:spcPct val="115000"/>
              </a:lnSpc>
              <a:spcBef>
                <a:spcPts val="0"/>
              </a:spcBef>
            </a:pPr>
            <a:r>
              <a:rPr sz="1300" b="0" dirty="0">
                <a:solidFill>
                  <a:srgbClr val="9CDCFE"/>
                </a:solidFill>
                <a:latin typeface="Courier New"/>
              </a:rPr>
              <a:t>response</a:t>
            </a:r>
            <a:r>
              <a:rPr sz="1300" b="0" dirty="0">
                <a:solidFill>
                  <a:srgbClr val="D4D4D4"/>
                </a:solidFill>
                <a:latin typeface="Courier New"/>
              </a:rPr>
              <a:t> = </a:t>
            </a:r>
            <a:r>
              <a:rPr sz="1300" b="0" dirty="0" err="1">
                <a:solidFill>
                  <a:srgbClr val="9CDCFE"/>
                </a:solidFill>
                <a:latin typeface="Courier New"/>
              </a:rPr>
              <a:t>chatModel</a:t>
            </a:r>
            <a:r>
              <a:rPr sz="1300" b="0" dirty="0" err="1">
                <a:solidFill>
                  <a:srgbClr val="D4D4D4"/>
                </a:solidFill>
                <a:latin typeface="Courier New"/>
              </a:rPr>
              <a:t>.</a:t>
            </a:r>
            <a:r>
              <a:rPr sz="1300" b="0" dirty="0" err="1">
                <a:solidFill>
                  <a:srgbClr val="4EC9B0"/>
                </a:solidFill>
                <a:latin typeface="Courier New"/>
              </a:rPr>
              <a:t>chat</a:t>
            </a:r>
            <a:r>
              <a:rPr sz="1300" b="0" dirty="0">
                <a:solidFill>
                  <a:srgbClr val="D4D4D4"/>
                </a:solidFill>
                <a:latin typeface="Courier New"/>
              </a:rPr>
              <a:t>( </a:t>
            </a:r>
            <a:r>
              <a:rPr sz="1300" b="0" dirty="0">
                <a:solidFill>
                  <a:srgbClr val="9CDCFE"/>
                </a:solidFill>
                <a:latin typeface="Courier New"/>
              </a:rPr>
              <a:t>question</a:t>
            </a:r>
            <a:r>
              <a:rPr sz="1300" b="0" dirty="0">
                <a:solidFill>
                  <a:srgbClr val="D4D4D4"/>
                </a:solidFill>
                <a:latin typeface="Courier New"/>
              </a:rPr>
              <a:t> );</a:t>
            </a:r>
          </a:p>
          <a:p>
            <a:pPr>
              <a:lnSpc>
                <a:spcPct val="115000"/>
              </a:lnSpc>
              <a:spcBef>
                <a:spcPts val="0"/>
              </a:spcBef>
            </a:pPr>
            <a:r>
              <a:rPr sz="1300" b="0" dirty="0">
                <a:solidFill>
                  <a:srgbClr val="9CDCFE"/>
                </a:solidFill>
                <a:latin typeface="Courier New"/>
              </a:rPr>
              <a:t>answer</a:t>
            </a:r>
            <a:r>
              <a:rPr sz="1300" b="0" dirty="0">
                <a:solidFill>
                  <a:srgbClr val="D4D4D4"/>
                </a:solidFill>
                <a:latin typeface="Courier New"/>
              </a:rPr>
              <a:t>   = </a:t>
            </a:r>
            <a:r>
              <a:rPr sz="1300" b="0" dirty="0" err="1">
                <a:solidFill>
                  <a:srgbClr val="9CDCFE"/>
                </a:solidFill>
                <a:latin typeface="Courier New"/>
              </a:rPr>
              <a:t>response</a:t>
            </a:r>
            <a:r>
              <a:rPr sz="1300" b="0" dirty="0" err="1">
                <a:solidFill>
                  <a:srgbClr val="D4D4D4"/>
                </a:solidFill>
                <a:latin typeface="Courier New"/>
              </a:rPr>
              <a:t>.</a:t>
            </a:r>
            <a:r>
              <a:rPr sz="1300" b="0" dirty="0" err="1">
                <a:solidFill>
                  <a:srgbClr val="9CDCFE"/>
                </a:solidFill>
                <a:latin typeface="Courier New"/>
              </a:rPr>
              <a:t>message</a:t>
            </a:r>
            <a:r>
              <a:rPr sz="1300" b="0" dirty="0">
                <a:solidFill>
                  <a:srgbClr val="D4D4D4"/>
                </a:solidFill>
                <a:latin typeface="Courier New"/>
              </a:rPr>
              <a:t>;</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3"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2" animBg="1"/>
      <p:bldP spid="8" grpId="3"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194560"/>
            <a:ext cx="10972800" cy="1188720"/>
          </a:xfrm>
          <a:prstGeom prst="rect">
            <a:avLst/>
          </a:prstGeom>
          <a:noFill/>
        </p:spPr>
        <p:txBody>
          <a:bodyPr wrap="square">
            <a:spAutoFit/>
          </a:bodyPr>
          <a:lstStyle/>
          <a:p>
            <a:pPr algn="ctr"/>
            <a:r>
              <a:rPr sz="4400" b="1" i="0">
                <a:solidFill>
                  <a:srgbClr val="FFFFFF"/>
                </a:solidFill>
              </a:rPr>
              <a:t>🔴  LIVE DEMO</a:t>
            </a:r>
          </a:p>
        </p:txBody>
      </p:sp>
      <p:sp>
        <p:nvSpPr>
          <p:cNvPr id="5" name="TextBox 4"/>
          <p:cNvSpPr txBox="1"/>
          <p:nvPr/>
        </p:nvSpPr>
        <p:spPr>
          <a:xfrm>
            <a:off x="502920" y="3657600"/>
            <a:ext cx="10972800" cy="830997"/>
          </a:xfrm>
          <a:prstGeom prst="rect">
            <a:avLst/>
          </a:prstGeom>
          <a:noFill/>
        </p:spPr>
        <p:txBody>
          <a:bodyPr wrap="square">
            <a:spAutoFit/>
          </a:bodyPr>
          <a:lstStyle/>
          <a:p>
            <a:pPr algn="ctr"/>
            <a:r>
              <a:rPr lang="en-US" sz="2400" b="1" dirty="0">
                <a:solidFill>
                  <a:srgbClr val="CCCCCC"/>
                </a:solidFill>
              </a:rPr>
              <a:t>Basic Chat Model </a:t>
            </a:r>
            <a:r>
              <a:rPr sz="2400" b="1" i="0" dirty="0">
                <a:solidFill>
                  <a:srgbClr val="CCCCCC"/>
                </a:solidFill>
              </a:rPr>
              <a:t>·</a:t>
            </a:r>
            <a:r>
              <a:rPr lang="en-US" sz="2400" b="1" dirty="0">
                <a:solidFill>
                  <a:srgbClr val="CCCCCC"/>
                </a:solidFill>
              </a:rPr>
              <a:t> problem1</a:t>
            </a:r>
            <a:r>
              <a:rPr sz="2400" b="1" i="0" dirty="0">
                <a:solidFill>
                  <a:srgbClr val="CCCCCC"/>
                </a:solidFill>
              </a:rPr>
              <a:t> </a:t>
            </a:r>
            <a:r>
              <a:rPr lang="en-US" sz="2400" b="1" dirty="0">
                <a:solidFill>
                  <a:srgbClr val="CCCCCC"/>
                </a:solidFill>
              </a:rPr>
              <a:t>· Replacing traditional chatbot with AI</a:t>
            </a:r>
          </a:p>
          <a:p>
            <a:pPr algn="ctr"/>
            <a:r>
              <a:rPr lang="en-US" sz="2400" b="1" dirty="0" err="1">
                <a:solidFill>
                  <a:srgbClr val="777777"/>
                </a:solidFill>
              </a:rPr>
              <a:t>modelconfig.cfm</a:t>
            </a:r>
            <a:r>
              <a:rPr lang="en-US" sz="2400" b="1" dirty="0">
                <a:solidFill>
                  <a:srgbClr val="777777"/>
                </a:solidFill>
              </a:rPr>
              <a:t>     </a:t>
            </a:r>
            <a:r>
              <a:rPr lang="en-US" sz="2400" b="1" dirty="0">
                <a:solidFill>
                  <a:srgbClr val="CCCCCC"/>
                </a:solidFill>
              </a:rPr>
              <a:t>· </a:t>
            </a:r>
            <a:r>
              <a:rPr lang="en-US" sz="2400" b="1" dirty="0">
                <a:solidFill>
                  <a:srgbClr val="777777"/>
                </a:solidFill>
              </a:rPr>
              <a:t>   problem1-chatmodel_demo.cfm</a:t>
            </a:r>
            <a:endParaRPr sz="2400" b="1" i="0" dirty="0">
              <a:solidFill>
                <a:srgbClr val="CCCCCC"/>
              </a:solidFill>
            </a:endParaRPr>
          </a:p>
        </p:txBody>
      </p:sp>
      <p:sp>
        <p:nvSpPr>
          <p:cNvPr id="6" name="TextBox 5"/>
          <p:cNvSpPr txBox="1"/>
          <p:nvPr/>
        </p:nvSpPr>
        <p:spPr>
          <a:xfrm>
            <a:off x="502920" y="4315968"/>
            <a:ext cx="10972800" cy="307777"/>
          </a:xfrm>
          <a:prstGeom prst="rect">
            <a:avLst/>
          </a:prstGeom>
          <a:noFill/>
        </p:spPr>
        <p:txBody>
          <a:bodyPr wrap="square">
            <a:spAutoFit/>
          </a:bodyPr>
          <a:lstStyle/>
          <a:p>
            <a:pPr algn="ctr"/>
            <a:r>
              <a:rPr lang="en-US" sz="1400" b="0" i="0" dirty="0">
                <a:solidFill>
                  <a:srgbClr val="777777"/>
                </a:solidFill>
              </a:rPr>
              <a:t>=</a:t>
            </a:r>
            <a:endParaRPr sz="1400" b="0" i="0" dirty="0">
              <a:solidFill>
                <a:srgbClr val="777777"/>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468880"/>
            <a:ext cx="10972800" cy="1371600"/>
          </a:xfrm>
          <a:prstGeom prst="rect">
            <a:avLst/>
          </a:prstGeom>
          <a:noFill/>
        </p:spPr>
        <p:txBody>
          <a:bodyPr wrap="square">
            <a:spAutoFit/>
          </a:bodyPr>
          <a:lstStyle/>
          <a:p>
            <a:pPr algn="l"/>
            <a:r>
              <a:rPr sz="3400" b="1" i="0">
                <a:solidFill>
                  <a:srgbClr val="FFFFFF"/>
                </a:solidFill>
              </a:rPr>
              <a:t>Part 4: agent() &amp; System Messages</a:t>
            </a:r>
          </a:p>
        </p:txBody>
      </p:sp>
      <p:sp>
        <p:nvSpPr>
          <p:cNvPr id="5" name="TextBox 4"/>
          <p:cNvSpPr txBox="1"/>
          <p:nvPr/>
        </p:nvSpPr>
        <p:spPr>
          <a:xfrm>
            <a:off x="502920" y="3931920"/>
            <a:ext cx="10972800" cy="594360"/>
          </a:xfrm>
          <a:prstGeom prst="rect">
            <a:avLst/>
          </a:prstGeom>
          <a:noFill/>
        </p:spPr>
        <p:txBody>
          <a:bodyPr wrap="square">
            <a:spAutoFit/>
          </a:bodyPr>
          <a:lstStyle/>
          <a:p>
            <a:pPr algn="l"/>
            <a:r>
              <a:rPr sz="1600" b="0" i="0">
                <a:solidFill>
                  <a:srgbClr val="AAAAAA"/>
                </a:solidFill>
              </a:rPr>
              <a:t>The intelligent wrapper  ·  Roles  ·  Writing effective prompts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64086"/>
            <a:ext cx="10972800" cy="714110"/>
          </a:xfrm>
        </p:spPr>
        <p:txBody>
          <a:bodyPr/>
          <a:lstStyle/>
          <a:p>
            <a:r>
              <a:rPr sz="2800" b="1" dirty="0"/>
              <a:t>agent() — The Intelligent Wrapper</a:t>
            </a:r>
          </a:p>
        </p:txBody>
      </p:sp>
      <p:sp>
        <p:nvSpPr>
          <p:cNvPr id="4" name="TextBox 3"/>
          <p:cNvSpPr txBox="1"/>
          <p:nvPr/>
        </p:nvSpPr>
        <p:spPr>
          <a:xfrm>
            <a:off x="8723587" y="1030048"/>
            <a:ext cx="3206600" cy="5347618"/>
          </a:xfrm>
          <a:prstGeom prst="rect">
            <a:avLst/>
          </a:prstGeom>
          <a:noFill/>
        </p:spPr>
        <p:txBody>
          <a:bodyPr wrap="square">
            <a:spAutoFit/>
          </a:bodyPr>
          <a:lstStyle/>
          <a:p>
            <a:pPr>
              <a:spcBef>
                <a:spcPts val="300"/>
              </a:spcBef>
            </a:pPr>
            <a:r>
              <a:rPr sz="1600" b="1" dirty="0" err="1">
                <a:solidFill>
                  <a:srgbClr val="EB1000"/>
                </a:solidFill>
              </a:rPr>
              <a:t>ChatModel.chat</a:t>
            </a:r>
            <a:r>
              <a:rPr sz="1600" b="1" dirty="0">
                <a:solidFill>
                  <a:srgbClr val="EB1000"/>
                </a:solidFill>
              </a:rPr>
              <a:t>()</a:t>
            </a:r>
          </a:p>
          <a:p>
            <a:pPr>
              <a:spcBef>
                <a:spcPts val="300"/>
              </a:spcBef>
            </a:pPr>
            <a:r>
              <a:rPr sz="1600" dirty="0">
                <a:solidFill>
                  <a:srgbClr val="555555"/>
                </a:solidFill>
              </a:rPr>
              <a:t>  Single call, stateless</a:t>
            </a:r>
          </a:p>
          <a:p>
            <a:pPr>
              <a:spcBef>
                <a:spcPts val="300"/>
              </a:spcBef>
            </a:pPr>
            <a:r>
              <a:rPr sz="1600" dirty="0">
                <a:solidFill>
                  <a:srgbClr val="555555"/>
                </a:solidFill>
              </a:rPr>
              <a:t>  No system message support</a:t>
            </a:r>
          </a:p>
          <a:p>
            <a:pPr>
              <a:spcBef>
                <a:spcPts val="300"/>
              </a:spcBef>
            </a:pPr>
            <a:r>
              <a:rPr sz="1600" dirty="0">
                <a:solidFill>
                  <a:srgbClr val="555555"/>
                </a:solidFill>
              </a:rPr>
              <a:t>  No memory, no tools</a:t>
            </a:r>
          </a:p>
          <a:p>
            <a:pPr>
              <a:spcBef>
                <a:spcPts val="300"/>
              </a:spcBef>
            </a:pPr>
            <a:r>
              <a:rPr sz="1600" dirty="0">
                <a:solidFill>
                  <a:srgbClr val="555555"/>
                </a:solidFill>
              </a:rPr>
              <a:t>  Lightweight, best for one-shot tasks</a:t>
            </a:r>
          </a:p>
          <a:p>
            <a:pPr>
              <a:spcBef>
                <a:spcPts val="300"/>
              </a:spcBef>
            </a:pPr>
            <a:endParaRPr sz="1600" dirty="0">
              <a:solidFill>
                <a:srgbClr val="555555"/>
              </a:solidFill>
            </a:endParaRPr>
          </a:p>
          <a:p>
            <a:pPr>
              <a:spcBef>
                <a:spcPts val="300"/>
              </a:spcBef>
            </a:pPr>
            <a:r>
              <a:rPr sz="1600" b="1" dirty="0">
                <a:solidFill>
                  <a:srgbClr val="EB1000"/>
                </a:solidFill>
              </a:rPr>
              <a:t>agent().chat()</a:t>
            </a:r>
          </a:p>
          <a:p>
            <a:pPr>
              <a:spcBef>
                <a:spcPts val="300"/>
              </a:spcBef>
            </a:pPr>
            <a:r>
              <a:rPr sz="1600" dirty="0">
                <a:solidFill>
                  <a:srgbClr val="555555"/>
                </a:solidFill>
              </a:rPr>
              <a:t>  Conversation state management</a:t>
            </a:r>
          </a:p>
          <a:p>
            <a:pPr>
              <a:spcBef>
                <a:spcPts val="300"/>
              </a:spcBef>
            </a:pPr>
            <a:r>
              <a:rPr sz="1600" dirty="0">
                <a:solidFill>
                  <a:srgbClr val="555555"/>
                </a:solidFill>
              </a:rPr>
              <a:t>  </a:t>
            </a:r>
            <a:r>
              <a:rPr sz="1600" dirty="0" err="1">
                <a:solidFill>
                  <a:srgbClr val="555555"/>
                </a:solidFill>
              </a:rPr>
              <a:t>systemMessage</a:t>
            </a:r>
            <a:r>
              <a:rPr sz="1600" dirty="0">
                <a:solidFill>
                  <a:srgbClr val="555555"/>
                </a:solidFill>
              </a:rPr>
              <a:t>() — AI identity + rules</a:t>
            </a:r>
          </a:p>
          <a:p>
            <a:pPr>
              <a:spcBef>
                <a:spcPts val="300"/>
              </a:spcBef>
            </a:pPr>
            <a:r>
              <a:rPr sz="1600" dirty="0">
                <a:solidFill>
                  <a:srgbClr val="555555"/>
                </a:solidFill>
              </a:rPr>
              <a:t>  CHATMEMORY — turn history</a:t>
            </a:r>
          </a:p>
          <a:p>
            <a:pPr>
              <a:spcBef>
                <a:spcPts val="300"/>
              </a:spcBef>
            </a:pPr>
            <a:r>
              <a:rPr sz="1600" dirty="0">
                <a:solidFill>
                  <a:srgbClr val="555555"/>
                </a:solidFill>
              </a:rPr>
              <a:t>  TOOLS — call your CFC methods</a:t>
            </a:r>
          </a:p>
          <a:p>
            <a:pPr>
              <a:spcBef>
                <a:spcPts val="300"/>
              </a:spcBef>
            </a:pPr>
            <a:endParaRPr sz="1600" dirty="0">
              <a:solidFill>
                <a:srgbClr val="555555"/>
              </a:solidFill>
            </a:endParaRPr>
          </a:p>
          <a:p>
            <a:pPr>
              <a:spcBef>
                <a:spcPts val="300"/>
              </a:spcBef>
            </a:pPr>
            <a:r>
              <a:rPr sz="1600" b="1" dirty="0">
                <a:solidFill>
                  <a:srgbClr val="EB1000"/>
                </a:solidFill>
              </a:rPr>
              <a:t>Key rule</a:t>
            </a:r>
          </a:p>
          <a:p>
            <a:pPr>
              <a:spcBef>
                <a:spcPts val="300"/>
              </a:spcBef>
            </a:pPr>
            <a:r>
              <a:rPr sz="1600" dirty="0">
                <a:solidFill>
                  <a:srgbClr val="555555"/>
                </a:solidFill>
              </a:rPr>
              <a:t>  agent() always requires CHATMODEL</a:t>
            </a:r>
          </a:p>
          <a:p>
            <a:pPr>
              <a:spcBef>
                <a:spcPts val="300"/>
              </a:spcBef>
            </a:pPr>
            <a:r>
              <a:rPr sz="1600" dirty="0">
                <a:solidFill>
                  <a:srgbClr val="555555"/>
                </a:solidFill>
              </a:rPr>
              <a:t>  Provider / model params → </a:t>
            </a:r>
            <a:r>
              <a:rPr sz="1600" dirty="0" err="1">
                <a:solidFill>
                  <a:srgbClr val="555555"/>
                </a:solidFill>
              </a:rPr>
              <a:t>ChatModel</a:t>
            </a:r>
            <a:endParaRPr sz="1600" dirty="0">
              <a:solidFill>
                <a:srgbClr val="555555"/>
              </a:solidFill>
            </a:endParaRPr>
          </a:p>
          <a:p>
            <a:pPr>
              <a:spcBef>
                <a:spcPts val="300"/>
              </a:spcBef>
            </a:pPr>
            <a:r>
              <a:rPr sz="1600" dirty="0">
                <a:solidFill>
                  <a:srgbClr val="555555"/>
                </a:solidFill>
              </a:rPr>
              <a:t>  Conversation params → agent()</a:t>
            </a:r>
          </a:p>
        </p:txBody>
      </p:sp>
      <p:sp>
        <p:nvSpPr>
          <p:cNvPr id="7" name="TextBox 6"/>
          <p:cNvSpPr txBox="1"/>
          <p:nvPr/>
        </p:nvSpPr>
        <p:spPr>
          <a:xfrm>
            <a:off x="609600" y="1030048"/>
            <a:ext cx="7577958" cy="2028462"/>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1. Minimal — wrap any </a:t>
            </a:r>
            <a:r>
              <a:rPr sz="1300" b="0" dirty="0" err="1">
                <a:solidFill>
                  <a:srgbClr val="6A9955"/>
                </a:solidFill>
                <a:latin typeface="Courier New"/>
              </a:rPr>
              <a:t>ChatModel</a:t>
            </a:r>
            <a:endParaRPr sz="1300" b="0" dirty="0">
              <a:solidFill>
                <a:srgbClr val="6A9955"/>
              </a:solidFill>
              <a:latin typeface="Courier New"/>
            </a:endParaRPr>
          </a:p>
          <a:p>
            <a:pPr>
              <a:lnSpc>
                <a:spcPct val="115000"/>
              </a:lnSpc>
              <a:spcBef>
                <a:spcPts val="0"/>
              </a:spcBef>
            </a:pPr>
            <a:r>
              <a:rPr sz="1300" b="0" dirty="0" err="1">
                <a:solidFill>
                  <a:srgbClr val="9CDCFE"/>
                </a:solidFill>
                <a:latin typeface="Courier New"/>
              </a:rPr>
              <a:t>chatModel</a:t>
            </a:r>
            <a:r>
              <a:rPr sz="1300" b="0" dirty="0">
                <a:solidFill>
                  <a:srgbClr val="D4D4D4"/>
                </a:solidFill>
                <a:latin typeface="Courier New"/>
              </a:rPr>
              <a:t> = </a:t>
            </a:r>
            <a:r>
              <a:rPr sz="1300" b="0" dirty="0" err="1">
                <a:solidFill>
                  <a:srgbClr val="4EC9B0"/>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PROVIDER</a:t>
            </a:r>
            <a:r>
              <a:rPr sz="1300" b="0" dirty="0">
                <a:solidFill>
                  <a:srgbClr val="D4D4D4"/>
                </a:solidFill>
                <a:latin typeface="Courier New"/>
              </a:rPr>
              <a:t> : </a:t>
            </a:r>
            <a:r>
              <a:rPr sz="1300" b="0" dirty="0">
                <a:solidFill>
                  <a:srgbClr val="CE9178"/>
                </a:solidFill>
                <a:latin typeface="Courier New"/>
              </a:rPr>
              <a:t>"</a:t>
            </a:r>
            <a:r>
              <a:rPr sz="1300" b="0" dirty="0" err="1">
                <a:solidFill>
                  <a:srgbClr val="CE9178"/>
                </a:solidFill>
                <a:latin typeface="Courier New"/>
              </a:rPr>
              <a:t>openai</a:t>
            </a:r>
            <a:r>
              <a:rPr sz="1300" b="0" dirty="0">
                <a:solidFill>
                  <a:srgbClr val="CE9178"/>
                </a:solidFill>
                <a:latin typeface="Courier New"/>
              </a:rPr>
              <a: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APIKEY</a:t>
            </a:r>
            <a:r>
              <a:rPr sz="1300" b="0" dirty="0">
                <a:solidFill>
                  <a:srgbClr val="D4D4D4"/>
                </a:solidFill>
                <a:latin typeface="Courier New"/>
              </a:rPr>
              <a:t>   : </a:t>
            </a:r>
            <a:r>
              <a:rPr sz="1300" b="0" dirty="0" err="1">
                <a:solidFill>
                  <a:srgbClr val="9CDCFE"/>
                </a:solidFill>
                <a:latin typeface="Courier New"/>
              </a:rPr>
              <a:t>application</a:t>
            </a:r>
            <a:r>
              <a:rPr sz="1300" b="0" dirty="0" err="1">
                <a:solidFill>
                  <a:srgbClr val="D4D4D4"/>
                </a:solidFill>
                <a:latin typeface="Courier New"/>
              </a:rPr>
              <a:t>.</a:t>
            </a:r>
            <a:r>
              <a:rPr sz="1300" b="0" dirty="0" err="1">
                <a:solidFill>
                  <a:srgbClr val="9CDCFE"/>
                </a:solidFill>
                <a:latin typeface="Courier New"/>
              </a:rPr>
              <a:t>openaiKey</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MODELNAME</a:t>
            </a:r>
            <a:r>
              <a:rPr sz="1300" b="0" dirty="0">
                <a:solidFill>
                  <a:srgbClr val="D4D4D4"/>
                </a:solidFill>
                <a:latin typeface="Courier New"/>
              </a:rPr>
              <a:t>: </a:t>
            </a:r>
            <a:r>
              <a:rPr sz="1300" b="0" dirty="0">
                <a:solidFill>
                  <a:srgbClr val="CE9178"/>
                </a:solidFill>
                <a:latin typeface="Courier New"/>
              </a:rPr>
              <a:t>"gpt-4o-mini"</a:t>
            </a:r>
          </a:p>
          <a:p>
            <a:pPr>
              <a:lnSpc>
                <a:spcPct val="115000"/>
              </a:lnSpc>
              <a:spcBef>
                <a:spcPts val="0"/>
              </a:spcBef>
            </a:pPr>
            <a:r>
              <a:rPr sz="1300" b="0" dirty="0">
                <a:solidFill>
                  <a:srgbClr val="D4D4D4"/>
                </a:solidFill>
                <a:latin typeface="Courier New"/>
              </a:rPr>
              <a:t>});</a:t>
            </a:r>
          </a:p>
          <a:p>
            <a:pPr>
              <a:lnSpc>
                <a:spcPct val="115000"/>
              </a:lnSpc>
              <a:spcBef>
                <a:spcPts val="0"/>
              </a:spcBef>
            </a:pPr>
            <a:r>
              <a:rPr sz="1300" b="0" dirty="0" err="1">
                <a:solidFill>
                  <a:srgbClr val="9CDCFE"/>
                </a:solidFill>
                <a:latin typeface="Courier New"/>
              </a:rPr>
              <a:t>aiAgent</a:t>
            </a:r>
            <a:r>
              <a:rPr sz="1300" b="0" dirty="0">
                <a:solidFill>
                  <a:srgbClr val="D4D4D4"/>
                </a:solidFill>
                <a:latin typeface="Courier New"/>
              </a:rPr>
              <a:t>  = </a:t>
            </a:r>
            <a:r>
              <a:rPr sz="1300" b="0" dirty="0">
                <a:solidFill>
                  <a:srgbClr val="4EC9B0"/>
                </a:solidFill>
                <a:latin typeface="Courier New"/>
              </a:rPr>
              <a:t>agent</a:t>
            </a:r>
            <a:r>
              <a:rPr sz="1300" b="0" dirty="0">
                <a:solidFill>
                  <a:srgbClr val="D4D4D4"/>
                </a:solidFill>
                <a:latin typeface="Courier New"/>
              </a:rPr>
              <a:t>({ </a:t>
            </a:r>
            <a:r>
              <a:rPr sz="1300" b="0" dirty="0">
                <a:solidFill>
                  <a:srgbClr val="9CDCFE"/>
                </a:solidFill>
                <a:latin typeface="Courier New"/>
              </a:rPr>
              <a:t>CHATMODEL</a:t>
            </a:r>
            <a:r>
              <a:rPr sz="1300" b="0" dirty="0">
                <a:solidFill>
                  <a:srgbClr val="D4D4D4"/>
                </a:solidFill>
                <a:latin typeface="Courier New"/>
              </a:rPr>
              <a:t>: </a:t>
            </a:r>
            <a:r>
              <a:rPr sz="1300" b="0" dirty="0" err="1">
                <a:solidFill>
                  <a:srgbClr val="9CDCFE"/>
                </a:solidFill>
                <a:latin typeface="Courier New"/>
              </a:rPr>
              <a:t>chatModel</a:t>
            </a:r>
            <a:r>
              <a:rPr sz="1300" b="0" dirty="0">
                <a:solidFill>
                  <a:srgbClr val="D4D4D4"/>
                </a:solidFill>
                <a:latin typeface="Courier New"/>
              </a:rPr>
              <a:t> });</a:t>
            </a:r>
          </a:p>
          <a:p>
            <a:pPr>
              <a:lnSpc>
                <a:spcPct val="115000"/>
              </a:lnSpc>
              <a:spcBef>
                <a:spcPts val="0"/>
              </a:spcBef>
            </a:pPr>
            <a:r>
              <a:rPr sz="1300" b="0" dirty="0">
                <a:solidFill>
                  <a:srgbClr val="9CDCFE"/>
                </a:solidFill>
                <a:latin typeface="Courier New"/>
              </a:rPr>
              <a:t>response</a:t>
            </a:r>
            <a:r>
              <a:rPr sz="1300" b="0" dirty="0">
                <a:solidFill>
                  <a:srgbClr val="D4D4D4"/>
                </a:solidFill>
                <a:latin typeface="Courier New"/>
              </a:rPr>
              <a:t> = </a:t>
            </a:r>
            <a:r>
              <a:rPr sz="1300" b="0" dirty="0" err="1">
                <a:solidFill>
                  <a:srgbClr val="9CDCFE"/>
                </a:solidFill>
                <a:latin typeface="Courier New"/>
              </a:rPr>
              <a:t>aiAgent</a:t>
            </a:r>
            <a:r>
              <a:rPr sz="1300" b="0" dirty="0" err="1">
                <a:solidFill>
                  <a:srgbClr val="D4D4D4"/>
                </a:solidFill>
                <a:latin typeface="Courier New"/>
              </a:rPr>
              <a:t>.</a:t>
            </a:r>
            <a:r>
              <a:rPr sz="1300" b="0" dirty="0" err="1">
                <a:solidFill>
                  <a:srgbClr val="4EC9B0"/>
                </a:solidFill>
                <a:latin typeface="Courier New"/>
              </a:rPr>
              <a:t>chat</a:t>
            </a:r>
            <a:r>
              <a:rPr sz="1300" b="0" dirty="0">
                <a:solidFill>
                  <a:srgbClr val="D4D4D4"/>
                </a:solidFill>
                <a:latin typeface="Courier New"/>
              </a:rPr>
              <a:t>( </a:t>
            </a:r>
            <a:r>
              <a:rPr sz="1300" b="0" dirty="0">
                <a:solidFill>
                  <a:srgbClr val="CE9178"/>
                </a:solidFill>
                <a:latin typeface="Courier New"/>
              </a:rPr>
              <a:t>"Return policy?"</a:t>
            </a:r>
            <a:r>
              <a:rPr sz="1300" b="0" dirty="0">
                <a:solidFill>
                  <a:srgbClr val="D4D4D4"/>
                </a:solidFill>
                <a:latin typeface="Courier New"/>
              </a:rPr>
              <a:t> );</a:t>
            </a:r>
          </a:p>
        </p:txBody>
      </p:sp>
      <p:sp>
        <p:nvSpPr>
          <p:cNvPr id="8" name="TextBox 7"/>
          <p:cNvSpPr txBox="1"/>
          <p:nvPr/>
        </p:nvSpPr>
        <p:spPr>
          <a:xfrm>
            <a:off x="609599" y="3141444"/>
            <a:ext cx="7577959" cy="1980735"/>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2. Add identity + memory</a:t>
            </a:r>
          </a:p>
          <a:p>
            <a:pPr>
              <a:lnSpc>
                <a:spcPct val="115000"/>
              </a:lnSpc>
              <a:spcBef>
                <a:spcPts val="0"/>
              </a:spcBef>
            </a:pPr>
            <a:r>
              <a:rPr sz="1300" b="0" dirty="0" err="1">
                <a:solidFill>
                  <a:srgbClr val="9CDCFE"/>
                </a:solidFill>
                <a:latin typeface="Courier New"/>
              </a:rPr>
              <a:t>aiAgent</a:t>
            </a:r>
            <a:r>
              <a:rPr sz="1300" b="0" dirty="0">
                <a:solidFill>
                  <a:srgbClr val="D4D4D4"/>
                </a:solidFill>
                <a:latin typeface="Courier New"/>
              </a:rPr>
              <a:t> = </a:t>
            </a:r>
            <a:r>
              <a:rPr sz="1300" b="0" dirty="0">
                <a:solidFill>
                  <a:srgbClr val="4EC9B0"/>
                </a:solidFill>
                <a:latin typeface="Courier New"/>
              </a:rPr>
              <a:t>agent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CHATMODEL</a:t>
            </a:r>
            <a:r>
              <a:rPr sz="1300" b="0" dirty="0">
                <a:solidFill>
                  <a:srgbClr val="D4D4D4"/>
                </a:solidFill>
                <a:latin typeface="Courier New"/>
              </a:rPr>
              <a:t>  : </a:t>
            </a:r>
            <a:r>
              <a:rPr sz="1300" b="0" dirty="0" err="1">
                <a:solidFill>
                  <a:srgbClr val="9CDCFE"/>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CHATMEMORY</a:t>
            </a:r>
            <a:r>
              <a:rPr sz="1300" b="0" dirty="0">
                <a:solidFill>
                  <a:srgbClr val="D4D4D4"/>
                </a:solidFill>
                <a:latin typeface="Courier New"/>
              </a:rPr>
              <a:t> : { </a:t>
            </a:r>
            <a:r>
              <a:rPr sz="1300" b="0" dirty="0">
                <a:solidFill>
                  <a:srgbClr val="9CDCFE"/>
                </a:solidFill>
                <a:latin typeface="Courier New"/>
              </a:rPr>
              <a:t>MAXMESSAGES</a:t>
            </a:r>
            <a:r>
              <a:rPr sz="1300" b="0" dirty="0">
                <a:solidFill>
                  <a:srgbClr val="D4D4D4"/>
                </a:solidFill>
                <a:latin typeface="Courier New"/>
              </a:rPr>
              <a:t>: </a:t>
            </a:r>
            <a:r>
              <a:rPr sz="1300" b="0" dirty="0">
                <a:solidFill>
                  <a:srgbClr val="B5CEA8"/>
                </a:solidFill>
                <a:latin typeface="Courier New"/>
              </a:rPr>
              <a:t>20</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a:t>
            </a:r>
            <a:endParaRPr lang="en-US" sz="1300" b="0" dirty="0">
              <a:solidFill>
                <a:srgbClr val="D4D4D4"/>
              </a:solidFill>
              <a:latin typeface="Courier New"/>
            </a:endParaRPr>
          </a:p>
          <a:p>
            <a:pPr>
              <a:lnSpc>
                <a:spcPct val="115000"/>
              </a:lnSpc>
              <a:spcBef>
                <a:spcPts val="0"/>
              </a:spcBef>
            </a:pPr>
            <a:r>
              <a:rPr sz="1300" b="0" dirty="0" err="1">
                <a:solidFill>
                  <a:srgbClr val="9CDCFE"/>
                </a:solidFill>
                <a:latin typeface="Courier New"/>
              </a:rPr>
              <a:t>aiAgent</a:t>
            </a:r>
            <a:r>
              <a:rPr sz="1300" b="0" dirty="0" err="1">
                <a:solidFill>
                  <a:srgbClr val="D4D4D4"/>
                </a:solidFill>
                <a:latin typeface="Courier New"/>
              </a:rPr>
              <a:t>.</a:t>
            </a:r>
            <a:r>
              <a:rPr sz="1300" b="0" dirty="0" err="1">
                <a:solidFill>
                  <a:srgbClr val="4EC9B0"/>
                </a:solidFill>
                <a:latin typeface="Courier New"/>
              </a:rPr>
              <a:t>systemMessage</a:t>
            </a:r>
            <a:r>
              <a:rPr sz="1300" b="0" dirty="0">
                <a:solidFill>
                  <a:srgbClr val="D4D4D4"/>
                </a:solidFill>
                <a:latin typeface="Courier New"/>
              </a:rPr>
              <a:t>( </a:t>
            </a:r>
            <a:r>
              <a:rPr sz="1300" b="0" dirty="0">
                <a:solidFill>
                  <a:srgbClr val="CE9178"/>
                </a:solidFill>
                <a:latin typeface="Courier New"/>
              </a:rPr>
              <a:t>"You are </a:t>
            </a:r>
            <a:r>
              <a:rPr sz="1300" b="0" dirty="0" err="1">
                <a:solidFill>
                  <a:srgbClr val="CE9178"/>
                </a:solidFill>
                <a:latin typeface="Courier New"/>
              </a:rPr>
              <a:t>Nexora's</a:t>
            </a:r>
            <a:r>
              <a:rPr sz="1300" b="0" dirty="0">
                <a:solidFill>
                  <a:srgbClr val="CE9178"/>
                </a:solidFill>
                <a:latin typeface="Courier New"/>
              </a:rPr>
              <a:t> assistant."</a:t>
            </a:r>
            <a:r>
              <a:rPr sz="1300" b="0" dirty="0">
                <a:solidFill>
                  <a:srgbClr val="D4D4D4"/>
                </a:solidFill>
                <a:latin typeface="Courier New"/>
              </a:rPr>
              <a:t> );</a:t>
            </a:r>
            <a:endParaRPr lang="en-US" sz="1300" b="0" dirty="0">
              <a:solidFill>
                <a:srgbClr val="D4D4D4"/>
              </a:solidFill>
              <a:latin typeface="Courier New"/>
            </a:endParaRPr>
          </a:p>
          <a:p>
            <a:pPr>
              <a:lnSpc>
                <a:spcPct val="115000"/>
              </a:lnSpc>
              <a:spcBef>
                <a:spcPts val="0"/>
              </a:spcBef>
            </a:pPr>
            <a:r>
              <a:rPr lang="en-US" sz="1300" dirty="0" err="1">
                <a:solidFill>
                  <a:srgbClr val="9CDCFE"/>
                </a:solidFill>
                <a:latin typeface="Courier New"/>
              </a:rPr>
              <a:t>aiAgent</a:t>
            </a:r>
            <a:r>
              <a:rPr lang="en-US" sz="1300" dirty="0" err="1">
                <a:solidFill>
                  <a:srgbClr val="D4D4D4"/>
                </a:solidFill>
                <a:latin typeface="Courier New"/>
              </a:rPr>
              <a:t>.</a:t>
            </a:r>
            <a:r>
              <a:rPr lang="en-US" sz="1300" dirty="0" err="1">
                <a:solidFill>
                  <a:srgbClr val="4EC9B0"/>
                </a:solidFill>
                <a:latin typeface="Courier New"/>
              </a:rPr>
              <a:t>chat</a:t>
            </a:r>
            <a:r>
              <a:rPr lang="en-US" sz="1300" dirty="0">
                <a:solidFill>
                  <a:srgbClr val="D4D4D4"/>
                </a:solidFill>
                <a:latin typeface="Courier New"/>
              </a:rPr>
              <a:t>( </a:t>
            </a:r>
            <a:r>
              <a:rPr lang="en-US" sz="1300" dirty="0" err="1">
                <a:solidFill>
                  <a:srgbClr val="4EC9B0"/>
                </a:solidFill>
                <a:latin typeface="Courier New"/>
              </a:rPr>
              <a:t>SystemMessage</a:t>
            </a:r>
            <a:r>
              <a:rPr lang="en-US" sz="1300" dirty="0">
                <a:solidFill>
                  <a:srgbClr val="D4D4D4"/>
                </a:solidFill>
                <a:latin typeface="Courier New"/>
              </a:rPr>
              <a:t> : </a:t>
            </a:r>
            <a:r>
              <a:rPr lang="en-US" sz="1300" dirty="0">
                <a:solidFill>
                  <a:srgbClr val="CE9178"/>
                </a:solidFill>
                <a:latin typeface="Courier New"/>
              </a:rPr>
              <a:t>"You are </a:t>
            </a:r>
            <a:r>
              <a:rPr lang="en-US" sz="1300" dirty="0" err="1">
                <a:solidFill>
                  <a:srgbClr val="CE9178"/>
                </a:solidFill>
                <a:latin typeface="Courier New"/>
              </a:rPr>
              <a:t>Nexora's</a:t>
            </a:r>
            <a:r>
              <a:rPr lang="en-US" sz="1300" dirty="0">
                <a:solidFill>
                  <a:srgbClr val="CE9178"/>
                </a:solidFill>
                <a:latin typeface="Courier New"/>
              </a:rPr>
              <a:t> assistant.”, </a:t>
            </a:r>
            <a:r>
              <a:rPr lang="en-US" sz="1300" dirty="0" err="1">
                <a:solidFill>
                  <a:srgbClr val="4EC9B0"/>
                </a:solidFill>
                <a:latin typeface="Courier New"/>
              </a:rPr>
              <a:t>UserMessage</a:t>
            </a:r>
            <a:r>
              <a:rPr lang="en-US" sz="1300" dirty="0">
                <a:solidFill>
                  <a:srgbClr val="4EC9B0"/>
                </a:solidFill>
                <a:latin typeface="Courier New"/>
              </a:rPr>
              <a:t> </a:t>
            </a:r>
            <a:r>
              <a:rPr lang="en-US" sz="1300" dirty="0">
                <a:solidFill>
                  <a:srgbClr val="CE9178"/>
                </a:solidFill>
                <a:latin typeface="Courier New"/>
              </a:rPr>
              <a:t>:” Return policy?”</a:t>
            </a:r>
            <a:r>
              <a:rPr lang="en-US" sz="1300" dirty="0">
                <a:solidFill>
                  <a:srgbClr val="D4D4D4"/>
                </a:solidFill>
                <a:latin typeface="Courier New"/>
              </a:rPr>
              <a:t> );</a:t>
            </a:r>
            <a:endParaRPr sz="1300" b="0" dirty="0">
              <a:solidFill>
                <a:srgbClr val="D4D4D4"/>
              </a:solidFill>
              <a:latin typeface="Courier New"/>
            </a:endParaRPr>
          </a:p>
        </p:txBody>
      </p:sp>
      <p:sp>
        <p:nvSpPr>
          <p:cNvPr id="9" name="TextBox 8"/>
          <p:cNvSpPr txBox="1"/>
          <p:nvPr/>
        </p:nvSpPr>
        <p:spPr>
          <a:xfrm>
            <a:off x="609599" y="5221758"/>
            <a:ext cx="7577959" cy="1520609"/>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3. Add function tools</a:t>
            </a:r>
          </a:p>
          <a:p>
            <a:pPr>
              <a:lnSpc>
                <a:spcPct val="115000"/>
              </a:lnSpc>
              <a:spcBef>
                <a:spcPts val="0"/>
              </a:spcBef>
            </a:pPr>
            <a:r>
              <a:rPr sz="1300" b="0" dirty="0" err="1">
                <a:solidFill>
                  <a:srgbClr val="9CDCFE"/>
                </a:solidFill>
                <a:latin typeface="Courier New"/>
              </a:rPr>
              <a:t>aiAgent</a:t>
            </a:r>
            <a:r>
              <a:rPr sz="1300" b="0" dirty="0">
                <a:solidFill>
                  <a:srgbClr val="D4D4D4"/>
                </a:solidFill>
                <a:latin typeface="Courier New"/>
              </a:rPr>
              <a:t> = </a:t>
            </a:r>
            <a:r>
              <a:rPr sz="1300" b="0" dirty="0">
                <a:solidFill>
                  <a:srgbClr val="4EC9B0"/>
                </a:solidFill>
                <a:latin typeface="Courier New"/>
              </a:rPr>
              <a:t>agent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CHATMODEL</a:t>
            </a:r>
            <a:r>
              <a:rPr sz="1300" b="0" dirty="0">
                <a:solidFill>
                  <a:srgbClr val="D4D4D4"/>
                </a:solidFill>
                <a:latin typeface="Courier New"/>
              </a:rPr>
              <a:t>  : </a:t>
            </a:r>
            <a:r>
              <a:rPr sz="1300" b="0" dirty="0" err="1">
                <a:solidFill>
                  <a:srgbClr val="9CDCFE"/>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CHATMEMORY</a:t>
            </a:r>
            <a:r>
              <a:rPr sz="1300" b="0" dirty="0">
                <a:solidFill>
                  <a:srgbClr val="D4D4D4"/>
                </a:solidFill>
                <a:latin typeface="Courier New"/>
              </a:rPr>
              <a:t> : { </a:t>
            </a:r>
            <a:r>
              <a:rPr sz="1300" b="0" dirty="0">
                <a:solidFill>
                  <a:srgbClr val="9CDCFE"/>
                </a:solidFill>
                <a:latin typeface="Courier New"/>
              </a:rPr>
              <a:t>MAXMESSAGES</a:t>
            </a:r>
            <a:r>
              <a:rPr sz="1300" b="0" dirty="0">
                <a:solidFill>
                  <a:srgbClr val="D4D4D4"/>
                </a:solidFill>
                <a:latin typeface="Courier New"/>
              </a:rPr>
              <a:t>: </a:t>
            </a:r>
            <a:r>
              <a:rPr sz="1300" b="0" dirty="0">
                <a:solidFill>
                  <a:srgbClr val="B5CEA8"/>
                </a:solidFill>
                <a:latin typeface="Courier New"/>
              </a:rPr>
              <a:t>20</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TOOLS</a:t>
            </a:r>
            <a:r>
              <a:rPr sz="1300" b="0" dirty="0">
                <a:solidFill>
                  <a:srgbClr val="D4D4D4"/>
                </a:solidFill>
                <a:latin typeface="Courier New"/>
              </a:rPr>
              <a:t>      : [ </a:t>
            </a:r>
            <a:r>
              <a:rPr lang="en-US" sz="1300" b="0" dirty="0">
                <a:solidFill>
                  <a:srgbClr val="D4D4D4"/>
                </a:solidFill>
                <a:latin typeface="Courier New"/>
              </a:rPr>
              <a:t>{ CFC :</a:t>
            </a:r>
            <a:r>
              <a:rPr sz="1300" b="0" dirty="0" err="1">
                <a:solidFill>
                  <a:srgbClr val="9CDCFE"/>
                </a:solidFill>
                <a:latin typeface="Courier New"/>
              </a:rPr>
              <a:t>supprtTool</a:t>
            </a:r>
            <a:r>
              <a:rPr sz="1300" b="0" dirty="0">
                <a:solidFill>
                  <a:srgbClr val="D4D4D4"/>
                </a:solidFill>
                <a:latin typeface="Courier New"/>
              </a:rPr>
              <a:t> </a:t>
            </a:r>
            <a:r>
              <a:rPr lang="en-US" sz="1300" b="0" dirty="0">
                <a:solidFill>
                  <a:srgbClr val="D4D4D4"/>
                </a:solidFill>
                <a:latin typeface="Courier New"/>
              </a:rPr>
              <a: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3"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4"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12" end="1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13" end="13"/>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14" end="14"/>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2" animBg="1"/>
      <p:bldP spid="8" grpId="3" animBg="1"/>
      <p:bldP spid="9" grpId="4"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System Message &amp; User Message</a:t>
            </a:r>
          </a:p>
        </p:txBody>
      </p:sp>
      <p:sp>
        <p:nvSpPr>
          <p:cNvPr id="3" name="TextBox 2"/>
          <p:cNvSpPr txBox="1"/>
          <p:nvPr/>
        </p:nvSpPr>
        <p:spPr>
          <a:xfrm>
            <a:off x="612648" y="1417320"/>
            <a:ext cx="5349240" cy="3524042"/>
          </a:xfrm>
          <a:prstGeom prst="rect">
            <a:avLst/>
          </a:prstGeom>
          <a:noFill/>
        </p:spPr>
        <p:txBody>
          <a:bodyPr wrap="square">
            <a:spAutoFit/>
          </a:bodyPr>
          <a:lstStyle/>
          <a:p>
            <a:r>
              <a:rPr sz="1300" b="1" dirty="0">
                <a:solidFill>
                  <a:srgbClr val="1A1A1A"/>
                </a:solidFill>
              </a:rPr>
              <a:t>Two roles in every conversation</a:t>
            </a:r>
          </a:p>
          <a:p>
            <a:pPr>
              <a:spcBef>
                <a:spcPts val="1000"/>
              </a:spcBef>
            </a:pPr>
            <a:r>
              <a:rPr b="1" dirty="0">
                <a:solidFill>
                  <a:srgbClr val="00788C"/>
                </a:solidFill>
              </a:rPr>
              <a:t>SYSTEM  (developer writes this)</a:t>
            </a:r>
          </a:p>
          <a:p>
            <a:pPr>
              <a:spcBef>
                <a:spcPts val="200"/>
              </a:spcBef>
            </a:pPr>
            <a:r>
              <a:rPr dirty="0">
                <a:solidFill>
                  <a:srgbClr val="1A1A1A"/>
                </a:solidFill>
              </a:rPr>
              <a:t>  Your instructions to the AI — its job description.</a:t>
            </a:r>
          </a:p>
          <a:p>
            <a:pPr>
              <a:spcBef>
                <a:spcPts val="200"/>
              </a:spcBef>
            </a:pPr>
            <a:r>
              <a:rPr dirty="0">
                <a:solidFill>
                  <a:srgbClr val="1A1A1A"/>
                </a:solidFill>
              </a:rPr>
              <a:t>  Sets identity, rules, knowledge, constraints.</a:t>
            </a:r>
          </a:p>
          <a:p>
            <a:pPr>
              <a:spcBef>
                <a:spcPts val="200"/>
              </a:spcBef>
            </a:pPr>
            <a:r>
              <a:rPr dirty="0">
                <a:solidFill>
                  <a:srgbClr val="1A1A1A"/>
                </a:solidFill>
              </a:rPr>
              <a:t>  Never shown to the end user.</a:t>
            </a:r>
          </a:p>
          <a:p>
            <a:pPr>
              <a:spcBef>
                <a:spcPts val="200"/>
              </a:spcBef>
            </a:pPr>
            <a:r>
              <a:rPr dirty="0">
                <a:solidFill>
                  <a:srgbClr val="1A1A1A"/>
                </a:solidFill>
              </a:rPr>
              <a:t>  Call </a:t>
            </a:r>
            <a:r>
              <a:rPr dirty="0" err="1">
                <a:solidFill>
                  <a:srgbClr val="1A1A1A"/>
                </a:solidFill>
              </a:rPr>
              <a:t>aiAgent.systemMessage</a:t>
            </a:r>
            <a:r>
              <a:rPr dirty="0">
                <a:solidFill>
                  <a:srgbClr val="1A1A1A"/>
                </a:solidFill>
              </a:rPr>
              <a:t>() once before first .chat().</a:t>
            </a:r>
          </a:p>
          <a:p>
            <a:pPr>
              <a:spcBef>
                <a:spcPts val="1000"/>
              </a:spcBef>
            </a:pPr>
            <a:r>
              <a:rPr b="1" dirty="0">
                <a:solidFill>
                  <a:srgbClr val="EB1000"/>
                </a:solidFill>
              </a:rPr>
              <a:t>USER  (customer writes this)</a:t>
            </a:r>
          </a:p>
          <a:p>
            <a:pPr>
              <a:spcBef>
                <a:spcPts val="200"/>
              </a:spcBef>
            </a:pPr>
            <a:r>
              <a:rPr dirty="0">
                <a:solidFill>
                  <a:srgbClr val="1A1A1A"/>
                </a:solidFill>
              </a:rPr>
              <a:t>  The actual message from the end user.</a:t>
            </a:r>
          </a:p>
          <a:p>
            <a:pPr>
              <a:spcBef>
                <a:spcPts val="200"/>
              </a:spcBef>
            </a:pPr>
            <a:r>
              <a:rPr dirty="0">
                <a:solidFill>
                  <a:srgbClr val="1A1A1A"/>
                </a:solidFill>
              </a:rPr>
              <a:t>  What you pass as argument to .chat().</a:t>
            </a:r>
          </a:p>
          <a:p>
            <a:pPr>
              <a:spcBef>
                <a:spcPts val="200"/>
              </a:spcBef>
            </a:pPr>
            <a:r>
              <a:rPr dirty="0">
                <a:solidFill>
                  <a:srgbClr val="1A1A1A"/>
                </a:solidFill>
              </a:rPr>
              <a:t>  AI sees system message + all user messages.</a:t>
            </a:r>
          </a:p>
          <a:p>
            <a:pPr>
              <a:spcBef>
                <a:spcPts val="200"/>
              </a:spcBef>
            </a:pPr>
            <a:r>
              <a:rPr dirty="0">
                <a:solidFill>
                  <a:srgbClr val="1A1A1A"/>
                </a:solidFill>
              </a:rPr>
              <a:t>  Each .chat() call adds one USER turn.</a:t>
            </a:r>
          </a:p>
        </p:txBody>
      </p:sp>
      <p:sp>
        <p:nvSpPr>
          <p:cNvPr id="4" name="Rectangle 3"/>
          <p:cNvSpPr/>
          <p:nvPr/>
        </p:nvSpPr>
        <p:spPr>
          <a:xfrm>
            <a:off x="6230114" y="1417319"/>
            <a:ext cx="5675374" cy="5070391"/>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373368" y="1508760"/>
            <a:ext cx="5440680" cy="329184"/>
          </a:xfrm>
          <a:prstGeom prst="rect">
            <a:avLst/>
          </a:prstGeom>
          <a:noFill/>
        </p:spPr>
        <p:txBody>
          <a:bodyPr wrap="square">
            <a:spAutoFit/>
          </a:bodyPr>
          <a:lstStyle/>
          <a:p>
            <a:pPr algn="l"/>
            <a:r>
              <a:rPr sz="1200" b="1" i="0" dirty="0">
                <a:solidFill>
                  <a:srgbClr val="1A1A1A"/>
                </a:solidFill>
              </a:rPr>
              <a:t>Writing effective system messages:</a:t>
            </a:r>
          </a:p>
        </p:txBody>
      </p:sp>
      <p:sp>
        <p:nvSpPr>
          <p:cNvPr id="6" name="TextBox 5"/>
          <p:cNvSpPr txBox="1"/>
          <p:nvPr/>
        </p:nvSpPr>
        <p:spPr>
          <a:xfrm>
            <a:off x="6373368" y="1901952"/>
            <a:ext cx="5440680" cy="4521751"/>
          </a:xfrm>
          <a:prstGeom prst="rect">
            <a:avLst/>
          </a:prstGeom>
          <a:noFill/>
        </p:spPr>
        <p:txBody>
          <a:bodyPr wrap="square">
            <a:spAutoFit/>
          </a:bodyPr>
          <a:lstStyle/>
          <a:p>
            <a:pPr>
              <a:spcBef>
                <a:spcPts val="600"/>
              </a:spcBef>
            </a:pPr>
            <a:r>
              <a:rPr b="1" dirty="0">
                <a:solidFill>
                  <a:srgbClr val="00788C"/>
                </a:solidFill>
              </a:rPr>
              <a:t>Define identity  </a:t>
            </a:r>
          </a:p>
          <a:p>
            <a:pPr>
              <a:spcBef>
                <a:spcPts val="100"/>
              </a:spcBef>
            </a:pPr>
            <a:r>
              <a:rPr i="1" dirty="0">
                <a:solidFill>
                  <a:srgbClr val="555555"/>
                </a:solidFill>
              </a:rPr>
              <a:t>  "You are </a:t>
            </a:r>
            <a:r>
              <a:rPr i="1" dirty="0" err="1">
                <a:solidFill>
                  <a:srgbClr val="555555"/>
                </a:solidFill>
              </a:rPr>
              <a:t>Nexora's</a:t>
            </a:r>
            <a:r>
              <a:rPr i="1" dirty="0">
                <a:solidFill>
                  <a:srgbClr val="555555"/>
                </a:solidFill>
              </a:rPr>
              <a:t> customer support assistant"</a:t>
            </a:r>
          </a:p>
          <a:p>
            <a:pPr>
              <a:spcBef>
                <a:spcPts val="600"/>
              </a:spcBef>
            </a:pPr>
            <a:r>
              <a:rPr b="1" dirty="0">
                <a:solidFill>
                  <a:srgbClr val="00788C"/>
                </a:solidFill>
              </a:rPr>
              <a:t>Scope topics  </a:t>
            </a:r>
          </a:p>
          <a:p>
            <a:pPr>
              <a:spcBef>
                <a:spcPts val="100"/>
              </a:spcBef>
            </a:pPr>
            <a:r>
              <a:rPr i="1" dirty="0">
                <a:solidFill>
                  <a:srgbClr val="555555"/>
                </a:solidFill>
              </a:rPr>
              <a:t>  "You help with: orders, returns, shipping, products"</a:t>
            </a:r>
          </a:p>
          <a:p>
            <a:pPr>
              <a:spcBef>
                <a:spcPts val="600"/>
              </a:spcBef>
            </a:pPr>
            <a:r>
              <a:rPr b="1" dirty="0">
                <a:solidFill>
                  <a:srgbClr val="00788C"/>
                </a:solidFill>
              </a:rPr>
              <a:t>State key policies  </a:t>
            </a:r>
          </a:p>
          <a:p>
            <a:pPr>
              <a:spcBef>
                <a:spcPts val="100"/>
              </a:spcBef>
            </a:pPr>
            <a:r>
              <a:rPr i="1" dirty="0">
                <a:solidFill>
                  <a:srgbClr val="555555"/>
                </a:solidFill>
              </a:rPr>
              <a:t>  "Return: 30 days full refund. Shipping: 3-5 days"</a:t>
            </a:r>
          </a:p>
          <a:p>
            <a:pPr>
              <a:spcBef>
                <a:spcPts val="600"/>
              </a:spcBef>
            </a:pPr>
            <a:r>
              <a:rPr b="1" dirty="0">
                <a:solidFill>
                  <a:srgbClr val="00788C"/>
                </a:solidFill>
              </a:rPr>
              <a:t>Set tone  </a:t>
            </a:r>
          </a:p>
          <a:p>
            <a:pPr>
              <a:spcBef>
                <a:spcPts val="100"/>
              </a:spcBef>
            </a:pPr>
            <a:r>
              <a:rPr i="1" dirty="0">
                <a:solidFill>
                  <a:srgbClr val="555555"/>
                </a:solidFill>
              </a:rPr>
              <a:t>  "Professional, empathetic, under 3 sentences"</a:t>
            </a:r>
          </a:p>
          <a:p>
            <a:pPr>
              <a:spcBef>
                <a:spcPts val="600"/>
              </a:spcBef>
            </a:pPr>
            <a:r>
              <a:rPr b="1" dirty="0">
                <a:solidFill>
                  <a:srgbClr val="00788C"/>
                </a:solidFill>
              </a:rPr>
              <a:t>Hard constraints  </a:t>
            </a:r>
          </a:p>
          <a:p>
            <a:pPr>
              <a:spcBef>
                <a:spcPts val="100"/>
              </a:spcBef>
            </a:pPr>
            <a:r>
              <a:rPr i="1" dirty="0">
                <a:solidFill>
                  <a:srgbClr val="555555"/>
                </a:solidFill>
              </a:rPr>
              <a:t>  "If asked about competitors: decline politely"</a:t>
            </a:r>
          </a:p>
          <a:p>
            <a:pPr>
              <a:spcBef>
                <a:spcPts val="600"/>
              </a:spcBef>
            </a:pPr>
            <a:r>
              <a:rPr b="1" dirty="0">
                <a:solidFill>
                  <a:srgbClr val="00788C"/>
                </a:solidFill>
              </a:rPr>
              <a:t>Off-topic fallback  </a:t>
            </a:r>
          </a:p>
          <a:p>
            <a:pPr>
              <a:spcBef>
                <a:spcPts val="100"/>
              </a:spcBef>
            </a:pPr>
            <a:r>
              <a:rPr i="1" dirty="0">
                <a:solidFill>
                  <a:srgbClr val="555555"/>
                </a:solidFill>
              </a:rPr>
              <a:t>  "If unrelated: redirect to support topics"</a:t>
            </a:r>
          </a:p>
          <a:p>
            <a:pPr>
              <a:spcBef>
                <a:spcPts val="600"/>
              </a:spcBef>
            </a:pPr>
            <a:r>
              <a:rPr b="1" dirty="0">
                <a:solidFill>
                  <a:srgbClr val="00788C"/>
                </a:solidFill>
              </a:rPr>
              <a:t>Escalation path  </a:t>
            </a:r>
          </a:p>
          <a:p>
            <a:pPr>
              <a:spcBef>
                <a:spcPts val="100"/>
              </a:spcBef>
            </a:pPr>
            <a:r>
              <a:rPr i="1" dirty="0">
                <a:solidFill>
                  <a:srgbClr val="555555"/>
                </a:solidFill>
              </a:rPr>
              <a:t>  "If unsure: offer to connect to a human agent"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Problem 2 — The AI Has No Identity</a:t>
            </a:r>
          </a:p>
        </p:txBody>
      </p:sp>
      <p:sp>
        <p:nvSpPr>
          <p:cNvPr id="3" name="Rectangle 2"/>
          <p:cNvSpPr/>
          <p:nvPr/>
        </p:nvSpPr>
        <p:spPr>
          <a:xfrm>
            <a:off x="612648" y="1417320"/>
            <a:ext cx="11576304" cy="960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536192"/>
            <a:ext cx="11247120" cy="713232"/>
          </a:xfrm>
          <a:prstGeom prst="rect">
            <a:avLst/>
          </a:prstGeom>
          <a:noFill/>
        </p:spPr>
        <p:txBody>
          <a:bodyPr wrap="square">
            <a:spAutoFit/>
          </a:bodyPr>
          <a:lstStyle/>
          <a:p>
            <a:pPr algn="l"/>
            <a:r>
              <a:rPr sz="1500" b="1" i="0">
                <a:solidFill>
                  <a:srgbClr val="FFFFFF"/>
                </a:solidFill>
              </a:rPr>
              <a:t>Problem 2: The AI is a helpful generalist — it doesn't know it works for Nexora.</a:t>
            </a:r>
          </a:p>
        </p:txBody>
      </p:sp>
      <p:sp>
        <p:nvSpPr>
          <p:cNvPr id="6" name="TextBox 5"/>
          <p:cNvSpPr txBox="1"/>
          <p:nvPr/>
        </p:nvSpPr>
        <p:spPr>
          <a:xfrm>
            <a:off x="612648" y="2898648"/>
            <a:ext cx="11576304" cy="1946687"/>
          </a:xfrm>
          <a:prstGeom prst="rect">
            <a:avLst/>
          </a:prstGeom>
          <a:noFill/>
        </p:spPr>
        <p:txBody>
          <a:bodyPr wrap="square">
            <a:spAutoFit/>
          </a:bodyPr>
          <a:lstStyle/>
          <a:p>
            <a:pPr>
              <a:spcBef>
                <a:spcPts val="300"/>
              </a:spcBef>
            </a:pPr>
            <a:r>
              <a:rPr b="1" dirty="0">
                <a:solidFill>
                  <a:srgbClr val="00788C"/>
                </a:solidFill>
              </a:rPr>
              <a:t>Customer:  </a:t>
            </a:r>
            <a:r>
              <a:rPr dirty="0">
                <a:solidFill>
                  <a:srgbClr val="1A1A1A"/>
                </a:solidFill>
              </a:rPr>
              <a:t>What do you think of Amazon's return policy?</a:t>
            </a:r>
          </a:p>
          <a:p>
            <a:pPr>
              <a:spcBef>
                <a:spcPts val="300"/>
              </a:spcBef>
            </a:pPr>
            <a:r>
              <a:rPr b="1" dirty="0">
                <a:solidFill>
                  <a:srgbClr val="EB1000"/>
                </a:solidFill>
              </a:rPr>
              <a:t>AI:  </a:t>
            </a:r>
            <a:r>
              <a:rPr dirty="0">
                <a:solidFill>
                  <a:srgbClr val="EB1000"/>
                </a:solidFill>
              </a:rPr>
              <a:t>Amazon has a great 30-day return policy, often with free returns...  ❌  discussing a competitor</a:t>
            </a:r>
          </a:p>
          <a:p>
            <a:pPr>
              <a:spcBef>
                <a:spcPts val="300"/>
              </a:spcBef>
            </a:pPr>
            <a:r>
              <a:rPr b="1" dirty="0">
                <a:solidFill>
                  <a:srgbClr val="00788C"/>
                </a:solidFill>
              </a:rPr>
              <a:t>Customer:  </a:t>
            </a:r>
            <a:r>
              <a:rPr dirty="0">
                <a:solidFill>
                  <a:srgbClr val="1A1A1A"/>
                </a:solidFill>
              </a:rPr>
              <a:t>Write me a poem about my dog.</a:t>
            </a:r>
          </a:p>
          <a:p>
            <a:pPr>
              <a:spcBef>
                <a:spcPts val="300"/>
              </a:spcBef>
            </a:pPr>
            <a:r>
              <a:rPr b="1" dirty="0">
                <a:solidFill>
                  <a:srgbClr val="EB1000"/>
                </a:solidFill>
              </a:rPr>
              <a:t>AI:  </a:t>
            </a:r>
            <a:r>
              <a:rPr dirty="0">
                <a:solidFill>
                  <a:srgbClr val="EB1000"/>
                </a:solidFill>
              </a:rPr>
              <a:t>Sure! Fluffy the golden retriever runs through the park...  ❌  completely off-topic</a:t>
            </a:r>
          </a:p>
          <a:p>
            <a:pPr>
              <a:spcBef>
                <a:spcPts val="300"/>
              </a:spcBef>
            </a:pPr>
            <a:r>
              <a:rPr b="1" dirty="0">
                <a:solidFill>
                  <a:srgbClr val="00788C"/>
                </a:solidFill>
              </a:rPr>
              <a:t>Customer:  </a:t>
            </a:r>
            <a:r>
              <a:rPr dirty="0">
                <a:solidFill>
                  <a:srgbClr val="1A1A1A"/>
                </a:solidFill>
              </a:rPr>
              <a:t>What's your return policy?</a:t>
            </a:r>
          </a:p>
          <a:p>
            <a:pPr>
              <a:spcBef>
                <a:spcPts val="300"/>
              </a:spcBef>
            </a:pPr>
            <a:r>
              <a:rPr b="1" dirty="0">
                <a:solidFill>
                  <a:srgbClr val="EB1000"/>
                </a:solidFill>
              </a:rPr>
              <a:t>AI:  </a:t>
            </a:r>
            <a:r>
              <a:rPr dirty="0">
                <a:solidFill>
                  <a:srgbClr val="EB1000"/>
                </a:solidFill>
              </a:rPr>
              <a:t>I'm not sure which company you're asking about. Could you clarify?  ❌  doesn't know it's Acme</a:t>
            </a:r>
          </a:p>
        </p:txBody>
      </p:sp>
      <p:sp>
        <p:nvSpPr>
          <p:cNvPr id="7" name="TextBox 6"/>
          <p:cNvSpPr txBox="1"/>
          <p:nvPr/>
        </p:nvSpPr>
        <p:spPr>
          <a:xfrm>
            <a:off x="612648" y="5193792"/>
            <a:ext cx="11576304" cy="369332"/>
          </a:xfrm>
          <a:prstGeom prst="rect">
            <a:avLst/>
          </a:prstGeom>
          <a:noFill/>
        </p:spPr>
        <p:txBody>
          <a:bodyPr wrap="square">
            <a:spAutoFit/>
          </a:bodyPr>
          <a:lstStyle/>
          <a:p>
            <a:pPr algn="l"/>
            <a:r>
              <a:rPr b="1" i="0" dirty="0">
                <a:solidFill>
                  <a:srgbClr val="107C10"/>
                </a:solidFill>
              </a:rPr>
              <a:t>Solution: Wrap in agent() and call </a:t>
            </a:r>
            <a:r>
              <a:rPr b="1" i="0" dirty="0" err="1">
                <a:solidFill>
                  <a:srgbClr val="107C10"/>
                </a:solidFill>
              </a:rPr>
              <a:t>systemMessage</a:t>
            </a:r>
            <a:r>
              <a:rPr b="1" i="0" dirty="0">
                <a:solidFill>
                  <a:srgbClr val="107C10"/>
                </a:solidFill>
              </a:rPr>
              <a:t>() to give the AI its job description.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6959"/>
            <a:ext cx="10972800" cy="637954"/>
          </a:xfrm>
        </p:spPr>
        <p:txBody>
          <a:bodyPr/>
          <a:lstStyle/>
          <a:p>
            <a:r>
              <a:rPr sz="2500" b="1" dirty="0"/>
              <a:t>Problem 2 — Solution: Add a System Message</a:t>
            </a:r>
          </a:p>
        </p:txBody>
      </p:sp>
      <p:sp>
        <p:nvSpPr>
          <p:cNvPr id="4" name="TextBox 3"/>
          <p:cNvSpPr txBox="1"/>
          <p:nvPr/>
        </p:nvSpPr>
        <p:spPr>
          <a:xfrm>
            <a:off x="8122724" y="1216153"/>
            <a:ext cx="3769108" cy="5137859"/>
          </a:xfrm>
          <a:prstGeom prst="rect">
            <a:avLst/>
          </a:prstGeom>
          <a:noFill/>
        </p:spPr>
        <p:txBody>
          <a:bodyPr wrap="square">
            <a:spAutoFit/>
          </a:bodyPr>
          <a:lstStyle/>
          <a:p>
            <a:pPr>
              <a:spcBef>
                <a:spcPts val="300"/>
              </a:spcBef>
            </a:pPr>
            <a:r>
              <a:rPr b="1" dirty="0">
                <a:solidFill>
                  <a:srgbClr val="EB1000"/>
                </a:solidFill>
              </a:rPr>
              <a:t>What changed:</a:t>
            </a:r>
          </a:p>
          <a:p>
            <a:pPr>
              <a:spcBef>
                <a:spcPts val="300"/>
              </a:spcBef>
            </a:pPr>
            <a:r>
              <a:rPr dirty="0">
                <a:solidFill>
                  <a:srgbClr val="555555"/>
                </a:solidFill>
              </a:rPr>
              <a:t>  </a:t>
            </a:r>
            <a:r>
              <a:rPr dirty="0" err="1">
                <a:solidFill>
                  <a:srgbClr val="555555"/>
                </a:solidFill>
              </a:rPr>
              <a:t>ChatModel</a:t>
            </a:r>
            <a:r>
              <a:rPr dirty="0">
                <a:solidFill>
                  <a:srgbClr val="555555"/>
                </a:solidFill>
              </a:rPr>
              <a:t> wrapped in agent()</a:t>
            </a:r>
          </a:p>
          <a:p>
            <a:pPr>
              <a:spcBef>
                <a:spcPts val="300"/>
              </a:spcBef>
            </a:pPr>
            <a:r>
              <a:rPr dirty="0">
                <a:solidFill>
                  <a:srgbClr val="555555"/>
                </a:solidFill>
              </a:rPr>
              <a:t>  </a:t>
            </a:r>
            <a:r>
              <a:rPr dirty="0" err="1">
                <a:solidFill>
                  <a:srgbClr val="555555"/>
                </a:solidFill>
              </a:rPr>
              <a:t>systemMessage</a:t>
            </a:r>
            <a:r>
              <a:rPr dirty="0">
                <a:solidFill>
                  <a:srgbClr val="555555"/>
                </a:solidFill>
              </a:rPr>
              <a:t>() called before .chat()</a:t>
            </a:r>
          </a:p>
          <a:p>
            <a:pPr>
              <a:spcBef>
                <a:spcPts val="300"/>
              </a:spcBef>
            </a:pPr>
            <a:endParaRPr dirty="0">
              <a:solidFill>
                <a:srgbClr val="555555"/>
              </a:solidFill>
            </a:endParaRPr>
          </a:p>
          <a:p>
            <a:pPr>
              <a:spcBef>
                <a:spcPts val="300"/>
              </a:spcBef>
            </a:pPr>
            <a:r>
              <a:rPr b="1" dirty="0">
                <a:solidFill>
                  <a:srgbClr val="EB1000"/>
                </a:solidFill>
              </a:rPr>
              <a:t>Same 3 questions — now correct:</a:t>
            </a:r>
          </a:p>
          <a:p>
            <a:pPr>
              <a:spcBef>
                <a:spcPts val="300"/>
              </a:spcBef>
            </a:pPr>
            <a:r>
              <a:rPr b="1" dirty="0">
                <a:solidFill>
                  <a:srgbClr val="EB1000"/>
                </a:solidFill>
              </a:rPr>
              <a:t>"What's your return policy?"</a:t>
            </a:r>
          </a:p>
          <a:p>
            <a:pPr>
              <a:spcBef>
                <a:spcPts val="300"/>
              </a:spcBef>
            </a:pPr>
            <a:r>
              <a:rPr dirty="0">
                <a:solidFill>
                  <a:srgbClr val="107C10"/>
                </a:solidFill>
              </a:rPr>
              <a:t>  → "30-day full refund"  ✓</a:t>
            </a:r>
          </a:p>
          <a:p>
            <a:pPr>
              <a:spcBef>
                <a:spcPts val="300"/>
              </a:spcBef>
            </a:pPr>
            <a:r>
              <a:rPr b="1" dirty="0">
                <a:solidFill>
                  <a:srgbClr val="EB1000"/>
                </a:solidFill>
              </a:rPr>
              <a:t>"Tell me about Amazon"</a:t>
            </a:r>
          </a:p>
          <a:p>
            <a:pPr>
              <a:spcBef>
                <a:spcPts val="300"/>
              </a:spcBef>
            </a:pPr>
            <a:r>
              <a:rPr dirty="0">
                <a:solidFill>
                  <a:srgbClr val="107C10"/>
                </a:solidFill>
              </a:rPr>
              <a:t>  → "I can only help with </a:t>
            </a:r>
            <a:r>
              <a:rPr lang="en-US" dirty="0" err="1">
                <a:solidFill>
                  <a:srgbClr val="107C10"/>
                </a:solidFill>
              </a:rPr>
              <a:t>Nexora</a:t>
            </a:r>
            <a:r>
              <a:rPr dirty="0">
                <a:solidFill>
                  <a:srgbClr val="107C10"/>
                </a:solidFill>
              </a:rPr>
              <a:t>.."  ✓</a:t>
            </a:r>
          </a:p>
          <a:p>
            <a:pPr>
              <a:spcBef>
                <a:spcPts val="300"/>
              </a:spcBef>
            </a:pPr>
            <a:r>
              <a:rPr b="1" dirty="0">
                <a:solidFill>
                  <a:srgbClr val="EB1000"/>
                </a:solidFill>
              </a:rPr>
              <a:t>"Write me a poem"</a:t>
            </a:r>
          </a:p>
          <a:p>
            <a:pPr>
              <a:spcBef>
                <a:spcPts val="300"/>
              </a:spcBef>
            </a:pPr>
            <a:r>
              <a:rPr dirty="0">
                <a:solidFill>
                  <a:srgbClr val="107C10"/>
                </a:solidFill>
              </a:rPr>
              <a:t>  → "I'm here for support topics..."  ✓</a:t>
            </a:r>
          </a:p>
          <a:p>
            <a:pPr>
              <a:spcBef>
                <a:spcPts val="300"/>
              </a:spcBef>
            </a:pPr>
            <a:endParaRPr dirty="0">
              <a:solidFill>
                <a:srgbClr val="107C10"/>
              </a:solidFill>
            </a:endParaRPr>
          </a:p>
          <a:p>
            <a:pPr>
              <a:spcBef>
                <a:spcPts val="300"/>
              </a:spcBef>
            </a:pPr>
            <a:r>
              <a:rPr b="1" dirty="0">
                <a:solidFill>
                  <a:srgbClr val="EB1000"/>
                </a:solidFill>
              </a:rPr>
              <a:t>What we still need:</a:t>
            </a:r>
          </a:p>
          <a:p>
            <a:pPr>
              <a:spcBef>
                <a:spcPts val="300"/>
              </a:spcBef>
            </a:pPr>
            <a:r>
              <a:rPr dirty="0">
                <a:solidFill>
                  <a:srgbClr val="EB1000"/>
                </a:solidFill>
              </a:rPr>
              <a:t>  ✗  No memory — customer repeats</a:t>
            </a:r>
          </a:p>
          <a:p>
            <a:pPr>
              <a:spcBef>
                <a:spcPts val="300"/>
              </a:spcBef>
            </a:pPr>
            <a:r>
              <a:rPr dirty="0">
                <a:solidFill>
                  <a:srgbClr val="EB1000"/>
                </a:solidFill>
              </a:rPr>
              <a:t>  ✗  Fresh agent on every request</a:t>
            </a:r>
          </a:p>
          <a:p>
            <a:pPr>
              <a:spcBef>
                <a:spcPts val="300"/>
              </a:spcBef>
            </a:pPr>
            <a:endParaRPr dirty="0">
              <a:solidFill>
                <a:srgbClr val="EB1000"/>
              </a:solidFill>
            </a:endParaRPr>
          </a:p>
        </p:txBody>
      </p:sp>
      <p:sp>
        <p:nvSpPr>
          <p:cNvPr id="7" name="TextBox 6"/>
          <p:cNvSpPr txBox="1"/>
          <p:nvPr/>
        </p:nvSpPr>
        <p:spPr>
          <a:xfrm>
            <a:off x="612648" y="1216153"/>
            <a:ext cx="7037832" cy="1978310"/>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1. Build model + wrap in agent()</a:t>
            </a:r>
          </a:p>
          <a:p>
            <a:pPr>
              <a:lnSpc>
                <a:spcPct val="115000"/>
              </a:lnSpc>
              <a:spcBef>
                <a:spcPts val="0"/>
              </a:spcBef>
            </a:pPr>
            <a:r>
              <a:rPr sz="1300" b="0" dirty="0" err="1">
                <a:solidFill>
                  <a:srgbClr val="9CDCFE"/>
                </a:solidFill>
                <a:latin typeface="Courier New"/>
              </a:rPr>
              <a:t>chatModel</a:t>
            </a:r>
            <a:r>
              <a:rPr sz="1300" b="0" dirty="0">
                <a:solidFill>
                  <a:srgbClr val="D4D4D4"/>
                </a:solidFill>
                <a:latin typeface="Courier New"/>
              </a:rPr>
              <a:t> = </a:t>
            </a:r>
            <a:r>
              <a:rPr sz="1300" b="0" dirty="0" err="1">
                <a:solidFill>
                  <a:srgbClr val="4EC9B0"/>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PROVIDER</a:t>
            </a:r>
            <a:r>
              <a:rPr sz="1300" b="0" dirty="0">
                <a:solidFill>
                  <a:srgbClr val="D4D4D4"/>
                </a:solidFill>
                <a:latin typeface="Courier New"/>
              </a:rPr>
              <a:t>    : </a:t>
            </a:r>
            <a:r>
              <a:rPr sz="1300" b="0" dirty="0">
                <a:solidFill>
                  <a:srgbClr val="CE9178"/>
                </a:solidFill>
                <a:latin typeface="Courier New"/>
              </a:rPr>
              <a:t>"</a:t>
            </a:r>
            <a:r>
              <a:rPr sz="1300" b="0" dirty="0" err="1">
                <a:solidFill>
                  <a:srgbClr val="CE9178"/>
                </a:solidFill>
                <a:latin typeface="Courier New"/>
              </a:rPr>
              <a:t>openai</a:t>
            </a:r>
            <a:r>
              <a:rPr sz="1300" b="0" dirty="0">
                <a:solidFill>
                  <a:srgbClr val="CE9178"/>
                </a:solidFill>
                <a:latin typeface="Courier New"/>
              </a:rPr>
              <a: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APIKEY</a:t>
            </a:r>
            <a:r>
              <a:rPr sz="1300" b="0" dirty="0">
                <a:solidFill>
                  <a:srgbClr val="D4D4D4"/>
                </a:solidFill>
                <a:latin typeface="Courier New"/>
              </a:rPr>
              <a:t>      : </a:t>
            </a:r>
            <a:r>
              <a:rPr sz="1300" b="0" dirty="0" err="1">
                <a:solidFill>
                  <a:srgbClr val="9CDCFE"/>
                </a:solidFill>
                <a:latin typeface="Courier New"/>
              </a:rPr>
              <a:t>application</a:t>
            </a:r>
            <a:r>
              <a:rPr sz="1300" b="0" dirty="0" err="1">
                <a:solidFill>
                  <a:srgbClr val="D4D4D4"/>
                </a:solidFill>
                <a:latin typeface="Courier New"/>
              </a:rPr>
              <a:t>.</a:t>
            </a:r>
            <a:r>
              <a:rPr sz="1300" b="0" dirty="0" err="1">
                <a:solidFill>
                  <a:srgbClr val="9CDCFE"/>
                </a:solidFill>
                <a:latin typeface="Courier New"/>
              </a:rPr>
              <a:t>openaiKey</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MODELNAME</a:t>
            </a:r>
            <a:r>
              <a:rPr sz="1300" b="0" dirty="0">
                <a:solidFill>
                  <a:srgbClr val="D4D4D4"/>
                </a:solidFill>
                <a:latin typeface="Courier New"/>
              </a:rPr>
              <a:t>   : </a:t>
            </a:r>
            <a:r>
              <a:rPr sz="1300" b="0" dirty="0">
                <a:solidFill>
                  <a:srgbClr val="CE9178"/>
                </a:solidFill>
                <a:latin typeface="Courier New"/>
              </a:rPr>
              <a:t>"gpt-4o-mini"</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TEMPERATURE</a:t>
            </a:r>
            <a:r>
              <a:rPr sz="1300" b="0" dirty="0">
                <a:solidFill>
                  <a:srgbClr val="D4D4D4"/>
                </a:solidFill>
                <a:latin typeface="Courier New"/>
              </a:rPr>
              <a:t> : </a:t>
            </a:r>
            <a:r>
              <a:rPr sz="1300" b="0" dirty="0">
                <a:solidFill>
                  <a:srgbClr val="B5CEA8"/>
                </a:solidFill>
                <a:latin typeface="Courier New"/>
              </a:rPr>
              <a:t>0.4</a:t>
            </a:r>
          </a:p>
          <a:p>
            <a:pPr>
              <a:lnSpc>
                <a:spcPct val="115000"/>
              </a:lnSpc>
              <a:spcBef>
                <a:spcPts val="0"/>
              </a:spcBef>
            </a:pPr>
            <a:r>
              <a:rPr sz="1300" b="0" dirty="0">
                <a:solidFill>
                  <a:srgbClr val="D4D4D4"/>
                </a:solidFill>
                <a:latin typeface="Courier New"/>
              </a:rPr>
              <a:t>});</a:t>
            </a:r>
          </a:p>
          <a:p>
            <a:pPr>
              <a:lnSpc>
                <a:spcPct val="115000"/>
              </a:lnSpc>
              <a:spcBef>
                <a:spcPts val="0"/>
              </a:spcBef>
            </a:pPr>
            <a:r>
              <a:rPr sz="1300" b="0" dirty="0" err="1">
                <a:solidFill>
                  <a:srgbClr val="9CDCFE"/>
                </a:solidFill>
                <a:latin typeface="Courier New"/>
              </a:rPr>
              <a:t>aiAgent</a:t>
            </a:r>
            <a:r>
              <a:rPr sz="1300" b="0" dirty="0">
                <a:solidFill>
                  <a:srgbClr val="D4D4D4"/>
                </a:solidFill>
                <a:latin typeface="Courier New"/>
              </a:rPr>
              <a:t> = </a:t>
            </a:r>
            <a:r>
              <a:rPr sz="1300" b="0" dirty="0">
                <a:solidFill>
                  <a:srgbClr val="4EC9B0"/>
                </a:solidFill>
                <a:latin typeface="Courier New"/>
              </a:rPr>
              <a:t>agent</a:t>
            </a:r>
            <a:r>
              <a:rPr sz="1300" b="0" dirty="0">
                <a:solidFill>
                  <a:srgbClr val="D4D4D4"/>
                </a:solidFill>
                <a:latin typeface="Courier New"/>
              </a:rPr>
              <a:t>({ </a:t>
            </a:r>
            <a:r>
              <a:rPr sz="1300" b="0" dirty="0">
                <a:solidFill>
                  <a:srgbClr val="9CDCFE"/>
                </a:solidFill>
                <a:latin typeface="Courier New"/>
              </a:rPr>
              <a:t>CHATMODEL</a:t>
            </a:r>
            <a:r>
              <a:rPr sz="1300" b="0" dirty="0">
                <a:solidFill>
                  <a:srgbClr val="D4D4D4"/>
                </a:solidFill>
                <a:latin typeface="Courier New"/>
              </a:rPr>
              <a:t>: </a:t>
            </a:r>
            <a:r>
              <a:rPr sz="1300" b="0" dirty="0" err="1">
                <a:solidFill>
                  <a:srgbClr val="9CDCFE"/>
                </a:solidFill>
                <a:latin typeface="Courier New"/>
              </a:rPr>
              <a:t>chatModel</a:t>
            </a:r>
            <a:r>
              <a:rPr sz="1300" b="0" dirty="0">
                <a:solidFill>
                  <a:srgbClr val="D4D4D4"/>
                </a:solidFill>
                <a:latin typeface="Courier New"/>
              </a:rPr>
              <a:t> });</a:t>
            </a:r>
          </a:p>
        </p:txBody>
      </p:sp>
      <p:sp>
        <p:nvSpPr>
          <p:cNvPr id="8" name="TextBox 7"/>
          <p:cNvSpPr txBox="1"/>
          <p:nvPr/>
        </p:nvSpPr>
        <p:spPr>
          <a:xfrm>
            <a:off x="609600" y="3428999"/>
            <a:ext cx="7040880" cy="2210798"/>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2. Give the AI its identity (call ONCE)</a:t>
            </a:r>
          </a:p>
          <a:p>
            <a:pPr>
              <a:lnSpc>
                <a:spcPct val="115000"/>
              </a:lnSpc>
              <a:spcBef>
                <a:spcPts val="0"/>
              </a:spcBef>
            </a:pPr>
            <a:r>
              <a:rPr sz="1300" b="0" dirty="0" err="1">
                <a:solidFill>
                  <a:srgbClr val="9CDCFE"/>
                </a:solidFill>
                <a:latin typeface="Courier New"/>
              </a:rPr>
              <a:t>aiAgent</a:t>
            </a:r>
            <a:r>
              <a:rPr sz="1300" b="0" dirty="0" err="1">
                <a:solidFill>
                  <a:srgbClr val="D4D4D4"/>
                </a:solidFill>
                <a:latin typeface="Courier New"/>
              </a:rPr>
              <a:t>.</a:t>
            </a:r>
            <a:r>
              <a:rPr sz="1300" b="0" dirty="0" err="1">
                <a:solidFill>
                  <a:srgbClr val="4EC9B0"/>
                </a:solidFill>
                <a:latin typeface="Courier New"/>
              </a:rPr>
              <a:t>systemMessage</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CE9178"/>
                </a:solidFill>
                <a:latin typeface="Courier New"/>
              </a:rPr>
              <a:t>"You are </a:t>
            </a:r>
            <a:r>
              <a:rPr sz="1300" b="0" dirty="0" err="1">
                <a:solidFill>
                  <a:srgbClr val="CE9178"/>
                </a:solidFill>
                <a:latin typeface="Courier New"/>
              </a:rPr>
              <a:t>Nexora's</a:t>
            </a:r>
            <a:r>
              <a:rPr sz="1300" b="0" dirty="0">
                <a:solidFill>
                  <a:srgbClr val="CE9178"/>
                </a:solidFill>
                <a:latin typeface="Courier New"/>
              </a:rPr>
              <a:t> support assistant.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Help</a:t>
            </a:r>
            <a:r>
              <a:rPr sz="1300" b="0" dirty="0">
                <a:solidFill>
                  <a:srgbClr val="D4D4D4"/>
                </a:solidFill>
                <a:latin typeface="Courier New"/>
              </a:rPr>
              <a:t> </a:t>
            </a:r>
            <a:r>
              <a:rPr sz="1300" b="0" dirty="0">
                <a:solidFill>
                  <a:srgbClr val="9CDCFE"/>
                </a:solidFill>
                <a:latin typeface="Courier New"/>
              </a:rPr>
              <a:t>with</a:t>
            </a:r>
            <a:r>
              <a:rPr sz="1300" b="0" dirty="0">
                <a:solidFill>
                  <a:srgbClr val="D4D4D4"/>
                </a:solidFill>
                <a:latin typeface="Courier New"/>
              </a:rPr>
              <a:t>: </a:t>
            </a:r>
            <a:r>
              <a:rPr sz="1300" b="0" dirty="0">
                <a:solidFill>
                  <a:srgbClr val="9CDCFE"/>
                </a:solidFill>
                <a:latin typeface="Courier New"/>
              </a:rPr>
              <a:t>orders</a:t>
            </a:r>
            <a:r>
              <a:rPr sz="1300" b="0" dirty="0">
                <a:solidFill>
                  <a:srgbClr val="D4D4D4"/>
                </a:solidFill>
                <a:latin typeface="Courier New"/>
              </a:rPr>
              <a:t>, </a:t>
            </a:r>
            <a:r>
              <a:rPr sz="1300" b="0" dirty="0">
                <a:solidFill>
                  <a:srgbClr val="9CDCFE"/>
                </a:solidFill>
                <a:latin typeface="Courier New"/>
              </a:rPr>
              <a:t>returns</a:t>
            </a:r>
            <a:r>
              <a:rPr sz="1300" b="0" dirty="0">
                <a:solidFill>
                  <a:srgbClr val="D4D4D4"/>
                </a:solidFill>
                <a:latin typeface="Courier New"/>
              </a:rPr>
              <a:t>, </a:t>
            </a:r>
            <a:r>
              <a:rPr sz="1300" b="0" dirty="0">
                <a:solidFill>
                  <a:srgbClr val="9CDCFE"/>
                </a:solidFill>
                <a:latin typeface="Courier New"/>
              </a:rPr>
              <a:t>shipping</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Return</a:t>
            </a:r>
            <a:r>
              <a:rPr sz="1300" b="0" dirty="0">
                <a:solidFill>
                  <a:srgbClr val="D4D4D4"/>
                </a:solidFill>
                <a:latin typeface="Courier New"/>
              </a:rPr>
              <a:t> </a:t>
            </a:r>
            <a:r>
              <a:rPr sz="1300" b="0" dirty="0">
                <a:solidFill>
                  <a:srgbClr val="9CDCFE"/>
                </a:solidFill>
                <a:latin typeface="Courier New"/>
              </a:rPr>
              <a:t>policy</a:t>
            </a:r>
            <a:r>
              <a:rPr sz="1300" b="0" dirty="0">
                <a:solidFill>
                  <a:srgbClr val="D4D4D4"/>
                </a:solidFill>
                <a:latin typeface="Courier New"/>
              </a:rPr>
              <a:t>: </a:t>
            </a:r>
            <a:r>
              <a:rPr sz="1300" b="0" dirty="0">
                <a:solidFill>
                  <a:srgbClr val="B5CEA8"/>
                </a:solidFill>
                <a:latin typeface="Courier New"/>
              </a:rPr>
              <a:t>30</a:t>
            </a:r>
            <a:r>
              <a:rPr sz="1300" b="0" dirty="0">
                <a:solidFill>
                  <a:srgbClr val="D4D4D4"/>
                </a:solidFill>
                <a:latin typeface="Courier New"/>
              </a:rPr>
              <a:t> </a:t>
            </a:r>
            <a:r>
              <a:rPr sz="1300" b="0" dirty="0">
                <a:solidFill>
                  <a:srgbClr val="9CDCFE"/>
                </a:solidFill>
                <a:latin typeface="Courier New"/>
              </a:rPr>
              <a:t>days</a:t>
            </a:r>
            <a:r>
              <a:rPr sz="1300" b="0" dirty="0">
                <a:solidFill>
                  <a:srgbClr val="D4D4D4"/>
                </a:solidFill>
                <a:latin typeface="Courier New"/>
              </a:rPr>
              <a:t> </a:t>
            </a:r>
            <a:r>
              <a:rPr sz="1300" b="0" dirty="0">
                <a:solidFill>
                  <a:srgbClr val="9CDCFE"/>
                </a:solidFill>
                <a:latin typeface="Courier New"/>
              </a:rPr>
              <a:t>full</a:t>
            </a:r>
            <a:r>
              <a:rPr sz="1300" b="0" dirty="0">
                <a:solidFill>
                  <a:srgbClr val="D4D4D4"/>
                </a:solidFill>
                <a:latin typeface="Courier New"/>
              </a:rPr>
              <a:t> </a:t>
            </a:r>
            <a:r>
              <a:rPr sz="1300" b="0" dirty="0">
                <a:solidFill>
                  <a:srgbClr val="9CDCFE"/>
                </a:solidFill>
                <a:latin typeface="Courier New"/>
              </a:rPr>
              <a:t>refund</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Shipping</a:t>
            </a:r>
            <a:r>
              <a:rPr sz="1300" b="0" dirty="0">
                <a:solidFill>
                  <a:srgbClr val="D4D4D4"/>
                </a:solidFill>
                <a:latin typeface="Courier New"/>
              </a:rPr>
              <a:t>: </a:t>
            </a:r>
            <a:r>
              <a:rPr sz="1300" b="0" dirty="0">
                <a:solidFill>
                  <a:srgbClr val="9CDCFE"/>
                </a:solidFill>
                <a:latin typeface="Courier New"/>
              </a:rPr>
              <a:t>standard</a:t>
            </a:r>
            <a:r>
              <a:rPr sz="1300" b="0" dirty="0">
                <a:solidFill>
                  <a:srgbClr val="D4D4D4"/>
                </a:solidFill>
                <a:latin typeface="Courier New"/>
              </a:rPr>
              <a:t> </a:t>
            </a:r>
            <a:r>
              <a:rPr sz="1300" b="0" dirty="0">
                <a:solidFill>
                  <a:srgbClr val="B5CEA8"/>
                </a:solidFill>
                <a:latin typeface="Courier New"/>
              </a:rPr>
              <a:t>3</a:t>
            </a:r>
            <a:r>
              <a:rPr sz="1300" b="0" dirty="0">
                <a:solidFill>
                  <a:srgbClr val="D4D4D4"/>
                </a:solidFill>
                <a:latin typeface="Courier New"/>
              </a:rPr>
              <a:t>-</a:t>
            </a:r>
            <a:r>
              <a:rPr sz="1300" b="0" dirty="0">
                <a:solidFill>
                  <a:srgbClr val="B5CEA8"/>
                </a:solidFill>
                <a:latin typeface="Courier New"/>
              </a:rPr>
              <a:t>5</a:t>
            </a:r>
            <a:r>
              <a:rPr sz="1300" b="0" dirty="0">
                <a:solidFill>
                  <a:srgbClr val="D4D4D4"/>
                </a:solidFill>
                <a:latin typeface="Courier New"/>
              </a:rPr>
              <a:t> </a:t>
            </a:r>
            <a:r>
              <a:rPr sz="1300" b="0" dirty="0">
                <a:solidFill>
                  <a:srgbClr val="9CDCFE"/>
                </a:solidFill>
                <a:latin typeface="Courier New"/>
              </a:rPr>
              <a:t>days</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Do</a:t>
            </a:r>
            <a:r>
              <a:rPr sz="1300" b="0" dirty="0">
                <a:solidFill>
                  <a:srgbClr val="D4D4D4"/>
                </a:solidFill>
                <a:latin typeface="Courier New"/>
              </a:rPr>
              <a:t> </a:t>
            </a:r>
            <a:r>
              <a:rPr sz="1300" b="0" dirty="0">
                <a:solidFill>
                  <a:srgbClr val="9CDCFE"/>
                </a:solidFill>
                <a:latin typeface="Courier New"/>
              </a:rPr>
              <a:t>NOT</a:t>
            </a:r>
            <a:r>
              <a:rPr sz="1300" b="0" dirty="0">
                <a:solidFill>
                  <a:srgbClr val="D4D4D4"/>
                </a:solidFill>
                <a:latin typeface="Courier New"/>
              </a:rPr>
              <a:t> </a:t>
            </a:r>
            <a:r>
              <a:rPr sz="1300" b="0" dirty="0">
                <a:solidFill>
                  <a:srgbClr val="9CDCFE"/>
                </a:solidFill>
                <a:latin typeface="Courier New"/>
              </a:rPr>
              <a:t>answer</a:t>
            </a:r>
            <a:r>
              <a:rPr sz="1300" b="0" dirty="0">
                <a:solidFill>
                  <a:srgbClr val="D4D4D4"/>
                </a:solidFill>
                <a:latin typeface="Courier New"/>
              </a:rPr>
              <a:t> </a:t>
            </a:r>
            <a:r>
              <a:rPr sz="1300" b="0" dirty="0">
                <a:solidFill>
                  <a:srgbClr val="9CDCFE"/>
                </a:solidFill>
                <a:latin typeface="Courier New"/>
              </a:rPr>
              <a:t>competitor</a:t>
            </a:r>
            <a:r>
              <a:rPr sz="1300" b="0" dirty="0">
                <a:solidFill>
                  <a:srgbClr val="D4D4D4"/>
                </a:solidFill>
                <a:latin typeface="Courier New"/>
              </a:rPr>
              <a:t> </a:t>
            </a:r>
            <a:r>
              <a:rPr sz="1300" b="0" dirty="0">
                <a:solidFill>
                  <a:srgbClr val="9CDCFE"/>
                </a:solidFill>
                <a:latin typeface="Courier New"/>
              </a:rPr>
              <a:t>questions</a:t>
            </a:r>
            <a:r>
              <a:rPr sz="1300" b="0" dirty="0">
                <a:solidFill>
                  <a:srgbClr val="D4D4D4"/>
                </a:solidFill>
                <a:latin typeface="Courier New"/>
              </a:rPr>
              <a:t>.</a:t>
            </a:r>
            <a:r>
              <a:rPr sz="1300" b="0" dirty="0">
                <a:solidFill>
                  <a:srgbClr val="CE9178"/>
                </a:solidFill>
                <a:latin typeface="Courier New"/>
              </a:rPr>
              <a:t>",</a:t>
            </a:r>
          </a:p>
          <a:p>
            <a:pPr>
              <a:lnSpc>
                <a:spcPct val="115000"/>
              </a:lnSpc>
              <a:spcBef>
                <a:spcPts val="0"/>
              </a:spcBef>
            </a:pPr>
            <a:r>
              <a:rPr sz="1300" b="0" dirty="0">
                <a:solidFill>
                  <a:srgbClr val="D4D4D4"/>
                </a:solidFill>
                <a:latin typeface="Courier New"/>
              </a:rPr>
              <a:t>);</a:t>
            </a:r>
            <a:endParaRPr lang="en-US" sz="1300" b="0" dirty="0">
              <a:solidFill>
                <a:srgbClr val="D4D4D4"/>
              </a:solidFill>
              <a:latin typeface="Courier New"/>
            </a:endParaRPr>
          </a:p>
          <a:p>
            <a:pPr>
              <a:lnSpc>
                <a:spcPct val="115000"/>
              </a:lnSpc>
              <a:spcBef>
                <a:spcPts val="0"/>
              </a:spcBef>
            </a:pPr>
            <a:r>
              <a:rPr sz="1300" b="0" dirty="0">
                <a:solidFill>
                  <a:srgbClr val="9CDCFE"/>
                </a:solidFill>
                <a:latin typeface="Courier New"/>
              </a:rPr>
              <a:t>response</a:t>
            </a:r>
            <a:r>
              <a:rPr sz="1300" b="0" dirty="0">
                <a:solidFill>
                  <a:srgbClr val="D4D4D4"/>
                </a:solidFill>
                <a:latin typeface="Courier New"/>
              </a:rPr>
              <a:t> = </a:t>
            </a:r>
            <a:r>
              <a:rPr sz="1300" b="0" dirty="0" err="1">
                <a:solidFill>
                  <a:srgbClr val="9CDCFE"/>
                </a:solidFill>
                <a:latin typeface="Courier New"/>
              </a:rPr>
              <a:t>aiAgent</a:t>
            </a:r>
            <a:r>
              <a:rPr sz="1300" b="0" dirty="0" err="1">
                <a:solidFill>
                  <a:srgbClr val="D4D4D4"/>
                </a:solidFill>
                <a:latin typeface="Courier New"/>
              </a:rPr>
              <a:t>.</a:t>
            </a:r>
            <a:r>
              <a:rPr sz="1300" b="0" dirty="0" err="1">
                <a:solidFill>
                  <a:srgbClr val="4EC9B0"/>
                </a:solidFill>
                <a:latin typeface="Courier New"/>
              </a:rPr>
              <a:t>chat</a:t>
            </a:r>
            <a:r>
              <a:rPr sz="1300" b="0" dirty="0">
                <a:solidFill>
                  <a:srgbClr val="D4D4D4"/>
                </a:solidFill>
                <a:latin typeface="Courier New"/>
              </a:rPr>
              <a:t>( </a:t>
            </a:r>
            <a:r>
              <a:rPr sz="1300" b="0" dirty="0">
                <a:solidFill>
                  <a:srgbClr val="9CDCFE"/>
                </a:solidFill>
                <a:latin typeface="Courier New"/>
              </a:rPr>
              <a:t>question</a:t>
            </a:r>
            <a:r>
              <a:rPr sz="1300" b="0" dirty="0">
                <a:solidFill>
                  <a:srgbClr val="D4D4D4"/>
                </a:solidFill>
                <a:latin typeface="Courier New"/>
              </a:rPr>
              <a:t> );</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dur="indefinite" nodeType="mainSeq">
                <p:childTnLst>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2"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4" grpId="0"/>
      <p:bldP spid="7" grpId="1" animBg="1"/>
      <p:bldP spid="7" grpId="2" animBg="1"/>
      <p:bldP spid="8" grpId="2" animBg="1"/>
      <p:bldP spid="8" grpId="3"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194560"/>
            <a:ext cx="10972800" cy="1188720"/>
          </a:xfrm>
          <a:prstGeom prst="rect">
            <a:avLst/>
          </a:prstGeom>
          <a:noFill/>
        </p:spPr>
        <p:txBody>
          <a:bodyPr wrap="square">
            <a:spAutoFit/>
          </a:bodyPr>
          <a:lstStyle/>
          <a:p>
            <a:pPr algn="ctr"/>
            <a:r>
              <a:rPr sz="4400" b="1" i="0">
                <a:solidFill>
                  <a:srgbClr val="FFFFFF"/>
                </a:solidFill>
              </a:rPr>
              <a:t>🔴  LIVE DEMO</a:t>
            </a:r>
          </a:p>
        </p:txBody>
      </p:sp>
      <p:sp>
        <p:nvSpPr>
          <p:cNvPr id="5" name="TextBox 4"/>
          <p:cNvSpPr txBox="1"/>
          <p:nvPr/>
        </p:nvSpPr>
        <p:spPr>
          <a:xfrm>
            <a:off x="502920" y="3657600"/>
            <a:ext cx="10972800" cy="1200329"/>
          </a:xfrm>
          <a:prstGeom prst="rect">
            <a:avLst/>
          </a:prstGeom>
          <a:noFill/>
        </p:spPr>
        <p:txBody>
          <a:bodyPr wrap="square">
            <a:spAutoFit/>
          </a:bodyPr>
          <a:lstStyle/>
          <a:p>
            <a:pPr algn="ctr"/>
            <a:r>
              <a:rPr sz="2400" b="1" i="0" dirty="0">
                <a:solidFill>
                  <a:srgbClr val="CCCCCC"/>
                </a:solidFill>
              </a:rPr>
              <a:t>System Message  ·  problem2  ·  AI with identity &amp; constraints</a:t>
            </a:r>
            <a:endParaRPr lang="en-US" sz="2400" b="1" i="0" dirty="0">
              <a:solidFill>
                <a:srgbClr val="CCCCCC"/>
              </a:solidFill>
            </a:endParaRPr>
          </a:p>
          <a:p>
            <a:pPr algn="ctr"/>
            <a:r>
              <a:rPr lang="en-US" sz="2400" b="1" dirty="0" err="1">
                <a:solidFill>
                  <a:srgbClr val="777777"/>
                </a:solidFill>
              </a:rPr>
              <a:t>systemmessage.cfm</a:t>
            </a:r>
            <a:r>
              <a:rPr lang="en-US" sz="2400" b="1" dirty="0">
                <a:solidFill>
                  <a:srgbClr val="777777"/>
                </a:solidFill>
              </a:rPr>
              <a:t>   </a:t>
            </a:r>
            <a:r>
              <a:rPr lang="en-US" sz="2400" b="1" dirty="0">
                <a:solidFill>
                  <a:srgbClr val="CCCCCC"/>
                </a:solidFill>
              </a:rPr>
              <a:t> · </a:t>
            </a:r>
            <a:r>
              <a:rPr lang="en-US" sz="2400" b="1" dirty="0">
                <a:solidFill>
                  <a:srgbClr val="777777"/>
                </a:solidFill>
              </a:rPr>
              <a:t>   problem2-systemMessage_demo.cfm</a:t>
            </a:r>
          </a:p>
          <a:p>
            <a:pPr algn="ctr"/>
            <a:endParaRPr sz="2400" b="1" i="0" dirty="0">
              <a:solidFill>
                <a:srgbClr val="CCCCCC"/>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468880"/>
            <a:ext cx="10972800" cy="1371600"/>
          </a:xfrm>
          <a:prstGeom prst="rect">
            <a:avLst/>
          </a:prstGeom>
          <a:noFill/>
        </p:spPr>
        <p:txBody>
          <a:bodyPr wrap="square">
            <a:spAutoFit/>
          </a:bodyPr>
          <a:lstStyle/>
          <a:p>
            <a:pPr algn="l"/>
            <a:r>
              <a:rPr sz="3400" b="1" i="0">
                <a:solidFill>
                  <a:srgbClr val="FFFFFF"/>
                </a:solidFill>
              </a:rPr>
              <a:t>Part 5: Chat Memory</a:t>
            </a:r>
          </a:p>
        </p:txBody>
      </p:sp>
      <p:sp>
        <p:nvSpPr>
          <p:cNvPr id="5" name="TextBox 4"/>
          <p:cNvSpPr txBox="1"/>
          <p:nvPr/>
        </p:nvSpPr>
        <p:spPr>
          <a:xfrm>
            <a:off x="502920" y="3931920"/>
            <a:ext cx="10972800" cy="594360"/>
          </a:xfrm>
          <a:prstGeom prst="rect">
            <a:avLst/>
          </a:prstGeom>
          <a:noFill/>
        </p:spPr>
        <p:txBody>
          <a:bodyPr wrap="square">
            <a:spAutoFit/>
          </a:bodyPr>
          <a:lstStyle/>
          <a:p>
            <a:pPr algn="l"/>
            <a:r>
              <a:rPr sz="1600" b="0" i="0">
                <a:solidFill>
                  <a:srgbClr val="AAAAAA"/>
                </a:solidFill>
              </a:rPr>
              <a:t>Stateless HTTP  ·  CHATMEMORY  ·  In-memory · EHCache · Redis · Memcache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t>CHATMEMORY — Syntax &amp; Configuration</a:t>
            </a:r>
          </a:p>
        </p:txBody>
      </p:sp>
      <p:sp>
        <p:nvSpPr>
          <p:cNvPr id="11" name="TextBox 10"/>
          <p:cNvSpPr txBox="1"/>
          <p:nvPr/>
        </p:nvSpPr>
        <p:spPr>
          <a:xfrm>
            <a:off x="505770" y="1216151"/>
            <a:ext cx="4766874" cy="1290546"/>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1. Message Window — keep last N turns</a:t>
            </a:r>
          </a:p>
          <a:p>
            <a:pPr>
              <a:lnSpc>
                <a:spcPct val="115000"/>
              </a:lnSpc>
              <a:spcBef>
                <a:spcPts val="0"/>
              </a:spcBef>
            </a:pPr>
            <a:r>
              <a:rPr sz="1300" b="0" dirty="0" err="1">
                <a:solidFill>
                  <a:srgbClr val="9CDCFE"/>
                </a:solidFill>
                <a:latin typeface="Courier New"/>
              </a:rPr>
              <a:t>aiAgent</a:t>
            </a:r>
            <a:r>
              <a:rPr sz="1300" b="0" dirty="0">
                <a:solidFill>
                  <a:srgbClr val="D4D4D4"/>
                </a:solidFill>
                <a:latin typeface="Courier New"/>
              </a:rPr>
              <a:t> = </a:t>
            </a:r>
            <a:r>
              <a:rPr sz="1300" b="0" dirty="0">
                <a:solidFill>
                  <a:srgbClr val="4EC9B0"/>
                </a:solidFill>
                <a:latin typeface="Courier New"/>
              </a:rPr>
              <a:t>agent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CHATMODEL</a:t>
            </a:r>
            <a:r>
              <a:rPr sz="1300" b="0" dirty="0">
                <a:solidFill>
                  <a:srgbClr val="D4D4D4"/>
                </a:solidFill>
                <a:latin typeface="Courier New"/>
              </a:rPr>
              <a:t>  : </a:t>
            </a:r>
            <a:r>
              <a:rPr sz="1300" b="0" dirty="0" err="1">
                <a:solidFill>
                  <a:srgbClr val="9CDCFE"/>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CHATMEMORY</a:t>
            </a:r>
            <a:r>
              <a:rPr sz="1300" b="0" dirty="0">
                <a:solidFill>
                  <a:srgbClr val="D4D4D4"/>
                </a:solidFill>
                <a:latin typeface="Courier New"/>
              </a:rPr>
              <a:t> : { </a:t>
            </a:r>
            <a:r>
              <a:rPr sz="1300" b="0" dirty="0">
                <a:solidFill>
                  <a:srgbClr val="9CDCFE"/>
                </a:solidFill>
                <a:latin typeface="Courier New"/>
              </a:rPr>
              <a:t>MAXMESSAGES</a:t>
            </a:r>
            <a:r>
              <a:rPr sz="1300" b="0" dirty="0">
                <a:solidFill>
                  <a:srgbClr val="D4D4D4"/>
                </a:solidFill>
                <a:latin typeface="Courier New"/>
              </a:rPr>
              <a:t>: </a:t>
            </a:r>
            <a:r>
              <a:rPr sz="1300" b="0" dirty="0">
                <a:solidFill>
                  <a:srgbClr val="B5CEA8"/>
                </a:solidFill>
                <a:latin typeface="Courier New"/>
              </a:rPr>
              <a:t>20</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a:t>
            </a:r>
          </a:p>
        </p:txBody>
      </p:sp>
      <p:sp>
        <p:nvSpPr>
          <p:cNvPr id="12" name="TextBox 11"/>
          <p:cNvSpPr txBox="1"/>
          <p:nvPr/>
        </p:nvSpPr>
        <p:spPr>
          <a:xfrm>
            <a:off x="505770" y="3007285"/>
            <a:ext cx="4766874" cy="1839734"/>
          </a:xfrm>
          <a:prstGeom prst="rect">
            <a:avLst/>
          </a:prstGeom>
          <a:solidFill>
            <a:srgbClr val="000000"/>
          </a:solidFill>
        </p:spPr>
        <p:txBody>
          <a:bodyPr wrap="square" lIns="109728" tIns="82296" bIns="64008">
            <a:spAutoFit/>
          </a:bodyPr>
          <a:lstStyle/>
          <a:p>
            <a:pPr>
              <a:lnSpc>
                <a:spcPct val="115000"/>
              </a:lnSpc>
              <a:spcBef>
                <a:spcPts val="0"/>
              </a:spcBef>
            </a:pPr>
            <a:r>
              <a:rPr sz="1200" b="0" dirty="0">
                <a:solidFill>
                  <a:srgbClr val="6A9955"/>
                </a:solidFill>
                <a:latin typeface="Courier New"/>
              </a:rPr>
              <a:t>// 2. Token Window — stay within budget</a:t>
            </a:r>
          </a:p>
          <a:p>
            <a:pPr>
              <a:lnSpc>
                <a:spcPct val="115000"/>
              </a:lnSpc>
              <a:spcBef>
                <a:spcPts val="0"/>
              </a:spcBef>
            </a:pPr>
            <a:r>
              <a:rPr sz="1200" b="0" dirty="0" err="1">
                <a:solidFill>
                  <a:srgbClr val="9CDCFE"/>
                </a:solidFill>
                <a:latin typeface="Courier New"/>
              </a:rPr>
              <a:t>aiAgent</a:t>
            </a:r>
            <a:r>
              <a:rPr sz="1200" b="0" dirty="0">
                <a:solidFill>
                  <a:srgbClr val="D4D4D4"/>
                </a:solidFill>
                <a:latin typeface="Courier New"/>
              </a:rPr>
              <a:t> = </a:t>
            </a:r>
            <a:r>
              <a:rPr sz="1200" b="0" dirty="0">
                <a:solidFill>
                  <a:srgbClr val="4EC9B0"/>
                </a:solidFill>
                <a:latin typeface="Courier New"/>
              </a:rPr>
              <a:t>agent</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CHATMODEL</a:t>
            </a:r>
            <a:r>
              <a:rPr sz="1200" b="0" dirty="0">
                <a:solidFill>
                  <a:srgbClr val="D4D4D4"/>
                </a:solidFill>
                <a:latin typeface="Courier New"/>
              </a:rPr>
              <a:t>  : </a:t>
            </a:r>
            <a:r>
              <a:rPr sz="1200" b="0" dirty="0" err="1">
                <a:solidFill>
                  <a:srgbClr val="9CDCFE"/>
                </a:solidFill>
                <a:latin typeface="Courier New"/>
              </a:rPr>
              <a:t>chatModel</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CHATMEMORY</a:t>
            </a:r>
            <a:r>
              <a:rPr sz="1200" b="0" dirty="0">
                <a:solidFill>
                  <a:srgbClr val="D4D4D4"/>
                </a:solidFill>
                <a:latin typeface="Courier New"/>
              </a:rPr>
              <a:t> : {</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TYPE</a:t>
            </a:r>
            <a:r>
              <a:rPr sz="1200" b="0" dirty="0">
                <a:solidFill>
                  <a:srgbClr val="D4D4D4"/>
                </a:solidFill>
                <a:latin typeface="Courier New"/>
              </a:rPr>
              <a:t>      : </a:t>
            </a:r>
            <a:r>
              <a:rPr sz="1200" b="0" dirty="0">
                <a:solidFill>
                  <a:srgbClr val="CE9178"/>
                </a:solidFill>
                <a:latin typeface="Courier New"/>
              </a:rPr>
              <a:t>"</a:t>
            </a:r>
            <a:r>
              <a:rPr sz="1200" b="0" dirty="0" err="1">
                <a:solidFill>
                  <a:srgbClr val="CE9178"/>
                </a:solidFill>
                <a:latin typeface="Courier New"/>
              </a:rPr>
              <a:t>tokenWindowChatMemory</a:t>
            </a:r>
            <a:r>
              <a:rPr sz="1200" b="0" dirty="0">
                <a:solidFill>
                  <a:srgbClr val="CE9178"/>
                </a:solidFill>
                <a:latin typeface="Courier New"/>
              </a:rPr>
              <a:t>"</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MAXTOKENS</a:t>
            </a:r>
            <a:r>
              <a:rPr sz="1200" b="0" dirty="0">
                <a:solidFill>
                  <a:srgbClr val="D4D4D4"/>
                </a:solidFill>
                <a:latin typeface="Courier New"/>
              </a:rPr>
              <a:t> : </a:t>
            </a:r>
            <a:r>
              <a:rPr sz="1200" b="0" dirty="0">
                <a:solidFill>
                  <a:srgbClr val="B5CEA8"/>
                </a:solidFill>
                <a:latin typeface="Courier New"/>
              </a:rPr>
              <a:t>4000</a:t>
            </a:r>
          </a:p>
          <a:p>
            <a:pPr>
              <a:lnSpc>
                <a:spcPct val="115000"/>
              </a:lnSpc>
              <a:spcBef>
                <a:spcPts val="0"/>
              </a:spcBef>
            </a:pP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a:t>
            </a:r>
          </a:p>
        </p:txBody>
      </p:sp>
      <p:sp>
        <p:nvSpPr>
          <p:cNvPr id="13" name="TextBox 12"/>
          <p:cNvSpPr txBox="1"/>
          <p:nvPr/>
        </p:nvSpPr>
        <p:spPr>
          <a:xfrm>
            <a:off x="5966439" y="3414156"/>
            <a:ext cx="4766873" cy="2670924"/>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4. Persistent store (survives restarts)</a:t>
            </a:r>
          </a:p>
          <a:p>
            <a:pPr>
              <a:lnSpc>
                <a:spcPct val="115000"/>
              </a:lnSpc>
              <a:spcBef>
                <a:spcPts val="0"/>
              </a:spcBef>
            </a:pPr>
            <a:r>
              <a:rPr sz="1300" b="0" dirty="0" err="1">
                <a:solidFill>
                  <a:srgbClr val="9CDCFE"/>
                </a:solidFill>
                <a:latin typeface="Courier New"/>
              </a:rPr>
              <a:t>aiAgent</a:t>
            </a:r>
            <a:r>
              <a:rPr sz="1300" b="0" dirty="0">
                <a:solidFill>
                  <a:srgbClr val="D4D4D4"/>
                </a:solidFill>
                <a:latin typeface="Courier New"/>
              </a:rPr>
              <a:t> = </a:t>
            </a:r>
            <a:r>
              <a:rPr sz="1300" b="0" dirty="0">
                <a:solidFill>
                  <a:srgbClr val="4EC9B0"/>
                </a:solidFill>
                <a:latin typeface="Courier New"/>
              </a:rPr>
              <a:t>agent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CHATMODEL</a:t>
            </a:r>
            <a:r>
              <a:rPr sz="1300" b="0" dirty="0">
                <a:solidFill>
                  <a:srgbClr val="D4D4D4"/>
                </a:solidFill>
                <a:latin typeface="Courier New"/>
              </a:rPr>
              <a:t>  : </a:t>
            </a:r>
            <a:r>
              <a:rPr sz="1300" b="0" dirty="0" err="1">
                <a:solidFill>
                  <a:srgbClr val="9CDCFE"/>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CHATMEMORY</a:t>
            </a:r>
            <a:r>
              <a:rPr sz="1300" b="0" dirty="0">
                <a:solidFill>
                  <a:srgbClr val="D4D4D4"/>
                </a:solidFill>
                <a:latin typeface="Courier New"/>
              </a:rPr>
              <a:t> :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MAXMESSAGES</a:t>
            </a:r>
            <a:r>
              <a:rPr sz="1300" b="0" dirty="0">
                <a:solidFill>
                  <a:srgbClr val="D4D4D4"/>
                </a:solidFill>
                <a:latin typeface="Courier New"/>
              </a:rPr>
              <a:t>     : </a:t>
            </a:r>
            <a:r>
              <a:rPr sz="1300" b="0" dirty="0">
                <a:solidFill>
                  <a:srgbClr val="B5CEA8"/>
                </a:solidFill>
                <a:latin typeface="Courier New"/>
              </a:rPr>
              <a:t>20</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PERSISTENTSTORE</a:t>
            </a:r>
            <a:r>
              <a:rPr sz="1300" b="0" dirty="0">
                <a:solidFill>
                  <a:srgbClr val="D4D4D4"/>
                </a:solidFill>
                <a:latin typeface="Courier New"/>
              </a:rPr>
              <a:t> : </a:t>
            </a:r>
            <a:r>
              <a:rPr sz="1300" b="0" dirty="0">
                <a:solidFill>
                  <a:srgbClr val="CE9178"/>
                </a:solidFill>
                <a:latin typeface="Courier New"/>
              </a:rPr>
              <a:t>"REDIS"</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PERUSER</a:t>
            </a:r>
            <a:r>
              <a:rPr sz="1300" b="0" dirty="0">
                <a:solidFill>
                  <a:srgbClr val="D4D4D4"/>
                </a:solidFill>
                <a:latin typeface="Courier New"/>
              </a:rPr>
              <a:t>         : </a:t>
            </a:r>
            <a:r>
              <a:rPr sz="1300" b="0" dirty="0">
                <a:solidFill>
                  <a:srgbClr val="569CD6"/>
                </a:solidFill>
                <a:latin typeface="Courier New"/>
              </a:rPr>
              <a:t>true</a:t>
            </a:r>
          </a:p>
          <a:p>
            <a:pPr>
              <a:lnSpc>
                <a:spcPct val="115000"/>
              </a:lnSpc>
              <a:spcBef>
                <a:spcPts val="0"/>
              </a:spcBef>
            </a:pP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a:t>
            </a:r>
            <a:endParaRPr lang="en-US" sz="1300" b="0" dirty="0">
              <a:solidFill>
                <a:srgbClr val="D4D4D4"/>
              </a:solidFill>
              <a:latin typeface="Courier New"/>
            </a:endParaRPr>
          </a:p>
          <a:p>
            <a:pPr>
              <a:lnSpc>
                <a:spcPct val="115000"/>
              </a:lnSpc>
              <a:spcBef>
                <a:spcPts val="0"/>
              </a:spcBef>
            </a:pPr>
            <a:endParaRPr sz="1300" b="0" dirty="0">
              <a:solidFill>
                <a:srgbClr val="D4D4D4"/>
              </a:solidFill>
              <a:latin typeface="Courier New"/>
            </a:endParaRPr>
          </a:p>
          <a:p>
            <a:pPr>
              <a:lnSpc>
                <a:spcPct val="115000"/>
              </a:lnSpc>
              <a:spcBef>
                <a:spcPts val="0"/>
              </a:spcBef>
            </a:pPr>
            <a:r>
              <a:rPr sz="1300" b="0" dirty="0">
                <a:solidFill>
                  <a:srgbClr val="6A9955"/>
                </a:solidFill>
                <a:latin typeface="Courier New"/>
              </a:rPr>
              <a:t>// Also: "EHCACHE" | "MEMCACHED"</a:t>
            </a:r>
          </a:p>
        </p:txBody>
      </p:sp>
      <p:sp>
        <p:nvSpPr>
          <p:cNvPr id="3" name="TextBox 2">
            <a:extLst>
              <a:ext uri="{FF2B5EF4-FFF2-40B4-BE49-F238E27FC236}">
                <a16:creationId xmlns:a16="http://schemas.microsoft.com/office/drawing/2014/main" id="{B21B8C33-58B3-1026-96D1-5439BD5AA45E}"/>
              </a:ext>
            </a:extLst>
          </p:cNvPr>
          <p:cNvSpPr txBox="1"/>
          <p:nvPr/>
        </p:nvSpPr>
        <p:spPr>
          <a:xfrm>
            <a:off x="5966440" y="1210474"/>
            <a:ext cx="4766874" cy="1415003"/>
          </a:xfrm>
          <a:prstGeom prst="rect">
            <a:avLst/>
          </a:prstGeom>
          <a:solidFill>
            <a:srgbClr val="000000"/>
          </a:solidFill>
        </p:spPr>
        <p:txBody>
          <a:bodyPr wrap="square" lIns="109728" tIns="82296" bIns="64008">
            <a:spAutoFit/>
          </a:bodyPr>
          <a:lstStyle/>
          <a:p>
            <a:pPr>
              <a:lnSpc>
                <a:spcPct val="115000"/>
              </a:lnSpc>
              <a:spcBef>
                <a:spcPts val="0"/>
              </a:spcBef>
            </a:pPr>
            <a:r>
              <a:rPr sz="1200" b="0" dirty="0">
                <a:solidFill>
                  <a:srgbClr val="6A9955"/>
                </a:solidFill>
                <a:latin typeface="Courier New"/>
              </a:rPr>
              <a:t>// 3. Per-user isolation</a:t>
            </a:r>
            <a:endParaRPr lang="en-US" sz="1200" b="0" dirty="0">
              <a:solidFill>
                <a:srgbClr val="6A9955"/>
              </a:solidFill>
              <a:latin typeface="Courier New"/>
            </a:endParaRPr>
          </a:p>
          <a:p>
            <a:pPr>
              <a:lnSpc>
                <a:spcPct val="115000"/>
              </a:lnSpc>
              <a:spcBef>
                <a:spcPts val="0"/>
              </a:spcBef>
            </a:pPr>
            <a:r>
              <a:rPr sz="1200" b="0" dirty="0" err="1">
                <a:solidFill>
                  <a:srgbClr val="9CDCFE"/>
                </a:solidFill>
                <a:latin typeface="Courier New"/>
              </a:rPr>
              <a:t>aiAgent</a:t>
            </a:r>
            <a:r>
              <a:rPr sz="1200" b="0" dirty="0">
                <a:solidFill>
                  <a:srgbClr val="D4D4D4"/>
                </a:solidFill>
                <a:latin typeface="Courier New"/>
              </a:rPr>
              <a:t> = </a:t>
            </a:r>
            <a:r>
              <a:rPr sz="1200" b="0" dirty="0">
                <a:solidFill>
                  <a:srgbClr val="4EC9B0"/>
                </a:solidFill>
                <a:latin typeface="Courier New"/>
              </a:rPr>
              <a:t>agent</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CHATMODEL</a:t>
            </a:r>
            <a:r>
              <a:rPr sz="1200" b="0" dirty="0">
                <a:solidFill>
                  <a:srgbClr val="D4D4D4"/>
                </a:solidFill>
                <a:latin typeface="Courier New"/>
              </a:rPr>
              <a:t>  : </a:t>
            </a:r>
            <a:r>
              <a:rPr sz="1200" b="0" dirty="0" err="1">
                <a:solidFill>
                  <a:srgbClr val="9CDCFE"/>
                </a:solidFill>
                <a:latin typeface="Courier New"/>
              </a:rPr>
              <a:t>chatModel</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CHATMEMORY</a:t>
            </a:r>
            <a:r>
              <a:rPr sz="1200" b="0" dirty="0">
                <a:solidFill>
                  <a:srgbClr val="D4D4D4"/>
                </a:solidFill>
                <a:latin typeface="Courier New"/>
              </a:rPr>
              <a:t> : { </a:t>
            </a:r>
            <a:r>
              <a:rPr sz="1200" b="0" dirty="0">
                <a:solidFill>
                  <a:srgbClr val="9CDCFE"/>
                </a:solidFill>
                <a:latin typeface="Courier New"/>
              </a:rPr>
              <a:t>MAXMESSAGES</a:t>
            </a:r>
            <a:r>
              <a:rPr sz="1200" b="0" dirty="0">
                <a:solidFill>
                  <a:srgbClr val="D4D4D4"/>
                </a:solidFill>
                <a:latin typeface="Courier New"/>
              </a:rPr>
              <a:t>:</a:t>
            </a:r>
            <a:r>
              <a:rPr sz="1200" b="0" dirty="0">
                <a:solidFill>
                  <a:srgbClr val="B5CEA8"/>
                </a:solidFill>
                <a:latin typeface="Courier New"/>
              </a:rPr>
              <a:t>20</a:t>
            </a:r>
            <a:r>
              <a:rPr sz="1200" b="0" dirty="0">
                <a:solidFill>
                  <a:srgbClr val="D4D4D4"/>
                </a:solidFill>
                <a:latin typeface="Courier New"/>
              </a:rPr>
              <a:t>, </a:t>
            </a:r>
            <a:r>
              <a:rPr sz="1200" b="0" dirty="0" err="1">
                <a:solidFill>
                  <a:srgbClr val="9CDCFE"/>
                </a:solidFill>
                <a:latin typeface="Courier New"/>
              </a:rPr>
              <a:t>PERUSER</a:t>
            </a:r>
            <a:r>
              <a:rPr sz="1200" b="0" dirty="0" err="1">
                <a:solidFill>
                  <a:srgbClr val="D4D4D4"/>
                </a:solidFill>
                <a:latin typeface="Courier New"/>
              </a:rPr>
              <a:t>:</a:t>
            </a:r>
            <a:r>
              <a:rPr sz="1200" b="0" dirty="0" err="1">
                <a:solidFill>
                  <a:srgbClr val="569CD6"/>
                </a:solidFill>
                <a:latin typeface="Courier New"/>
              </a:rPr>
              <a:t>true</a:t>
            </a: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a:t>
            </a:r>
          </a:p>
          <a:p>
            <a:pPr>
              <a:lnSpc>
                <a:spcPct val="115000"/>
              </a:lnSpc>
              <a:spcBef>
                <a:spcPts val="0"/>
              </a:spcBef>
            </a:pPr>
            <a:r>
              <a:rPr sz="1200" b="0" dirty="0" err="1">
                <a:solidFill>
                  <a:srgbClr val="9CDCFE"/>
                </a:solidFill>
                <a:latin typeface="Courier New"/>
              </a:rPr>
              <a:t>aiAgent</a:t>
            </a:r>
            <a:r>
              <a:rPr sz="1200" b="0" dirty="0" err="1">
                <a:solidFill>
                  <a:srgbClr val="D4D4D4"/>
                </a:solidFill>
                <a:latin typeface="Courier New"/>
              </a:rPr>
              <a:t>.</a:t>
            </a:r>
            <a:r>
              <a:rPr sz="1200" b="0" dirty="0" err="1">
                <a:solidFill>
                  <a:srgbClr val="4EC9B0"/>
                </a:solidFill>
                <a:latin typeface="Courier New"/>
              </a:rPr>
              <a:t>chat</a:t>
            </a:r>
            <a:r>
              <a:rPr sz="1200" b="0" dirty="0">
                <a:solidFill>
                  <a:srgbClr val="D4D4D4"/>
                </a:solidFill>
                <a:latin typeface="Courier New"/>
              </a:rPr>
              <a:t>( </a:t>
            </a:r>
            <a:r>
              <a:rPr sz="1200" b="0" dirty="0">
                <a:solidFill>
                  <a:srgbClr val="9CDCFE"/>
                </a:solidFill>
                <a:latin typeface="Courier New"/>
              </a:rPr>
              <a:t>question</a:t>
            </a:r>
            <a:r>
              <a:rPr sz="1200" b="0" dirty="0">
                <a:solidFill>
                  <a:srgbClr val="D4D4D4"/>
                </a:solidFill>
                <a:latin typeface="Courier New"/>
              </a:rPr>
              <a:t>, </a:t>
            </a:r>
            <a:r>
              <a:rPr sz="1200" b="0" dirty="0">
                <a:solidFill>
                  <a:srgbClr val="CE9178"/>
                </a:solidFill>
                <a:latin typeface="Courier New"/>
              </a:rPr>
              <a:t>"user-sarah-42"</a:t>
            </a:r>
            <a:r>
              <a:rPr sz="1200" b="0" dirty="0">
                <a:solidFill>
                  <a:srgbClr val="D4D4D4"/>
                </a:solidFill>
                <a:latin typeface="Courier New"/>
              </a:rPr>
              <a:t> );</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dur="indefinite" nodeType="mainSeq">
                <p:childTnLst>
                  <p:par>
                    <p:cTn id="20" fill="hold">
                      <p:stCondLst>
                        <p:cond delay="indefinite"/>
                      </p:stCondLst>
                      <p:childTnLst>
                        <p:par>
                          <p:cTn id="21" fill="hold">
                            <p:stCondLst>
                              <p:cond delay="0"/>
                            </p:stCondLst>
                            <p:childTnLst>
                              <p:par>
                                <p:cTn id="22" presetID="1" presetClass="entr" presetSubtype="0" fill="hold" grpId="1"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2"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3"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11" grpId="1" animBg="1"/>
      <p:bldP spid="11" grpId="2" animBg="1"/>
      <p:bldP spid="12" grpId="2" animBg="1"/>
      <p:bldP spid="12" grpId="3" animBg="1"/>
      <p:bldP spid="13" grpId="3" animBg="1"/>
      <p:bldP spid="13" grpId="4" animBg="1"/>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Chat Memory Backends</a:t>
            </a:r>
          </a:p>
        </p:txBody>
      </p:sp>
      <p:sp>
        <p:nvSpPr>
          <p:cNvPr id="3" name="Rectangle 2"/>
          <p:cNvSpPr/>
          <p:nvPr/>
        </p:nvSpPr>
        <p:spPr>
          <a:xfrm>
            <a:off x="612648" y="1389888"/>
            <a:ext cx="5486400" cy="34747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6844" y="1463039"/>
            <a:ext cx="5394960" cy="274320"/>
          </a:xfrm>
          <a:prstGeom prst="rect">
            <a:avLst/>
          </a:prstGeom>
          <a:noFill/>
        </p:spPr>
        <p:txBody>
          <a:bodyPr wrap="square">
            <a:spAutoFit/>
          </a:bodyPr>
          <a:lstStyle/>
          <a:p>
            <a:pPr algn="l"/>
            <a:r>
              <a:rPr sz="1200" b="1" i="0" dirty="0">
                <a:solidFill>
                  <a:srgbClr val="FFFFFF"/>
                </a:solidFill>
              </a:rPr>
              <a:t>In-Memory (default)</a:t>
            </a:r>
          </a:p>
        </p:txBody>
      </p:sp>
      <p:sp>
        <p:nvSpPr>
          <p:cNvPr id="6" name="Rectangle 5"/>
          <p:cNvSpPr/>
          <p:nvPr/>
        </p:nvSpPr>
        <p:spPr>
          <a:xfrm>
            <a:off x="6236208" y="1389888"/>
            <a:ext cx="5486400" cy="347472"/>
          </a:xfrm>
          <a:prstGeom prst="rect">
            <a:avLst/>
          </a:prstGeom>
          <a:solidFill>
            <a:srgbClr val="63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81928" y="1426464"/>
            <a:ext cx="5394960" cy="274320"/>
          </a:xfrm>
          <a:prstGeom prst="rect">
            <a:avLst/>
          </a:prstGeom>
          <a:noFill/>
        </p:spPr>
        <p:txBody>
          <a:bodyPr wrap="square">
            <a:spAutoFit/>
          </a:bodyPr>
          <a:lstStyle/>
          <a:p>
            <a:pPr algn="l"/>
            <a:r>
              <a:rPr sz="1200" b="1" i="0" dirty="0" err="1">
                <a:solidFill>
                  <a:srgbClr val="FFFFFF"/>
                </a:solidFill>
              </a:rPr>
              <a:t>EHCache</a:t>
            </a:r>
            <a:endParaRPr sz="1200" b="1" i="0" dirty="0">
              <a:solidFill>
                <a:srgbClr val="FFFFFF"/>
              </a:solidFill>
            </a:endParaRPr>
          </a:p>
        </p:txBody>
      </p:sp>
      <p:sp>
        <p:nvSpPr>
          <p:cNvPr id="9" name="Rectangle 8"/>
          <p:cNvSpPr/>
          <p:nvPr/>
        </p:nvSpPr>
        <p:spPr>
          <a:xfrm>
            <a:off x="609600" y="4061760"/>
            <a:ext cx="5486400" cy="34747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1040" y="4094244"/>
            <a:ext cx="5394960" cy="274320"/>
          </a:xfrm>
          <a:prstGeom prst="rect">
            <a:avLst/>
          </a:prstGeom>
          <a:noFill/>
        </p:spPr>
        <p:txBody>
          <a:bodyPr wrap="square">
            <a:spAutoFit/>
          </a:bodyPr>
          <a:lstStyle/>
          <a:p>
            <a:pPr algn="l"/>
            <a:r>
              <a:rPr sz="1200" b="1" i="0" dirty="0">
                <a:solidFill>
                  <a:srgbClr val="FFFFFF"/>
                </a:solidFill>
              </a:rPr>
              <a:t>Redis</a:t>
            </a:r>
          </a:p>
        </p:txBody>
      </p:sp>
      <p:sp>
        <p:nvSpPr>
          <p:cNvPr id="12" name="Rectangle 11"/>
          <p:cNvSpPr/>
          <p:nvPr/>
        </p:nvSpPr>
        <p:spPr>
          <a:xfrm>
            <a:off x="6281809" y="4080406"/>
            <a:ext cx="5439275" cy="36540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81928" y="4134912"/>
            <a:ext cx="5394960" cy="274320"/>
          </a:xfrm>
          <a:prstGeom prst="rect">
            <a:avLst/>
          </a:prstGeom>
          <a:noFill/>
        </p:spPr>
        <p:txBody>
          <a:bodyPr wrap="square">
            <a:spAutoFit/>
          </a:bodyPr>
          <a:lstStyle/>
          <a:p>
            <a:pPr algn="l"/>
            <a:r>
              <a:rPr sz="1200" b="1" i="0" dirty="0" err="1">
                <a:solidFill>
                  <a:srgbClr val="FFFFFF"/>
                </a:solidFill>
              </a:rPr>
              <a:t>Memcache</a:t>
            </a:r>
            <a:endParaRPr sz="1200" b="1" i="0" dirty="0">
              <a:solidFill>
                <a:srgbClr val="FFFFFF"/>
              </a:solidFill>
            </a:endParaRPr>
          </a:p>
        </p:txBody>
      </p:sp>
      <p:sp>
        <p:nvSpPr>
          <p:cNvPr id="19" name="TextBox 18"/>
          <p:cNvSpPr txBox="1"/>
          <p:nvPr/>
        </p:nvSpPr>
        <p:spPr>
          <a:xfrm>
            <a:off x="611124" y="1787843"/>
            <a:ext cx="5484876" cy="1979966"/>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In-memory (default)</a:t>
            </a:r>
          </a:p>
          <a:p>
            <a:pPr>
              <a:lnSpc>
                <a:spcPct val="115000"/>
              </a:lnSpc>
              <a:spcBef>
                <a:spcPts val="0"/>
              </a:spcBef>
            </a:pPr>
            <a:r>
              <a:rPr sz="1300" b="0" dirty="0">
                <a:solidFill>
                  <a:srgbClr val="9CDCFE"/>
                </a:solidFill>
                <a:latin typeface="Courier New"/>
              </a:rPr>
              <a:t>CHATMEMORY</a:t>
            </a:r>
            <a:r>
              <a:rPr sz="1300" b="0" dirty="0">
                <a:solidFill>
                  <a:srgbClr val="D4D4D4"/>
                </a:solidFill>
                <a:latin typeface="Courier New"/>
              </a:rPr>
              <a:t> : { </a:t>
            </a:r>
            <a:r>
              <a:rPr sz="1300" b="0" dirty="0">
                <a:solidFill>
                  <a:srgbClr val="9CDCFE"/>
                </a:solidFill>
                <a:latin typeface="Courier New"/>
              </a:rPr>
              <a:t>MAXMESSAGES</a:t>
            </a:r>
            <a:r>
              <a:rPr sz="1300" b="0" dirty="0">
                <a:solidFill>
                  <a:srgbClr val="D4D4D4"/>
                </a:solidFill>
                <a:latin typeface="Courier New"/>
              </a:rPr>
              <a:t>: </a:t>
            </a:r>
            <a:r>
              <a:rPr sz="1300" b="0" dirty="0">
                <a:solidFill>
                  <a:srgbClr val="B5CEA8"/>
                </a:solidFill>
                <a:latin typeface="Courier New"/>
              </a:rPr>
              <a:t>20</a:t>
            </a:r>
            <a:r>
              <a:rPr sz="1300" b="0" dirty="0">
                <a:solidFill>
                  <a:srgbClr val="D4D4D4"/>
                </a:solidFill>
                <a:latin typeface="Courier New"/>
              </a:rPr>
              <a:t> }</a:t>
            </a:r>
          </a:p>
          <a:p>
            <a:pPr>
              <a:lnSpc>
                <a:spcPct val="115000"/>
              </a:lnSpc>
              <a:spcBef>
                <a:spcPts val="0"/>
              </a:spcBef>
            </a:pPr>
            <a:endParaRPr sz="1300" b="0" dirty="0">
              <a:solidFill>
                <a:srgbClr val="D4D4D4"/>
              </a:solidFill>
              <a:latin typeface="Courier New"/>
            </a:endParaRPr>
          </a:p>
          <a:p>
            <a:pPr>
              <a:lnSpc>
                <a:spcPct val="115000"/>
              </a:lnSpc>
              <a:spcBef>
                <a:spcPts val="0"/>
              </a:spcBef>
            </a:pPr>
            <a:r>
              <a:rPr sz="1300" b="0" dirty="0">
                <a:solidFill>
                  <a:srgbClr val="6A9955"/>
                </a:solidFill>
                <a:latin typeface="Courier New"/>
              </a:rPr>
              <a:t>// Lives in the agent() object itself</a:t>
            </a:r>
          </a:p>
          <a:p>
            <a:pPr>
              <a:lnSpc>
                <a:spcPct val="115000"/>
              </a:lnSpc>
              <a:spcBef>
                <a:spcPts val="0"/>
              </a:spcBef>
            </a:pPr>
            <a:r>
              <a:rPr sz="1300" b="0" dirty="0">
                <a:solidFill>
                  <a:srgbClr val="6A9955"/>
                </a:solidFill>
                <a:latin typeface="Courier New"/>
              </a:rPr>
              <a:t>// ✓ Zero config  ✓ Fastest</a:t>
            </a:r>
            <a:endParaRPr lang="en-US" sz="1300" b="0" dirty="0">
              <a:solidFill>
                <a:srgbClr val="6A9955"/>
              </a:solidFill>
              <a:latin typeface="Courier New"/>
            </a:endParaRPr>
          </a:p>
          <a:p>
            <a:pPr>
              <a:lnSpc>
                <a:spcPct val="115000"/>
              </a:lnSpc>
              <a:spcBef>
                <a:spcPts val="0"/>
              </a:spcBef>
            </a:pPr>
            <a:endParaRPr sz="1300" b="0" dirty="0">
              <a:solidFill>
                <a:srgbClr val="6A9955"/>
              </a:solidFill>
              <a:latin typeface="Courier New"/>
            </a:endParaRPr>
          </a:p>
          <a:p>
            <a:pPr>
              <a:lnSpc>
                <a:spcPct val="115000"/>
              </a:lnSpc>
              <a:spcBef>
                <a:spcPts val="0"/>
              </a:spcBef>
            </a:pPr>
            <a:r>
              <a:rPr sz="1300" b="0" dirty="0">
                <a:solidFill>
                  <a:srgbClr val="6A9955"/>
                </a:solidFill>
                <a:latin typeface="Courier New"/>
              </a:rPr>
              <a:t>// ✗ Lost on GC or server restart</a:t>
            </a:r>
          </a:p>
          <a:p>
            <a:pPr>
              <a:lnSpc>
                <a:spcPct val="115000"/>
              </a:lnSpc>
              <a:spcBef>
                <a:spcPts val="0"/>
              </a:spcBef>
            </a:pPr>
            <a:r>
              <a:rPr sz="1300" b="0" dirty="0">
                <a:solidFill>
                  <a:srgbClr val="6A9955"/>
                </a:solidFill>
                <a:latin typeface="Courier New"/>
              </a:rPr>
              <a:t>// ✗ Not shared across CF instances</a:t>
            </a:r>
          </a:p>
        </p:txBody>
      </p:sp>
      <p:sp>
        <p:nvSpPr>
          <p:cNvPr id="20" name="TextBox 19"/>
          <p:cNvSpPr txBox="1"/>
          <p:nvPr/>
        </p:nvSpPr>
        <p:spPr>
          <a:xfrm>
            <a:off x="6236208" y="1736553"/>
            <a:ext cx="5484876" cy="2031255"/>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a:t>
            </a:r>
            <a:r>
              <a:rPr sz="1300" b="0" dirty="0" err="1">
                <a:solidFill>
                  <a:srgbClr val="6A9955"/>
                </a:solidFill>
                <a:latin typeface="Courier New"/>
              </a:rPr>
              <a:t>EHCache</a:t>
            </a:r>
            <a:r>
              <a:rPr sz="1300" b="0" dirty="0">
                <a:solidFill>
                  <a:srgbClr val="6A9955"/>
                </a:solidFill>
                <a:latin typeface="Courier New"/>
              </a:rPr>
              <a:t> — built into CF</a:t>
            </a:r>
          </a:p>
          <a:p>
            <a:pPr>
              <a:lnSpc>
                <a:spcPct val="115000"/>
              </a:lnSpc>
              <a:spcBef>
                <a:spcPts val="0"/>
              </a:spcBef>
            </a:pPr>
            <a:r>
              <a:rPr sz="1300" b="0" dirty="0">
                <a:solidFill>
                  <a:srgbClr val="9CDCFE"/>
                </a:solidFill>
                <a:latin typeface="Courier New"/>
              </a:rPr>
              <a:t>CHATMEMORY</a:t>
            </a:r>
            <a:r>
              <a:rPr sz="1300" b="0" dirty="0">
                <a:solidFill>
                  <a:srgbClr val="D4D4D4"/>
                </a:solidFill>
                <a:latin typeface="Courier New"/>
              </a:rPr>
              <a:t> :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MAXMESSAGES</a:t>
            </a:r>
            <a:r>
              <a:rPr sz="1300" b="0" dirty="0">
                <a:solidFill>
                  <a:srgbClr val="D4D4D4"/>
                </a:solidFill>
                <a:latin typeface="Courier New"/>
              </a:rPr>
              <a:t>     : </a:t>
            </a:r>
            <a:r>
              <a:rPr sz="1300" b="0" dirty="0">
                <a:solidFill>
                  <a:srgbClr val="B5CEA8"/>
                </a:solidFill>
                <a:latin typeface="Courier New"/>
              </a:rPr>
              <a:t>20</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PERSISTENTSTORE</a:t>
            </a:r>
            <a:r>
              <a:rPr sz="1300" b="0" dirty="0">
                <a:solidFill>
                  <a:srgbClr val="D4D4D4"/>
                </a:solidFill>
                <a:latin typeface="Courier New"/>
              </a:rPr>
              <a:t> : </a:t>
            </a:r>
            <a:r>
              <a:rPr sz="1300" b="0" dirty="0">
                <a:solidFill>
                  <a:srgbClr val="CE9178"/>
                </a:solidFill>
                <a:latin typeface="Courier New"/>
              </a:rPr>
              <a:t>"EHCACHE"</a:t>
            </a:r>
          </a:p>
          <a:p>
            <a:pPr>
              <a:lnSpc>
                <a:spcPct val="115000"/>
              </a:lnSpc>
              <a:spcBef>
                <a:spcPts val="0"/>
              </a:spcBef>
            </a:pPr>
            <a:r>
              <a:rPr sz="1300" b="0" dirty="0">
                <a:solidFill>
                  <a:srgbClr val="D4D4D4"/>
                </a:solidFill>
                <a:latin typeface="Courier New"/>
              </a:rPr>
              <a:t>}</a:t>
            </a:r>
          </a:p>
          <a:p>
            <a:pPr>
              <a:lnSpc>
                <a:spcPct val="115000"/>
              </a:lnSpc>
              <a:spcBef>
                <a:spcPts val="0"/>
              </a:spcBef>
            </a:pPr>
            <a:r>
              <a:rPr sz="1300" b="0" dirty="0">
                <a:solidFill>
                  <a:srgbClr val="6A9955"/>
                </a:solidFill>
                <a:latin typeface="Courier New"/>
              </a:rPr>
              <a:t>// ✓ No external server needed</a:t>
            </a:r>
            <a:endParaRPr lang="en-US" sz="1300" b="0" dirty="0">
              <a:solidFill>
                <a:srgbClr val="6A9955"/>
              </a:solidFill>
              <a:latin typeface="Courier New"/>
            </a:endParaRPr>
          </a:p>
          <a:p>
            <a:pPr>
              <a:lnSpc>
                <a:spcPct val="115000"/>
              </a:lnSpc>
              <a:spcBef>
                <a:spcPts val="0"/>
              </a:spcBef>
            </a:pPr>
            <a:r>
              <a:rPr sz="1300" b="0" dirty="0">
                <a:solidFill>
                  <a:srgbClr val="6A9955"/>
                </a:solidFill>
                <a:latin typeface="Courier New"/>
              </a:rPr>
              <a:t>// ✓ Survives app restart</a:t>
            </a:r>
          </a:p>
          <a:p>
            <a:pPr>
              <a:lnSpc>
                <a:spcPct val="115000"/>
              </a:lnSpc>
              <a:spcBef>
                <a:spcPts val="0"/>
              </a:spcBef>
            </a:pPr>
            <a:r>
              <a:rPr sz="1300" b="0" dirty="0">
                <a:solidFill>
                  <a:srgbClr val="6A9955"/>
                </a:solidFill>
                <a:latin typeface="Courier New"/>
              </a:rPr>
              <a:t>// ✓ Works in CF cluster</a:t>
            </a:r>
          </a:p>
        </p:txBody>
      </p:sp>
      <p:sp>
        <p:nvSpPr>
          <p:cNvPr id="21" name="TextBox 20"/>
          <p:cNvSpPr txBox="1"/>
          <p:nvPr/>
        </p:nvSpPr>
        <p:spPr>
          <a:xfrm>
            <a:off x="612648" y="4448937"/>
            <a:ext cx="5483352" cy="2210029"/>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Redis — production scale</a:t>
            </a:r>
          </a:p>
          <a:p>
            <a:pPr>
              <a:lnSpc>
                <a:spcPct val="115000"/>
              </a:lnSpc>
              <a:spcBef>
                <a:spcPts val="0"/>
              </a:spcBef>
            </a:pPr>
            <a:r>
              <a:rPr sz="1300" b="0" dirty="0">
                <a:solidFill>
                  <a:srgbClr val="9CDCFE"/>
                </a:solidFill>
                <a:latin typeface="Courier New"/>
              </a:rPr>
              <a:t>CHATMEMORY</a:t>
            </a:r>
            <a:r>
              <a:rPr sz="1300" b="0" dirty="0">
                <a:solidFill>
                  <a:srgbClr val="D4D4D4"/>
                </a:solidFill>
                <a:latin typeface="Courier New"/>
              </a:rPr>
              <a:t> :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MAXMESSAGES</a:t>
            </a:r>
            <a:r>
              <a:rPr sz="1300" b="0" dirty="0">
                <a:solidFill>
                  <a:srgbClr val="D4D4D4"/>
                </a:solidFill>
                <a:latin typeface="Courier New"/>
              </a:rPr>
              <a:t>     : </a:t>
            </a:r>
            <a:r>
              <a:rPr sz="1300" b="0" dirty="0">
                <a:solidFill>
                  <a:srgbClr val="B5CEA8"/>
                </a:solidFill>
                <a:latin typeface="Courier New"/>
              </a:rPr>
              <a:t>20</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PERSISTENTSTORE</a:t>
            </a:r>
            <a:r>
              <a:rPr sz="1300" b="0" dirty="0">
                <a:solidFill>
                  <a:srgbClr val="D4D4D4"/>
                </a:solidFill>
                <a:latin typeface="Courier New"/>
              </a:rPr>
              <a:t> : </a:t>
            </a:r>
            <a:r>
              <a:rPr sz="1300" b="0" dirty="0">
                <a:solidFill>
                  <a:srgbClr val="CE9178"/>
                </a:solidFill>
                <a:latin typeface="Courier New"/>
              </a:rPr>
              <a:t>"REDIS"</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PERUSER</a:t>
            </a:r>
            <a:r>
              <a:rPr sz="1300" b="0" dirty="0">
                <a:solidFill>
                  <a:srgbClr val="D4D4D4"/>
                </a:solidFill>
                <a:latin typeface="Courier New"/>
              </a:rPr>
              <a:t>         : </a:t>
            </a:r>
            <a:r>
              <a:rPr sz="1300" b="0" dirty="0">
                <a:solidFill>
                  <a:srgbClr val="569CD6"/>
                </a:solidFill>
                <a:latin typeface="Courier New"/>
              </a:rPr>
              <a:t>true</a:t>
            </a:r>
          </a:p>
          <a:p>
            <a:pPr>
              <a:lnSpc>
                <a:spcPct val="115000"/>
              </a:lnSpc>
              <a:spcBef>
                <a:spcPts val="0"/>
              </a:spcBef>
            </a:pPr>
            <a:r>
              <a:rPr sz="1300" b="0" dirty="0">
                <a:solidFill>
                  <a:srgbClr val="D4D4D4"/>
                </a:solidFill>
                <a:latin typeface="Courier New"/>
              </a:rPr>
              <a:t>}</a:t>
            </a:r>
          </a:p>
          <a:p>
            <a:pPr>
              <a:lnSpc>
                <a:spcPct val="115000"/>
              </a:lnSpc>
              <a:spcBef>
                <a:spcPts val="0"/>
              </a:spcBef>
            </a:pPr>
            <a:r>
              <a:rPr sz="1300" b="0" dirty="0">
                <a:solidFill>
                  <a:srgbClr val="6A9955"/>
                </a:solidFill>
                <a:latin typeface="Courier New"/>
              </a:rPr>
              <a:t>// Configure in CF Admin → Cache</a:t>
            </a:r>
            <a:endParaRPr lang="en-US" sz="1300" b="0" dirty="0">
              <a:solidFill>
                <a:srgbClr val="6A9955"/>
              </a:solidFill>
              <a:latin typeface="Courier New"/>
            </a:endParaRPr>
          </a:p>
          <a:p>
            <a:pPr>
              <a:lnSpc>
                <a:spcPct val="115000"/>
              </a:lnSpc>
              <a:spcBef>
                <a:spcPts val="0"/>
              </a:spcBef>
            </a:pPr>
            <a:r>
              <a:rPr sz="1300" b="0" dirty="0">
                <a:solidFill>
                  <a:srgbClr val="6A9955"/>
                </a:solidFill>
                <a:latin typeface="Courier New"/>
              </a:rPr>
              <a:t>// ✓ Survives full restart</a:t>
            </a:r>
          </a:p>
          <a:p>
            <a:pPr>
              <a:lnSpc>
                <a:spcPct val="115000"/>
              </a:lnSpc>
              <a:spcBef>
                <a:spcPts val="0"/>
              </a:spcBef>
            </a:pPr>
            <a:r>
              <a:rPr sz="1300" b="0" dirty="0">
                <a:solidFill>
                  <a:srgbClr val="6A9955"/>
                </a:solidFill>
                <a:latin typeface="Courier New"/>
              </a:rPr>
              <a:t>// ✓ Shared across all CF instances</a:t>
            </a:r>
          </a:p>
        </p:txBody>
      </p:sp>
      <p:sp>
        <p:nvSpPr>
          <p:cNvPr id="22" name="TextBox 21"/>
          <p:cNvSpPr txBox="1"/>
          <p:nvPr/>
        </p:nvSpPr>
        <p:spPr>
          <a:xfrm>
            <a:off x="6304609" y="4482384"/>
            <a:ext cx="5440799" cy="2210029"/>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Memcached — distributed cache</a:t>
            </a:r>
          </a:p>
          <a:p>
            <a:pPr>
              <a:lnSpc>
                <a:spcPct val="115000"/>
              </a:lnSpc>
              <a:spcBef>
                <a:spcPts val="0"/>
              </a:spcBef>
            </a:pPr>
            <a:r>
              <a:rPr sz="1300" b="0" dirty="0">
                <a:solidFill>
                  <a:srgbClr val="9CDCFE"/>
                </a:solidFill>
                <a:latin typeface="Courier New"/>
              </a:rPr>
              <a:t>CHATMEMORY</a:t>
            </a:r>
            <a:r>
              <a:rPr sz="1300" b="0" dirty="0">
                <a:solidFill>
                  <a:srgbClr val="D4D4D4"/>
                </a:solidFill>
                <a:latin typeface="Courier New"/>
              </a:rPr>
              <a:t> :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MAXMESSAGES</a:t>
            </a:r>
            <a:r>
              <a:rPr sz="1300" b="0" dirty="0">
                <a:solidFill>
                  <a:srgbClr val="D4D4D4"/>
                </a:solidFill>
                <a:latin typeface="Courier New"/>
              </a:rPr>
              <a:t>     : </a:t>
            </a:r>
            <a:r>
              <a:rPr sz="1300" b="0" dirty="0">
                <a:solidFill>
                  <a:srgbClr val="B5CEA8"/>
                </a:solidFill>
                <a:latin typeface="Courier New"/>
              </a:rPr>
              <a:t>20</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PERSISTENTSTORE</a:t>
            </a:r>
            <a:r>
              <a:rPr sz="1300" b="0" dirty="0">
                <a:solidFill>
                  <a:srgbClr val="D4D4D4"/>
                </a:solidFill>
                <a:latin typeface="Courier New"/>
              </a:rPr>
              <a:t> : </a:t>
            </a:r>
            <a:r>
              <a:rPr sz="1300" b="0" dirty="0">
                <a:solidFill>
                  <a:srgbClr val="CE9178"/>
                </a:solidFill>
                <a:latin typeface="Courier New"/>
              </a:rPr>
              <a:t>"MEMCACHED"</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PERUSER</a:t>
            </a:r>
            <a:r>
              <a:rPr sz="1300" b="0" dirty="0">
                <a:solidFill>
                  <a:srgbClr val="D4D4D4"/>
                </a:solidFill>
                <a:latin typeface="Courier New"/>
              </a:rPr>
              <a:t>         : </a:t>
            </a:r>
            <a:r>
              <a:rPr sz="1300" b="0" dirty="0">
                <a:solidFill>
                  <a:srgbClr val="569CD6"/>
                </a:solidFill>
                <a:latin typeface="Courier New"/>
              </a:rPr>
              <a:t>true</a:t>
            </a:r>
          </a:p>
          <a:p>
            <a:pPr>
              <a:lnSpc>
                <a:spcPct val="115000"/>
              </a:lnSpc>
              <a:spcBef>
                <a:spcPts val="0"/>
              </a:spcBef>
            </a:pPr>
            <a:r>
              <a:rPr sz="1300" b="0" dirty="0">
                <a:solidFill>
                  <a:srgbClr val="D4D4D4"/>
                </a:solidFill>
                <a:latin typeface="Courier New"/>
              </a:rPr>
              <a:t>}</a:t>
            </a:r>
          </a:p>
          <a:p>
            <a:pPr>
              <a:lnSpc>
                <a:spcPct val="115000"/>
              </a:lnSpc>
              <a:spcBef>
                <a:spcPts val="0"/>
              </a:spcBef>
            </a:pPr>
            <a:r>
              <a:rPr sz="1300" b="0" dirty="0">
                <a:solidFill>
                  <a:srgbClr val="6A9955"/>
                </a:solidFill>
                <a:latin typeface="Courier New"/>
              </a:rPr>
              <a:t>// ✓ High-performance distributed</a:t>
            </a:r>
            <a:endParaRPr lang="en-US" sz="1300" b="0" dirty="0">
              <a:solidFill>
                <a:srgbClr val="6A9955"/>
              </a:solidFill>
              <a:latin typeface="Courier New"/>
            </a:endParaRPr>
          </a:p>
          <a:p>
            <a:pPr>
              <a:lnSpc>
                <a:spcPct val="115000"/>
              </a:lnSpc>
              <a:spcBef>
                <a:spcPts val="0"/>
              </a:spcBef>
            </a:pPr>
            <a:r>
              <a:rPr sz="1300" b="0" dirty="0">
                <a:solidFill>
                  <a:srgbClr val="6A9955"/>
                </a:solidFill>
                <a:latin typeface="Courier New"/>
              </a:rPr>
              <a:t>// Note: "MEMCACHED" not "MEMCACHE"</a:t>
            </a:r>
          </a:p>
          <a:p>
            <a:pPr>
              <a:lnSpc>
                <a:spcPct val="115000"/>
              </a:lnSpc>
              <a:spcBef>
                <a:spcPts val="0"/>
              </a:spcBef>
            </a:pPr>
            <a:r>
              <a:rPr sz="1300" b="0" dirty="0">
                <a:solidFill>
                  <a:srgbClr val="6A9955"/>
                </a:solidFill>
                <a:latin typeface="Courier New"/>
              </a:rPr>
              <a:t>// ✗ Cache can evict (not fully durable)</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2"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3"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4"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5"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7" dur="indefinite" nodeType="mainSeq">
                <p:childTnLst>
                  <p:par>
                    <p:cTn id="28" fill="hold">
                      <p:stCondLst>
                        <p:cond delay="indefinite"/>
                      </p:stCondLst>
                      <p:childTnLst>
                        <p:par>
                          <p:cTn id="29" fill="hold">
                            <p:stCondLst>
                              <p:cond delay="0"/>
                            </p:stCondLst>
                            <p:childTnLst>
                              <p:par>
                                <p:cTn id="30" presetID="1" presetClass="entr" presetSubtype="0" fill="hold" grpId="1" nodeType="click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2" nodeType="click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3" nodeType="click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4" nodeType="click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3" grpId="0" animBg="1"/>
      <p:bldP spid="6" grpId="0" animBg="1"/>
      <p:bldP spid="9" grpId="0" animBg="1"/>
      <p:bldP spid="12" grpId="0" animBg="1"/>
      <p:bldP spid="19" grpId="1" animBg="1"/>
      <p:bldP spid="19" grpId="2" animBg="1"/>
      <p:bldP spid="20" grpId="2" animBg="1"/>
      <p:bldP spid="20" grpId="3" animBg="1"/>
      <p:bldP spid="21" grpId="3" animBg="1"/>
      <p:bldP spid="21" grpId="4" animBg="1"/>
      <p:bldP spid="22" grpId="4" animBg="1"/>
      <p:bldP spid="22" grpId="5"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Problem 3 — The AI Has No Memory</a:t>
            </a:r>
          </a:p>
        </p:txBody>
      </p:sp>
      <p:sp>
        <p:nvSpPr>
          <p:cNvPr id="3" name="Rectangle 2"/>
          <p:cNvSpPr/>
          <p:nvPr/>
        </p:nvSpPr>
        <p:spPr>
          <a:xfrm>
            <a:off x="612648" y="1417320"/>
            <a:ext cx="11576304" cy="83210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536192"/>
            <a:ext cx="11247120" cy="713232"/>
          </a:xfrm>
          <a:prstGeom prst="rect">
            <a:avLst/>
          </a:prstGeom>
          <a:noFill/>
        </p:spPr>
        <p:txBody>
          <a:bodyPr wrap="square">
            <a:spAutoFit/>
          </a:bodyPr>
          <a:lstStyle/>
          <a:p>
            <a:pPr algn="l"/>
            <a:r>
              <a:rPr sz="1500" b="1" i="0">
                <a:solidFill>
                  <a:srgbClr val="FFFFFF"/>
                </a:solidFill>
              </a:rPr>
              <a:t>Problem 3: Every .chat() call is independent — the AI has zero memory of previous messages.</a:t>
            </a:r>
          </a:p>
        </p:txBody>
      </p:sp>
      <p:sp>
        <p:nvSpPr>
          <p:cNvPr id="5" name="TextBox 4"/>
          <p:cNvSpPr txBox="1"/>
          <p:nvPr/>
        </p:nvSpPr>
        <p:spPr>
          <a:xfrm>
            <a:off x="612648" y="2496312"/>
            <a:ext cx="11576304" cy="369332"/>
          </a:xfrm>
          <a:prstGeom prst="rect">
            <a:avLst/>
          </a:prstGeom>
          <a:noFill/>
        </p:spPr>
        <p:txBody>
          <a:bodyPr wrap="square">
            <a:spAutoFit/>
          </a:bodyPr>
          <a:lstStyle/>
          <a:p>
            <a:pPr algn="l"/>
            <a:r>
              <a:rPr b="0" i="1" dirty="0">
                <a:solidFill>
                  <a:srgbClr val="555555"/>
                </a:solidFill>
              </a:rPr>
              <a:t>What the customer experiences without chat memory:</a:t>
            </a:r>
          </a:p>
        </p:txBody>
      </p:sp>
      <p:sp>
        <p:nvSpPr>
          <p:cNvPr id="6" name="TextBox 5"/>
          <p:cNvSpPr txBox="1"/>
          <p:nvPr/>
        </p:nvSpPr>
        <p:spPr>
          <a:xfrm>
            <a:off x="612648" y="2898648"/>
            <a:ext cx="11576304" cy="1946687"/>
          </a:xfrm>
          <a:prstGeom prst="rect">
            <a:avLst/>
          </a:prstGeom>
          <a:noFill/>
        </p:spPr>
        <p:txBody>
          <a:bodyPr wrap="square">
            <a:spAutoFit/>
          </a:bodyPr>
          <a:lstStyle/>
          <a:p>
            <a:pPr>
              <a:spcBef>
                <a:spcPts val="300"/>
              </a:spcBef>
            </a:pPr>
            <a:r>
              <a:rPr b="1" dirty="0">
                <a:solidFill>
                  <a:srgbClr val="00788C"/>
                </a:solidFill>
              </a:rPr>
              <a:t>Customer:  </a:t>
            </a:r>
            <a:r>
              <a:rPr dirty="0">
                <a:solidFill>
                  <a:srgbClr val="1A1A1A"/>
                </a:solidFill>
              </a:rPr>
              <a:t>Hi, my name is Sarah. My order is 12345.</a:t>
            </a:r>
          </a:p>
          <a:p>
            <a:pPr>
              <a:spcBef>
                <a:spcPts val="300"/>
              </a:spcBef>
            </a:pPr>
            <a:r>
              <a:rPr b="1" dirty="0">
                <a:solidFill>
                  <a:srgbClr val="EB1000"/>
                </a:solidFill>
              </a:rPr>
              <a:t>AI:  </a:t>
            </a:r>
            <a:r>
              <a:rPr dirty="0">
                <a:solidFill>
                  <a:srgbClr val="107C10"/>
                </a:solidFill>
              </a:rPr>
              <a:t>Hello Sarah! How can I help you with order #12345?  ✓</a:t>
            </a:r>
          </a:p>
          <a:p>
            <a:pPr>
              <a:spcBef>
                <a:spcPts val="300"/>
              </a:spcBef>
            </a:pPr>
            <a:r>
              <a:rPr b="1" dirty="0">
                <a:solidFill>
                  <a:srgbClr val="00788C"/>
                </a:solidFill>
              </a:rPr>
              <a:t>Customer:  </a:t>
            </a:r>
            <a:r>
              <a:rPr dirty="0">
                <a:solidFill>
                  <a:srgbClr val="1A1A1A"/>
                </a:solidFill>
              </a:rPr>
              <a:t>What's the shipping status?</a:t>
            </a:r>
          </a:p>
          <a:p>
            <a:pPr>
              <a:spcBef>
                <a:spcPts val="300"/>
              </a:spcBef>
            </a:pPr>
            <a:r>
              <a:rPr b="1" dirty="0">
                <a:solidFill>
                  <a:srgbClr val="EB1000"/>
                </a:solidFill>
              </a:rPr>
              <a:t>AI:  </a:t>
            </a:r>
            <a:r>
              <a:rPr dirty="0">
                <a:solidFill>
                  <a:srgbClr val="EB1000"/>
                </a:solidFill>
              </a:rPr>
              <a:t>I'd be happy to help! Could you share your order number?  ❌  already told you!</a:t>
            </a:r>
          </a:p>
          <a:p>
            <a:pPr>
              <a:spcBef>
                <a:spcPts val="300"/>
              </a:spcBef>
            </a:pPr>
            <a:r>
              <a:rPr b="1" dirty="0">
                <a:solidFill>
                  <a:srgbClr val="00788C"/>
                </a:solidFill>
              </a:rPr>
              <a:t>Customer:  </a:t>
            </a:r>
            <a:r>
              <a:rPr dirty="0">
                <a:solidFill>
                  <a:srgbClr val="1A1A1A"/>
                </a:solidFill>
              </a:rPr>
              <a:t>#12345 — I just told you that!</a:t>
            </a:r>
          </a:p>
          <a:p>
            <a:pPr>
              <a:spcBef>
                <a:spcPts val="300"/>
              </a:spcBef>
            </a:pPr>
            <a:r>
              <a:rPr b="1" dirty="0">
                <a:solidFill>
                  <a:srgbClr val="EB1000"/>
                </a:solidFill>
              </a:rPr>
              <a:t>AI:  </a:t>
            </a:r>
            <a:r>
              <a:rPr dirty="0">
                <a:solidFill>
                  <a:srgbClr val="EB1000"/>
                </a:solidFill>
              </a:rPr>
              <a:t>I apologize — what was the order number again?  ❌  still no memory</a:t>
            </a:r>
          </a:p>
        </p:txBody>
      </p:sp>
      <p:sp>
        <p:nvSpPr>
          <p:cNvPr id="7" name="TextBox 6"/>
          <p:cNvSpPr txBox="1"/>
          <p:nvPr/>
        </p:nvSpPr>
        <p:spPr>
          <a:xfrm>
            <a:off x="612648" y="5193792"/>
            <a:ext cx="11576304" cy="369332"/>
          </a:xfrm>
          <a:prstGeom prst="rect">
            <a:avLst/>
          </a:prstGeom>
          <a:noFill/>
        </p:spPr>
        <p:txBody>
          <a:bodyPr wrap="square">
            <a:spAutoFit/>
          </a:bodyPr>
          <a:lstStyle/>
          <a:p>
            <a:pPr algn="l"/>
            <a:r>
              <a:rPr b="1" i="0" dirty="0">
                <a:solidFill>
                  <a:srgbClr val="107C10"/>
                </a:solidFill>
              </a:rPr>
              <a:t>Solution: Pass CHATMEMORY to agent()</a:t>
            </a:r>
            <a:r>
              <a:rPr lang="en-US" b="1" i="0" dirty="0">
                <a:solidFill>
                  <a:srgbClr val="107C10"/>
                </a:solidFill>
              </a:rPr>
              <a:t>.</a:t>
            </a:r>
            <a:endParaRPr b="1" i="0" dirty="0">
              <a:solidFill>
                <a:srgbClr val="107C1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b="1"/>
              <a:t>Problem 3 — Solution: Add Chat Memory</a:t>
            </a:r>
          </a:p>
        </p:txBody>
      </p:sp>
      <p:sp>
        <p:nvSpPr>
          <p:cNvPr id="4" name="TextBox 3"/>
          <p:cNvSpPr txBox="1"/>
          <p:nvPr/>
        </p:nvSpPr>
        <p:spPr>
          <a:xfrm>
            <a:off x="7734874" y="1210474"/>
            <a:ext cx="4251960" cy="5863144"/>
          </a:xfrm>
          <a:prstGeom prst="rect">
            <a:avLst/>
          </a:prstGeom>
          <a:noFill/>
        </p:spPr>
        <p:txBody>
          <a:bodyPr wrap="square">
            <a:spAutoFit/>
          </a:bodyPr>
          <a:lstStyle/>
          <a:p>
            <a:pPr>
              <a:spcBef>
                <a:spcPts val="300"/>
              </a:spcBef>
            </a:pPr>
            <a:r>
              <a:rPr b="1" dirty="0">
                <a:solidFill>
                  <a:srgbClr val="EB1000"/>
                </a:solidFill>
              </a:rPr>
              <a:t>What changed:</a:t>
            </a:r>
          </a:p>
          <a:p>
            <a:pPr>
              <a:spcBef>
                <a:spcPts val="300"/>
              </a:spcBef>
            </a:pPr>
            <a:r>
              <a:rPr dirty="0">
                <a:solidFill>
                  <a:srgbClr val="555555"/>
                </a:solidFill>
              </a:rPr>
              <a:t>  CHATMEMORY:{MAXMESSAGES:20} added</a:t>
            </a:r>
          </a:p>
          <a:p>
            <a:pPr>
              <a:spcBef>
                <a:spcPts val="300"/>
              </a:spcBef>
            </a:pPr>
            <a:r>
              <a:rPr dirty="0">
                <a:solidFill>
                  <a:srgbClr val="555555"/>
                </a:solidFill>
              </a:rPr>
              <a:t>  Agent stored in </a:t>
            </a:r>
            <a:r>
              <a:rPr dirty="0" err="1">
                <a:solidFill>
                  <a:srgbClr val="555555"/>
                </a:solidFill>
              </a:rPr>
              <a:t>session.</a:t>
            </a:r>
            <a:r>
              <a:rPr lang="en-US" dirty="0" err="1">
                <a:solidFill>
                  <a:srgbClr val="555555"/>
                </a:solidFill>
              </a:rPr>
              <a:t>nexoraAgent</a:t>
            </a:r>
            <a:endParaRPr dirty="0">
              <a:solidFill>
                <a:srgbClr val="555555"/>
              </a:solidFill>
            </a:endParaRPr>
          </a:p>
          <a:p>
            <a:pPr>
              <a:spcBef>
                <a:spcPts val="300"/>
              </a:spcBef>
            </a:pPr>
            <a:r>
              <a:rPr dirty="0">
                <a:solidFill>
                  <a:srgbClr val="555555"/>
                </a:solidFill>
              </a:rPr>
              <a:t>  </a:t>
            </a:r>
            <a:r>
              <a:rPr dirty="0" err="1">
                <a:solidFill>
                  <a:srgbClr val="555555"/>
                </a:solidFill>
              </a:rPr>
              <a:t>systemMessage</a:t>
            </a:r>
            <a:r>
              <a:rPr dirty="0">
                <a:solidFill>
                  <a:srgbClr val="555555"/>
                </a:solidFill>
              </a:rPr>
              <a:t>() called once on creation</a:t>
            </a:r>
          </a:p>
          <a:p>
            <a:pPr>
              <a:spcBef>
                <a:spcPts val="300"/>
              </a:spcBef>
            </a:pPr>
            <a:r>
              <a:rPr dirty="0">
                <a:solidFill>
                  <a:srgbClr val="555555"/>
                </a:solidFill>
              </a:rPr>
              <a:t>  reset=true clears conversation</a:t>
            </a:r>
          </a:p>
          <a:p>
            <a:pPr>
              <a:spcBef>
                <a:spcPts val="300"/>
              </a:spcBef>
            </a:pPr>
            <a:endParaRPr dirty="0">
              <a:solidFill>
                <a:srgbClr val="555555"/>
              </a:solidFill>
            </a:endParaRPr>
          </a:p>
          <a:p>
            <a:pPr>
              <a:spcBef>
                <a:spcPts val="300"/>
              </a:spcBef>
            </a:pPr>
            <a:r>
              <a:rPr b="1" dirty="0">
                <a:solidFill>
                  <a:srgbClr val="EB1000"/>
                </a:solidFill>
              </a:rPr>
              <a:t>Result:</a:t>
            </a:r>
          </a:p>
          <a:p>
            <a:pPr>
              <a:spcBef>
                <a:spcPts val="300"/>
              </a:spcBef>
            </a:pPr>
            <a:r>
              <a:rPr dirty="0">
                <a:solidFill>
                  <a:srgbClr val="555555"/>
                </a:solidFill>
              </a:rPr>
              <a:t>  Customer gives order# once — remembered</a:t>
            </a:r>
          </a:p>
          <a:p>
            <a:pPr>
              <a:spcBef>
                <a:spcPts val="300"/>
              </a:spcBef>
            </a:pPr>
            <a:r>
              <a:rPr dirty="0">
                <a:solidFill>
                  <a:srgbClr val="555555"/>
                </a:solidFill>
              </a:rPr>
              <a:t>  Follow-ups have full context</a:t>
            </a:r>
          </a:p>
          <a:p>
            <a:pPr>
              <a:spcBef>
                <a:spcPts val="300"/>
              </a:spcBef>
            </a:pPr>
            <a:r>
              <a:rPr dirty="0">
                <a:solidFill>
                  <a:srgbClr val="555555"/>
                </a:solidFill>
              </a:rPr>
              <a:t>  "New Conversation" → reset=true</a:t>
            </a:r>
          </a:p>
          <a:p>
            <a:pPr>
              <a:spcBef>
                <a:spcPts val="300"/>
              </a:spcBef>
            </a:pPr>
            <a:r>
              <a:rPr dirty="0">
                <a:solidFill>
                  <a:srgbClr val="555555"/>
                </a:solidFill>
              </a:rPr>
              <a:t>  Session scope = 2 hours by default</a:t>
            </a:r>
          </a:p>
          <a:p>
            <a:pPr>
              <a:spcBef>
                <a:spcPts val="300"/>
              </a:spcBef>
            </a:pPr>
            <a:endParaRPr dirty="0">
              <a:solidFill>
                <a:srgbClr val="555555"/>
              </a:solidFill>
            </a:endParaRPr>
          </a:p>
          <a:p>
            <a:pPr>
              <a:spcBef>
                <a:spcPts val="300"/>
              </a:spcBef>
            </a:pPr>
            <a:r>
              <a:rPr b="1" dirty="0">
                <a:solidFill>
                  <a:srgbClr val="EB1000"/>
                </a:solidFill>
              </a:rPr>
              <a:t>Scale up — one line change:</a:t>
            </a:r>
          </a:p>
          <a:p>
            <a:pPr>
              <a:spcBef>
                <a:spcPts val="300"/>
              </a:spcBef>
            </a:pPr>
            <a:r>
              <a:rPr dirty="0">
                <a:solidFill>
                  <a:srgbClr val="00788C"/>
                </a:solidFill>
              </a:rPr>
              <a:t>  PERSISTENTSTORE : "REDIS"</a:t>
            </a:r>
          </a:p>
          <a:p>
            <a:pPr>
              <a:spcBef>
                <a:spcPts val="300"/>
              </a:spcBef>
            </a:pPr>
            <a:r>
              <a:rPr dirty="0">
                <a:solidFill>
                  <a:srgbClr val="00788C"/>
                </a:solidFill>
              </a:rPr>
              <a:t>  PERSISTENTSTORE : "EHCACHE"</a:t>
            </a:r>
          </a:p>
          <a:p>
            <a:pPr>
              <a:spcBef>
                <a:spcPts val="300"/>
              </a:spcBef>
            </a:pPr>
            <a:r>
              <a:rPr dirty="0">
                <a:solidFill>
                  <a:srgbClr val="00788C"/>
                </a:solidFill>
              </a:rPr>
              <a:t>  PERSISTENTSTORE : "MEMCACHED"</a:t>
            </a:r>
          </a:p>
          <a:p>
            <a:pPr>
              <a:spcBef>
                <a:spcPts val="300"/>
              </a:spcBef>
            </a:pPr>
            <a:endParaRPr sz="1100" dirty="0">
              <a:solidFill>
                <a:srgbClr val="00788C"/>
              </a:solidFill>
            </a:endParaRPr>
          </a:p>
        </p:txBody>
      </p:sp>
      <p:sp>
        <p:nvSpPr>
          <p:cNvPr id="7" name="TextBox 6"/>
          <p:cNvSpPr txBox="1"/>
          <p:nvPr/>
        </p:nvSpPr>
        <p:spPr>
          <a:xfrm>
            <a:off x="612648" y="1216152"/>
            <a:ext cx="7037832" cy="2904586"/>
          </a:xfrm>
          <a:prstGeom prst="rect">
            <a:avLst/>
          </a:prstGeom>
          <a:solidFill>
            <a:srgbClr val="000000"/>
          </a:solidFill>
        </p:spPr>
        <p:txBody>
          <a:bodyPr wrap="square" lIns="109728" tIns="82296" bIns="64008">
            <a:spAutoFit/>
          </a:bodyPr>
          <a:lstStyle/>
          <a:p>
            <a:pPr>
              <a:lnSpc>
                <a:spcPct val="115000"/>
              </a:lnSpc>
              <a:spcBef>
                <a:spcPts val="0"/>
              </a:spcBef>
            </a:pPr>
            <a:r>
              <a:rPr sz="1200" b="0" dirty="0">
                <a:solidFill>
                  <a:srgbClr val="6A9955"/>
                </a:solidFill>
                <a:latin typeface="Courier New"/>
              </a:rPr>
              <a:t>// 1. Create agent ONCE per session</a:t>
            </a:r>
          </a:p>
          <a:p>
            <a:pPr>
              <a:lnSpc>
                <a:spcPct val="115000"/>
              </a:lnSpc>
              <a:spcBef>
                <a:spcPts val="0"/>
              </a:spcBef>
            </a:pPr>
            <a:r>
              <a:rPr sz="1200" b="0" dirty="0">
                <a:solidFill>
                  <a:srgbClr val="569CD6"/>
                </a:solidFill>
                <a:latin typeface="Courier New"/>
              </a:rPr>
              <a:t>if</a:t>
            </a:r>
            <a:r>
              <a:rPr sz="1200" b="0" dirty="0">
                <a:solidFill>
                  <a:srgbClr val="D4D4D4"/>
                </a:solidFill>
                <a:latin typeface="Courier New"/>
              </a:rPr>
              <a:t> ( !</a:t>
            </a:r>
            <a:r>
              <a:rPr sz="1200" b="0" dirty="0" err="1">
                <a:solidFill>
                  <a:srgbClr val="4EC9B0"/>
                </a:solidFill>
                <a:latin typeface="Courier New"/>
              </a:rPr>
              <a:t>structKeyExists</a:t>
            </a:r>
            <a:r>
              <a:rPr sz="1200" b="0" dirty="0">
                <a:solidFill>
                  <a:srgbClr val="D4D4D4"/>
                </a:solidFill>
                <a:latin typeface="Courier New"/>
              </a:rPr>
              <a:t>(</a:t>
            </a:r>
            <a:r>
              <a:rPr sz="1200" b="0" dirty="0">
                <a:solidFill>
                  <a:srgbClr val="9CDCFE"/>
                </a:solidFill>
                <a:latin typeface="Courier New"/>
              </a:rPr>
              <a:t>session</a:t>
            </a:r>
            <a:r>
              <a:rPr sz="1200" b="0" dirty="0">
                <a:solidFill>
                  <a:srgbClr val="D4D4D4"/>
                </a:solidFill>
                <a:latin typeface="Courier New"/>
              </a:rPr>
              <a:t>, </a:t>
            </a:r>
            <a:r>
              <a:rPr sz="1200" b="0" dirty="0">
                <a:solidFill>
                  <a:srgbClr val="CE9178"/>
                </a:solidFill>
                <a:latin typeface="Courier New"/>
              </a:rPr>
              <a:t>"</a:t>
            </a:r>
            <a:r>
              <a:rPr sz="1200" b="0" dirty="0" err="1">
                <a:solidFill>
                  <a:srgbClr val="CE9178"/>
                </a:solidFill>
                <a:latin typeface="Courier New"/>
              </a:rPr>
              <a:t>acmeAgent</a:t>
            </a:r>
            <a:r>
              <a:rPr sz="1200" b="0" dirty="0">
                <a:solidFill>
                  <a:srgbClr val="CE9178"/>
                </a:solidFill>
                <a:latin typeface="Courier New"/>
              </a:rPr>
              <a:t>"</a:t>
            </a:r>
            <a:r>
              <a:rPr sz="1200" b="0" dirty="0">
                <a:solidFill>
                  <a:srgbClr val="D4D4D4"/>
                </a:solidFill>
                <a:latin typeface="Courier New"/>
              </a:rPr>
              <a:t>) ) {</a:t>
            </a:r>
          </a:p>
          <a:p>
            <a:pPr>
              <a:lnSpc>
                <a:spcPct val="115000"/>
              </a:lnSpc>
              <a:spcBef>
                <a:spcPts val="0"/>
              </a:spcBef>
            </a:pPr>
            <a:r>
              <a:rPr sz="1200" b="0" dirty="0">
                <a:solidFill>
                  <a:srgbClr val="D4D4D4"/>
                </a:solidFill>
                <a:latin typeface="Courier New"/>
              </a:rPr>
              <a:t>    </a:t>
            </a:r>
            <a:r>
              <a:rPr sz="1200" b="0" dirty="0" err="1">
                <a:solidFill>
                  <a:srgbClr val="9CDCFE"/>
                </a:solidFill>
                <a:latin typeface="Courier New"/>
              </a:rPr>
              <a:t>chatModel</a:t>
            </a:r>
            <a:r>
              <a:rPr sz="1200" b="0" dirty="0">
                <a:solidFill>
                  <a:srgbClr val="D4D4D4"/>
                </a:solidFill>
                <a:latin typeface="Courier New"/>
              </a:rPr>
              <a:t> = </a:t>
            </a:r>
            <a:r>
              <a:rPr sz="1200" b="0" dirty="0" err="1">
                <a:solidFill>
                  <a:srgbClr val="4EC9B0"/>
                </a:solidFill>
                <a:latin typeface="Courier New"/>
              </a:rPr>
              <a:t>ChatModel</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PROVIDER</a:t>
            </a:r>
            <a:r>
              <a:rPr sz="1200" b="0" dirty="0">
                <a:solidFill>
                  <a:srgbClr val="D4D4D4"/>
                </a:solidFill>
                <a:latin typeface="Courier New"/>
              </a:rPr>
              <a:t>  : </a:t>
            </a:r>
            <a:r>
              <a:rPr sz="1200" b="0" dirty="0">
                <a:solidFill>
                  <a:srgbClr val="CE9178"/>
                </a:solidFill>
                <a:latin typeface="Courier New"/>
              </a:rPr>
              <a:t>"</a:t>
            </a:r>
            <a:r>
              <a:rPr sz="1200" b="0" dirty="0" err="1">
                <a:solidFill>
                  <a:srgbClr val="CE9178"/>
                </a:solidFill>
                <a:latin typeface="Courier New"/>
              </a:rPr>
              <a:t>openai</a:t>
            </a:r>
            <a:r>
              <a:rPr sz="1200" b="0" dirty="0">
                <a:solidFill>
                  <a:srgbClr val="CE9178"/>
                </a:solidFill>
                <a:latin typeface="Courier New"/>
              </a:rPr>
              <a:t>"</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APIKEY</a:t>
            </a:r>
            <a:r>
              <a:rPr sz="1200" b="0" dirty="0">
                <a:solidFill>
                  <a:srgbClr val="D4D4D4"/>
                </a:solidFill>
                <a:latin typeface="Courier New"/>
              </a:rPr>
              <a:t>    : </a:t>
            </a:r>
            <a:r>
              <a:rPr sz="1200" b="0" dirty="0" err="1">
                <a:solidFill>
                  <a:srgbClr val="9CDCFE"/>
                </a:solidFill>
                <a:latin typeface="Courier New"/>
              </a:rPr>
              <a:t>application</a:t>
            </a:r>
            <a:r>
              <a:rPr sz="1200" b="0" dirty="0" err="1">
                <a:solidFill>
                  <a:srgbClr val="D4D4D4"/>
                </a:solidFill>
                <a:latin typeface="Courier New"/>
              </a:rPr>
              <a:t>.</a:t>
            </a:r>
            <a:r>
              <a:rPr sz="1200" b="0" dirty="0" err="1">
                <a:solidFill>
                  <a:srgbClr val="9CDCFE"/>
                </a:solidFill>
                <a:latin typeface="Courier New"/>
              </a:rPr>
              <a:t>openaiKey</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MODELNAME</a:t>
            </a:r>
            <a:r>
              <a:rPr sz="1200" b="0" dirty="0">
                <a:solidFill>
                  <a:srgbClr val="D4D4D4"/>
                </a:solidFill>
                <a:latin typeface="Courier New"/>
              </a:rPr>
              <a:t> : </a:t>
            </a:r>
            <a:r>
              <a:rPr sz="1200" b="0" dirty="0">
                <a:solidFill>
                  <a:srgbClr val="CE9178"/>
                </a:solidFill>
                <a:latin typeface="Courier New"/>
              </a:rPr>
              <a:t>"gpt-4o-mini"</a:t>
            </a:r>
          </a:p>
          <a:p>
            <a:pPr>
              <a:lnSpc>
                <a:spcPct val="115000"/>
              </a:lnSpc>
              <a:spcBef>
                <a:spcPts val="0"/>
              </a:spcBef>
            </a:pP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    </a:t>
            </a:r>
            <a:r>
              <a:rPr sz="1200" b="0" dirty="0" err="1">
                <a:solidFill>
                  <a:srgbClr val="9CDCFE"/>
                </a:solidFill>
                <a:latin typeface="Courier New"/>
              </a:rPr>
              <a:t>session</a:t>
            </a:r>
            <a:r>
              <a:rPr sz="1200" b="0" dirty="0" err="1">
                <a:solidFill>
                  <a:srgbClr val="D4D4D4"/>
                </a:solidFill>
                <a:latin typeface="Courier New"/>
              </a:rPr>
              <a:t>.</a:t>
            </a:r>
            <a:r>
              <a:rPr lang="en-US" sz="1200" dirty="0" err="1">
                <a:solidFill>
                  <a:srgbClr val="9CDCFE"/>
                </a:solidFill>
                <a:latin typeface="Courier New"/>
              </a:rPr>
              <a:t>nexora</a:t>
            </a:r>
            <a:r>
              <a:rPr sz="1200" b="0" dirty="0" err="1">
                <a:solidFill>
                  <a:srgbClr val="9CDCFE"/>
                </a:solidFill>
                <a:latin typeface="Courier New"/>
              </a:rPr>
              <a:t>Agent</a:t>
            </a:r>
            <a:r>
              <a:rPr sz="1200" b="0" dirty="0">
                <a:solidFill>
                  <a:srgbClr val="D4D4D4"/>
                </a:solidFill>
                <a:latin typeface="Courier New"/>
              </a:rPr>
              <a:t> = </a:t>
            </a:r>
            <a:r>
              <a:rPr sz="1200" b="0" dirty="0">
                <a:solidFill>
                  <a:srgbClr val="4EC9B0"/>
                </a:solidFill>
                <a:latin typeface="Courier New"/>
              </a:rPr>
              <a:t>agent</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CHATMODEL</a:t>
            </a:r>
            <a:r>
              <a:rPr sz="1200" b="0" dirty="0">
                <a:solidFill>
                  <a:srgbClr val="D4D4D4"/>
                </a:solidFill>
                <a:latin typeface="Courier New"/>
              </a:rPr>
              <a:t>  : </a:t>
            </a:r>
            <a:r>
              <a:rPr sz="1200" b="0" dirty="0" err="1">
                <a:solidFill>
                  <a:srgbClr val="9CDCFE"/>
                </a:solidFill>
                <a:latin typeface="Courier New"/>
              </a:rPr>
              <a:t>chatModel</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CHATMEMORY</a:t>
            </a:r>
            <a:r>
              <a:rPr sz="1200" b="0" dirty="0">
                <a:solidFill>
                  <a:srgbClr val="D4D4D4"/>
                </a:solidFill>
                <a:latin typeface="Courier New"/>
              </a:rPr>
              <a:t> : { </a:t>
            </a:r>
            <a:r>
              <a:rPr sz="1200" b="0" dirty="0">
                <a:solidFill>
                  <a:srgbClr val="9CDCFE"/>
                </a:solidFill>
                <a:latin typeface="Courier New"/>
              </a:rPr>
              <a:t>MAXMESSAGES</a:t>
            </a:r>
            <a:r>
              <a:rPr sz="1200" b="0" dirty="0">
                <a:solidFill>
                  <a:srgbClr val="D4D4D4"/>
                </a:solidFill>
                <a:latin typeface="Courier New"/>
              </a:rPr>
              <a:t>: </a:t>
            </a:r>
            <a:r>
              <a:rPr sz="1200" b="0" dirty="0">
                <a:solidFill>
                  <a:srgbClr val="B5CEA8"/>
                </a:solidFill>
                <a:latin typeface="Courier New"/>
              </a:rPr>
              <a:t>20</a:t>
            </a: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    </a:t>
            </a:r>
            <a:r>
              <a:rPr sz="1200" b="0" dirty="0" err="1">
                <a:solidFill>
                  <a:srgbClr val="9CDCFE"/>
                </a:solidFill>
                <a:latin typeface="Courier New"/>
              </a:rPr>
              <a:t>session</a:t>
            </a:r>
            <a:r>
              <a:rPr sz="1200" b="0" dirty="0" err="1">
                <a:solidFill>
                  <a:srgbClr val="D4D4D4"/>
                </a:solidFill>
                <a:latin typeface="Courier New"/>
              </a:rPr>
              <a:t>.</a:t>
            </a:r>
            <a:r>
              <a:rPr lang="en-US" sz="1200" dirty="0" err="1">
                <a:solidFill>
                  <a:srgbClr val="9CDCFE"/>
                </a:solidFill>
                <a:latin typeface="Courier New"/>
              </a:rPr>
              <a:t>nexora</a:t>
            </a:r>
            <a:r>
              <a:rPr sz="1200" b="0" dirty="0" err="1">
                <a:solidFill>
                  <a:srgbClr val="9CDCFE"/>
                </a:solidFill>
                <a:latin typeface="Courier New"/>
              </a:rPr>
              <a:t>Agent</a:t>
            </a:r>
            <a:r>
              <a:rPr sz="1200" b="0" dirty="0" err="1">
                <a:solidFill>
                  <a:srgbClr val="D4D4D4"/>
                </a:solidFill>
                <a:latin typeface="Courier New"/>
              </a:rPr>
              <a:t>.</a:t>
            </a:r>
            <a:r>
              <a:rPr sz="1200" b="0" dirty="0" err="1">
                <a:solidFill>
                  <a:srgbClr val="4EC9B0"/>
                </a:solidFill>
                <a:latin typeface="Courier New"/>
              </a:rPr>
              <a:t>systemMessage</a:t>
            </a:r>
            <a:r>
              <a:rPr sz="1200" b="0" dirty="0">
                <a:solidFill>
                  <a:srgbClr val="D4D4D4"/>
                </a:solidFill>
                <a:latin typeface="Courier New"/>
              </a:rPr>
              <a:t>( </a:t>
            </a:r>
            <a:r>
              <a:rPr sz="1200" b="0" dirty="0">
                <a:solidFill>
                  <a:srgbClr val="CE9178"/>
                </a:solidFill>
                <a:latin typeface="Courier New"/>
              </a:rPr>
              <a:t>"..."</a:t>
            </a: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a:t>
            </a:r>
          </a:p>
        </p:txBody>
      </p:sp>
      <p:sp>
        <p:nvSpPr>
          <p:cNvPr id="8" name="TextBox 7"/>
          <p:cNvSpPr txBox="1"/>
          <p:nvPr/>
        </p:nvSpPr>
        <p:spPr>
          <a:xfrm>
            <a:off x="609600" y="4455839"/>
            <a:ext cx="7037832" cy="1520609"/>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2. Every request reuses the SAME agent</a:t>
            </a:r>
          </a:p>
          <a:p>
            <a:pPr>
              <a:lnSpc>
                <a:spcPct val="115000"/>
              </a:lnSpc>
              <a:spcBef>
                <a:spcPts val="0"/>
              </a:spcBef>
            </a:pPr>
            <a:r>
              <a:rPr sz="1300" b="0" dirty="0">
                <a:solidFill>
                  <a:srgbClr val="9CDCFE"/>
                </a:solidFill>
                <a:latin typeface="Courier New"/>
              </a:rPr>
              <a:t>response</a:t>
            </a:r>
            <a:r>
              <a:rPr sz="1300" b="0" dirty="0">
                <a:solidFill>
                  <a:srgbClr val="D4D4D4"/>
                </a:solidFill>
                <a:latin typeface="Courier New"/>
              </a:rPr>
              <a:t> = </a:t>
            </a:r>
            <a:r>
              <a:rPr sz="1300" b="0" dirty="0" err="1">
                <a:solidFill>
                  <a:srgbClr val="9CDCFE"/>
                </a:solidFill>
                <a:latin typeface="Courier New"/>
              </a:rPr>
              <a:t>session</a:t>
            </a:r>
            <a:r>
              <a:rPr sz="1300" b="0" dirty="0" err="1">
                <a:solidFill>
                  <a:srgbClr val="D4D4D4"/>
                </a:solidFill>
                <a:latin typeface="Courier New"/>
              </a:rPr>
              <a:t>.</a:t>
            </a:r>
            <a:r>
              <a:rPr lang="en-US" sz="1300" dirty="0" err="1">
                <a:solidFill>
                  <a:srgbClr val="9CDCFE"/>
                </a:solidFill>
                <a:latin typeface="Courier New"/>
              </a:rPr>
              <a:t>nexora</a:t>
            </a:r>
            <a:r>
              <a:rPr sz="1300" b="0" dirty="0" err="1">
                <a:solidFill>
                  <a:srgbClr val="9CDCFE"/>
                </a:solidFill>
                <a:latin typeface="Courier New"/>
              </a:rPr>
              <a:t>Agent</a:t>
            </a:r>
            <a:r>
              <a:rPr sz="1300" b="0" dirty="0" err="1">
                <a:solidFill>
                  <a:srgbClr val="D4D4D4"/>
                </a:solidFill>
                <a:latin typeface="Courier New"/>
              </a:rPr>
              <a:t>.</a:t>
            </a:r>
            <a:r>
              <a:rPr sz="1300" b="0" dirty="0" err="1">
                <a:solidFill>
                  <a:srgbClr val="4EC9B0"/>
                </a:solidFill>
                <a:latin typeface="Courier New"/>
              </a:rPr>
              <a:t>chat</a:t>
            </a:r>
            <a:r>
              <a:rPr sz="1300" b="0" dirty="0">
                <a:solidFill>
                  <a:srgbClr val="D4D4D4"/>
                </a:solidFill>
                <a:latin typeface="Courier New"/>
              </a:rPr>
              <a:t>( </a:t>
            </a:r>
            <a:r>
              <a:rPr sz="1300" b="0" dirty="0">
                <a:solidFill>
                  <a:srgbClr val="9CDCFE"/>
                </a:solidFill>
                <a:latin typeface="Courier New"/>
              </a:rPr>
              <a:t>question</a:t>
            </a:r>
            <a:r>
              <a:rPr sz="1300" b="0" dirty="0">
                <a:solidFill>
                  <a:srgbClr val="D4D4D4"/>
                </a:solidFill>
                <a:latin typeface="Courier New"/>
              </a:rPr>
              <a:t> );</a:t>
            </a:r>
          </a:p>
          <a:p>
            <a:pPr>
              <a:lnSpc>
                <a:spcPct val="115000"/>
              </a:lnSpc>
              <a:spcBef>
                <a:spcPts val="0"/>
              </a:spcBef>
            </a:pPr>
            <a:r>
              <a:rPr sz="1300" b="0" dirty="0">
                <a:solidFill>
                  <a:srgbClr val="9CDCFE"/>
                </a:solidFill>
                <a:latin typeface="Courier New"/>
              </a:rPr>
              <a:t>answer</a:t>
            </a:r>
            <a:r>
              <a:rPr sz="1300" b="0" dirty="0">
                <a:solidFill>
                  <a:srgbClr val="D4D4D4"/>
                </a:solidFill>
                <a:latin typeface="Courier New"/>
              </a:rPr>
              <a:t>   = </a:t>
            </a:r>
            <a:r>
              <a:rPr sz="1300" b="0" dirty="0" err="1">
                <a:solidFill>
                  <a:srgbClr val="9CDCFE"/>
                </a:solidFill>
                <a:latin typeface="Courier New"/>
              </a:rPr>
              <a:t>response</a:t>
            </a:r>
            <a:r>
              <a:rPr sz="1300" b="0" dirty="0" err="1">
                <a:solidFill>
                  <a:srgbClr val="D4D4D4"/>
                </a:solidFill>
                <a:latin typeface="Courier New"/>
              </a:rPr>
              <a:t>.</a:t>
            </a:r>
            <a:r>
              <a:rPr sz="1300" b="0" dirty="0" err="1">
                <a:solidFill>
                  <a:srgbClr val="9CDCFE"/>
                </a:solidFill>
                <a:latin typeface="Courier New"/>
              </a:rPr>
              <a:t>message</a:t>
            </a:r>
            <a:r>
              <a:rPr sz="1300" b="0" dirty="0">
                <a:solidFill>
                  <a:srgbClr val="D4D4D4"/>
                </a:solidFill>
                <a:latin typeface="Courier New"/>
              </a:rPr>
              <a:t>;</a:t>
            </a:r>
          </a:p>
          <a:p>
            <a:pPr>
              <a:lnSpc>
                <a:spcPct val="115000"/>
              </a:lnSpc>
              <a:spcBef>
                <a:spcPts val="0"/>
              </a:spcBef>
            </a:pPr>
            <a:r>
              <a:rPr sz="1300" b="0" dirty="0">
                <a:solidFill>
                  <a:srgbClr val="6A9955"/>
                </a:solidFill>
                <a:latin typeface="Courier New"/>
              </a:rPr>
              <a:t>// History is preserved automatically</a:t>
            </a:r>
          </a:p>
          <a:p>
            <a:pPr>
              <a:lnSpc>
                <a:spcPct val="115000"/>
              </a:lnSpc>
              <a:spcBef>
                <a:spcPts val="0"/>
              </a:spcBef>
            </a:pPr>
            <a:r>
              <a:rPr sz="1300" b="0" dirty="0">
                <a:solidFill>
                  <a:srgbClr val="6A9955"/>
                </a:solidFill>
                <a:latin typeface="Courier New"/>
              </a:rPr>
              <a:t>// across all HTTP requests in the session.</a:t>
            </a:r>
          </a:p>
          <a:p>
            <a:pPr>
              <a:lnSpc>
                <a:spcPct val="115000"/>
              </a:lnSpc>
              <a:spcBef>
                <a:spcPts val="0"/>
              </a:spcBef>
            </a:pPr>
            <a:r>
              <a:rPr sz="1300" b="0" dirty="0">
                <a:solidFill>
                  <a:srgbClr val="6A9955"/>
                </a:solidFill>
                <a:latin typeface="Courier New"/>
              </a:rPr>
              <a:t>// Reset: </a:t>
            </a:r>
            <a:r>
              <a:rPr sz="1300" b="0" dirty="0" err="1">
                <a:solidFill>
                  <a:srgbClr val="6A9955"/>
                </a:solidFill>
                <a:latin typeface="Courier New"/>
              </a:rPr>
              <a:t>structDelete</a:t>
            </a:r>
            <a:r>
              <a:rPr sz="1300" b="0" dirty="0">
                <a:solidFill>
                  <a:srgbClr val="6A9955"/>
                </a:solidFill>
                <a:latin typeface="Courier New"/>
              </a:rPr>
              <a:t>(session, "</a:t>
            </a:r>
            <a:r>
              <a:rPr sz="1300" b="0" dirty="0" err="1">
                <a:solidFill>
                  <a:srgbClr val="6A9955"/>
                </a:solidFill>
                <a:latin typeface="Courier New"/>
              </a:rPr>
              <a:t>acmeAgent</a:t>
            </a:r>
            <a:r>
              <a:rPr sz="1300" b="0" dirty="0">
                <a:solidFill>
                  <a:srgbClr val="6A9955"/>
                </a:solidFill>
                <a:latin typeface="Courier New"/>
              </a:rPr>
              <a:t>")</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dur="indefinite" nodeType="mainSeq">
                <p:childTnLst>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2"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4" grpId="0"/>
      <p:bldP spid="7" grpId="1" animBg="1"/>
      <p:bldP spid="7" grpId="2" animBg="1"/>
      <p:bldP spid="8" grpId="2" animBg="1"/>
      <p:bldP spid="8" grpId="3"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194560"/>
            <a:ext cx="10972800" cy="1188720"/>
          </a:xfrm>
          <a:prstGeom prst="rect">
            <a:avLst/>
          </a:prstGeom>
          <a:noFill/>
        </p:spPr>
        <p:txBody>
          <a:bodyPr wrap="square">
            <a:spAutoFit/>
          </a:bodyPr>
          <a:lstStyle/>
          <a:p>
            <a:pPr algn="ctr"/>
            <a:r>
              <a:rPr sz="4400" b="1" i="0">
                <a:solidFill>
                  <a:srgbClr val="FFFFFF"/>
                </a:solidFill>
              </a:rPr>
              <a:t>🔴  LIVE DEMO</a:t>
            </a:r>
          </a:p>
        </p:txBody>
      </p:sp>
      <p:sp>
        <p:nvSpPr>
          <p:cNvPr id="5" name="TextBox 4"/>
          <p:cNvSpPr txBox="1"/>
          <p:nvPr/>
        </p:nvSpPr>
        <p:spPr>
          <a:xfrm>
            <a:off x="502920" y="3657600"/>
            <a:ext cx="10972800" cy="1138773"/>
          </a:xfrm>
          <a:prstGeom prst="rect">
            <a:avLst/>
          </a:prstGeom>
          <a:noFill/>
        </p:spPr>
        <p:txBody>
          <a:bodyPr wrap="square">
            <a:spAutoFit/>
          </a:bodyPr>
          <a:lstStyle/>
          <a:p>
            <a:pPr algn="ctr"/>
            <a:r>
              <a:rPr sz="2400" b="1" i="0" dirty="0">
                <a:solidFill>
                  <a:srgbClr val="CCCCCC"/>
                </a:solidFill>
              </a:rPr>
              <a:t>Chat Memory ·  </a:t>
            </a:r>
            <a:r>
              <a:rPr lang="en-US" sz="2400" b="1" i="0" dirty="0">
                <a:solidFill>
                  <a:srgbClr val="CCCCCC"/>
                </a:solidFill>
              </a:rPr>
              <a:t>problem </a:t>
            </a:r>
            <a:r>
              <a:rPr sz="2400" b="1" i="0" dirty="0">
                <a:solidFill>
                  <a:srgbClr val="CCCCCC"/>
                </a:solidFill>
              </a:rPr>
              <a:t>3    ·  Multi-turn conversation</a:t>
            </a:r>
            <a:endParaRPr lang="en-US" sz="2400" b="1" i="0" dirty="0">
              <a:solidFill>
                <a:srgbClr val="CCCCCC"/>
              </a:solidFill>
            </a:endParaRPr>
          </a:p>
          <a:p>
            <a:pPr algn="ctr"/>
            <a:r>
              <a:rPr lang="en-US" sz="2400" b="1" dirty="0">
                <a:solidFill>
                  <a:srgbClr val="CCCCCC"/>
                </a:solidFill>
              </a:rPr>
              <a:t> </a:t>
            </a:r>
            <a:r>
              <a:rPr lang="en-US" sz="2400" b="1" dirty="0" err="1">
                <a:solidFill>
                  <a:srgbClr val="CCCCCC"/>
                </a:solidFill>
              </a:rPr>
              <a:t>chatmemory.cfm</a:t>
            </a:r>
            <a:r>
              <a:rPr lang="en-US" sz="2400" b="1" dirty="0">
                <a:solidFill>
                  <a:srgbClr val="CCCCCC"/>
                </a:solidFill>
              </a:rPr>
              <a:t> ·  problem3-chatmemory_demo.cfm</a:t>
            </a:r>
            <a:endParaRPr lang="en-US" sz="2400" b="1" i="0" dirty="0">
              <a:solidFill>
                <a:srgbClr val="CCCCCC"/>
              </a:solidFill>
            </a:endParaRPr>
          </a:p>
          <a:p>
            <a:pPr algn="ctr"/>
            <a:endParaRPr sz="2000" b="0" i="0" dirty="0">
              <a:solidFill>
                <a:srgbClr val="CCCCCC"/>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468880"/>
            <a:ext cx="10972800" cy="1371600"/>
          </a:xfrm>
          <a:prstGeom prst="rect">
            <a:avLst/>
          </a:prstGeom>
          <a:noFill/>
        </p:spPr>
        <p:txBody>
          <a:bodyPr wrap="square">
            <a:spAutoFit/>
          </a:bodyPr>
          <a:lstStyle/>
          <a:p>
            <a:pPr algn="l"/>
            <a:r>
              <a:rPr sz="3400" b="1" i="0">
                <a:solidFill>
                  <a:srgbClr val="FFFFFF"/>
                </a:solidFill>
              </a:rPr>
              <a:t>Part 6: Function Tools</a:t>
            </a:r>
          </a:p>
        </p:txBody>
      </p:sp>
      <p:sp>
        <p:nvSpPr>
          <p:cNvPr id="5" name="TextBox 4"/>
          <p:cNvSpPr txBox="1"/>
          <p:nvPr/>
        </p:nvSpPr>
        <p:spPr>
          <a:xfrm>
            <a:off x="502920" y="3931920"/>
            <a:ext cx="10972800" cy="594360"/>
          </a:xfrm>
          <a:prstGeom prst="rect">
            <a:avLst/>
          </a:prstGeom>
          <a:noFill/>
        </p:spPr>
        <p:txBody>
          <a:bodyPr wrap="square">
            <a:spAutoFit/>
          </a:bodyPr>
          <a:lstStyle/>
          <a:p>
            <a:pPr algn="l"/>
            <a:r>
              <a:rPr sz="1600" b="0" i="0">
                <a:solidFill>
                  <a:srgbClr val="AAAAAA"/>
                </a:solidFill>
              </a:rPr>
              <a:t>Connecting the AI to your ColdFusion code  ·  Real data  ·  Real actions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How Function Tools Work</a:t>
            </a:r>
          </a:p>
        </p:txBody>
      </p:sp>
      <p:sp>
        <p:nvSpPr>
          <p:cNvPr id="3" name="TextBox 2"/>
          <p:cNvSpPr txBox="1"/>
          <p:nvPr/>
        </p:nvSpPr>
        <p:spPr>
          <a:xfrm>
            <a:off x="612648" y="1417320"/>
            <a:ext cx="5349240" cy="3336811"/>
          </a:xfrm>
          <a:prstGeom prst="rect">
            <a:avLst/>
          </a:prstGeom>
          <a:noFill/>
        </p:spPr>
        <p:txBody>
          <a:bodyPr wrap="square">
            <a:spAutoFit/>
          </a:bodyPr>
          <a:lstStyle/>
          <a:p>
            <a:pPr>
              <a:spcBef>
                <a:spcPts val="800"/>
              </a:spcBef>
            </a:pPr>
            <a:r>
              <a:rPr b="1" dirty="0">
                <a:solidFill>
                  <a:srgbClr val="EB1000"/>
                </a:solidFill>
              </a:rPr>
              <a:t>1  </a:t>
            </a:r>
            <a:r>
              <a:rPr b="1" dirty="0">
                <a:solidFill>
                  <a:srgbClr val="1A1A1A"/>
                </a:solidFill>
              </a:rPr>
              <a:t>Customer asks  </a:t>
            </a:r>
          </a:p>
          <a:p>
            <a:pPr>
              <a:spcBef>
                <a:spcPts val="100"/>
              </a:spcBef>
            </a:pPr>
            <a:r>
              <a:rPr i="1" dirty="0">
                <a:solidFill>
                  <a:srgbClr val="555555"/>
                </a:solidFill>
              </a:rPr>
              <a:t>    "What's the status of order #12345?"</a:t>
            </a:r>
          </a:p>
          <a:p>
            <a:pPr>
              <a:spcBef>
                <a:spcPts val="800"/>
              </a:spcBef>
            </a:pPr>
            <a:r>
              <a:rPr b="1" dirty="0">
                <a:solidFill>
                  <a:srgbClr val="EB1000"/>
                </a:solidFill>
              </a:rPr>
              <a:t>2  </a:t>
            </a:r>
            <a:r>
              <a:rPr b="1" dirty="0">
                <a:solidFill>
                  <a:srgbClr val="1A1A1A"/>
                </a:solidFill>
              </a:rPr>
              <a:t>LLM decides  </a:t>
            </a:r>
          </a:p>
          <a:p>
            <a:pPr>
              <a:spcBef>
                <a:spcPts val="100"/>
              </a:spcBef>
            </a:pPr>
            <a:r>
              <a:rPr i="1" dirty="0">
                <a:solidFill>
                  <a:srgbClr val="555555"/>
                </a:solidFill>
              </a:rPr>
              <a:t>    I need to call </a:t>
            </a:r>
            <a:r>
              <a:rPr i="1" dirty="0" err="1">
                <a:solidFill>
                  <a:srgbClr val="555555"/>
                </a:solidFill>
              </a:rPr>
              <a:t>getOrderStatus</a:t>
            </a:r>
            <a:r>
              <a:rPr i="1" dirty="0">
                <a:solidFill>
                  <a:srgbClr val="555555"/>
                </a:solidFill>
              </a:rPr>
              <a:t>("12345")</a:t>
            </a:r>
          </a:p>
          <a:p>
            <a:pPr>
              <a:spcBef>
                <a:spcPts val="800"/>
              </a:spcBef>
            </a:pPr>
            <a:r>
              <a:rPr b="1" dirty="0">
                <a:solidFill>
                  <a:srgbClr val="EB1000"/>
                </a:solidFill>
              </a:rPr>
              <a:t>3  </a:t>
            </a:r>
            <a:r>
              <a:rPr b="1" dirty="0">
                <a:solidFill>
                  <a:srgbClr val="1A1A1A"/>
                </a:solidFill>
              </a:rPr>
              <a:t>CF executes  </a:t>
            </a:r>
          </a:p>
          <a:p>
            <a:pPr>
              <a:spcBef>
                <a:spcPts val="100"/>
              </a:spcBef>
            </a:pPr>
            <a:r>
              <a:rPr i="1" dirty="0">
                <a:solidFill>
                  <a:srgbClr val="555555"/>
                </a:solidFill>
              </a:rPr>
              <a:t>    Your CFC method runs — queries DB, calls API, etc.</a:t>
            </a:r>
          </a:p>
          <a:p>
            <a:pPr>
              <a:spcBef>
                <a:spcPts val="800"/>
              </a:spcBef>
            </a:pPr>
            <a:r>
              <a:rPr b="1" dirty="0">
                <a:solidFill>
                  <a:srgbClr val="EB1000"/>
                </a:solidFill>
              </a:rPr>
              <a:t>4  </a:t>
            </a:r>
            <a:r>
              <a:rPr b="1" dirty="0">
                <a:solidFill>
                  <a:srgbClr val="1A1A1A"/>
                </a:solidFill>
              </a:rPr>
              <a:t>Result returned  </a:t>
            </a:r>
          </a:p>
          <a:p>
            <a:pPr>
              <a:spcBef>
                <a:spcPts val="100"/>
              </a:spcBef>
            </a:pPr>
            <a:r>
              <a:rPr i="1" dirty="0">
                <a:solidFill>
                  <a:srgbClr val="555555"/>
                </a:solidFill>
              </a:rPr>
              <a:t>    Tool returns: "Shipped · UPS · ETA April 14"</a:t>
            </a:r>
          </a:p>
          <a:p>
            <a:pPr>
              <a:spcBef>
                <a:spcPts val="800"/>
              </a:spcBef>
            </a:pPr>
            <a:r>
              <a:rPr b="1" dirty="0">
                <a:solidFill>
                  <a:srgbClr val="EB1000"/>
                </a:solidFill>
              </a:rPr>
              <a:t>5  </a:t>
            </a:r>
            <a:r>
              <a:rPr b="1" dirty="0">
                <a:solidFill>
                  <a:srgbClr val="1A1A1A"/>
                </a:solidFill>
              </a:rPr>
              <a:t>LLM responds  </a:t>
            </a:r>
          </a:p>
          <a:p>
            <a:pPr>
              <a:spcBef>
                <a:spcPts val="100"/>
              </a:spcBef>
            </a:pPr>
            <a:r>
              <a:rPr i="1" dirty="0">
                <a:solidFill>
                  <a:srgbClr val="555555"/>
                </a:solidFill>
              </a:rPr>
              <a:t>    "Your order is on its way! UPS tracking shows..."</a:t>
            </a:r>
          </a:p>
        </p:txBody>
      </p:sp>
      <p:sp>
        <p:nvSpPr>
          <p:cNvPr id="4" name="Rectangle 3"/>
          <p:cNvSpPr/>
          <p:nvPr/>
        </p:nvSpPr>
        <p:spPr>
          <a:xfrm>
            <a:off x="6236208" y="1417320"/>
            <a:ext cx="5669280" cy="48006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373368" y="1508760"/>
            <a:ext cx="5440680" cy="329184"/>
          </a:xfrm>
          <a:prstGeom prst="rect">
            <a:avLst/>
          </a:prstGeom>
          <a:noFill/>
        </p:spPr>
        <p:txBody>
          <a:bodyPr wrap="square">
            <a:spAutoFit/>
          </a:bodyPr>
          <a:lstStyle/>
          <a:p>
            <a:pPr algn="l"/>
            <a:r>
              <a:rPr sz="1200" b="1" i="0" dirty="0">
                <a:solidFill>
                  <a:srgbClr val="1A1A1A"/>
                </a:solidFill>
              </a:rPr>
              <a:t>Key facts about tools:</a:t>
            </a:r>
          </a:p>
        </p:txBody>
      </p:sp>
      <p:sp>
        <p:nvSpPr>
          <p:cNvPr id="6" name="TextBox 5"/>
          <p:cNvSpPr txBox="1"/>
          <p:nvPr/>
        </p:nvSpPr>
        <p:spPr>
          <a:xfrm>
            <a:off x="6373368" y="1920240"/>
            <a:ext cx="5440680" cy="3698448"/>
          </a:xfrm>
          <a:prstGeom prst="rect">
            <a:avLst/>
          </a:prstGeom>
          <a:noFill/>
        </p:spPr>
        <p:txBody>
          <a:bodyPr wrap="square">
            <a:spAutoFit/>
          </a:bodyPr>
          <a:lstStyle/>
          <a:p>
            <a:pPr>
              <a:spcBef>
                <a:spcPts val="600"/>
              </a:spcBef>
            </a:pPr>
            <a:r>
              <a:rPr b="1" dirty="0">
                <a:solidFill>
                  <a:srgbClr val="00788C"/>
                </a:solidFill>
              </a:rPr>
              <a:t>Tool CFC  </a:t>
            </a:r>
          </a:p>
          <a:p>
            <a:pPr>
              <a:spcBef>
                <a:spcPts val="100"/>
              </a:spcBef>
            </a:pPr>
            <a:r>
              <a:rPr dirty="0">
                <a:solidFill>
                  <a:srgbClr val="555555"/>
                </a:solidFill>
              </a:rPr>
              <a:t>  A regular ColdFusion component — any existing CFC can become a tool</a:t>
            </a:r>
          </a:p>
          <a:p>
            <a:pPr>
              <a:spcBef>
                <a:spcPts val="600"/>
              </a:spcBef>
            </a:pPr>
            <a:r>
              <a:rPr b="1" dirty="0">
                <a:solidFill>
                  <a:srgbClr val="00788C"/>
                </a:solidFill>
              </a:rPr>
              <a:t>AI decides  </a:t>
            </a:r>
          </a:p>
          <a:p>
            <a:pPr>
              <a:spcBef>
                <a:spcPts val="100"/>
              </a:spcBef>
            </a:pPr>
            <a:r>
              <a:rPr dirty="0">
                <a:solidFill>
                  <a:srgbClr val="555555"/>
                </a:solidFill>
              </a:rPr>
              <a:t>  The LLM chooses which tool to call and what </a:t>
            </a:r>
            <a:r>
              <a:rPr dirty="0" err="1">
                <a:solidFill>
                  <a:srgbClr val="555555"/>
                </a:solidFill>
              </a:rPr>
              <a:t>args</a:t>
            </a:r>
            <a:r>
              <a:rPr dirty="0">
                <a:solidFill>
                  <a:srgbClr val="555555"/>
                </a:solidFill>
              </a:rPr>
              <a:t> to pass</a:t>
            </a:r>
          </a:p>
          <a:p>
            <a:pPr>
              <a:spcBef>
                <a:spcPts val="600"/>
              </a:spcBef>
            </a:pPr>
            <a:r>
              <a:rPr b="1" dirty="0">
                <a:solidFill>
                  <a:srgbClr val="00788C"/>
                </a:solidFill>
              </a:rPr>
              <a:t>Automatic  </a:t>
            </a:r>
          </a:p>
          <a:p>
            <a:pPr>
              <a:spcBef>
                <a:spcPts val="100"/>
              </a:spcBef>
            </a:pPr>
            <a:r>
              <a:rPr dirty="0">
                <a:solidFill>
                  <a:srgbClr val="555555"/>
                </a:solidFill>
              </a:rPr>
              <a:t>  agent() handles the tool call cycle — no orchestration code needed</a:t>
            </a:r>
          </a:p>
          <a:p>
            <a:pPr>
              <a:spcBef>
                <a:spcPts val="600"/>
              </a:spcBef>
            </a:pPr>
            <a:r>
              <a:rPr b="1" dirty="0">
                <a:solidFill>
                  <a:srgbClr val="00788C"/>
                </a:solidFill>
              </a:rPr>
              <a:t>Multiple tools  </a:t>
            </a:r>
          </a:p>
          <a:p>
            <a:pPr>
              <a:spcBef>
                <a:spcPts val="100"/>
              </a:spcBef>
            </a:pPr>
            <a:r>
              <a:rPr dirty="0">
                <a:solidFill>
                  <a:srgbClr val="555555"/>
                </a:solidFill>
              </a:rPr>
              <a:t>  Pass an array: TOOLS:[</a:t>
            </a:r>
            <a:r>
              <a:rPr dirty="0" err="1">
                <a:solidFill>
                  <a:srgbClr val="555555"/>
                </a:solidFill>
              </a:rPr>
              <a:t>orderTool</a:t>
            </a:r>
            <a:r>
              <a:rPr dirty="0">
                <a:solidFill>
                  <a:srgbClr val="555555"/>
                </a:solidFill>
              </a:rPr>
              <a:t>, </a:t>
            </a:r>
            <a:r>
              <a:rPr dirty="0" err="1">
                <a:solidFill>
                  <a:srgbClr val="555555"/>
                </a:solidFill>
              </a:rPr>
              <a:t>shippingTool</a:t>
            </a:r>
            <a:r>
              <a:rPr dirty="0">
                <a:solidFill>
                  <a:srgbClr val="555555"/>
                </a:solidFill>
              </a:rPr>
              <a:t>, </a:t>
            </a:r>
            <a:r>
              <a:rPr dirty="0" err="1">
                <a:solidFill>
                  <a:srgbClr val="555555"/>
                </a:solidFill>
              </a:rPr>
              <a:t>escalateTool</a:t>
            </a:r>
            <a:r>
              <a:rPr dirty="0">
                <a:solidFill>
                  <a:srgbClr val="555555"/>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t>Writing a Tool CFC — SupportTool.cfc</a:t>
            </a:r>
          </a:p>
        </p:txBody>
      </p:sp>
      <p:sp>
        <p:nvSpPr>
          <p:cNvPr id="7" name="TextBox 6"/>
          <p:cNvSpPr txBox="1"/>
          <p:nvPr/>
        </p:nvSpPr>
        <p:spPr>
          <a:xfrm>
            <a:off x="612648" y="1216152"/>
            <a:ext cx="7040880" cy="2476832"/>
          </a:xfrm>
          <a:prstGeom prst="rect">
            <a:avLst/>
          </a:prstGeom>
          <a:solidFill>
            <a:srgbClr val="000000"/>
          </a:solidFill>
        </p:spPr>
        <p:txBody>
          <a:bodyPr wrap="square" lIns="109728" tIns="82296" bIns="64008">
            <a:spAutoFit/>
          </a:bodyPr>
          <a:lstStyle/>
          <a:p>
            <a:pPr>
              <a:lnSpc>
                <a:spcPct val="115000"/>
              </a:lnSpc>
              <a:spcBef>
                <a:spcPts val="0"/>
              </a:spcBef>
            </a:pPr>
            <a:r>
              <a:rPr sz="1200" b="0" dirty="0">
                <a:solidFill>
                  <a:srgbClr val="6A9955"/>
                </a:solidFill>
                <a:latin typeface="Courier New"/>
              </a:rPr>
              <a:t>// 1. Tool 1 — AI calls this for order questions</a:t>
            </a:r>
          </a:p>
          <a:p>
            <a:pPr>
              <a:lnSpc>
                <a:spcPct val="115000"/>
              </a:lnSpc>
              <a:spcBef>
                <a:spcPts val="0"/>
              </a:spcBef>
            </a:pPr>
            <a:r>
              <a:rPr sz="1200" b="0" dirty="0">
                <a:solidFill>
                  <a:srgbClr val="569CD6"/>
                </a:solidFill>
                <a:latin typeface="Courier New"/>
              </a:rPr>
              <a:t>string</a:t>
            </a:r>
            <a:r>
              <a:rPr sz="1200" b="0" dirty="0">
                <a:solidFill>
                  <a:srgbClr val="D4D4D4"/>
                </a:solidFill>
                <a:latin typeface="Courier New"/>
              </a:rPr>
              <a:t> </a:t>
            </a:r>
            <a:r>
              <a:rPr sz="1200" b="0" dirty="0">
                <a:solidFill>
                  <a:srgbClr val="569CD6"/>
                </a:solidFill>
                <a:latin typeface="Courier New"/>
              </a:rPr>
              <a:t>function</a:t>
            </a:r>
            <a:r>
              <a:rPr sz="1200" b="0" dirty="0">
                <a:solidFill>
                  <a:srgbClr val="D4D4D4"/>
                </a:solidFill>
                <a:latin typeface="Courier New"/>
              </a:rPr>
              <a:t> </a:t>
            </a:r>
            <a:r>
              <a:rPr sz="1200" b="0" dirty="0" err="1">
                <a:solidFill>
                  <a:srgbClr val="4EC9B0"/>
                </a:solidFill>
                <a:latin typeface="Courier New"/>
              </a:rPr>
              <a:t>getOrderStatus</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569CD6"/>
                </a:solidFill>
                <a:latin typeface="Courier New"/>
              </a:rPr>
              <a:t>required</a:t>
            </a:r>
            <a:r>
              <a:rPr sz="1200" b="0" dirty="0">
                <a:solidFill>
                  <a:srgbClr val="D4D4D4"/>
                </a:solidFill>
                <a:latin typeface="Courier New"/>
              </a:rPr>
              <a:t> </a:t>
            </a:r>
            <a:r>
              <a:rPr sz="1200" b="0" dirty="0">
                <a:solidFill>
                  <a:srgbClr val="569CD6"/>
                </a:solidFill>
                <a:latin typeface="Courier New"/>
              </a:rPr>
              <a:t>string</a:t>
            </a:r>
            <a:r>
              <a:rPr sz="1200" b="0" dirty="0">
                <a:solidFill>
                  <a:srgbClr val="D4D4D4"/>
                </a:solidFill>
                <a:latin typeface="Courier New"/>
              </a:rPr>
              <a:t> </a:t>
            </a:r>
            <a:r>
              <a:rPr sz="1200" b="0" dirty="0" err="1">
                <a:solidFill>
                  <a:srgbClr val="9CDCFE"/>
                </a:solidFill>
                <a:latin typeface="Courier New"/>
              </a:rPr>
              <a:t>orderId</a:t>
            </a:r>
            <a:endParaRPr sz="1200" b="0" dirty="0">
              <a:solidFill>
                <a:srgbClr val="9CDCFE"/>
              </a:solidFill>
              <a:latin typeface="Courier New"/>
            </a:endParaRPr>
          </a:p>
          <a:p>
            <a:pPr>
              <a:lnSpc>
                <a:spcPct val="115000"/>
              </a:lnSpc>
              <a:spcBef>
                <a:spcPts val="0"/>
              </a:spcBef>
            </a:pP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id</a:t>
            </a:r>
            <a:r>
              <a:rPr sz="1200" b="0" dirty="0">
                <a:solidFill>
                  <a:srgbClr val="D4D4D4"/>
                </a:solidFill>
                <a:latin typeface="Courier New"/>
              </a:rPr>
              <a:t> = </a:t>
            </a:r>
            <a:r>
              <a:rPr sz="1200" b="0" dirty="0">
                <a:solidFill>
                  <a:srgbClr val="4EC9B0"/>
                </a:solidFill>
                <a:latin typeface="Courier New"/>
              </a:rPr>
              <a:t>trim</a:t>
            </a:r>
            <a:r>
              <a:rPr sz="1200" b="0" dirty="0">
                <a:solidFill>
                  <a:srgbClr val="D4D4D4"/>
                </a:solidFill>
                <a:latin typeface="Courier New"/>
              </a:rPr>
              <a:t>( </a:t>
            </a:r>
            <a:r>
              <a:rPr sz="1200" b="0" dirty="0" err="1">
                <a:solidFill>
                  <a:srgbClr val="4EC9B0"/>
                </a:solidFill>
                <a:latin typeface="Courier New"/>
              </a:rPr>
              <a:t>reReplace</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err="1">
                <a:solidFill>
                  <a:srgbClr val="9CDCFE"/>
                </a:solidFill>
                <a:latin typeface="Courier New"/>
              </a:rPr>
              <a:t>arguments</a:t>
            </a:r>
            <a:r>
              <a:rPr sz="1200" b="0" dirty="0" err="1">
                <a:solidFill>
                  <a:srgbClr val="D4D4D4"/>
                </a:solidFill>
                <a:latin typeface="Courier New"/>
              </a:rPr>
              <a:t>.</a:t>
            </a:r>
            <a:r>
              <a:rPr sz="1200" b="0" dirty="0" err="1">
                <a:solidFill>
                  <a:srgbClr val="9CDCFE"/>
                </a:solidFill>
                <a:latin typeface="Courier New"/>
              </a:rPr>
              <a:t>orderId</a:t>
            </a:r>
            <a:r>
              <a:rPr sz="1200" b="0" dirty="0">
                <a:solidFill>
                  <a:srgbClr val="D4D4D4"/>
                </a:solidFill>
                <a:latin typeface="Courier New"/>
              </a:rPr>
              <a:t>, </a:t>
            </a:r>
            <a:r>
              <a:rPr sz="1200" b="0" dirty="0">
                <a:solidFill>
                  <a:srgbClr val="CE9178"/>
                </a:solidFill>
                <a:latin typeface="Courier New"/>
              </a:rPr>
              <a:t>"[^0-9]"</a:t>
            </a:r>
            <a:r>
              <a:rPr sz="1200" b="0" dirty="0">
                <a:solidFill>
                  <a:srgbClr val="D4D4D4"/>
                </a:solidFill>
                <a:latin typeface="Courier New"/>
              </a:rPr>
              <a:t>, </a:t>
            </a:r>
            <a:r>
              <a:rPr sz="1200" b="0" dirty="0">
                <a:solidFill>
                  <a:srgbClr val="CE9178"/>
                </a:solidFill>
                <a:latin typeface="Courier New"/>
              </a:rPr>
              <a:t>""</a:t>
            </a:r>
            <a:r>
              <a:rPr sz="1200" b="0" dirty="0">
                <a:solidFill>
                  <a:srgbClr val="D4D4D4"/>
                </a:solidFill>
                <a:latin typeface="Courier New"/>
              </a:rPr>
              <a:t>, </a:t>
            </a:r>
            <a:r>
              <a:rPr sz="1200" b="0" dirty="0">
                <a:solidFill>
                  <a:srgbClr val="CE9178"/>
                </a:solidFill>
                <a:latin typeface="Courier New"/>
              </a:rPr>
              <a:t>"all"</a:t>
            </a: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o</a:t>
            </a:r>
            <a:r>
              <a:rPr sz="1200" b="0" dirty="0">
                <a:solidFill>
                  <a:srgbClr val="D4D4D4"/>
                </a:solidFill>
                <a:latin typeface="Courier New"/>
              </a:rPr>
              <a:t>  = </a:t>
            </a:r>
            <a:r>
              <a:rPr sz="1200" b="0" dirty="0" err="1">
                <a:solidFill>
                  <a:srgbClr val="4EC9B0"/>
                </a:solidFill>
                <a:latin typeface="Courier New"/>
              </a:rPr>
              <a:t>queryGetOrder</a:t>
            </a:r>
            <a:r>
              <a:rPr sz="1200" b="0" dirty="0">
                <a:solidFill>
                  <a:srgbClr val="D4D4D4"/>
                </a:solidFill>
                <a:latin typeface="Courier New"/>
              </a:rPr>
              <a:t>(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id</a:t>
            </a: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    </a:t>
            </a:r>
            <a:r>
              <a:rPr sz="1200" b="0" dirty="0">
                <a:solidFill>
                  <a:srgbClr val="569CD6"/>
                </a:solidFill>
                <a:latin typeface="Courier New"/>
              </a:rPr>
              <a:t>return</a:t>
            </a:r>
            <a:r>
              <a:rPr sz="1200" b="0" dirty="0">
                <a:solidFill>
                  <a:srgbClr val="D4D4D4"/>
                </a:solidFill>
                <a:latin typeface="Courier New"/>
              </a:rPr>
              <a:t> </a:t>
            </a:r>
            <a:r>
              <a:rPr sz="1200" b="0" dirty="0">
                <a:solidFill>
                  <a:srgbClr val="CE9178"/>
                </a:solidFill>
                <a:latin typeface="Courier New"/>
              </a:rPr>
              <a:t>"Order ##"</a:t>
            </a:r>
            <a:r>
              <a:rPr sz="1200" b="0" dirty="0">
                <a:solidFill>
                  <a:srgbClr val="D4D4D4"/>
                </a:solidFill>
                <a:latin typeface="Courier New"/>
              </a:rPr>
              <a:t> &amp;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id</a:t>
            </a:r>
            <a:endParaRPr sz="1200" b="0" dirty="0">
              <a:solidFill>
                <a:srgbClr val="9CDCFE"/>
              </a:solidFill>
              <a:latin typeface="Courier New"/>
            </a:endParaRPr>
          </a:p>
          <a:p>
            <a:pPr>
              <a:lnSpc>
                <a:spcPct val="115000"/>
              </a:lnSpc>
              <a:spcBef>
                <a:spcPts val="0"/>
              </a:spcBef>
            </a:pPr>
            <a:r>
              <a:rPr sz="1200" b="0" dirty="0">
                <a:solidFill>
                  <a:srgbClr val="D4D4D4"/>
                </a:solidFill>
                <a:latin typeface="Courier New"/>
              </a:rPr>
              <a:t>         &amp; </a:t>
            </a:r>
            <a:r>
              <a:rPr sz="1200" b="0" dirty="0">
                <a:solidFill>
                  <a:srgbClr val="CE9178"/>
                </a:solidFill>
                <a:latin typeface="Courier New"/>
              </a:rPr>
              <a:t>" — "</a:t>
            </a:r>
            <a:r>
              <a:rPr sz="1200" b="0" dirty="0">
                <a:solidFill>
                  <a:srgbClr val="D4D4D4"/>
                </a:solidFill>
                <a:latin typeface="Courier New"/>
              </a:rPr>
              <a:t> &amp;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o</a:t>
            </a:r>
            <a:r>
              <a:rPr sz="1200" b="0" dirty="0" err="1">
                <a:solidFill>
                  <a:srgbClr val="D4D4D4"/>
                </a:solidFill>
                <a:latin typeface="Courier New"/>
              </a:rPr>
              <a:t>.</a:t>
            </a:r>
            <a:r>
              <a:rPr sz="1200" b="0" dirty="0" err="1">
                <a:solidFill>
                  <a:srgbClr val="9CDCFE"/>
                </a:solidFill>
                <a:latin typeface="Courier New"/>
              </a:rPr>
              <a:t>status</a:t>
            </a:r>
            <a:endParaRPr sz="1200" b="0" dirty="0">
              <a:solidFill>
                <a:srgbClr val="9CDCFE"/>
              </a:solidFill>
              <a:latin typeface="Courier New"/>
            </a:endParaRPr>
          </a:p>
          <a:p>
            <a:pPr>
              <a:lnSpc>
                <a:spcPct val="115000"/>
              </a:lnSpc>
              <a:spcBef>
                <a:spcPts val="0"/>
              </a:spcBef>
            </a:pPr>
            <a:r>
              <a:rPr sz="1200" b="0" dirty="0">
                <a:solidFill>
                  <a:srgbClr val="D4D4D4"/>
                </a:solidFill>
                <a:latin typeface="Courier New"/>
              </a:rPr>
              <a:t>         &amp; </a:t>
            </a:r>
            <a:r>
              <a:rPr sz="1200" b="0" dirty="0">
                <a:solidFill>
                  <a:srgbClr val="CE9178"/>
                </a:solidFill>
                <a:latin typeface="Courier New"/>
              </a:rPr>
              <a:t>" · ETA: "</a:t>
            </a:r>
            <a:r>
              <a:rPr sz="1200" b="0" dirty="0">
                <a:solidFill>
                  <a:srgbClr val="D4D4D4"/>
                </a:solidFill>
                <a:latin typeface="Courier New"/>
              </a:rPr>
              <a:t> &amp;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o</a:t>
            </a:r>
            <a:r>
              <a:rPr sz="1200" b="0" dirty="0" err="1">
                <a:solidFill>
                  <a:srgbClr val="D4D4D4"/>
                </a:solidFill>
                <a:latin typeface="Courier New"/>
              </a:rPr>
              <a:t>.</a:t>
            </a:r>
            <a:r>
              <a:rPr sz="1200" b="0" dirty="0" err="1">
                <a:solidFill>
                  <a:srgbClr val="9CDCFE"/>
                </a:solidFill>
                <a:latin typeface="Courier New"/>
              </a:rPr>
              <a:t>eta</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a:t>
            </a:r>
          </a:p>
        </p:txBody>
      </p:sp>
      <p:sp>
        <p:nvSpPr>
          <p:cNvPr id="8" name="TextBox 7"/>
          <p:cNvSpPr txBox="1"/>
          <p:nvPr/>
        </p:nvSpPr>
        <p:spPr>
          <a:xfrm>
            <a:off x="612648" y="3936195"/>
            <a:ext cx="7086600" cy="2670924"/>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2. Tool 2 — AI calls this to escalate</a:t>
            </a:r>
          </a:p>
          <a:p>
            <a:pPr>
              <a:lnSpc>
                <a:spcPct val="115000"/>
              </a:lnSpc>
              <a:spcBef>
                <a:spcPts val="0"/>
              </a:spcBef>
            </a:pPr>
            <a:r>
              <a:rPr sz="1300" b="0" dirty="0">
                <a:solidFill>
                  <a:srgbClr val="569CD6"/>
                </a:solidFill>
                <a:latin typeface="Courier New"/>
              </a:rPr>
              <a:t>string</a:t>
            </a:r>
            <a:r>
              <a:rPr sz="1300" b="0" dirty="0">
                <a:solidFill>
                  <a:srgbClr val="D4D4D4"/>
                </a:solidFill>
                <a:latin typeface="Courier New"/>
              </a:rPr>
              <a:t> </a:t>
            </a:r>
            <a:r>
              <a:rPr sz="1300" b="0" dirty="0">
                <a:solidFill>
                  <a:srgbClr val="569CD6"/>
                </a:solidFill>
                <a:latin typeface="Courier New"/>
              </a:rPr>
              <a:t>function</a:t>
            </a:r>
            <a:r>
              <a:rPr sz="1300" b="0" dirty="0">
                <a:solidFill>
                  <a:srgbClr val="D4D4D4"/>
                </a:solidFill>
                <a:latin typeface="Courier New"/>
              </a:rPr>
              <a:t> </a:t>
            </a:r>
            <a:r>
              <a:rPr sz="1300" b="0" dirty="0" err="1">
                <a:solidFill>
                  <a:srgbClr val="4EC9B0"/>
                </a:solidFill>
                <a:latin typeface="Courier New"/>
              </a:rPr>
              <a:t>escalateIssue</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required</a:t>
            </a:r>
            <a:r>
              <a:rPr sz="1300" b="0" dirty="0">
                <a:solidFill>
                  <a:srgbClr val="D4D4D4"/>
                </a:solidFill>
                <a:latin typeface="Courier New"/>
              </a:rPr>
              <a:t> </a:t>
            </a:r>
            <a:r>
              <a:rPr sz="1300" b="0" dirty="0">
                <a:solidFill>
                  <a:srgbClr val="569CD6"/>
                </a:solidFill>
                <a:latin typeface="Courier New"/>
              </a:rPr>
              <a:t>string</a:t>
            </a:r>
            <a:r>
              <a:rPr sz="1300" b="0" dirty="0">
                <a:solidFill>
                  <a:srgbClr val="D4D4D4"/>
                </a:solidFill>
                <a:latin typeface="Courier New"/>
              </a:rPr>
              <a:t> </a:t>
            </a:r>
            <a:r>
              <a:rPr sz="1300" b="0" dirty="0">
                <a:solidFill>
                  <a:srgbClr val="9CDCFE"/>
                </a:solidFill>
                <a:latin typeface="Courier New"/>
              </a:rPr>
              <a:t>summary</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string</a:t>
            </a:r>
            <a:r>
              <a:rPr sz="1300" b="0" dirty="0">
                <a:solidFill>
                  <a:srgbClr val="D4D4D4"/>
                </a:solidFill>
                <a:latin typeface="Courier New"/>
              </a:rPr>
              <a:t> </a:t>
            </a:r>
            <a:r>
              <a:rPr sz="1300" b="0" dirty="0" err="1">
                <a:solidFill>
                  <a:srgbClr val="9CDCFE"/>
                </a:solidFill>
                <a:latin typeface="Courier New"/>
              </a:rPr>
              <a:t>orderId</a:t>
            </a:r>
            <a:r>
              <a:rPr sz="1300" b="0" dirty="0">
                <a:solidFill>
                  <a:srgbClr val="D4D4D4"/>
                </a:solidFill>
                <a:latin typeface="Courier New"/>
              </a:rPr>
              <a:t> = </a:t>
            </a:r>
            <a:r>
              <a:rPr sz="1300" b="0" dirty="0">
                <a:solidFill>
                  <a:srgbClr val="CE9178"/>
                </a:solidFill>
                <a:latin typeface="Courier New"/>
              </a:rPr>
              <a:t>""</a:t>
            </a:r>
          </a:p>
          <a:p>
            <a:pPr>
              <a:lnSpc>
                <a:spcPct val="115000"/>
              </a:lnSpc>
              <a:spcBef>
                <a:spcPts val="0"/>
              </a:spcBef>
            </a:pP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err="1">
                <a:solidFill>
                  <a:srgbClr val="9CDCFE"/>
                </a:solidFill>
                <a:latin typeface="Courier New"/>
              </a:rPr>
              <a:t>local</a:t>
            </a:r>
            <a:r>
              <a:rPr sz="1300" b="0" dirty="0" err="1">
                <a:solidFill>
                  <a:srgbClr val="D4D4D4"/>
                </a:solidFill>
                <a:latin typeface="Courier New"/>
              </a:rPr>
              <a:t>.</a:t>
            </a:r>
            <a:r>
              <a:rPr sz="1300" b="0" dirty="0" err="1">
                <a:solidFill>
                  <a:srgbClr val="9CDCFE"/>
                </a:solidFill>
                <a:latin typeface="Courier New"/>
              </a:rPr>
              <a:t>ticket</a:t>
            </a:r>
            <a:r>
              <a:rPr sz="1300" b="0" dirty="0">
                <a:solidFill>
                  <a:srgbClr val="D4D4D4"/>
                </a:solidFill>
                <a:latin typeface="Courier New"/>
              </a:rPr>
              <a:t> = </a:t>
            </a:r>
            <a:r>
              <a:rPr sz="1300" b="0" dirty="0">
                <a:solidFill>
                  <a:srgbClr val="CE9178"/>
                </a:solidFill>
                <a:latin typeface="Courier New"/>
              </a:rPr>
              <a:t>"SUPPORT-"</a:t>
            </a:r>
            <a:r>
              <a:rPr sz="1300" b="0" dirty="0">
                <a:solidFill>
                  <a:srgbClr val="D4D4D4"/>
                </a:solidFill>
                <a:latin typeface="Courier New"/>
              </a:rPr>
              <a:t> &amp; </a:t>
            </a:r>
            <a:r>
              <a:rPr sz="1300" b="0" dirty="0" err="1">
                <a:solidFill>
                  <a:srgbClr val="4EC9B0"/>
                </a:solidFill>
                <a:latin typeface="Courier New"/>
              </a:rPr>
              <a:t>randRange</a:t>
            </a:r>
            <a:r>
              <a:rPr sz="1300" b="0" dirty="0">
                <a:solidFill>
                  <a:srgbClr val="D4D4D4"/>
                </a:solidFill>
                <a:latin typeface="Courier New"/>
              </a:rPr>
              <a:t>(</a:t>
            </a:r>
            <a:r>
              <a:rPr sz="1300" b="0" dirty="0">
                <a:solidFill>
                  <a:srgbClr val="B5CEA8"/>
                </a:solidFill>
                <a:latin typeface="Courier New"/>
              </a:rPr>
              <a:t>4500</a:t>
            </a:r>
            <a:r>
              <a:rPr sz="1300" b="0" dirty="0">
                <a:solidFill>
                  <a:srgbClr val="D4D4D4"/>
                </a:solidFill>
                <a:latin typeface="Courier New"/>
              </a:rPr>
              <a:t>,</a:t>
            </a:r>
            <a:r>
              <a:rPr sz="1300" b="0" dirty="0">
                <a:solidFill>
                  <a:srgbClr val="B5CEA8"/>
                </a:solidFill>
                <a:latin typeface="Courier New"/>
              </a:rPr>
              <a:t>4999</a:t>
            </a:r>
            <a:r>
              <a:rPr sz="1300" b="0" dirty="0">
                <a:solidFill>
                  <a:srgbClr val="D4D4D4"/>
                </a:solidFill>
                <a:latin typeface="Courier New"/>
              </a:rPr>
              <a:t>);</a:t>
            </a:r>
          </a:p>
          <a:p>
            <a:pPr>
              <a:lnSpc>
                <a:spcPct val="115000"/>
              </a:lnSpc>
              <a:spcBef>
                <a:spcPts val="0"/>
              </a:spcBef>
            </a:pPr>
            <a:r>
              <a:rPr sz="1300" b="0" dirty="0">
                <a:solidFill>
                  <a:srgbClr val="6A9955"/>
                </a:solidFill>
                <a:latin typeface="Courier New"/>
              </a:rPr>
              <a:t>    // INSERT into tickets, send alert email</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return</a:t>
            </a:r>
            <a:r>
              <a:rPr sz="1300" b="0" dirty="0">
                <a:solidFill>
                  <a:srgbClr val="D4D4D4"/>
                </a:solidFill>
                <a:latin typeface="Courier New"/>
              </a:rPr>
              <a:t> </a:t>
            </a:r>
            <a:r>
              <a:rPr sz="1300" b="0" dirty="0">
                <a:solidFill>
                  <a:srgbClr val="CE9178"/>
                </a:solidFill>
                <a:latin typeface="Courier New"/>
              </a:rPr>
              <a:t>"Ticket ##"</a:t>
            </a:r>
            <a:r>
              <a:rPr sz="1300" b="0" dirty="0">
                <a:solidFill>
                  <a:srgbClr val="D4D4D4"/>
                </a:solidFill>
                <a:latin typeface="Courier New"/>
              </a:rPr>
              <a:t> &amp; </a:t>
            </a:r>
            <a:r>
              <a:rPr sz="1300" b="0" dirty="0" err="1">
                <a:solidFill>
                  <a:srgbClr val="9CDCFE"/>
                </a:solidFill>
                <a:latin typeface="Courier New"/>
              </a:rPr>
              <a:t>local</a:t>
            </a:r>
            <a:r>
              <a:rPr sz="1300" b="0" dirty="0" err="1">
                <a:solidFill>
                  <a:srgbClr val="D4D4D4"/>
                </a:solidFill>
                <a:latin typeface="Courier New"/>
              </a:rPr>
              <a:t>.</a:t>
            </a:r>
            <a:r>
              <a:rPr sz="1300" b="0" dirty="0" err="1">
                <a:solidFill>
                  <a:srgbClr val="9CDCFE"/>
                </a:solidFill>
                <a:latin typeface="Courier New"/>
              </a:rPr>
              <a:t>ticket</a:t>
            </a:r>
            <a:endParaRPr sz="1300" b="0" dirty="0">
              <a:solidFill>
                <a:srgbClr val="9CDCFE"/>
              </a:solidFill>
              <a:latin typeface="Courier New"/>
            </a:endParaRPr>
          </a:p>
          <a:p>
            <a:pPr>
              <a:lnSpc>
                <a:spcPct val="115000"/>
              </a:lnSpc>
              <a:spcBef>
                <a:spcPts val="0"/>
              </a:spcBef>
            </a:pPr>
            <a:r>
              <a:rPr sz="1300" b="0" dirty="0">
                <a:solidFill>
                  <a:srgbClr val="D4D4D4"/>
                </a:solidFill>
                <a:latin typeface="Courier New"/>
              </a:rPr>
              <a:t>         &amp; </a:t>
            </a:r>
            <a:r>
              <a:rPr sz="1300" b="0" dirty="0">
                <a:solidFill>
                  <a:srgbClr val="CE9178"/>
                </a:solidFill>
                <a:latin typeface="Courier New"/>
              </a:rPr>
              <a:t>" — team responds in 2 hours."</a:t>
            </a:r>
            <a:r>
              <a:rPr sz="1300" b="0" dirty="0">
                <a:solidFill>
                  <a:srgbClr val="D4D4D4"/>
                </a:solidFill>
                <a:latin typeface="Courier New"/>
              </a:rPr>
              <a:t>;</a:t>
            </a:r>
            <a:endParaRPr lang="en-US" sz="1300" b="0" dirty="0">
              <a:solidFill>
                <a:srgbClr val="D4D4D4"/>
              </a:solidFill>
              <a:latin typeface="Courier New"/>
            </a:endParaRPr>
          </a:p>
          <a:p>
            <a:pPr>
              <a:lnSpc>
                <a:spcPct val="115000"/>
              </a:lnSpc>
              <a:spcBef>
                <a:spcPts val="0"/>
              </a:spcBef>
            </a:pPr>
            <a:endParaRPr sz="1300" b="0" dirty="0">
              <a:solidFill>
                <a:srgbClr val="D4D4D4"/>
              </a:solidFill>
              <a:latin typeface="Courier New"/>
            </a:endParaRPr>
          </a:p>
          <a:p>
            <a:pPr>
              <a:lnSpc>
                <a:spcPct val="115000"/>
              </a:lnSpc>
              <a:spcBef>
                <a:spcPts val="0"/>
              </a:spcBef>
            </a:pPr>
            <a:r>
              <a:rPr sz="1300" b="0" dirty="0">
                <a:solidFill>
                  <a:srgbClr val="D4D4D4"/>
                </a:solidFill>
                <a:latin typeface="Courier New"/>
              </a:rPr>
              <a:t>}</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Problem 4 — The AI Can't Access Real Data</a:t>
            </a:r>
          </a:p>
        </p:txBody>
      </p:sp>
      <p:sp>
        <p:nvSpPr>
          <p:cNvPr id="3" name="Rectangle 2"/>
          <p:cNvSpPr/>
          <p:nvPr/>
        </p:nvSpPr>
        <p:spPr>
          <a:xfrm>
            <a:off x="609600" y="1417320"/>
            <a:ext cx="11579352" cy="71323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536192"/>
            <a:ext cx="11247120" cy="713232"/>
          </a:xfrm>
          <a:prstGeom prst="rect">
            <a:avLst/>
          </a:prstGeom>
          <a:noFill/>
        </p:spPr>
        <p:txBody>
          <a:bodyPr wrap="square">
            <a:spAutoFit/>
          </a:bodyPr>
          <a:lstStyle/>
          <a:p>
            <a:pPr algn="l"/>
            <a:r>
              <a:rPr sz="1500" b="1" i="0" dirty="0">
                <a:solidFill>
                  <a:srgbClr val="FFFFFF"/>
                </a:solidFill>
              </a:rPr>
              <a:t>Problem 4: The AI knows policies — but it can't look up a customer's actual order.</a:t>
            </a:r>
          </a:p>
        </p:txBody>
      </p:sp>
      <p:sp>
        <p:nvSpPr>
          <p:cNvPr id="5" name="TextBox 4"/>
          <p:cNvSpPr txBox="1"/>
          <p:nvPr/>
        </p:nvSpPr>
        <p:spPr>
          <a:xfrm>
            <a:off x="612648" y="2496312"/>
            <a:ext cx="11576304" cy="369332"/>
          </a:xfrm>
          <a:prstGeom prst="rect">
            <a:avLst/>
          </a:prstGeom>
          <a:noFill/>
        </p:spPr>
        <p:txBody>
          <a:bodyPr wrap="square">
            <a:spAutoFit/>
          </a:bodyPr>
          <a:lstStyle/>
          <a:p>
            <a:pPr algn="l"/>
            <a:r>
              <a:rPr b="0" i="1" dirty="0">
                <a:solidFill>
                  <a:srgbClr val="555555"/>
                </a:solidFill>
              </a:rPr>
              <a:t>Problem 3 code — customer asks about a real order:</a:t>
            </a:r>
          </a:p>
        </p:txBody>
      </p:sp>
      <p:sp>
        <p:nvSpPr>
          <p:cNvPr id="6" name="TextBox 5"/>
          <p:cNvSpPr txBox="1"/>
          <p:nvPr/>
        </p:nvSpPr>
        <p:spPr>
          <a:xfrm>
            <a:off x="612648" y="2898648"/>
            <a:ext cx="11576304" cy="1946687"/>
          </a:xfrm>
          <a:prstGeom prst="rect">
            <a:avLst/>
          </a:prstGeom>
          <a:noFill/>
        </p:spPr>
        <p:txBody>
          <a:bodyPr wrap="square">
            <a:spAutoFit/>
          </a:bodyPr>
          <a:lstStyle/>
          <a:p>
            <a:pPr>
              <a:spcBef>
                <a:spcPts val="300"/>
              </a:spcBef>
            </a:pPr>
            <a:r>
              <a:rPr b="1" dirty="0">
                <a:solidFill>
                  <a:srgbClr val="00788C"/>
                </a:solidFill>
              </a:rPr>
              <a:t>Customer:  </a:t>
            </a:r>
            <a:r>
              <a:rPr dirty="0">
                <a:solidFill>
                  <a:srgbClr val="1A1A1A"/>
                </a:solidFill>
              </a:rPr>
              <a:t>Where is my order #12345? It was due yesterday.</a:t>
            </a:r>
          </a:p>
          <a:p>
            <a:pPr>
              <a:spcBef>
                <a:spcPts val="300"/>
              </a:spcBef>
            </a:pPr>
            <a:r>
              <a:rPr b="1" dirty="0">
                <a:solidFill>
                  <a:srgbClr val="EB1000"/>
                </a:solidFill>
              </a:rPr>
              <a:t>AI:  </a:t>
            </a:r>
            <a:r>
              <a:rPr dirty="0">
                <a:solidFill>
                  <a:srgbClr val="EB1000"/>
                </a:solidFill>
              </a:rPr>
              <a:t>I'm sorry to hear that! Unfortunately I don't have access to real-time order tracking...  ❌</a:t>
            </a:r>
          </a:p>
          <a:p>
            <a:pPr>
              <a:spcBef>
                <a:spcPts val="300"/>
              </a:spcBef>
            </a:pPr>
            <a:r>
              <a:rPr b="1" dirty="0">
                <a:solidFill>
                  <a:srgbClr val="00788C"/>
                </a:solidFill>
              </a:rPr>
              <a:t>Customer:  </a:t>
            </a:r>
            <a:r>
              <a:rPr dirty="0">
                <a:solidFill>
                  <a:srgbClr val="1A1A1A"/>
                </a:solidFill>
              </a:rPr>
              <a:t>Can you check? I ordered last week.</a:t>
            </a:r>
          </a:p>
          <a:p>
            <a:pPr>
              <a:spcBef>
                <a:spcPts val="300"/>
              </a:spcBef>
            </a:pPr>
            <a:r>
              <a:rPr b="1" dirty="0">
                <a:solidFill>
                  <a:srgbClr val="EB1000"/>
                </a:solidFill>
              </a:rPr>
              <a:t>AI:  </a:t>
            </a:r>
            <a:r>
              <a:rPr dirty="0">
                <a:solidFill>
                  <a:srgbClr val="EB1000"/>
                </a:solidFill>
              </a:rPr>
              <a:t>I'd suggest logging in to your account to check the status...  ❌  deflecting, not helping</a:t>
            </a:r>
          </a:p>
          <a:p>
            <a:pPr>
              <a:spcBef>
                <a:spcPts val="300"/>
              </a:spcBef>
            </a:pPr>
            <a:r>
              <a:rPr b="1" dirty="0">
                <a:solidFill>
                  <a:srgbClr val="00788C"/>
                </a:solidFill>
              </a:rPr>
              <a:t>Customer:  </a:t>
            </a:r>
            <a:r>
              <a:rPr dirty="0">
                <a:solidFill>
                  <a:srgbClr val="1A1A1A"/>
                </a:solidFill>
              </a:rPr>
              <a:t>I want to speak to someone who can actually help me.</a:t>
            </a:r>
          </a:p>
          <a:p>
            <a:pPr>
              <a:spcBef>
                <a:spcPts val="300"/>
              </a:spcBef>
            </a:pPr>
            <a:r>
              <a:rPr b="1" dirty="0">
                <a:solidFill>
                  <a:srgbClr val="EB1000"/>
                </a:solidFill>
              </a:rPr>
              <a:t>AI:  </a:t>
            </a:r>
            <a:r>
              <a:rPr dirty="0">
                <a:solidFill>
                  <a:srgbClr val="EB1000"/>
                </a:solidFill>
              </a:rPr>
              <a:t>I understand your frustration! I can escalate...  ❌  can't create a real ticket either</a:t>
            </a:r>
          </a:p>
        </p:txBody>
      </p:sp>
      <p:sp>
        <p:nvSpPr>
          <p:cNvPr id="7" name="TextBox 6"/>
          <p:cNvSpPr txBox="1"/>
          <p:nvPr/>
        </p:nvSpPr>
        <p:spPr>
          <a:xfrm>
            <a:off x="612648" y="5193792"/>
            <a:ext cx="11576304" cy="369332"/>
          </a:xfrm>
          <a:prstGeom prst="rect">
            <a:avLst/>
          </a:prstGeom>
          <a:noFill/>
        </p:spPr>
        <p:txBody>
          <a:bodyPr wrap="square">
            <a:spAutoFit/>
          </a:bodyPr>
          <a:lstStyle/>
          <a:p>
            <a:pPr algn="l"/>
            <a:r>
              <a:rPr b="1" i="0" dirty="0">
                <a:solidFill>
                  <a:srgbClr val="107C10"/>
                </a:solidFill>
              </a:rPr>
              <a:t>Solution: Pass a Tool CFC to agent() — the AI calls your ColdFusion methods to get real data.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b="1"/>
              <a:t>Problem 4 — Solution: Add Function Tools</a:t>
            </a:r>
          </a:p>
        </p:txBody>
      </p:sp>
      <p:sp>
        <p:nvSpPr>
          <p:cNvPr id="4" name="TextBox 3"/>
          <p:cNvSpPr txBox="1"/>
          <p:nvPr/>
        </p:nvSpPr>
        <p:spPr>
          <a:xfrm>
            <a:off x="7651746" y="1210474"/>
            <a:ext cx="4251960" cy="4993675"/>
          </a:xfrm>
          <a:prstGeom prst="rect">
            <a:avLst/>
          </a:prstGeom>
          <a:noFill/>
        </p:spPr>
        <p:txBody>
          <a:bodyPr wrap="square">
            <a:spAutoFit/>
          </a:bodyPr>
          <a:lstStyle/>
          <a:p>
            <a:pPr>
              <a:spcBef>
                <a:spcPts val="300"/>
              </a:spcBef>
            </a:pPr>
            <a:r>
              <a:rPr b="1" dirty="0">
                <a:solidFill>
                  <a:srgbClr val="EB1000"/>
                </a:solidFill>
              </a:rPr>
              <a:t>What changed:</a:t>
            </a:r>
          </a:p>
          <a:p>
            <a:pPr>
              <a:spcBef>
                <a:spcPts val="300"/>
              </a:spcBef>
            </a:pPr>
            <a:r>
              <a:rPr dirty="0">
                <a:solidFill>
                  <a:srgbClr val="555555"/>
                </a:solidFill>
              </a:rPr>
              <a:t>  </a:t>
            </a:r>
            <a:r>
              <a:rPr dirty="0" err="1">
                <a:solidFill>
                  <a:srgbClr val="555555"/>
                </a:solidFill>
              </a:rPr>
              <a:t>SupportTool</a:t>
            </a:r>
            <a:r>
              <a:rPr dirty="0">
                <a:solidFill>
                  <a:srgbClr val="555555"/>
                </a:solidFill>
              </a:rPr>
              <a:t> CFC created</a:t>
            </a:r>
          </a:p>
          <a:p>
            <a:pPr>
              <a:spcBef>
                <a:spcPts val="300"/>
              </a:spcBef>
            </a:pPr>
            <a:r>
              <a:rPr dirty="0">
                <a:solidFill>
                  <a:srgbClr val="555555"/>
                </a:solidFill>
              </a:rPr>
              <a:t>  TOOLS:[</a:t>
            </a:r>
            <a:r>
              <a:rPr dirty="0" err="1">
                <a:solidFill>
                  <a:srgbClr val="555555"/>
                </a:solidFill>
              </a:rPr>
              <a:t>supportTool</a:t>
            </a:r>
            <a:r>
              <a:rPr dirty="0">
                <a:solidFill>
                  <a:srgbClr val="555555"/>
                </a:solidFill>
              </a:rPr>
              <a:t>] added to agent()</a:t>
            </a:r>
          </a:p>
          <a:p>
            <a:pPr>
              <a:spcBef>
                <a:spcPts val="300"/>
              </a:spcBef>
            </a:pPr>
            <a:r>
              <a:rPr dirty="0">
                <a:solidFill>
                  <a:srgbClr val="555555"/>
                </a:solidFill>
              </a:rPr>
              <a:t>  System message updated: use the tools</a:t>
            </a:r>
          </a:p>
          <a:p>
            <a:pPr>
              <a:spcBef>
                <a:spcPts val="300"/>
              </a:spcBef>
            </a:pPr>
            <a:endParaRPr dirty="0">
              <a:solidFill>
                <a:srgbClr val="555555"/>
              </a:solidFill>
            </a:endParaRPr>
          </a:p>
          <a:p>
            <a:pPr>
              <a:spcBef>
                <a:spcPts val="300"/>
              </a:spcBef>
            </a:pPr>
            <a:r>
              <a:rPr b="1" dirty="0">
                <a:solidFill>
                  <a:srgbClr val="EB1000"/>
                </a:solidFill>
              </a:rPr>
              <a:t>Same conversation — now correct:</a:t>
            </a:r>
          </a:p>
          <a:p>
            <a:pPr>
              <a:spcBef>
                <a:spcPts val="300"/>
              </a:spcBef>
            </a:pPr>
            <a:r>
              <a:rPr b="1" dirty="0">
                <a:solidFill>
                  <a:srgbClr val="EB1000"/>
                </a:solidFill>
              </a:rPr>
              <a:t>"Where is order #12345?"</a:t>
            </a:r>
          </a:p>
          <a:p>
            <a:pPr>
              <a:spcBef>
                <a:spcPts val="300"/>
              </a:spcBef>
            </a:pPr>
            <a:r>
              <a:rPr dirty="0">
                <a:solidFill>
                  <a:srgbClr val="555555"/>
                </a:solidFill>
              </a:rPr>
              <a:t>  → AI calls </a:t>
            </a:r>
            <a:r>
              <a:rPr dirty="0" err="1">
                <a:solidFill>
                  <a:srgbClr val="555555"/>
                </a:solidFill>
              </a:rPr>
              <a:t>getOrderStatus</a:t>
            </a:r>
            <a:r>
              <a:rPr dirty="0">
                <a:solidFill>
                  <a:srgbClr val="555555"/>
                </a:solidFill>
              </a:rPr>
              <a:t>("12345")</a:t>
            </a:r>
          </a:p>
          <a:p>
            <a:pPr>
              <a:spcBef>
                <a:spcPts val="300"/>
              </a:spcBef>
            </a:pPr>
            <a:r>
              <a:rPr dirty="0">
                <a:solidFill>
                  <a:srgbClr val="107C10"/>
                </a:solidFill>
              </a:rPr>
              <a:t>  → Returns real tracking data  ✓</a:t>
            </a:r>
          </a:p>
          <a:p>
            <a:pPr>
              <a:spcBef>
                <a:spcPts val="300"/>
              </a:spcBef>
            </a:pPr>
            <a:r>
              <a:rPr b="1" dirty="0">
                <a:solidFill>
                  <a:srgbClr val="EB1000"/>
                </a:solidFill>
              </a:rPr>
              <a:t>"I want to escalate"</a:t>
            </a:r>
          </a:p>
          <a:p>
            <a:pPr>
              <a:spcBef>
                <a:spcPts val="300"/>
              </a:spcBef>
            </a:pPr>
            <a:r>
              <a:rPr dirty="0">
                <a:solidFill>
                  <a:srgbClr val="555555"/>
                </a:solidFill>
              </a:rPr>
              <a:t>  → AI calls </a:t>
            </a:r>
            <a:r>
              <a:rPr dirty="0" err="1">
                <a:solidFill>
                  <a:srgbClr val="555555"/>
                </a:solidFill>
              </a:rPr>
              <a:t>escalateIssue</a:t>
            </a:r>
            <a:r>
              <a:rPr dirty="0">
                <a:solidFill>
                  <a:srgbClr val="555555"/>
                </a:solidFill>
              </a:rPr>
              <a:t>(summary)</a:t>
            </a:r>
          </a:p>
          <a:p>
            <a:pPr>
              <a:spcBef>
                <a:spcPts val="300"/>
              </a:spcBef>
            </a:pPr>
            <a:r>
              <a:rPr dirty="0">
                <a:solidFill>
                  <a:srgbClr val="107C10"/>
                </a:solidFill>
              </a:rPr>
              <a:t>  → Real ticket SUPPORT-4821 created  ✓</a:t>
            </a:r>
          </a:p>
          <a:p>
            <a:pPr>
              <a:spcBef>
                <a:spcPts val="300"/>
              </a:spcBef>
            </a:pPr>
            <a:endParaRPr dirty="0">
              <a:solidFill>
                <a:srgbClr val="107C10"/>
              </a:solidFill>
            </a:endParaRPr>
          </a:p>
          <a:p>
            <a:pPr>
              <a:spcBef>
                <a:spcPts val="300"/>
              </a:spcBef>
            </a:pPr>
            <a:r>
              <a:rPr b="1" dirty="0">
                <a:solidFill>
                  <a:srgbClr val="EB1000"/>
                </a:solidFill>
              </a:rPr>
              <a:t>What we still need:</a:t>
            </a:r>
          </a:p>
          <a:p>
            <a:pPr>
              <a:spcBef>
                <a:spcPts val="300"/>
              </a:spcBef>
            </a:pPr>
            <a:r>
              <a:rPr dirty="0">
                <a:solidFill>
                  <a:srgbClr val="EB1000"/>
                </a:solidFill>
              </a:rPr>
              <a:t>  ✗  AI response not filtered for PII</a:t>
            </a:r>
          </a:p>
          <a:p>
            <a:pPr>
              <a:spcBef>
                <a:spcPts val="300"/>
              </a:spcBef>
            </a:pPr>
            <a:endParaRPr sz="1100" dirty="0">
              <a:solidFill>
                <a:srgbClr val="EB1000"/>
              </a:solidFill>
            </a:endParaRPr>
          </a:p>
        </p:txBody>
      </p:sp>
      <p:sp>
        <p:nvSpPr>
          <p:cNvPr id="7" name="TextBox 6"/>
          <p:cNvSpPr txBox="1"/>
          <p:nvPr/>
        </p:nvSpPr>
        <p:spPr>
          <a:xfrm>
            <a:off x="612648" y="1216152"/>
            <a:ext cx="6845056" cy="2210798"/>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1. Attach the tool CFC to agent()</a:t>
            </a:r>
          </a:p>
          <a:p>
            <a:pPr>
              <a:lnSpc>
                <a:spcPct val="115000"/>
              </a:lnSpc>
              <a:spcBef>
                <a:spcPts val="0"/>
              </a:spcBef>
            </a:pPr>
            <a:r>
              <a:rPr sz="1300" b="0" dirty="0" err="1">
                <a:solidFill>
                  <a:srgbClr val="9CDCFE"/>
                </a:solidFill>
                <a:latin typeface="Courier New"/>
              </a:rPr>
              <a:t>supportTool</a:t>
            </a:r>
            <a:r>
              <a:rPr sz="1300" b="0" dirty="0">
                <a:solidFill>
                  <a:srgbClr val="D4D4D4"/>
                </a:solidFill>
                <a:latin typeface="Courier New"/>
              </a:rPr>
              <a:t> = </a:t>
            </a:r>
            <a:r>
              <a:rPr sz="1300" b="0" dirty="0" err="1">
                <a:solidFill>
                  <a:srgbClr val="4EC9B0"/>
                </a:solidFill>
                <a:latin typeface="Courier New"/>
              </a:rPr>
              <a:t>createObject</a:t>
            </a:r>
            <a:r>
              <a:rPr sz="1300" b="0" dirty="0">
                <a:solidFill>
                  <a:srgbClr val="D4D4D4"/>
                </a:solidFill>
                <a:latin typeface="Courier New"/>
              </a:rPr>
              <a:t>(</a:t>
            </a:r>
            <a:r>
              <a:rPr sz="1300" b="0" dirty="0">
                <a:solidFill>
                  <a:srgbClr val="CE9178"/>
                </a:solidFill>
                <a:latin typeface="Courier New"/>
              </a:rPr>
              <a:t>"component"</a:t>
            </a:r>
            <a:r>
              <a:rPr sz="1300" b="0" dirty="0">
                <a:solidFill>
                  <a:srgbClr val="D4D4D4"/>
                </a:solidFill>
                <a:latin typeface="Courier New"/>
              </a:rPr>
              <a:t>, </a:t>
            </a:r>
            <a:r>
              <a:rPr sz="1300" b="0" dirty="0">
                <a:solidFill>
                  <a:srgbClr val="CE9178"/>
                </a:solidFill>
                <a:latin typeface="Courier New"/>
              </a:rPr>
              <a:t>"</a:t>
            </a:r>
            <a:r>
              <a:rPr sz="1300" b="0" dirty="0" err="1">
                <a:solidFill>
                  <a:srgbClr val="CE9178"/>
                </a:solidFill>
                <a:latin typeface="Courier New"/>
              </a:rPr>
              <a:t>SupportTool</a:t>
            </a:r>
            <a:r>
              <a:rPr sz="1300" b="0" dirty="0">
                <a:solidFill>
                  <a:srgbClr val="CE9178"/>
                </a:solidFill>
                <a:latin typeface="Courier New"/>
              </a:rPr>
              <a:t>"</a:t>
            </a:r>
            <a:r>
              <a:rPr sz="1300" b="0" dirty="0">
                <a:solidFill>
                  <a:srgbClr val="D4D4D4"/>
                </a:solidFill>
                <a:latin typeface="Courier New"/>
              </a:rPr>
              <a:t>);</a:t>
            </a:r>
          </a:p>
          <a:p>
            <a:pPr>
              <a:lnSpc>
                <a:spcPct val="115000"/>
              </a:lnSpc>
              <a:spcBef>
                <a:spcPts val="0"/>
              </a:spcBef>
            </a:pPr>
            <a:endParaRPr sz="1300" b="0" dirty="0">
              <a:solidFill>
                <a:srgbClr val="D4D4D4"/>
              </a:solidFill>
              <a:latin typeface="Courier New"/>
            </a:endParaRPr>
          </a:p>
          <a:p>
            <a:pPr>
              <a:lnSpc>
                <a:spcPct val="115000"/>
              </a:lnSpc>
              <a:spcBef>
                <a:spcPts val="0"/>
              </a:spcBef>
            </a:pPr>
            <a:r>
              <a:rPr sz="1300" b="0" dirty="0">
                <a:solidFill>
                  <a:srgbClr val="9CDCFE"/>
                </a:solidFill>
                <a:latin typeface="Courier New"/>
              </a:rPr>
              <a:t>session</a:t>
            </a:r>
            <a:r>
              <a:rPr sz="1300" b="0" dirty="0">
                <a:solidFill>
                  <a:srgbClr val="D4D4D4"/>
                </a:solidFill>
                <a:latin typeface="Courier New"/>
              </a:rPr>
              <a:t>.</a:t>
            </a:r>
            <a:r>
              <a:rPr lang="en-US" sz="1300" dirty="0">
                <a:solidFill>
                  <a:srgbClr val="9CDCFE"/>
                </a:solidFill>
                <a:latin typeface="Courier New"/>
              </a:rPr>
              <a:t>nexora</a:t>
            </a:r>
            <a:r>
              <a:rPr sz="1300" b="0" dirty="0">
                <a:solidFill>
                  <a:srgbClr val="9CDCFE"/>
                </a:solidFill>
                <a:latin typeface="Courier New"/>
              </a:rPr>
              <a:t>Ch4AI</a:t>
            </a:r>
            <a:r>
              <a:rPr sz="1300" b="0" dirty="0">
                <a:solidFill>
                  <a:srgbClr val="D4D4D4"/>
                </a:solidFill>
                <a:latin typeface="Courier New"/>
              </a:rPr>
              <a:t> = </a:t>
            </a:r>
            <a:r>
              <a:rPr sz="1300" b="0" dirty="0">
                <a:solidFill>
                  <a:srgbClr val="4EC9B0"/>
                </a:solidFill>
                <a:latin typeface="Courier New"/>
              </a:rPr>
              <a:t>agent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CHATMODEL</a:t>
            </a:r>
            <a:r>
              <a:rPr sz="1300" b="0" dirty="0">
                <a:solidFill>
                  <a:srgbClr val="D4D4D4"/>
                </a:solidFill>
                <a:latin typeface="Courier New"/>
              </a:rPr>
              <a:t>  : </a:t>
            </a:r>
            <a:r>
              <a:rPr sz="1300" b="0" dirty="0" err="1">
                <a:solidFill>
                  <a:srgbClr val="9CDCFE"/>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CHATMEMORY</a:t>
            </a:r>
            <a:r>
              <a:rPr sz="1300" b="0" dirty="0">
                <a:solidFill>
                  <a:srgbClr val="D4D4D4"/>
                </a:solidFill>
                <a:latin typeface="Courier New"/>
              </a:rPr>
              <a:t> : { </a:t>
            </a:r>
            <a:r>
              <a:rPr sz="1300" b="0" dirty="0">
                <a:solidFill>
                  <a:srgbClr val="9CDCFE"/>
                </a:solidFill>
                <a:latin typeface="Courier New"/>
              </a:rPr>
              <a:t>MAXMESSAGES</a:t>
            </a:r>
            <a:r>
              <a:rPr sz="1300" b="0" dirty="0">
                <a:solidFill>
                  <a:srgbClr val="D4D4D4"/>
                </a:solidFill>
                <a:latin typeface="Courier New"/>
              </a:rPr>
              <a:t>: </a:t>
            </a:r>
            <a:r>
              <a:rPr sz="1300" b="0" dirty="0">
                <a:solidFill>
                  <a:srgbClr val="B5CEA8"/>
                </a:solidFill>
                <a:latin typeface="Courier New"/>
              </a:rPr>
              <a:t>20</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TOOLS</a:t>
            </a:r>
            <a:r>
              <a:rPr sz="1300" b="0" dirty="0">
                <a:solidFill>
                  <a:srgbClr val="D4D4D4"/>
                </a:solidFill>
                <a:latin typeface="Courier New"/>
              </a:rPr>
              <a:t>      : [ </a:t>
            </a:r>
            <a:r>
              <a:rPr sz="1300" b="0" dirty="0" err="1">
                <a:solidFill>
                  <a:srgbClr val="9CDCFE"/>
                </a:solidFill>
                <a:latin typeface="Courier New"/>
              </a:rPr>
              <a:t>supportTool</a:t>
            </a:r>
            <a:r>
              <a:rPr sz="1300" b="0" dirty="0">
                <a:solidFill>
                  <a:srgbClr val="D4D4D4"/>
                </a:solidFill>
                <a:latin typeface="Courier New"/>
              </a:rPr>
              <a:t> ] </a:t>
            </a:r>
            <a:endParaRPr lang="en-US" sz="1300" b="0" dirty="0">
              <a:solidFill>
                <a:srgbClr val="D4D4D4"/>
              </a:solidFill>
              <a:latin typeface="Courier New"/>
            </a:endParaRPr>
          </a:p>
          <a:p>
            <a:pPr>
              <a:lnSpc>
                <a:spcPct val="115000"/>
              </a:lnSpc>
              <a:spcBef>
                <a:spcPts val="0"/>
              </a:spcBef>
            </a:pPr>
            <a:r>
              <a:rPr sz="1300" b="0" dirty="0">
                <a:solidFill>
                  <a:srgbClr val="D4D4D4"/>
                </a:solidFill>
                <a:latin typeface="Courier New"/>
              </a:rPr>
              <a:t>  </a:t>
            </a:r>
            <a:r>
              <a:rPr sz="1300" b="0" dirty="0">
                <a:solidFill>
                  <a:srgbClr val="6A9955"/>
                </a:solidFill>
                <a:latin typeface="Courier New"/>
              </a:rPr>
              <a:t>// ← new line</a:t>
            </a:r>
          </a:p>
          <a:p>
            <a:pPr>
              <a:lnSpc>
                <a:spcPct val="115000"/>
              </a:lnSpc>
              <a:spcBef>
                <a:spcPts val="0"/>
              </a:spcBef>
            </a:pPr>
            <a:r>
              <a:rPr sz="1300" b="0" dirty="0">
                <a:solidFill>
                  <a:srgbClr val="D4D4D4"/>
                </a:solidFill>
                <a:latin typeface="Courier New"/>
              </a:rPr>
              <a:t>});</a:t>
            </a:r>
          </a:p>
        </p:txBody>
      </p:sp>
      <p:sp>
        <p:nvSpPr>
          <p:cNvPr id="8" name="TextBox 7"/>
          <p:cNvSpPr txBox="1"/>
          <p:nvPr/>
        </p:nvSpPr>
        <p:spPr>
          <a:xfrm>
            <a:off x="609600" y="3840480"/>
            <a:ext cx="6848104" cy="2210798"/>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2. Tell AI what tools it has + when to use them</a:t>
            </a:r>
          </a:p>
          <a:p>
            <a:pPr>
              <a:lnSpc>
                <a:spcPct val="115000"/>
              </a:lnSpc>
              <a:spcBef>
                <a:spcPts val="0"/>
              </a:spcBef>
            </a:pPr>
            <a:r>
              <a:rPr sz="1300" b="0" dirty="0">
                <a:solidFill>
                  <a:srgbClr val="9CDCFE"/>
                </a:solidFill>
                <a:latin typeface="Courier New"/>
              </a:rPr>
              <a:t>session</a:t>
            </a:r>
            <a:r>
              <a:rPr sz="1300" b="0" dirty="0">
                <a:solidFill>
                  <a:srgbClr val="D4D4D4"/>
                </a:solidFill>
                <a:latin typeface="Courier New"/>
              </a:rPr>
              <a:t>.</a:t>
            </a:r>
            <a:r>
              <a:rPr lang="en-US" sz="1300" dirty="0">
                <a:solidFill>
                  <a:srgbClr val="9CDCFE"/>
                </a:solidFill>
                <a:latin typeface="Courier New"/>
              </a:rPr>
              <a:t>nexora</a:t>
            </a:r>
            <a:r>
              <a:rPr sz="1300" b="0" dirty="0">
                <a:solidFill>
                  <a:srgbClr val="9CDCFE"/>
                </a:solidFill>
                <a:latin typeface="Courier New"/>
              </a:rPr>
              <a:t>Ch4AI</a:t>
            </a:r>
            <a:r>
              <a:rPr sz="1300" b="0" dirty="0">
                <a:solidFill>
                  <a:srgbClr val="D4D4D4"/>
                </a:solidFill>
                <a:latin typeface="Courier New"/>
              </a:rPr>
              <a:t>.</a:t>
            </a:r>
            <a:r>
              <a:rPr sz="1300" b="0" dirty="0">
                <a:solidFill>
                  <a:srgbClr val="4EC9B0"/>
                </a:solidFill>
                <a:latin typeface="Courier New"/>
              </a:rPr>
              <a:t>systemMessage</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CE9178"/>
                </a:solidFill>
                <a:latin typeface="Courier New"/>
              </a:rPr>
              <a:t>"Use </a:t>
            </a:r>
            <a:r>
              <a:rPr sz="1300" b="0" dirty="0" err="1">
                <a:solidFill>
                  <a:srgbClr val="CE9178"/>
                </a:solidFill>
                <a:latin typeface="Courier New"/>
              </a:rPr>
              <a:t>getOrderStatus</a:t>
            </a:r>
            <a:r>
              <a:rPr sz="1300" b="0" dirty="0">
                <a:solidFill>
                  <a:srgbClr val="CE9178"/>
                </a:solidFill>
                <a:latin typeface="Courier New"/>
              </a:rPr>
              <a:t> for ALL order questions</a:t>
            </a:r>
          </a:p>
          <a:p>
            <a:pPr>
              <a:lnSpc>
                <a:spcPct val="115000"/>
              </a:lnSpc>
              <a:spcBef>
                <a:spcPts val="0"/>
              </a:spcBef>
            </a:pPr>
            <a:r>
              <a:rPr sz="1300" b="0" dirty="0">
                <a:solidFill>
                  <a:srgbClr val="D4D4D4"/>
                </a:solidFill>
                <a:latin typeface="Courier New"/>
              </a:rPr>
              <a:t>     — </a:t>
            </a:r>
            <a:r>
              <a:rPr sz="1300" b="0" dirty="0">
                <a:solidFill>
                  <a:srgbClr val="9CDCFE"/>
                </a:solidFill>
                <a:latin typeface="Courier New"/>
              </a:rPr>
              <a:t>never</a:t>
            </a:r>
            <a:r>
              <a:rPr sz="1300" b="0" dirty="0">
                <a:solidFill>
                  <a:srgbClr val="D4D4D4"/>
                </a:solidFill>
                <a:latin typeface="Courier New"/>
              </a:rPr>
              <a:t> </a:t>
            </a:r>
            <a:r>
              <a:rPr sz="1300" b="0" dirty="0">
                <a:solidFill>
                  <a:srgbClr val="9CDCFE"/>
                </a:solidFill>
                <a:latin typeface="Courier New"/>
              </a:rPr>
              <a:t>guess</a:t>
            </a:r>
            <a:r>
              <a:rPr sz="1300" b="0" dirty="0">
                <a:solidFill>
                  <a:srgbClr val="D4D4D4"/>
                </a:solidFill>
                <a:latin typeface="Courier New"/>
              </a:rPr>
              <a:t> </a:t>
            </a:r>
            <a:r>
              <a:rPr sz="1300" b="0" dirty="0">
                <a:solidFill>
                  <a:srgbClr val="9CDCFE"/>
                </a:solidFill>
                <a:latin typeface="Courier New"/>
              </a:rPr>
              <a:t>order</a:t>
            </a:r>
            <a:r>
              <a:rPr sz="1300" b="0" dirty="0">
                <a:solidFill>
                  <a:srgbClr val="D4D4D4"/>
                </a:solidFill>
                <a:latin typeface="Courier New"/>
              </a:rPr>
              <a:t> </a:t>
            </a:r>
            <a:r>
              <a:rPr sz="1300" b="0" dirty="0">
                <a:solidFill>
                  <a:srgbClr val="9CDCFE"/>
                </a:solidFill>
                <a:latin typeface="Courier New"/>
              </a:rPr>
              <a:t>data</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Use</a:t>
            </a:r>
            <a:r>
              <a:rPr sz="1300" b="0" dirty="0">
                <a:solidFill>
                  <a:srgbClr val="D4D4D4"/>
                </a:solidFill>
                <a:latin typeface="Courier New"/>
              </a:rPr>
              <a:t> </a:t>
            </a:r>
            <a:r>
              <a:rPr sz="1300" b="0" dirty="0" err="1">
                <a:solidFill>
                  <a:srgbClr val="4EC9B0"/>
                </a:solidFill>
                <a:latin typeface="Courier New"/>
              </a:rPr>
              <a:t>escalateIssue</a:t>
            </a:r>
            <a:r>
              <a:rPr sz="1300" b="0" dirty="0">
                <a:solidFill>
                  <a:srgbClr val="D4D4D4"/>
                </a:solidFill>
                <a:latin typeface="Courier New"/>
              </a:rPr>
              <a:t> </a:t>
            </a:r>
            <a:r>
              <a:rPr sz="1300" b="0" dirty="0">
                <a:solidFill>
                  <a:srgbClr val="9CDCFE"/>
                </a:solidFill>
                <a:latin typeface="Courier New"/>
              </a:rPr>
              <a:t>when</a:t>
            </a:r>
            <a:r>
              <a:rPr sz="1300" b="0" dirty="0">
                <a:solidFill>
                  <a:srgbClr val="D4D4D4"/>
                </a:solidFill>
                <a:latin typeface="Courier New"/>
              </a:rPr>
              <a:t> </a:t>
            </a:r>
            <a:r>
              <a:rPr sz="1300" b="0" dirty="0">
                <a:solidFill>
                  <a:srgbClr val="9CDCFE"/>
                </a:solidFill>
                <a:latin typeface="Courier New"/>
              </a:rPr>
              <a:t>customer</a:t>
            </a:r>
            <a:r>
              <a:rPr sz="1300" b="0" dirty="0">
                <a:solidFill>
                  <a:srgbClr val="D4D4D4"/>
                </a:solidFill>
                <a:latin typeface="Courier New"/>
              </a:rPr>
              <a:t> </a:t>
            </a:r>
            <a:r>
              <a:rPr sz="1300" b="0" dirty="0">
                <a:solidFill>
                  <a:srgbClr val="9CDCFE"/>
                </a:solidFill>
                <a:latin typeface="Courier New"/>
              </a:rPr>
              <a:t>asks</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to</a:t>
            </a:r>
            <a:r>
              <a:rPr sz="1300" b="0" dirty="0">
                <a:solidFill>
                  <a:srgbClr val="D4D4D4"/>
                </a:solidFill>
                <a:latin typeface="Courier New"/>
              </a:rPr>
              <a:t> </a:t>
            </a:r>
            <a:r>
              <a:rPr sz="1300" b="0" dirty="0">
                <a:solidFill>
                  <a:srgbClr val="9CDCFE"/>
                </a:solidFill>
                <a:latin typeface="Courier New"/>
              </a:rPr>
              <a:t>escalate</a:t>
            </a:r>
            <a:r>
              <a:rPr sz="1300" b="0" dirty="0">
                <a:solidFill>
                  <a:srgbClr val="D4D4D4"/>
                </a:solidFill>
                <a:latin typeface="Courier New"/>
              </a:rPr>
              <a:t> </a:t>
            </a:r>
            <a:r>
              <a:rPr sz="1300" b="0" dirty="0">
                <a:solidFill>
                  <a:srgbClr val="9CDCFE"/>
                </a:solidFill>
                <a:latin typeface="Courier New"/>
              </a:rPr>
              <a:t>or</a:t>
            </a:r>
            <a:r>
              <a:rPr sz="1300" b="0" dirty="0">
                <a:solidFill>
                  <a:srgbClr val="D4D4D4"/>
                </a:solidFill>
                <a:latin typeface="Courier New"/>
              </a:rPr>
              <a:t> </a:t>
            </a:r>
            <a:r>
              <a:rPr sz="1300" b="0" dirty="0">
                <a:solidFill>
                  <a:srgbClr val="9CDCFE"/>
                </a:solidFill>
                <a:latin typeface="Courier New"/>
              </a:rPr>
              <a:t>is</a:t>
            </a:r>
            <a:r>
              <a:rPr sz="1300" b="0" dirty="0">
                <a:solidFill>
                  <a:srgbClr val="D4D4D4"/>
                </a:solidFill>
                <a:latin typeface="Courier New"/>
              </a:rPr>
              <a:t> </a:t>
            </a:r>
            <a:r>
              <a:rPr sz="1300" b="0" dirty="0">
                <a:solidFill>
                  <a:srgbClr val="9CDCFE"/>
                </a:solidFill>
                <a:latin typeface="Courier New"/>
              </a:rPr>
              <a:t>very</a:t>
            </a:r>
            <a:r>
              <a:rPr sz="1300" b="0" dirty="0">
                <a:solidFill>
                  <a:srgbClr val="D4D4D4"/>
                </a:solidFill>
                <a:latin typeface="Courier New"/>
              </a:rPr>
              <a:t> </a:t>
            </a:r>
            <a:r>
              <a:rPr sz="1300" b="0" dirty="0">
                <a:solidFill>
                  <a:srgbClr val="9CDCFE"/>
                </a:solidFill>
                <a:latin typeface="Courier New"/>
              </a:rPr>
              <a:t>frustrated</a:t>
            </a:r>
            <a:r>
              <a:rPr sz="1300" b="0" dirty="0">
                <a:solidFill>
                  <a:srgbClr val="D4D4D4"/>
                </a:solidFill>
                <a:latin typeface="Courier New"/>
              </a:rPr>
              <a:t>.</a:t>
            </a:r>
            <a:r>
              <a:rPr sz="1300" b="0" dirty="0">
                <a:solidFill>
                  <a:srgbClr val="CE9178"/>
                </a:solidFill>
                <a:latin typeface="Courier New"/>
              </a:rPr>
              <a:t>"</a:t>
            </a:r>
          </a:p>
          <a:p>
            <a:pPr>
              <a:lnSpc>
                <a:spcPct val="115000"/>
              </a:lnSpc>
              <a:spcBef>
                <a:spcPts val="0"/>
              </a:spcBef>
            </a:pPr>
            <a:r>
              <a:rPr sz="1300" b="0" dirty="0">
                <a:solidFill>
                  <a:srgbClr val="D4D4D4"/>
                </a:solidFill>
                <a:latin typeface="Courier New"/>
              </a:rPr>
              <a:t>);</a:t>
            </a:r>
            <a:endParaRPr lang="en-US" sz="1300" b="0" dirty="0">
              <a:solidFill>
                <a:srgbClr val="D4D4D4"/>
              </a:solidFill>
              <a:latin typeface="Courier New"/>
            </a:endParaRPr>
          </a:p>
          <a:p>
            <a:pPr>
              <a:lnSpc>
                <a:spcPct val="115000"/>
              </a:lnSpc>
              <a:spcBef>
                <a:spcPts val="0"/>
              </a:spcBef>
            </a:pPr>
            <a:endParaRPr sz="1300" b="0" dirty="0">
              <a:solidFill>
                <a:srgbClr val="D4D4D4"/>
              </a:solidFill>
              <a:latin typeface="Courier New"/>
            </a:endParaRPr>
          </a:p>
          <a:p>
            <a:pPr>
              <a:lnSpc>
                <a:spcPct val="115000"/>
              </a:lnSpc>
              <a:spcBef>
                <a:spcPts val="0"/>
              </a:spcBef>
            </a:pPr>
            <a:r>
              <a:rPr sz="1300" b="0" dirty="0">
                <a:solidFill>
                  <a:srgbClr val="9CDCFE"/>
                </a:solidFill>
                <a:latin typeface="Courier New"/>
              </a:rPr>
              <a:t>response</a:t>
            </a:r>
            <a:r>
              <a:rPr sz="1300" b="0" dirty="0">
                <a:solidFill>
                  <a:srgbClr val="D4D4D4"/>
                </a:solidFill>
                <a:latin typeface="Courier New"/>
              </a:rPr>
              <a:t> = </a:t>
            </a:r>
            <a:r>
              <a:rPr sz="1300" b="0" dirty="0">
                <a:solidFill>
                  <a:srgbClr val="9CDCFE"/>
                </a:solidFill>
                <a:latin typeface="Courier New"/>
              </a:rPr>
              <a:t>session</a:t>
            </a:r>
            <a:r>
              <a:rPr sz="1300" b="0" dirty="0">
                <a:solidFill>
                  <a:srgbClr val="D4D4D4"/>
                </a:solidFill>
                <a:latin typeface="Courier New"/>
              </a:rPr>
              <a:t>.</a:t>
            </a:r>
            <a:r>
              <a:rPr sz="1300" b="0" dirty="0">
                <a:solidFill>
                  <a:srgbClr val="9CDCFE"/>
                </a:solidFill>
                <a:latin typeface="Courier New"/>
              </a:rPr>
              <a:t>acmeCh4AI</a:t>
            </a:r>
            <a:r>
              <a:rPr sz="1300" b="0" dirty="0">
                <a:solidFill>
                  <a:srgbClr val="D4D4D4"/>
                </a:solidFill>
                <a:latin typeface="Courier New"/>
              </a:rPr>
              <a:t>.</a:t>
            </a:r>
            <a:r>
              <a:rPr sz="1300" b="0" dirty="0">
                <a:solidFill>
                  <a:srgbClr val="4EC9B0"/>
                </a:solidFill>
                <a:latin typeface="Courier New"/>
              </a:rPr>
              <a:t>chat</a:t>
            </a:r>
            <a:r>
              <a:rPr sz="1300" b="0" dirty="0">
                <a:solidFill>
                  <a:srgbClr val="D4D4D4"/>
                </a:solidFill>
                <a:latin typeface="Courier New"/>
              </a:rPr>
              <a:t>( </a:t>
            </a:r>
            <a:r>
              <a:rPr sz="1300" b="0" dirty="0" err="1">
                <a:solidFill>
                  <a:srgbClr val="9CDCFE"/>
                </a:solidFill>
                <a:latin typeface="Courier New"/>
              </a:rPr>
              <a:t>form</a:t>
            </a:r>
            <a:r>
              <a:rPr sz="1300" b="0" dirty="0" err="1">
                <a:solidFill>
                  <a:srgbClr val="D4D4D4"/>
                </a:solidFill>
                <a:latin typeface="Courier New"/>
              </a:rPr>
              <a:t>.</a:t>
            </a:r>
            <a:r>
              <a:rPr sz="1300" b="0" dirty="0" err="1">
                <a:solidFill>
                  <a:srgbClr val="9CDCFE"/>
                </a:solidFill>
                <a:latin typeface="Courier New"/>
              </a:rPr>
              <a:t>question</a:t>
            </a:r>
            <a:r>
              <a:rPr sz="1300" b="0" dirty="0">
                <a:solidFill>
                  <a:srgbClr val="D4D4D4"/>
                </a:solidFill>
                <a:latin typeface="Courier New"/>
              </a:rPr>
              <a:t> );</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dur="indefinite" nodeType="mainSeq">
                <p:childTnLst>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2"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4" grpId="0"/>
      <p:bldP spid="7" grpId="1" animBg="1"/>
      <p:bldP spid="7" grpId="2" animBg="1"/>
      <p:bldP spid="8" grpId="2" animBg="1"/>
      <p:bldP spid="8" grpId="3"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194560"/>
            <a:ext cx="10972800" cy="1188720"/>
          </a:xfrm>
          <a:prstGeom prst="rect">
            <a:avLst/>
          </a:prstGeom>
          <a:noFill/>
        </p:spPr>
        <p:txBody>
          <a:bodyPr wrap="square">
            <a:spAutoFit/>
          </a:bodyPr>
          <a:lstStyle/>
          <a:p>
            <a:pPr algn="ctr"/>
            <a:r>
              <a:rPr sz="4400" b="1" i="0">
                <a:solidFill>
                  <a:srgbClr val="FFFFFF"/>
                </a:solidFill>
              </a:rPr>
              <a:t>🔴  LIVE DEMO</a:t>
            </a:r>
          </a:p>
        </p:txBody>
      </p:sp>
      <p:sp>
        <p:nvSpPr>
          <p:cNvPr id="5" name="TextBox 4"/>
          <p:cNvSpPr txBox="1"/>
          <p:nvPr/>
        </p:nvSpPr>
        <p:spPr>
          <a:xfrm>
            <a:off x="502920" y="3657600"/>
            <a:ext cx="10972800" cy="830997"/>
          </a:xfrm>
          <a:prstGeom prst="rect">
            <a:avLst/>
          </a:prstGeom>
          <a:noFill/>
        </p:spPr>
        <p:txBody>
          <a:bodyPr wrap="square">
            <a:spAutoFit/>
          </a:bodyPr>
          <a:lstStyle/>
          <a:p>
            <a:pPr algn="ctr"/>
            <a:r>
              <a:rPr sz="2400" b="1" i="0" dirty="0">
                <a:solidFill>
                  <a:srgbClr val="CCCCCC"/>
                </a:solidFill>
              </a:rPr>
              <a:t>Function Tools   ·  </a:t>
            </a:r>
            <a:r>
              <a:rPr lang="en-US" sz="2400" b="1" i="0" dirty="0">
                <a:solidFill>
                  <a:srgbClr val="CCCCCC"/>
                </a:solidFill>
              </a:rPr>
              <a:t>problem 4 </a:t>
            </a:r>
            <a:r>
              <a:rPr sz="2400" b="1" i="0" dirty="0">
                <a:solidFill>
                  <a:srgbClr val="CCCCCC"/>
                </a:solidFill>
              </a:rPr>
              <a:t>·  AI calls your CFC methods</a:t>
            </a:r>
            <a:endParaRPr lang="en-US" sz="2400" b="1" i="0" dirty="0">
              <a:solidFill>
                <a:srgbClr val="CCCCCC"/>
              </a:solidFill>
            </a:endParaRPr>
          </a:p>
          <a:p>
            <a:pPr algn="ctr"/>
            <a:r>
              <a:rPr lang="en-US" sz="2400" b="1" dirty="0" err="1">
                <a:solidFill>
                  <a:srgbClr val="CCCCCC"/>
                </a:solidFill>
              </a:rPr>
              <a:t>functiontool.cfm</a:t>
            </a:r>
            <a:r>
              <a:rPr lang="en-US" sz="2400" b="1" dirty="0">
                <a:solidFill>
                  <a:srgbClr val="CCCCCC"/>
                </a:solidFill>
              </a:rPr>
              <a:t> · problem4-functiontools_demo.cfm</a:t>
            </a:r>
            <a:endParaRPr sz="2400" b="1" i="0" dirty="0">
              <a:solidFill>
                <a:srgbClr val="CCCCCC"/>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468880"/>
            <a:ext cx="10972800" cy="615553"/>
          </a:xfrm>
          <a:prstGeom prst="rect">
            <a:avLst/>
          </a:prstGeom>
          <a:noFill/>
        </p:spPr>
        <p:txBody>
          <a:bodyPr wrap="square">
            <a:spAutoFit/>
          </a:bodyPr>
          <a:lstStyle/>
          <a:p>
            <a:pPr algn="l"/>
            <a:r>
              <a:rPr sz="3400" b="1" i="0" dirty="0">
                <a:solidFill>
                  <a:srgbClr val="FFFFFF"/>
                </a:solidFill>
              </a:rPr>
              <a:t>Part 7: </a:t>
            </a:r>
            <a:r>
              <a:rPr lang="en-US" sz="3400" b="1" i="0" dirty="0">
                <a:solidFill>
                  <a:srgbClr val="FFFFFF"/>
                </a:solidFill>
              </a:rPr>
              <a:t>Input and </a:t>
            </a:r>
            <a:r>
              <a:rPr sz="3400" b="1" i="0" dirty="0">
                <a:solidFill>
                  <a:srgbClr val="FFFFFF"/>
                </a:solidFill>
              </a:rPr>
              <a:t>Output </a:t>
            </a:r>
            <a:r>
              <a:rPr sz="3400" b="1" i="0" dirty="0" err="1">
                <a:solidFill>
                  <a:srgbClr val="FFFFFF"/>
                </a:solidFill>
              </a:rPr>
              <a:t>GuardRails</a:t>
            </a:r>
            <a:endParaRPr sz="3400" b="1" i="0" dirty="0">
              <a:solidFill>
                <a:srgbClr val="FFFFFF"/>
              </a:solidFill>
            </a:endParaRPr>
          </a:p>
        </p:txBody>
      </p:sp>
      <p:sp>
        <p:nvSpPr>
          <p:cNvPr id="5" name="TextBox 4"/>
          <p:cNvSpPr txBox="1"/>
          <p:nvPr/>
        </p:nvSpPr>
        <p:spPr>
          <a:xfrm>
            <a:off x="502920" y="3931920"/>
            <a:ext cx="10972800" cy="338554"/>
          </a:xfrm>
          <a:prstGeom prst="rect">
            <a:avLst/>
          </a:prstGeom>
          <a:noFill/>
        </p:spPr>
        <p:txBody>
          <a:bodyPr wrap="square">
            <a:spAutoFit/>
          </a:bodyPr>
          <a:lstStyle/>
          <a:p>
            <a:pPr algn="l"/>
            <a:r>
              <a:rPr sz="1600" b="0" i="0" dirty="0">
                <a:solidFill>
                  <a:srgbClr val="AAAAAA"/>
                </a:solidFill>
              </a:rPr>
              <a:t>PII protection  ·  </a:t>
            </a:r>
            <a:r>
              <a:rPr lang="en-US" sz="1600" b="0" i="0" dirty="0">
                <a:solidFill>
                  <a:srgbClr val="AAAAAA"/>
                </a:solidFill>
              </a:rPr>
              <a:t>Input /</a:t>
            </a:r>
            <a:r>
              <a:rPr sz="1600" b="0" i="0" dirty="0">
                <a:solidFill>
                  <a:srgbClr val="AAAAAA"/>
                </a:solidFill>
              </a:rPr>
              <a:t>Output validation  ·  Block &amp; Redact  ·  </a:t>
            </a:r>
            <a:r>
              <a:rPr lang="en-US" sz="1600" dirty="0">
                <a:solidFill>
                  <a:srgbClr val="AAAAAA"/>
                </a:solidFill>
              </a:rPr>
              <a:t>INPUT/</a:t>
            </a:r>
            <a:r>
              <a:rPr sz="1600" b="0" i="0" dirty="0">
                <a:solidFill>
                  <a:srgbClr val="AAAAAA"/>
                </a:solidFill>
              </a:rPr>
              <a:t>OUTPUTGUARDRAIL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t>GuardRails — Syntax &amp; PiiGuardrail.cfc</a:t>
            </a:r>
          </a:p>
        </p:txBody>
      </p:sp>
      <p:sp>
        <p:nvSpPr>
          <p:cNvPr id="4" name="TextBox 3"/>
          <p:cNvSpPr txBox="1"/>
          <p:nvPr/>
        </p:nvSpPr>
        <p:spPr>
          <a:xfrm>
            <a:off x="7699248" y="1417320"/>
            <a:ext cx="4251960" cy="4993675"/>
          </a:xfrm>
          <a:prstGeom prst="rect">
            <a:avLst/>
          </a:prstGeom>
          <a:noFill/>
        </p:spPr>
        <p:txBody>
          <a:bodyPr wrap="square">
            <a:spAutoFit/>
          </a:bodyPr>
          <a:lstStyle/>
          <a:p>
            <a:pPr>
              <a:spcBef>
                <a:spcPts val="300"/>
              </a:spcBef>
            </a:pPr>
            <a:r>
              <a:rPr b="1" dirty="0">
                <a:solidFill>
                  <a:srgbClr val="EB1000"/>
                </a:solidFill>
              </a:rPr>
              <a:t>validate() signature:</a:t>
            </a:r>
          </a:p>
          <a:p>
            <a:pPr>
              <a:spcBef>
                <a:spcPts val="300"/>
              </a:spcBef>
            </a:pPr>
            <a:r>
              <a:rPr dirty="0">
                <a:solidFill>
                  <a:srgbClr val="555555"/>
                </a:solidFill>
              </a:rPr>
              <a:t>  Must accept: required string output</a:t>
            </a:r>
          </a:p>
          <a:p>
            <a:pPr>
              <a:spcBef>
                <a:spcPts val="300"/>
              </a:spcBef>
            </a:pPr>
            <a:r>
              <a:rPr dirty="0">
                <a:solidFill>
                  <a:srgbClr val="555555"/>
                </a:solidFill>
              </a:rPr>
              <a:t>  Must return a Struct</a:t>
            </a:r>
          </a:p>
          <a:p>
            <a:pPr>
              <a:spcBef>
                <a:spcPts val="300"/>
              </a:spcBef>
            </a:pPr>
            <a:endParaRPr dirty="0">
              <a:solidFill>
                <a:srgbClr val="555555"/>
              </a:solidFill>
            </a:endParaRPr>
          </a:p>
          <a:p>
            <a:pPr>
              <a:spcBef>
                <a:spcPts val="300"/>
              </a:spcBef>
            </a:pPr>
            <a:r>
              <a:rPr b="1" dirty="0">
                <a:solidFill>
                  <a:srgbClr val="EB1000"/>
                </a:solidFill>
              </a:rPr>
              <a:t>Return struct keys:</a:t>
            </a:r>
          </a:p>
          <a:p>
            <a:pPr>
              <a:spcBef>
                <a:spcPts val="300"/>
              </a:spcBef>
            </a:pPr>
            <a:r>
              <a:rPr dirty="0">
                <a:solidFill>
                  <a:srgbClr val="555555"/>
                </a:solidFill>
              </a:rPr>
              <a:t>  success (</a:t>
            </a:r>
            <a:r>
              <a:rPr dirty="0" err="1">
                <a:solidFill>
                  <a:srgbClr val="555555"/>
                </a:solidFill>
              </a:rPr>
              <a:t>boolean</a:t>
            </a:r>
            <a:r>
              <a:rPr dirty="0">
                <a:solidFill>
                  <a:srgbClr val="555555"/>
                </a:solidFill>
              </a:rPr>
              <a:t>) — required</a:t>
            </a:r>
          </a:p>
          <a:p>
            <a:pPr>
              <a:spcBef>
                <a:spcPts val="300"/>
              </a:spcBef>
            </a:pPr>
            <a:r>
              <a:rPr dirty="0">
                <a:solidFill>
                  <a:srgbClr val="555555"/>
                </a:solidFill>
              </a:rPr>
              <a:t>  </a:t>
            </a:r>
            <a:r>
              <a:rPr dirty="0" err="1">
                <a:solidFill>
                  <a:srgbClr val="555555"/>
                </a:solidFill>
              </a:rPr>
              <a:t>successWith</a:t>
            </a:r>
            <a:r>
              <a:rPr dirty="0">
                <a:solidFill>
                  <a:srgbClr val="555555"/>
                </a:solidFill>
              </a:rPr>
              <a:t> (string) — for redact</a:t>
            </a:r>
          </a:p>
          <a:p>
            <a:pPr>
              <a:spcBef>
                <a:spcPts val="300"/>
              </a:spcBef>
            </a:pPr>
            <a:r>
              <a:rPr dirty="0">
                <a:solidFill>
                  <a:srgbClr val="555555"/>
                </a:solidFill>
              </a:rPr>
              <a:t>  </a:t>
            </a:r>
            <a:r>
              <a:rPr dirty="0" err="1">
                <a:solidFill>
                  <a:srgbClr val="555555"/>
                </a:solidFill>
              </a:rPr>
              <a:t>errorMessage</a:t>
            </a:r>
            <a:r>
              <a:rPr dirty="0">
                <a:solidFill>
                  <a:srgbClr val="555555"/>
                </a:solidFill>
              </a:rPr>
              <a:t> (string) — for block</a:t>
            </a:r>
          </a:p>
          <a:p>
            <a:pPr>
              <a:spcBef>
                <a:spcPts val="300"/>
              </a:spcBef>
            </a:pPr>
            <a:endParaRPr dirty="0">
              <a:solidFill>
                <a:srgbClr val="555555"/>
              </a:solidFill>
            </a:endParaRPr>
          </a:p>
          <a:p>
            <a:pPr>
              <a:spcBef>
                <a:spcPts val="300"/>
              </a:spcBef>
            </a:pPr>
            <a:r>
              <a:rPr b="1" dirty="0">
                <a:solidFill>
                  <a:srgbClr val="EB1000"/>
                </a:solidFill>
              </a:rPr>
              <a:t>What you can validate:</a:t>
            </a:r>
          </a:p>
          <a:p>
            <a:pPr>
              <a:spcBef>
                <a:spcPts val="300"/>
              </a:spcBef>
            </a:pPr>
            <a:r>
              <a:rPr dirty="0">
                <a:solidFill>
                  <a:srgbClr val="555555"/>
                </a:solidFill>
              </a:rPr>
              <a:t>  PII patterns (SSN, card, email)</a:t>
            </a:r>
          </a:p>
          <a:p>
            <a:pPr>
              <a:spcBef>
                <a:spcPts val="300"/>
              </a:spcBef>
            </a:pPr>
            <a:r>
              <a:rPr dirty="0">
                <a:solidFill>
                  <a:srgbClr val="555555"/>
                </a:solidFill>
              </a:rPr>
              <a:t>  Profanity or harmful content</a:t>
            </a:r>
          </a:p>
          <a:p>
            <a:pPr>
              <a:spcBef>
                <a:spcPts val="300"/>
              </a:spcBef>
            </a:pPr>
            <a:r>
              <a:rPr dirty="0">
                <a:solidFill>
                  <a:srgbClr val="555555"/>
                </a:solidFill>
              </a:rPr>
              <a:t>  Off-brand claims or promises</a:t>
            </a:r>
          </a:p>
          <a:p>
            <a:pPr>
              <a:spcBef>
                <a:spcPts val="300"/>
              </a:spcBef>
            </a:pPr>
            <a:r>
              <a:rPr dirty="0">
                <a:solidFill>
                  <a:srgbClr val="555555"/>
                </a:solidFill>
              </a:rPr>
              <a:t>  Response length limits</a:t>
            </a:r>
          </a:p>
          <a:p>
            <a:pPr>
              <a:spcBef>
                <a:spcPts val="300"/>
              </a:spcBef>
            </a:pPr>
            <a:r>
              <a:rPr dirty="0">
                <a:solidFill>
                  <a:srgbClr val="555555"/>
                </a:solidFill>
              </a:rPr>
              <a:t>  Custom business rules</a:t>
            </a:r>
          </a:p>
          <a:p>
            <a:pPr>
              <a:spcBef>
                <a:spcPts val="300"/>
              </a:spcBef>
            </a:pPr>
            <a:endParaRPr sz="1100" dirty="0">
              <a:solidFill>
                <a:srgbClr val="555555"/>
              </a:solidFill>
            </a:endParaRPr>
          </a:p>
        </p:txBody>
      </p:sp>
      <p:sp>
        <p:nvSpPr>
          <p:cNvPr id="7" name="TextBox 6"/>
          <p:cNvSpPr txBox="1"/>
          <p:nvPr/>
        </p:nvSpPr>
        <p:spPr>
          <a:xfrm>
            <a:off x="612648" y="1216152"/>
            <a:ext cx="6951934" cy="3608295"/>
          </a:xfrm>
          <a:prstGeom prst="rect">
            <a:avLst/>
          </a:prstGeom>
          <a:solidFill>
            <a:srgbClr val="000000"/>
          </a:solidFill>
        </p:spPr>
        <p:txBody>
          <a:bodyPr wrap="square" lIns="109728" tIns="82296" bIns="64008">
            <a:spAutoFit/>
          </a:bodyPr>
          <a:lstStyle/>
          <a:p>
            <a:pPr>
              <a:lnSpc>
                <a:spcPct val="115000"/>
              </a:lnSpc>
              <a:spcBef>
                <a:spcPts val="0"/>
              </a:spcBef>
            </a:pPr>
            <a:r>
              <a:rPr sz="1400" b="0" dirty="0">
                <a:solidFill>
                  <a:srgbClr val="6A9955"/>
                </a:solidFill>
                <a:latin typeface="Courier New"/>
              </a:rPr>
              <a:t>// 1. validate() is called on every AI response</a:t>
            </a:r>
          </a:p>
          <a:p>
            <a:pPr>
              <a:lnSpc>
                <a:spcPct val="115000"/>
              </a:lnSpc>
              <a:spcBef>
                <a:spcPts val="0"/>
              </a:spcBef>
            </a:pPr>
            <a:r>
              <a:rPr sz="1400" b="0" dirty="0">
                <a:solidFill>
                  <a:srgbClr val="569CD6"/>
                </a:solidFill>
                <a:latin typeface="Courier New"/>
              </a:rPr>
              <a:t>struct</a:t>
            </a:r>
            <a:r>
              <a:rPr sz="1400" b="0" dirty="0">
                <a:solidFill>
                  <a:srgbClr val="D4D4D4"/>
                </a:solidFill>
                <a:latin typeface="Courier New"/>
              </a:rPr>
              <a:t> </a:t>
            </a:r>
            <a:r>
              <a:rPr sz="1400" b="0" dirty="0">
                <a:solidFill>
                  <a:srgbClr val="569CD6"/>
                </a:solidFill>
                <a:latin typeface="Courier New"/>
              </a:rPr>
              <a:t>function</a:t>
            </a:r>
            <a:r>
              <a:rPr sz="1400" b="0" dirty="0">
                <a:solidFill>
                  <a:srgbClr val="D4D4D4"/>
                </a:solidFill>
                <a:latin typeface="Courier New"/>
              </a:rPr>
              <a:t> </a:t>
            </a:r>
            <a:r>
              <a:rPr sz="1400" b="0" dirty="0">
                <a:solidFill>
                  <a:srgbClr val="4EC9B0"/>
                </a:solidFill>
                <a:latin typeface="Courier New"/>
              </a:rPr>
              <a:t>validate</a:t>
            </a:r>
            <a:r>
              <a:rPr sz="1400" b="0" dirty="0">
                <a:solidFill>
                  <a:srgbClr val="D4D4D4"/>
                </a:solidFill>
                <a:latin typeface="Courier New"/>
              </a:rPr>
              <a:t>( </a:t>
            </a:r>
            <a:r>
              <a:rPr sz="1400" b="0" dirty="0">
                <a:solidFill>
                  <a:srgbClr val="569CD6"/>
                </a:solidFill>
                <a:latin typeface="Courier New"/>
              </a:rPr>
              <a:t>required</a:t>
            </a:r>
            <a:r>
              <a:rPr sz="1400" b="0" dirty="0">
                <a:solidFill>
                  <a:srgbClr val="D4D4D4"/>
                </a:solidFill>
                <a:latin typeface="Courier New"/>
              </a:rPr>
              <a:t> </a:t>
            </a:r>
            <a:r>
              <a:rPr sz="1400" b="0" dirty="0">
                <a:solidFill>
                  <a:srgbClr val="569CD6"/>
                </a:solidFill>
                <a:latin typeface="Courier New"/>
              </a:rPr>
              <a:t>string</a:t>
            </a:r>
            <a:r>
              <a:rPr sz="1400" b="0" dirty="0">
                <a:solidFill>
                  <a:srgbClr val="D4D4D4"/>
                </a:solidFill>
                <a:latin typeface="Courier New"/>
              </a:rPr>
              <a:t> </a:t>
            </a:r>
            <a:r>
              <a:rPr sz="1400" b="0" dirty="0">
                <a:solidFill>
                  <a:srgbClr val="9CDCFE"/>
                </a:solidFill>
                <a:latin typeface="Courier New"/>
              </a:rPr>
              <a:t>output</a:t>
            </a:r>
            <a:r>
              <a:rPr sz="1400" b="0" dirty="0">
                <a:solidFill>
                  <a:srgbClr val="D4D4D4"/>
                </a:solidFill>
                <a:latin typeface="Courier New"/>
              </a:rPr>
              <a:t> ) {</a:t>
            </a:r>
          </a:p>
          <a:p>
            <a:pPr>
              <a:lnSpc>
                <a:spcPct val="115000"/>
              </a:lnSpc>
              <a:spcBef>
                <a:spcPts val="0"/>
              </a:spcBef>
            </a:pPr>
            <a:r>
              <a:rPr sz="1400" b="0" dirty="0">
                <a:solidFill>
                  <a:srgbClr val="6A9955"/>
                </a:solidFill>
                <a:latin typeface="Courier New"/>
              </a:rPr>
              <a:t>    // Block SSNs — 123-45-6789</a:t>
            </a:r>
          </a:p>
          <a:p>
            <a:pPr>
              <a:lnSpc>
                <a:spcPct val="115000"/>
              </a:lnSpc>
              <a:spcBef>
                <a:spcPts val="0"/>
              </a:spcBef>
            </a:pPr>
            <a:r>
              <a:rPr sz="1400" b="0" dirty="0">
                <a:solidFill>
                  <a:srgbClr val="D4D4D4"/>
                </a:solidFill>
                <a:latin typeface="Courier New"/>
              </a:rPr>
              <a:t>    </a:t>
            </a:r>
            <a:r>
              <a:rPr sz="1400" b="0" dirty="0">
                <a:solidFill>
                  <a:srgbClr val="569CD6"/>
                </a:solidFill>
                <a:latin typeface="Courier New"/>
              </a:rPr>
              <a:t>if</a:t>
            </a:r>
            <a:r>
              <a:rPr sz="1400" b="0" dirty="0">
                <a:solidFill>
                  <a:srgbClr val="D4D4D4"/>
                </a:solidFill>
                <a:latin typeface="Courier New"/>
              </a:rPr>
              <a:t> ( </a:t>
            </a:r>
            <a:r>
              <a:rPr sz="1400" b="0" dirty="0" err="1">
                <a:solidFill>
                  <a:srgbClr val="4EC9B0"/>
                </a:solidFill>
                <a:latin typeface="Courier New"/>
              </a:rPr>
              <a:t>reFind</a:t>
            </a:r>
            <a:r>
              <a:rPr sz="1400" b="0" dirty="0">
                <a:solidFill>
                  <a:srgbClr val="D4D4D4"/>
                </a:solidFill>
                <a:latin typeface="Courier New"/>
              </a:rPr>
              <a:t>(</a:t>
            </a:r>
            <a:r>
              <a:rPr sz="1400" b="0" dirty="0">
                <a:solidFill>
                  <a:srgbClr val="CE9178"/>
                </a:solidFill>
                <a:latin typeface="Courier New"/>
              </a:rPr>
              <a:t>"\b\d{3}-\d{2}-\d{4}\b"</a:t>
            </a:r>
            <a:r>
              <a:rPr sz="1400" b="0" dirty="0">
                <a:solidFill>
                  <a:srgbClr val="D4D4D4"/>
                </a:solidFill>
                <a:latin typeface="Courier New"/>
              </a:rPr>
              <a:t>, </a:t>
            </a:r>
            <a:r>
              <a:rPr sz="1400" b="0" dirty="0">
                <a:solidFill>
                  <a:srgbClr val="9CDCFE"/>
                </a:solidFill>
                <a:latin typeface="Courier New"/>
              </a:rPr>
              <a:t>output</a:t>
            </a:r>
            <a:r>
              <a:rPr sz="1400" b="0" dirty="0">
                <a:solidFill>
                  <a:srgbClr val="D4D4D4"/>
                </a:solidFill>
                <a:latin typeface="Courier New"/>
              </a:rPr>
              <a:t>) )</a:t>
            </a:r>
          </a:p>
          <a:p>
            <a:pPr>
              <a:lnSpc>
                <a:spcPct val="115000"/>
              </a:lnSpc>
              <a:spcBef>
                <a:spcPts val="0"/>
              </a:spcBef>
            </a:pPr>
            <a:r>
              <a:rPr sz="1400" b="0" dirty="0">
                <a:solidFill>
                  <a:srgbClr val="D4D4D4"/>
                </a:solidFill>
                <a:latin typeface="Courier New"/>
              </a:rPr>
              <a:t>        </a:t>
            </a:r>
            <a:r>
              <a:rPr sz="1400" b="0" dirty="0">
                <a:solidFill>
                  <a:srgbClr val="569CD6"/>
                </a:solidFill>
                <a:latin typeface="Courier New"/>
              </a:rPr>
              <a:t>return</a:t>
            </a:r>
            <a:r>
              <a:rPr sz="1400" b="0" dirty="0">
                <a:solidFill>
                  <a:srgbClr val="D4D4D4"/>
                </a:solidFill>
                <a:latin typeface="Courier New"/>
              </a:rPr>
              <a:t> { </a:t>
            </a:r>
            <a:r>
              <a:rPr sz="1400" b="0" dirty="0" err="1">
                <a:solidFill>
                  <a:srgbClr val="9CDCFE"/>
                </a:solidFill>
                <a:latin typeface="Courier New"/>
              </a:rPr>
              <a:t>success</a:t>
            </a:r>
            <a:r>
              <a:rPr sz="1400" b="0" dirty="0" err="1">
                <a:solidFill>
                  <a:srgbClr val="D4D4D4"/>
                </a:solidFill>
                <a:latin typeface="Courier New"/>
              </a:rPr>
              <a:t>:</a:t>
            </a:r>
            <a:r>
              <a:rPr sz="1400" b="0" dirty="0" err="1">
                <a:solidFill>
                  <a:srgbClr val="569CD6"/>
                </a:solidFill>
                <a:latin typeface="Courier New"/>
              </a:rPr>
              <a:t>false</a:t>
            </a:r>
            <a:r>
              <a:rPr sz="1400" b="0" dirty="0">
                <a:solidFill>
                  <a:srgbClr val="D4D4D4"/>
                </a:solidFill>
                <a:latin typeface="Courier New"/>
              </a:rPr>
              <a:t>,</a:t>
            </a:r>
          </a:p>
          <a:p>
            <a:pPr>
              <a:lnSpc>
                <a:spcPct val="115000"/>
              </a:lnSpc>
              <a:spcBef>
                <a:spcPts val="0"/>
              </a:spcBef>
            </a:pPr>
            <a:r>
              <a:rPr sz="1400" b="0" dirty="0">
                <a:solidFill>
                  <a:srgbClr val="D4D4D4"/>
                </a:solidFill>
                <a:latin typeface="Courier New"/>
              </a:rPr>
              <a:t>                 </a:t>
            </a:r>
            <a:r>
              <a:rPr sz="1400" b="0" dirty="0" err="1">
                <a:solidFill>
                  <a:srgbClr val="9CDCFE"/>
                </a:solidFill>
                <a:latin typeface="Courier New"/>
              </a:rPr>
              <a:t>errorMessage</a:t>
            </a:r>
            <a:r>
              <a:rPr sz="1400" b="0" dirty="0">
                <a:solidFill>
                  <a:srgbClr val="D4D4D4"/>
                </a:solidFill>
                <a:latin typeface="Courier New"/>
              </a:rPr>
              <a:t>:</a:t>
            </a:r>
            <a:r>
              <a:rPr sz="1400" b="0" dirty="0">
                <a:solidFill>
                  <a:srgbClr val="CE9178"/>
                </a:solidFill>
                <a:latin typeface="Courier New"/>
              </a:rPr>
              <a:t>"Blocked: SSN."</a:t>
            </a:r>
            <a:r>
              <a:rPr sz="1400" b="0" dirty="0">
                <a:solidFill>
                  <a:srgbClr val="D4D4D4"/>
                </a:solidFill>
                <a:latin typeface="Courier New"/>
              </a:rPr>
              <a:t> };</a:t>
            </a:r>
          </a:p>
          <a:p>
            <a:pPr>
              <a:lnSpc>
                <a:spcPct val="115000"/>
              </a:lnSpc>
              <a:spcBef>
                <a:spcPts val="0"/>
              </a:spcBef>
            </a:pPr>
            <a:r>
              <a:rPr sz="1400" b="0" dirty="0">
                <a:solidFill>
                  <a:srgbClr val="6A9955"/>
                </a:solidFill>
                <a:latin typeface="Courier New"/>
              </a:rPr>
              <a:t>    // Block 16-digit card numbers</a:t>
            </a:r>
          </a:p>
          <a:p>
            <a:pPr>
              <a:lnSpc>
                <a:spcPct val="115000"/>
              </a:lnSpc>
              <a:spcBef>
                <a:spcPts val="0"/>
              </a:spcBef>
            </a:pPr>
            <a:r>
              <a:rPr sz="1400" b="0" dirty="0">
                <a:solidFill>
                  <a:srgbClr val="D4D4D4"/>
                </a:solidFill>
                <a:latin typeface="Courier New"/>
              </a:rPr>
              <a:t>    </a:t>
            </a:r>
            <a:r>
              <a:rPr sz="1400" b="0" dirty="0">
                <a:solidFill>
                  <a:srgbClr val="569CD6"/>
                </a:solidFill>
                <a:latin typeface="Courier New"/>
              </a:rPr>
              <a:t>if</a:t>
            </a:r>
            <a:r>
              <a:rPr sz="1400" b="0" dirty="0">
                <a:solidFill>
                  <a:srgbClr val="D4D4D4"/>
                </a:solidFill>
                <a:latin typeface="Courier New"/>
              </a:rPr>
              <a:t> ( </a:t>
            </a:r>
            <a:r>
              <a:rPr sz="1400" b="0" dirty="0" err="1">
                <a:solidFill>
                  <a:srgbClr val="4EC9B0"/>
                </a:solidFill>
                <a:latin typeface="Courier New"/>
              </a:rPr>
              <a:t>reFind</a:t>
            </a:r>
            <a:r>
              <a:rPr sz="1400" b="0" dirty="0">
                <a:solidFill>
                  <a:srgbClr val="D4D4D4"/>
                </a:solidFill>
                <a:latin typeface="Courier New"/>
              </a:rPr>
              <a:t>(</a:t>
            </a:r>
            <a:r>
              <a:rPr sz="1400" b="0" dirty="0">
                <a:solidFill>
                  <a:srgbClr val="CE9178"/>
                </a:solidFill>
                <a:latin typeface="Courier New"/>
              </a:rPr>
              <a:t>"\b\d{4}[\s-]?\d{4}</a:t>
            </a:r>
          </a:p>
          <a:p>
            <a:pPr>
              <a:lnSpc>
                <a:spcPct val="115000"/>
              </a:lnSpc>
              <a:spcBef>
                <a:spcPts val="0"/>
              </a:spcBef>
            </a:pPr>
            <a:r>
              <a:rPr sz="1400" b="0" dirty="0">
                <a:solidFill>
                  <a:srgbClr val="D4D4D4"/>
                </a:solidFill>
                <a:latin typeface="Courier New"/>
              </a:rPr>
              <a:t>                [\</a:t>
            </a:r>
            <a:r>
              <a:rPr sz="1400" b="0" dirty="0">
                <a:solidFill>
                  <a:srgbClr val="9CDCFE"/>
                </a:solidFill>
                <a:latin typeface="Courier New"/>
              </a:rPr>
              <a:t>s</a:t>
            </a:r>
            <a:r>
              <a:rPr sz="1400" b="0" dirty="0">
                <a:solidFill>
                  <a:srgbClr val="D4D4D4"/>
                </a:solidFill>
                <a:latin typeface="Courier New"/>
              </a:rPr>
              <a:t>-]?\</a:t>
            </a:r>
            <a:r>
              <a:rPr sz="1400" b="0" dirty="0">
                <a:solidFill>
                  <a:srgbClr val="9CDCFE"/>
                </a:solidFill>
                <a:latin typeface="Courier New"/>
              </a:rPr>
              <a:t>d</a:t>
            </a:r>
            <a:r>
              <a:rPr sz="1400" b="0" dirty="0">
                <a:solidFill>
                  <a:srgbClr val="D4D4D4"/>
                </a:solidFill>
                <a:latin typeface="Courier New"/>
              </a:rPr>
              <a:t>{</a:t>
            </a:r>
            <a:r>
              <a:rPr sz="1400" b="0" dirty="0">
                <a:solidFill>
                  <a:srgbClr val="B5CEA8"/>
                </a:solidFill>
                <a:latin typeface="Courier New"/>
              </a:rPr>
              <a:t>4</a:t>
            </a:r>
            <a:r>
              <a:rPr sz="1400" b="0" dirty="0">
                <a:solidFill>
                  <a:srgbClr val="D4D4D4"/>
                </a:solidFill>
                <a:latin typeface="Courier New"/>
              </a:rPr>
              <a:t>}[\</a:t>
            </a:r>
            <a:r>
              <a:rPr sz="1400" b="0" dirty="0">
                <a:solidFill>
                  <a:srgbClr val="9CDCFE"/>
                </a:solidFill>
                <a:latin typeface="Courier New"/>
              </a:rPr>
              <a:t>s</a:t>
            </a:r>
            <a:r>
              <a:rPr sz="1400" b="0" dirty="0">
                <a:solidFill>
                  <a:srgbClr val="D4D4D4"/>
                </a:solidFill>
                <a:latin typeface="Courier New"/>
              </a:rPr>
              <a:t>-]?\</a:t>
            </a:r>
            <a:r>
              <a:rPr sz="1400" b="0" dirty="0">
                <a:solidFill>
                  <a:srgbClr val="9CDCFE"/>
                </a:solidFill>
                <a:latin typeface="Courier New"/>
              </a:rPr>
              <a:t>d</a:t>
            </a:r>
            <a:r>
              <a:rPr sz="1400" b="0" dirty="0">
                <a:solidFill>
                  <a:srgbClr val="D4D4D4"/>
                </a:solidFill>
                <a:latin typeface="Courier New"/>
              </a:rPr>
              <a:t>{</a:t>
            </a:r>
            <a:r>
              <a:rPr sz="1400" b="0" dirty="0">
                <a:solidFill>
                  <a:srgbClr val="B5CEA8"/>
                </a:solidFill>
                <a:latin typeface="Courier New"/>
              </a:rPr>
              <a:t>4</a:t>
            </a:r>
            <a:r>
              <a:rPr sz="1400" b="0" dirty="0">
                <a:solidFill>
                  <a:srgbClr val="D4D4D4"/>
                </a:solidFill>
                <a:latin typeface="Courier New"/>
              </a:rPr>
              <a:t>}\</a:t>
            </a:r>
            <a:r>
              <a:rPr sz="1400" b="0" dirty="0" err="1">
                <a:solidFill>
                  <a:srgbClr val="9CDCFE"/>
                </a:solidFill>
                <a:latin typeface="Courier New"/>
              </a:rPr>
              <a:t>b</a:t>
            </a:r>
            <a:r>
              <a:rPr sz="1400" b="0" dirty="0" err="1">
                <a:solidFill>
                  <a:srgbClr val="CE9178"/>
                </a:solidFill>
                <a:latin typeface="Courier New"/>
              </a:rPr>
              <a:t>",output</a:t>
            </a:r>
            <a:r>
              <a:rPr sz="1400" b="0" dirty="0">
                <a:solidFill>
                  <a:srgbClr val="CE9178"/>
                </a:solidFill>
                <a:latin typeface="Courier New"/>
              </a:rPr>
              <a:t>)</a:t>
            </a:r>
          </a:p>
          <a:p>
            <a:pPr>
              <a:lnSpc>
                <a:spcPct val="115000"/>
              </a:lnSpc>
              <a:spcBef>
                <a:spcPts val="0"/>
              </a:spcBef>
            </a:pPr>
            <a:r>
              <a:rPr sz="1400" b="0" dirty="0">
                <a:solidFill>
                  <a:srgbClr val="D4D4D4"/>
                </a:solidFill>
                <a:latin typeface="Courier New"/>
              </a:rPr>
              <a:t>        </a:t>
            </a:r>
            <a:r>
              <a:rPr sz="1400" b="0" dirty="0">
                <a:solidFill>
                  <a:srgbClr val="569CD6"/>
                </a:solidFill>
                <a:latin typeface="Courier New"/>
              </a:rPr>
              <a:t>return</a:t>
            </a:r>
            <a:r>
              <a:rPr sz="1400" b="0" dirty="0">
                <a:solidFill>
                  <a:srgbClr val="D4D4D4"/>
                </a:solidFill>
                <a:latin typeface="Courier New"/>
              </a:rPr>
              <a:t> { </a:t>
            </a:r>
            <a:r>
              <a:rPr sz="1400" b="0" dirty="0" err="1">
                <a:solidFill>
                  <a:srgbClr val="9CDCFE"/>
                </a:solidFill>
                <a:latin typeface="Courier New"/>
              </a:rPr>
              <a:t>success</a:t>
            </a:r>
            <a:r>
              <a:rPr sz="1400" b="0" dirty="0" err="1">
                <a:solidFill>
                  <a:srgbClr val="D4D4D4"/>
                </a:solidFill>
                <a:latin typeface="Courier New"/>
              </a:rPr>
              <a:t>:</a:t>
            </a:r>
            <a:r>
              <a:rPr sz="1400" b="0" dirty="0" err="1">
                <a:solidFill>
                  <a:srgbClr val="569CD6"/>
                </a:solidFill>
                <a:latin typeface="Courier New"/>
              </a:rPr>
              <a:t>false</a:t>
            </a:r>
            <a:r>
              <a:rPr sz="1400" b="0" dirty="0">
                <a:solidFill>
                  <a:srgbClr val="D4D4D4"/>
                </a:solidFill>
                <a:latin typeface="Courier New"/>
              </a:rPr>
              <a:t>,</a:t>
            </a:r>
          </a:p>
          <a:p>
            <a:pPr>
              <a:lnSpc>
                <a:spcPct val="115000"/>
              </a:lnSpc>
              <a:spcBef>
                <a:spcPts val="0"/>
              </a:spcBef>
            </a:pPr>
            <a:r>
              <a:rPr sz="1400" b="0" dirty="0">
                <a:solidFill>
                  <a:srgbClr val="D4D4D4"/>
                </a:solidFill>
                <a:latin typeface="Courier New"/>
              </a:rPr>
              <a:t>                 </a:t>
            </a:r>
            <a:r>
              <a:rPr sz="1400" b="0" dirty="0" err="1">
                <a:solidFill>
                  <a:srgbClr val="9CDCFE"/>
                </a:solidFill>
                <a:latin typeface="Courier New"/>
              </a:rPr>
              <a:t>errorMessage</a:t>
            </a:r>
            <a:r>
              <a:rPr sz="1400" b="0" dirty="0">
                <a:solidFill>
                  <a:srgbClr val="D4D4D4"/>
                </a:solidFill>
                <a:latin typeface="Courier New"/>
              </a:rPr>
              <a:t>:</a:t>
            </a:r>
            <a:r>
              <a:rPr sz="1400" b="0" dirty="0">
                <a:solidFill>
                  <a:srgbClr val="CE9178"/>
                </a:solidFill>
                <a:latin typeface="Courier New"/>
              </a:rPr>
              <a:t>"Blocked: card."</a:t>
            </a:r>
            <a:r>
              <a:rPr sz="1400" b="0" dirty="0">
                <a:solidFill>
                  <a:srgbClr val="D4D4D4"/>
                </a:solidFill>
                <a:latin typeface="Courier New"/>
              </a:rPr>
              <a:t> };</a:t>
            </a:r>
            <a:endParaRPr lang="en-US" sz="1400" b="0" dirty="0">
              <a:solidFill>
                <a:srgbClr val="D4D4D4"/>
              </a:solidFill>
              <a:latin typeface="Courier New"/>
            </a:endParaRPr>
          </a:p>
          <a:p>
            <a:pPr>
              <a:lnSpc>
                <a:spcPct val="115000"/>
              </a:lnSpc>
              <a:spcBef>
                <a:spcPts val="0"/>
              </a:spcBef>
            </a:pPr>
            <a:endParaRPr sz="1400" b="0" dirty="0">
              <a:solidFill>
                <a:srgbClr val="D4D4D4"/>
              </a:solidFill>
              <a:latin typeface="Courier New"/>
            </a:endParaRPr>
          </a:p>
          <a:p>
            <a:pPr>
              <a:lnSpc>
                <a:spcPct val="115000"/>
              </a:lnSpc>
              <a:spcBef>
                <a:spcPts val="0"/>
              </a:spcBef>
            </a:pPr>
            <a:r>
              <a:rPr sz="1400" b="0" dirty="0">
                <a:solidFill>
                  <a:srgbClr val="D4D4D4"/>
                </a:solidFill>
                <a:latin typeface="Courier New"/>
              </a:rPr>
              <a:t>    </a:t>
            </a:r>
            <a:r>
              <a:rPr sz="1400" b="0" dirty="0">
                <a:solidFill>
                  <a:srgbClr val="569CD6"/>
                </a:solidFill>
                <a:latin typeface="Courier New"/>
              </a:rPr>
              <a:t>return</a:t>
            </a:r>
            <a:r>
              <a:rPr sz="1400" b="0" dirty="0">
                <a:solidFill>
                  <a:srgbClr val="D4D4D4"/>
                </a:solidFill>
                <a:latin typeface="Courier New"/>
              </a:rPr>
              <a:t> { </a:t>
            </a:r>
            <a:r>
              <a:rPr sz="1400" b="0" dirty="0">
                <a:solidFill>
                  <a:srgbClr val="9CDCFE"/>
                </a:solidFill>
                <a:latin typeface="Courier New"/>
              </a:rPr>
              <a:t>success</a:t>
            </a:r>
            <a:r>
              <a:rPr sz="1400" b="0" dirty="0">
                <a:solidFill>
                  <a:srgbClr val="D4D4D4"/>
                </a:solidFill>
                <a:latin typeface="Courier New"/>
              </a:rPr>
              <a:t>: </a:t>
            </a:r>
            <a:r>
              <a:rPr sz="1400" b="0" dirty="0">
                <a:solidFill>
                  <a:srgbClr val="569CD6"/>
                </a:solidFill>
                <a:latin typeface="Courier New"/>
              </a:rPr>
              <a:t>true</a:t>
            </a:r>
            <a:r>
              <a:rPr sz="1400" b="0" dirty="0">
                <a:solidFill>
                  <a:srgbClr val="D4D4D4"/>
                </a:solidFill>
                <a:latin typeface="Courier New"/>
              </a:rPr>
              <a:t> };</a:t>
            </a:r>
          </a:p>
          <a:p>
            <a:pPr>
              <a:lnSpc>
                <a:spcPct val="115000"/>
              </a:lnSpc>
              <a:spcBef>
                <a:spcPts val="0"/>
              </a:spcBef>
            </a:pPr>
            <a:r>
              <a:rPr sz="1400" b="0" dirty="0">
                <a:solidFill>
                  <a:srgbClr val="D4D4D4"/>
                </a:solidFill>
                <a:latin typeface="Courier New"/>
              </a:rPr>
              <a:t>}</a:t>
            </a:r>
          </a:p>
        </p:txBody>
      </p:sp>
      <p:sp>
        <p:nvSpPr>
          <p:cNvPr id="8" name="TextBox 7"/>
          <p:cNvSpPr txBox="1"/>
          <p:nvPr/>
        </p:nvSpPr>
        <p:spPr>
          <a:xfrm>
            <a:off x="609600" y="4728972"/>
            <a:ext cx="6951933" cy="1626214"/>
          </a:xfrm>
          <a:prstGeom prst="rect">
            <a:avLst/>
          </a:prstGeom>
          <a:solidFill>
            <a:srgbClr val="000000"/>
          </a:solidFill>
        </p:spPr>
        <p:txBody>
          <a:bodyPr wrap="square" lIns="109728" tIns="82296" bIns="64008">
            <a:spAutoFit/>
          </a:bodyPr>
          <a:lstStyle/>
          <a:p>
            <a:pPr>
              <a:lnSpc>
                <a:spcPct val="115000"/>
              </a:lnSpc>
              <a:spcBef>
                <a:spcPts val="0"/>
              </a:spcBef>
            </a:pPr>
            <a:r>
              <a:rPr sz="1400" b="0" dirty="0">
                <a:solidFill>
                  <a:srgbClr val="6A9955"/>
                </a:solidFill>
                <a:latin typeface="Courier New"/>
              </a:rPr>
              <a:t>// 3. Attach to agent — one new line</a:t>
            </a:r>
          </a:p>
          <a:p>
            <a:pPr>
              <a:lnSpc>
                <a:spcPct val="115000"/>
              </a:lnSpc>
              <a:spcBef>
                <a:spcPts val="0"/>
              </a:spcBef>
            </a:pPr>
            <a:r>
              <a:rPr sz="1400" b="0" dirty="0" err="1">
                <a:solidFill>
                  <a:srgbClr val="9CDCFE"/>
                </a:solidFill>
                <a:latin typeface="Courier New"/>
              </a:rPr>
              <a:t>piiGuardrail</a:t>
            </a:r>
            <a:r>
              <a:rPr sz="1400" b="0" dirty="0">
                <a:solidFill>
                  <a:srgbClr val="D4D4D4"/>
                </a:solidFill>
                <a:latin typeface="Courier New"/>
              </a:rPr>
              <a:t> = </a:t>
            </a:r>
            <a:r>
              <a:rPr sz="1400" b="0" dirty="0" err="1">
                <a:solidFill>
                  <a:srgbClr val="4EC9B0"/>
                </a:solidFill>
                <a:latin typeface="Courier New"/>
              </a:rPr>
              <a:t>createObject</a:t>
            </a:r>
            <a:r>
              <a:rPr sz="1400" b="0" dirty="0">
                <a:solidFill>
                  <a:srgbClr val="D4D4D4"/>
                </a:solidFill>
                <a:latin typeface="Courier New"/>
              </a:rPr>
              <a:t>(</a:t>
            </a:r>
            <a:r>
              <a:rPr sz="1400" b="0" dirty="0">
                <a:solidFill>
                  <a:srgbClr val="CE9178"/>
                </a:solidFill>
                <a:latin typeface="Courier New"/>
              </a:rPr>
              <a:t>"component"</a:t>
            </a:r>
            <a:r>
              <a:rPr sz="1400" b="0" dirty="0">
                <a:solidFill>
                  <a:srgbClr val="D4D4D4"/>
                </a:solidFill>
                <a:latin typeface="Courier New"/>
              </a:rPr>
              <a:t>,</a:t>
            </a:r>
            <a:r>
              <a:rPr sz="1400" b="0" dirty="0">
                <a:solidFill>
                  <a:srgbClr val="CE9178"/>
                </a:solidFill>
                <a:latin typeface="Courier New"/>
              </a:rPr>
              <a:t>"</a:t>
            </a:r>
            <a:r>
              <a:rPr sz="1400" b="0" dirty="0" err="1">
                <a:solidFill>
                  <a:srgbClr val="CE9178"/>
                </a:solidFill>
                <a:latin typeface="Courier New"/>
              </a:rPr>
              <a:t>PiiGuardrail</a:t>
            </a:r>
            <a:r>
              <a:rPr sz="1400" b="0" dirty="0">
                <a:solidFill>
                  <a:srgbClr val="CE9178"/>
                </a:solidFill>
                <a:latin typeface="Courier New"/>
              </a:rPr>
              <a:t>"</a:t>
            </a:r>
            <a:r>
              <a:rPr sz="1400" b="0" dirty="0">
                <a:solidFill>
                  <a:srgbClr val="D4D4D4"/>
                </a:solidFill>
                <a:latin typeface="Courier New"/>
              </a:rPr>
              <a:t>);</a:t>
            </a:r>
          </a:p>
          <a:p>
            <a:pPr>
              <a:lnSpc>
                <a:spcPct val="115000"/>
              </a:lnSpc>
              <a:spcBef>
                <a:spcPts val="0"/>
              </a:spcBef>
            </a:pPr>
            <a:r>
              <a:rPr sz="1400" b="0" dirty="0">
                <a:solidFill>
                  <a:srgbClr val="9CDCFE"/>
                </a:solidFill>
                <a:latin typeface="Courier New"/>
              </a:rPr>
              <a:t>session</a:t>
            </a:r>
            <a:r>
              <a:rPr sz="1400" b="0" dirty="0">
                <a:solidFill>
                  <a:srgbClr val="D4D4D4"/>
                </a:solidFill>
                <a:latin typeface="Courier New"/>
              </a:rPr>
              <a:t>.</a:t>
            </a:r>
            <a:r>
              <a:rPr lang="en-US" sz="1400" dirty="0">
                <a:solidFill>
                  <a:srgbClr val="9CDCFE"/>
                </a:solidFill>
                <a:latin typeface="Courier New"/>
              </a:rPr>
              <a:t>nexora</a:t>
            </a:r>
            <a:r>
              <a:rPr sz="1400" b="0" dirty="0">
                <a:solidFill>
                  <a:srgbClr val="9CDCFE"/>
                </a:solidFill>
                <a:latin typeface="Courier New"/>
              </a:rPr>
              <a:t>Problem5AI</a:t>
            </a:r>
            <a:r>
              <a:rPr sz="1400" b="0" dirty="0">
                <a:solidFill>
                  <a:srgbClr val="D4D4D4"/>
                </a:solidFill>
                <a:latin typeface="Courier New"/>
              </a:rPr>
              <a:t> = </a:t>
            </a:r>
            <a:r>
              <a:rPr sz="1400" b="0" dirty="0">
                <a:solidFill>
                  <a:srgbClr val="4EC9B0"/>
                </a:solidFill>
                <a:latin typeface="Courier New"/>
              </a:rPr>
              <a:t>agent</a:t>
            </a:r>
            <a:r>
              <a:rPr sz="1400" b="0" dirty="0">
                <a:solidFill>
                  <a:srgbClr val="D4D4D4"/>
                </a:solidFill>
                <a:latin typeface="Courier New"/>
              </a:rPr>
              <a:t>({</a:t>
            </a:r>
            <a:endParaRPr lang="en-US" sz="1400" b="0" dirty="0">
              <a:solidFill>
                <a:srgbClr val="D4D4D4"/>
              </a:solidFill>
              <a:latin typeface="Courier New"/>
            </a:endParaRPr>
          </a:p>
          <a:p>
            <a:pPr lvl="1">
              <a:lnSpc>
                <a:spcPct val="115000"/>
              </a:lnSpc>
            </a:pPr>
            <a:r>
              <a:rPr lang="en-US" sz="1400" dirty="0">
                <a:solidFill>
                  <a:srgbClr val="D4D4D4"/>
                </a:solidFill>
                <a:latin typeface="Courier New"/>
              </a:rPr>
              <a:t>. . . .</a:t>
            </a:r>
          </a:p>
          <a:p>
            <a:pPr lvl="1">
              <a:lnSpc>
                <a:spcPct val="115000"/>
              </a:lnSpc>
            </a:pPr>
            <a:r>
              <a:rPr sz="1400" b="0" dirty="0">
                <a:solidFill>
                  <a:srgbClr val="9CDCFE"/>
                </a:solidFill>
                <a:latin typeface="Courier New"/>
              </a:rPr>
              <a:t>OUTPUTGUARDRAIL</a:t>
            </a:r>
            <a:r>
              <a:rPr sz="1400" b="0" dirty="0">
                <a:solidFill>
                  <a:srgbClr val="D4D4D4"/>
                </a:solidFill>
                <a:latin typeface="Courier New"/>
              </a:rPr>
              <a:t> : </a:t>
            </a:r>
            <a:r>
              <a:rPr sz="1400" b="0" dirty="0" err="1">
                <a:solidFill>
                  <a:srgbClr val="9CDCFE"/>
                </a:solidFill>
                <a:latin typeface="Courier New"/>
              </a:rPr>
              <a:t>piiGuardrail</a:t>
            </a:r>
            <a:endParaRPr sz="1400" b="0" dirty="0">
              <a:solidFill>
                <a:srgbClr val="9CDCFE"/>
              </a:solidFill>
              <a:latin typeface="Courier New"/>
            </a:endParaRPr>
          </a:p>
          <a:p>
            <a:pPr>
              <a:lnSpc>
                <a:spcPct val="115000"/>
              </a:lnSpc>
              <a:spcBef>
                <a:spcPts val="0"/>
              </a:spcBef>
            </a:pPr>
            <a:r>
              <a:rPr sz="1400" b="0" dirty="0">
                <a:solidFill>
                  <a:srgbClr val="D4D4D4"/>
                </a:solidFill>
                <a:latin typeface="Courier New"/>
              </a:rPr>
              <a:t>});</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dur="indefinite" nodeType="mainSeq">
                <p:childTnLst>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2"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4" grpId="0"/>
      <p:bldP spid="7" grpId="1" animBg="1"/>
      <p:bldP spid="7" grpId="2" animBg="1"/>
      <p:bldP spid="8" grpId="2" animBg="1"/>
      <p:bldP spid="8" grpId="3"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Output GuardRails — How It Works</a:t>
            </a:r>
          </a:p>
        </p:txBody>
      </p:sp>
      <p:sp>
        <p:nvSpPr>
          <p:cNvPr id="3" name="TextBox 2"/>
          <p:cNvSpPr txBox="1"/>
          <p:nvPr/>
        </p:nvSpPr>
        <p:spPr>
          <a:xfrm>
            <a:off x="612648" y="1417320"/>
            <a:ext cx="5349240" cy="3703578"/>
          </a:xfrm>
          <a:prstGeom prst="rect">
            <a:avLst/>
          </a:prstGeom>
          <a:solidFill>
            <a:srgbClr val="000000"/>
          </a:solidFill>
        </p:spPr>
        <p:txBody>
          <a:bodyPr wrap="square">
            <a:spAutoFit/>
          </a:bodyPr>
          <a:lstStyle/>
          <a:p>
            <a:r>
              <a:rPr sz="1300" b="1" dirty="0">
                <a:solidFill>
                  <a:srgbClr val="1A1A1A"/>
                </a:solidFill>
              </a:rPr>
              <a:t>Three-way return contract</a:t>
            </a:r>
          </a:p>
          <a:p>
            <a:pPr>
              <a:spcBef>
                <a:spcPts val="1000"/>
              </a:spcBef>
            </a:pPr>
            <a:r>
              <a:rPr b="1" dirty="0">
                <a:solidFill>
                  <a:srgbClr val="107C10"/>
                </a:solidFill>
              </a:rPr>
              <a:t>{ success: true }</a:t>
            </a:r>
          </a:p>
          <a:p>
            <a:pPr>
              <a:spcBef>
                <a:spcPts val="200"/>
              </a:spcBef>
            </a:pPr>
            <a:r>
              <a:rPr dirty="0">
                <a:solidFill>
                  <a:srgbClr val="555555"/>
                </a:solidFill>
              </a:rPr>
              <a:t>  Pass through — response reaches customer unchanged</a:t>
            </a:r>
          </a:p>
          <a:p>
            <a:pPr>
              <a:spcBef>
                <a:spcPts val="1000"/>
              </a:spcBef>
            </a:pPr>
            <a:r>
              <a:rPr b="1" dirty="0">
                <a:solidFill>
                  <a:srgbClr val="00788C"/>
                </a:solidFill>
              </a:rPr>
              <a:t>{ </a:t>
            </a:r>
            <a:r>
              <a:rPr b="1" dirty="0" err="1">
                <a:solidFill>
                  <a:srgbClr val="00788C"/>
                </a:solidFill>
              </a:rPr>
              <a:t>successWith</a:t>
            </a:r>
            <a:r>
              <a:rPr b="1" dirty="0">
                <a:solidFill>
                  <a:srgbClr val="00788C"/>
                </a:solidFill>
              </a:rPr>
              <a:t>: </a:t>
            </a:r>
            <a:r>
              <a:rPr b="1" dirty="0" err="1">
                <a:solidFill>
                  <a:srgbClr val="00788C"/>
                </a:solidFill>
              </a:rPr>
              <a:t>modifiedText</a:t>
            </a:r>
            <a:r>
              <a:rPr b="1" dirty="0">
                <a:solidFill>
                  <a:srgbClr val="00788C"/>
                </a:solidFill>
              </a:rPr>
              <a:t> }</a:t>
            </a:r>
          </a:p>
          <a:p>
            <a:pPr>
              <a:spcBef>
                <a:spcPts val="200"/>
              </a:spcBef>
            </a:pPr>
            <a:r>
              <a:rPr dirty="0">
                <a:solidFill>
                  <a:srgbClr val="555555"/>
                </a:solidFill>
              </a:rPr>
              <a:t>  Redact — modified version reaches customer</a:t>
            </a:r>
          </a:p>
          <a:p>
            <a:pPr>
              <a:spcBef>
                <a:spcPts val="200"/>
              </a:spcBef>
            </a:pPr>
            <a:r>
              <a:rPr dirty="0">
                <a:solidFill>
                  <a:srgbClr val="555555"/>
                </a:solidFill>
              </a:rPr>
              <a:t>  e.g. </a:t>
            </a:r>
            <a:r>
              <a:rPr dirty="0" err="1">
                <a:solidFill>
                  <a:srgbClr val="555555"/>
                </a:solidFill>
              </a:rPr>
              <a:t>email@domain.com</a:t>
            </a:r>
            <a:r>
              <a:rPr dirty="0">
                <a:solidFill>
                  <a:srgbClr val="555555"/>
                </a:solidFill>
              </a:rPr>
              <a:t> → [protected]@</a:t>
            </a:r>
            <a:r>
              <a:rPr dirty="0" err="1">
                <a:solidFill>
                  <a:srgbClr val="555555"/>
                </a:solidFill>
              </a:rPr>
              <a:t>domain.com</a:t>
            </a:r>
            <a:endParaRPr dirty="0">
              <a:solidFill>
                <a:srgbClr val="555555"/>
              </a:solidFill>
            </a:endParaRPr>
          </a:p>
          <a:p>
            <a:pPr>
              <a:spcBef>
                <a:spcPts val="1000"/>
              </a:spcBef>
            </a:pPr>
            <a:r>
              <a:rPr b="1" dirty="0">
                <a:solidFill>
                  <a:srgbClr val="EB1000"/>
                </a:solidFill>
              </a:rPr>
              <a:t>{ success: false,
  </a:t>
            </a:r>
            <a:r>
              <a:rPr b="1" dirty="0" err="1">
                <a:solidFill>
                  <a:srgbClr val="EB1000"/>
                </a:solidFill>
              </a:rPr>
              <a:t>errorMessage</a:t>
            </a:r>
            <a:r>
              <a:rPr b="1" dirty="0">
                <a:solidFill>
                  <a:srgbClr val="EB1000"/>
                </a:solidFill>
              </a:rPr>
              <a:t>: "…" }</a:t>
            </a:r>
          </a:p>
          <a:p>
            <a:pPr>
              <a:spcBef>
                <a:spcPts val="200"/>
              </a:spcBef>
            </a:pPr>
            <a:r>
              <a:rPr dirty="0">
                <a:solidFill>
                  <a:srgbClr val="555555"/>
                </a:solidFill>
              </a:rPr>
              <a:t>  Block — AI response discarded</a:t>
            </a:r>
          </a:p>
          <a:p>
            <a:pPr>
              <a:spcBef>
                <a:spcPts val="200"/>
              </a:spcBef>
            </a:pPr>
            <a:r>
              <a:rPr dirty="0">
                <a:solidFill>
                  <a:srgbClr val="555555"/>
                </a:solidFill>
              </a:rPr>
              <a:t>  Customer sees the </a:t>
            </a:r>
            <a:r>
              <a:rPr dirty="0" err="1">
                <a:solidFill>
                  <a:srgbClr val="555555"/>
                </a:solidFill>
              </a:rPr>
              <a:t>errorMessage</a:t>
            </a:r>
            <a:r>
              <a:rPr dirty="0">
                <a:solidFill>
                  <a:srgbClr val="555555"/>
                </a:solidFill>
              </a:rPr>
              <a:t> instead</a:t>
            </a:r>
          </a:p>
        </p:txBody>
      </p:sp>
      <p:sp>
        <p:nvSpPr>
          <p:cNvPr id="4" name="Rectangle 3"/>
          <p:cNvSpPr/>
          <p:nvPr/>
        </p:nvSpPr>
        <p:spPr>
          <a:xfrm>
            <a:off x="6236208" y="1417320"/>
            <a:ext cx="5669280" cy="48006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373368" y="1508760"/>
            <a:ext cx="5440680" cy="369332"/>
          </a:xfrm>
          <a:prstGeom prst="rect">
            <a:avLst/>
          </a:prstGeom>
          <a:noFill/>
        </p:spPr>
        <p:txBody>
          <a:bodyPr wrap="square">
            <a:spAutoFit/>
          </a:bodyPr>
          <a:lstStyle/>
          <a:p>
            <a:pPr algn="l"/>
            <a:r>
              <a:rPr b="1" i="0" dirty="0">
                <a:solidFill>
                  <a:srgbClr val="1A1A1A"/>
                </a:solidFill>
              </a:rPr>
              <a:t>The interception flow:</a:t>
            </a:r>
          </a:p>
        </p:txBody>
      </p:sp>
      <p:sp>
        <p:nvSpPr>
          <p:cNvPr id="6" name="TextBox 5"/>
          <p:cNvSpPr txBox="1"/>
          <p:nvPr/>
        </p:nvSpPr>
        <p:spPr>
          <a:xfrm>
            <a:off x="6373368" y="1920240"/>
            <a:ext cx="5440680" cy="3285515"/>
          </a:xfrm>
          <a:prstGeom prst="rect">
            <a:avLst/>
          </a:prstGeom>
          <a:noFill/>
        </p:spPr>
        <p:txBody>
          <a:bodyPr wrap="square">
            <a:spAutoFit/>
          </a:bodyPr>
          <a:lstStyle/>
          <a:p>
            <a:pPr>
              <a:spcBef>
                <a:spcPts val="700"/>
              </a:spcBef>
            </a:pPr>
            <a:r>
              <a:rPr b="1" dirty="0">
                <a:solidFill>
                  <a:srgbClr val="EB1000"/>
                </a:solidFill>
              </a:rPr>
              <a:t>1  </a:t>
            </a:r>
            <a:r>
              <a:rPr b="1" dirty="0">
                <a:solidFill>
                  <a:srgbClr val="1A1A1A"/>
                </a:solidFill>
              </a:rPr>
              <a:t>agent().chat() called  </a:t>
            </a:r>
          </a:p>
          <a:p>
            <a:pPr>
              <a:spcBef>
                <a:spcPts val="100"/>
              </a:spcBef>
            </a:pPr>
            <a:r>
              <a:rPr i="1" dirty="0">
                <a:solidFill>
                  <a:srgbClr val="555555"/>
                </a:solidFill>
              </a:rPr>
              <a:t>    User message sent to LLM</a:t>
            </a:r>
          </a:p>
          <a:p>
            <a:pPr>
              <a:spcBef>
                <a:spcPts val="700"/>
              </a:spcBef>
            </a:pPr>
            <a:r>
              <a:rPr b="1" dirty="0">
                <a:solidFill>
                  <a:srgbClr val="EB1000"/>
                </a:solidFill>
              </a:rPr>
              <a:t>2  </a:t>
            </a:r>
            <a:r>
              <a:rPr b="1" dirty="0">
                <a:solidFill>
                  <a:srgbClr val="1A1A1A"/>
                </a:solidFill>
              </a:rPr>
              <a:t>LLM generates response  </a:t>
            </a:r>
          </a:p>
          <a:p>
            <a:pPr>
              <a:spcBef>
                <a:spcPts val="100"/>
              </a:spcBef>
            </a:pPr>
            <a:r>
              <a:rPr i="1" dirty="0">
                <a:solidFill>
                  <a:srgbClr val="555555"/>
                </a:solidFill>
              </a:rPr>
              <a:t>    May include sensitive data</a:t>
            </a:r>
          </a:p>
          <a:p>
            <a:pPr>
              <a:spcBef>
                <a:spcPts val="700"/>
              </a:spcBef>
            </a:pPr>
            <a:r>
              <a:rPr b="1" dirty="0">
                <a:solidFill>
                  <a:srgbClr val="EB1000"/>
                </a:solidFill>
              </a:rPr>
              <a:t>3  </a:t>
            </a:r>
            <a:r>
              <a:rPr b="1" dirty="0">
                <a:solidFill>
                  <a:srgbClr val="1A1A1A"/>
                </a:solidFill>
              </a:rPr>
              <a:t>OUTPUTGUARDRAIL intercepts  </a:t>
            </a:r>
          </a:p>
          <a:p>
            <a:pPr>
              <a:spcBef>
                <a:spcPts val="100"/>
              </a:spcBef>
            </a:pPr>
            <a:r>
              <a:rPr i="1" dirty="0">
                <a:solidFill>
                  <a:srgbClr val="555555"/>
                </a:solidFill>
              </a:rPr>
              <a:t>    validate(response) called on your CFC</a:t>
            </a:r>
          </a:p>
          <a:p>
            <a:pPr>
              <a:spcBef>
                <a:spcPts val="700"/>
              </a:spcBef>
            </a:pPr>
            <a:r>
              <a:rPr b="1" dirty="0">
                <a:solidFill>
                  <a:srgbClr val="EB1000"/>
                </a:solidFill>
              </a:rPr>
              <a:t>4  </a:t>
            </a:r>
            <a:r>
              <a:rPr b="1" dirty="0">
                <a:solidFill>
                  <a:srgbClr val="1A1A1A"/>
                </a:solidFill>
              </a:rPr>
              <a:t>Guardrail returns verdict  </a:t>
            </a:r>
          </a:p>
          <a:p>
            <a:pPr>
              <a:spcBef>
                <a:spcPts val="100"/>
              </a:spcBef>
            </a:pPr>
            <a:r>
              <a:rPr i="1" dirty="0">
                <a:solidFill>
                  <a:srgbClr val="555555"/>
                </a:solidFill>
              </a:rPr>
              <a:t>    success / </a:t>
            </a:r>
            <a:r>
              <a:rPr i="1" dirty="0" err="1">
                <a:solidFill>
                  <a:srgbClr val="555555"/>
                </a:solidFill>
              </a:rPr>
              <a:t>successWith</a:t>
            </a:r>
            <a:r>
              <a:rPr i="1" dirty="0">
                <a:solidFill>
                  <a:srgbClr val="555555"/>
                </a:solidFill>
              </a:rPr>
              <a:t> / failure</a:t>
            </a:r>
          </a:p>
          <a:p>
            <a:pPr>
              <a:spcBef>
                <a:spcPts val="700"/>
              </a:spcBef>
            </a:pPr>
            <a:r>
              <a:rPr b="1" dirty="0">
                <a:solidFill>
                  <a:srgbClr val="EB1000"/>
                </a:solidFill>
              </a:rPr>
              <a:t>5  </a:t>
            </a:r>
            <a:r>
              <a:rPr b="1" dirty="0">
                <a:solidFill>
                  <a:srgbClr val="1A1A1A"/>
                </a:solidFill>
              </a:rPr>
              <a:t>Result returned to caller  </a:t>
            </a:r>
          </a:p>
          <a:p>
            <a:pPr>
              <a:spcBef>
                <a:spcPts val="100"/>
              </a:spcBef>
            </a:pPr>
            <a:r>
              <a:rPr i="1" dirty="0">
                <a:solidFill>
                  <a:srgbClr val="555555"/>
                </a:solidFill>
              </a:rPr>
              <a:t>    Clean, safe response — or blocked message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Problem 5 — The AI Can Leak Sensitive Data</a:t>
            </a:r>
          </a:p>
        </p:txBody>
      </p:sp>
      <p:sp>
        <p:nvSpPr>
          <p:cNvPr id="3" name="Rectangle 2"/>
          <p:cNvSpPr/>
          <p:nvPr/>
        </p:nvSpPr>
        <p:spPr>
          <a:xfrm>
            <a:off x="609600" y="1417320"/>
            <a:ext cx="11579352" cy="83210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536192"/>
            <a:ext cx="11247120" cy="713232"/>
          </a:xfrm>
          <a:prstGeom prst="rect">
            <a:avLst/>
          </a:prstGeom>
          <a:noFill/>
        </p:spPr>
        <p:txBody>
          <a:bodyPr wrap="square">
            <a:spAutoFit/>
          </a:bodyPr>
          <a:lstStyle/>
          <a:p>
            <a:pPr algn="l"/>
            <a:r>
              <a:rPr sz="1500" b="1" i="0">
                <a:solidFill>
                  <a:srgbClr val="FFFFFF"/>
                </a:solidFill>
              </a:rPr>
              <a:t>Problem 5: The AI now has access to real data — and might expose SSNs, card numbers, emails in its response.</a:t>
            </a:r>
          </a:p>
        </p:txBody>
      </p:sp>
      <p:sp>
        <p:nvSpPr>
          <p:cNvPr id="5" name="TextBox 4"/>
          <p:cNvSpPr txBox="1"/>
          <p:nvPr/>
        </p:nvSpPr>
        <p:spPr>
          <a:xfrm>
            <a:off x="612648" y="2496312"/>
            <a:ext cx="11576304" cy="369332"/>
          </a:xfrm>
          <a:prstGeom prst="rect">
            <a:avLst/>
          </a:prstGeom>
          <a:noFill/>
        </p:spPr>
        <p:txBody>
          <a:bodyPr wrap="square">
            <a:spAutoFit/>
          </a:bodyPr>
          <a:lstStyle/>
          <a:p>
            <a:pPr algn="l"/>
            <a:r>
              <a:rPr b="0" i="1" dirty="0">
                <a:solidFill>
                  <a:srgbClr val="555555"/>
                </a:solidFill>
              </a:rPr>
              <a:t>Problem 4 code — AI with function tools, no output filter:</a:t>
            </a:r>
          </a:p>
        </p:txBody>
      </p:sp>
      <p:sp>
        <p:nvSpPr>
          <p:cNvPr id="6" name="TextBox 5"/>
          <p:cNvSpPr txBox="1"/>
          <p:nvPr/>
        </p:nvSpPr>
        <p:spPr>
          <a:xfrm>
            <a:off x="612648" y="2898648"/>
            <a:ext cx="11576304" cy="1946687"/>
          </a:xfrm>
          <a:prstGeom prst="rect">
            <a:avLst/>
          </a:prstGeom>
          <a:noFill/>
        </p:spPr>
        <p:txBody>
          <a:bodyPr wrap="square">
            <a:spAutoFit/>
          </a:bodyPr>
          <a:lstStyle/>
          <a:p>
            <a:pPr>
              <a:spcBef>
                <a:spcPts val="300"/>
              </a:spcBef>
            </a:pPr>
            <a:r>
              <a:rPr b="1" dirty="0">
                <a:solidFill>
                  <a:srgbClr val="00788C"/>
                </a:solidFill>
              </a:rPr>
              <a:t>Customer:  </a:t>
            </a:r>
            <a:r>
              <a:rPr dirty="0">
                <a:solidFill>
                  <a:srgbClr val="1A1A1A"/>
                </a:solidFill>
              </a:rPr>
              <a:t>My card ending in 1111 was charged. My SSN is 123-45-6789, confirm it?</a:t>
            </a:r>
          </a:p>
          <a:p>
            <a:pPr>
              <a:spcBef>
                <a:spcPts val="300"/>
              </a:spcBef>
            </a:pPr>
            <a:r>
              <a:rPr b="1" dirty="0">
                <a:solidFill>
                  <a:srgbClr val="EB1000"/>
                </a:solidFill>
              </a:rPr>
              <a:t>AI:  </a:t>
            </a:r>
            <a:r>
              <a:rPr dirty="0">
                <a:solidFill>
                  <a:srgbClr val="EB1000"/>
                </a:solidFill>
              </a:rPr>
              <a:t>Thank you! I can confirm SSN 123-45-6789 is on file...  ❌  echoed SSN back</a:t>
            </a:r>
          </a:p>
          <a:p>
            <a:pPr>
              <a:spcBef>
                <a:spcPts val="300"/>
              </a:spcBef>
            </a:pPr>
            <a:r>
              <a:rPr b="1" dirty="0">
                <a:solidFill>
                  <a:srgbClr val="00788C"/>
                </a:solidFill>
              </a:rPr>
              <a:t>Customer:  </a:t>
            </a:r>
            <a:r>
              <a:rPr dirty="0">
                <a:solidFill>
                  <a:srgbClr val="1A1A1A"/>
                </a:solidFill>
              </a:rPr>
              <a:t>What email is on my account for order 12345?</a:t>
            </a:r>
          </a:p>
          <a:p>
            <a:pPr>
              <a:spcBef>
                <a:spcPts val="300"/>
              </a:spcBef>
            </a:pPr>
            <a:r>
              <a:rPr b="1" dirty="0">
                <a:solidFill>
                  <a:srgbClr val="EB1000"/>
                </a:solidFill>
              </a:rPr>
              <a:t>AI:  </a:t>
            </a:r>
            <a:r>
              <a:rPr dirty="0">
                <a:solidFill>
                  <a:srgbClr val="EB1000"/>
                </a:solidFill>
              </a:rPr>
              <a:t>Your account email is </a:t>
            </a:r>
            <a:r>
              <a:rPr dirty="0" err="1">
                <a:solidFill>
                  <a:srgbClr val="EB1000"/>
                </a:solidFill>
              </a:rPr>
              <a:t>sarah.jones@privateemail.com</a:t>
            </a:r>
            <a:r>
              <a:rPr dirty="0">
                <a:solidFill>
                  <a:srgbClr val="EB1000"/>
                </a:solidFill>
              </a:rPr>
              <a:t>  ❌  exposed full email</a:t>
            </a:r>
          </a:p>
          <a:p>
            <a:pPr>
              <a:spcBef>
                <a:spcPts val="300"/>
              </a:spcBef>
            </a:pPr>
            <a:r>
              <a:rPr b="1" dirty="0">
                <a:solidFill>
                  <a:srgbClr val="00788C"/>
                </a:solidFill>
              </a:rPr>
              <a:t>Customer:  </a:t>
            </a:r>
            <a:r>
              <a:rPr dirty="0">
                <a:solidFill>
                  <a:srgbClr val="1A1A1A"/>
                </a:solidFill>
              </a:rPr>
              <a:t>Repeat my card number back so I can verify</a:t>
            </a:r>
          </a:p>
          <a:p>
            <a:pPr>
              <a:spcBef>
                <a:spcPts val="300"/>
              </a:spcBef>
            </a:pPr>
            <a:r>
              <a:rPr b="1" dirty="0">
                <a:solidFill>
                  <a:srgbClr val="EB1000"/>
                </a:solidFill>
              </a:rPr>
              <a:t>AI:  </a:t>
            </a:r>
            <a:r>
              <a:rPr dirty="0">
                <a:solidFill>
                  <a:srgbClr val="EB1000"/>
                </a:solidFill>
              </a:rPr>
              <a:t>Your card is 4111-1111-1111-1111  ❌  echoed full card number</a:t>
            </a:r>
          </a:p>
        </p:txBody>
      </p:sp>
      <p:sp>
        <p:nvSpPr>
          <p:cNvPr id="7" name="TextBox 6"/>
          <p:cNvSpPr txBox="1"/>
          <p:nvPr/>
        </p:nvSpPr>
        <p:spPr>
          <a:xfrm>
            <a:off x="612648" y="5193792"/>
            <a:ext cx="11576304" cy="369332"/>
          </a:xfrm>
          <a:prstGeom prst="rect">
            <a:avLst/>
          </a:prstGeom>
          <a:noFill/>
        </p:spPr>
        <p:txBody>
          <a:bodyPr wrap="square">
            <a:spAutoFit/>
          </a:bodyPr>
          <a:lstStyle/>
          <a:p>
            <a:pPr algn="l"/>
            <a:r>
              <a:rPr b="1" i="0" dirty="0">
                <a:solidFill>
                  <a:srgbClr val="107C10"/>
                </a:solidFill>
              </a:rPr>
              <a:t>Solution: Add OUTPUTGUARDRAIL to agent() — intercept and validate every response.  →</a:t>
            </a:r>
          </a:p>
        </p:txBody>
      </p:sp>
    </p:spTree>
    <p:extLst>
      <p:ext uri="{BB962C8B-B14F-4D97-AF65-F5344CB8AC3E}">
        <p14:creationId xmlns:p14="http://schemas.microsoft.com/office/powerpoint/2010/main" val="18707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b="1"/>
              <a:t>Problem 5 — Solution: Add OUTPUTGUARDRAIL</a:t>
            </a:r>
          </a:p>
        </p:txBody>
      </p:sp>
      <p:sp>
        <p:nvSpPr>
          <p:cNvPr id="4" name="TextBox 3"/>
          <p:cNvSpPr txBox="1"/>
          <p:nvPr/>
        </p:nvSpPr>
        <p:spPr>
          <a:xfrm>
            <a:off x="7699248" y="1417320"/>
            <a:ext cx="4251960" cy="4047262"/>
          </a:xfrm>
          <a:prstGeom prst="rect">
            <a:avLst/>
          </a:prstGeom>
          <a:noFill/>
        </p:spPr>
        <p:txBody>
          <a:bodyPr wrap="square">
            <a:spAutoFit/>
          </a:bodyPr>
          <a:lstStyle/>
          <a:p>
            <a:pPr>
              <a:spcBef>
                <a:spcPts val="300"/>
              </a:spcBef>
            </a:pPr>
            <a:r>
              <a:rPr b="1" dirty="0">
                <a:solidFill>
                  <a:srgbClr val="EB1000"/>
                </a:solidFill>
              </a:rPr>
              <a:t>What changed:</a:t>
            </a:r>
          </a:p>
          <a:p>
            <a:pPr>
              <a:spcBef>
                <a:spcPts val="300"/>
              </a:spcBef>
            </a:pPr>
            <a:r>
              <a:rPr dirty="0">
                <a:solidFill>
                  <a:srgbClr val="555555"/>
                </a:solidFill>
              </a:rPr>
              <a:t>  </a:t>
            </a:r>
            <a:r>
              <a:rPr dirty="0" err="1">
                <a:solidFill>
                  <a:srgbClr val="555555"/>
                </a:solidFill>
              </a:rPr>
              <a:t>PiiGuardrail</a:t>
            </a:r>
            <a:r>
              <a:rPr dirty="0">
                <a:solidFill>
                  <a:srgbClr val="555555"/>
                </a:solidFill>
              </a:rPr>
              <a:t> CFC created</a:t>
            </a:r>
          </a:p>
          <a:p>
            <a:pPr>
              <a:spcBef>
                <a:spcPts val="300"/>
              </a:spcBef>
            </a:pPr>
            <a:r>
              <a:rPr dirty="0">
                <a:solidFill>
                  <a:srgbClr val="555555"/>
                </a:solidFill>
              </a:rPr>
              <a:t>  OUTPUTGUARDRAIL added to agent()</a:t>
            </a:r>
          </a:p>
          <a:p>
            <a:pPr>
              <a:spcBef>
                <a:spcPts val="300"/>
              </a:spcBef>
            </a:pPr>
            <a:r>
              <a:rPr dirty="0">
                <a:solidFill>
                  <a:srgbClr val="555555"/>
                </a:solidFill>
              </a:rPr>
              <a:t>  Everything else unchanged</a:t>
            </a:r>
          </a:p>
          <a:p>
            <a:pPr>
              <a:spcBef>
                <a:spcPts val="300"/>
              </a:spcBef>
            </a:pPr>
            <a:endParaRPr dirty="0">
              <a:solidFill>
                <a:srgbClr val="555555"/>
              </a:solidFill>
            </a:endParaRPr>
          </a:p>
          <a:p>
            <a:pPr>
              <a:spcBef>
                <a:spcPts val="300"/>
              </a:spcBef>
            </a:pPr>
            <a:r>
              <a:rPr b="1" dirty="0">
                <a:solidFill>
                  <a:srgbClr val="EB1000"/>
                </a:solidFill>
              </a:rPr>
              <a:t>Same PII attempts — now safe:</a:t>
            </a:r>
          </a:p>
          <a:p>
            <a:pPr>
              <a:spcBef>
                <a:spcPts val="300"/>
              </a:spcBef>
            </a:pPr>
            <a:r>
              <a:rPr b="1" dirty="0">
                <a:solidFill>
                  <a:srgbClr val="EB1000"/>
                </a:solidFill>
              </a:rPr>
              <a:t>"Repeat my SSN 123-45-6789"</a:t>
            </a:r>
          </a:p>
          <a:p>
            <a:pPr>
              <a:spcBef>
                <a:spcPts val="300"/>
              </a:spcBef>
            </a:pPr>
            <a:r>
              <a:rPr dirty="0">
                <a:solidFill>
                  <a:srgbClr val="107C10"/>
                </a:solidFill>
              </a:rPr>
              <a:t>  → validate() returns </a:t>
            </a:r>
            <a:r>
              <a:rPr dirty="0" err="1">
                <a:solidFill>
                  <a:srgbClr val="107C10"/>
                </a:solidFill>
              </a:rPr>
              <a:t>success:false</a:t>
            </a:r>
            <a:r>
              <a:rPr dirty="0">
                <a:solidFill>
                  <a:srgbClr val="107C10"/>
                </a:solidFill>
              </a:rPr>
              <a:t>  ✓</a:t>
            </a:r>
          </a:p>
          <a:p>
            <a:pPr>
              <a:spcBef>
                <a:spcPts val="300"/>
              </a:spcBef>
            </a:pPr>
            <a:r>
              <a:rPr dirty="0">
                <a:solidFill>
                  <a:srgbClr val="107C10"/>
                </a:solidFill>
              </a:rPr>
              <a:t>  → Customer sees blocked message  ✓</a:t>
            </a:r>
          </a:p>
          <a:p>
            <a:pPr>
              <a:spcBef>
                <a:spcPts val="300"/>
              </a:spcBef>
            </a:pPr>
            <a:r>
              <a:rPr b="1" dirty="0">
                <a:solidFill>
                  <a:srgbClr val="EB1000"/>
                </a:solidFill>
              </a:rPr>
              <a:t>"My email is </a:t>
            </a:r>
            <a:r>
              <a:rPr b="1" dirty="0" err="1">
                <a:solidFill>
                  <a:srgbClr val="EB1000"/>
                </a:solidFill>
              </a:rPr>
              <a:t>john@example.com</a:t>
            </a:r>
            <a:r>
              <a:rPr b="1" dirty="0">
                <a:solidFill>
                  <a:srgbClr val="EB1000"/>
                </a:solidFill>
              </a:rPr>
              <a:t>"</a:t>
            </a:r>
          </a:p>
          <a:p>
            <a:pPr>
              <a:spcBef>
                <a:spcPts val="300"/>
              </a:spcBef>
            </a:pPr>
            <a:r>
              <a:rPr dirty="0">
                <a:solidFill>
                  <a:srgbClr val="107C10"/>
                </a:solidFill>
              </a:rPr>
              <a:t>  → validate() returns </a:t>
            </a:r>
            <a:r>
              <a:rPr dirty="0" err="1">
                <a:solidFill>
                  <a:srgbClr val="107C10"/>
                </a:solidFill>
              </a:rPr>
              <a:t>successWith</a:t>
            </a:r>
            <a:r>
              <a:rPr dirty="0">
                <a:solidFill>
                  <a:srgbClr val="107C10"/>
                </a:solidFill>
              </a:rPr>
              <a:t>  ✓</a:t>
            </a:r>
          </a:p>
          <a:p>
            <a:pPr>
              <a:spcBef>
                <a:spcPts val="300"/>
              </a:spcBef>
            </a:pPr>
            <a:r>
              <a:rPr dirty="0">
                <a:solidFill>
                  <a:srgbClr val="107C10"/>
                </a:solidFill>
              </a:rPr>
              <a:t>  → [protected]@</a:t>
            </a:r>
            <a:r>
              <a:rPr dirty="0" err="1">
                <a:solidFill>
                  <a:srgbClr val="107C10"/>
                </a:solidFill>
              </a:rPr>
              <a:t>example.com</a:t>
            </a:r>
            <a:r>
              <a:rPr dirty="0">
                <a:solidFill>
                  <a:srgbClr val="107C10"/>
                </a:solidFill>
              </a:rPr>
              <a:t> shown  </a:t>
            </a:r>
            <a:r>
              <a:rPr sz="1100" dirty="0">
                <a:solidFill>
                  <a:srgbClr val="107C10"/>
                </a:solidFill>
              </a:rPr>
              <a:t>✓</a:t>
            </a:r>
          </a:p>
          <a:p>
            <a:pPr>
              <a:spcBef>
                <a:spcPts val="300"/>
              </a:spcBef>
            </a:pPr>
            <a:endParaRPr sz="1100" dirty="0">
              <a:solidFill>
                <a:srgbClr val="107C10"/>
              </a:solidFill>
            </a:endParaRPr>
          </a:p>
        </p:txBody>
      </p:sp>
      <p:sp>
        <p:nvSpPr>
          <p:cNvPr id="7" name="TextBox 6"/>
          <p:cNvSpPr txBox="1"/>
          <p:nvPr/>
        </p:nvSpPr>
        <p:spPr>
          <a:xfrm>
            <a:off x="612648" y="1216152"/>
            <a:ext cx="6702552" cy="2670924"/>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1. Create tools + guardrail objects</a:t>
            </a:r>
          </a:p>
          <a:p>
            <a:pPr>
              <a:lnSpc>
                <a:spcPct val="115000"/>
              </a:lnSpc>
              <a:spcBef>
                <a:spcPts val="0"/>
              </a:spcBef>
            </a:pPr>
            <a:r>
              <a:rPr sz="1300" b="0" dirty="0" err="1">
                <a:solidFill>
                  <a:srgbClr val="9CDCFE"/>
                </a:solidFill>
                <a:latin typeface="Courier New"/>
              </a:rPr>
              <a:t>supportTool</a:t>
            </a:r>
            <a:r>
              <a:rPr sz="1300" b="0" dirty="0">
                <a:solidFill>
                  <a:srgbClr val="D4D4D4"/>
                </a:solidFill>
                <a:latin typeface="Courier New"/>
              </a:rPr>
              <a:t>  = </a:t>
            </a:r>
            <a:r>
              <a:rPr sz="1300" b="0" dirty="0" err="1">
                <a:solidFill>
                  <a:srgbClr val="4EC9B0"/>
                </a:solidFill>
                <a:latin typeface="Courier New"/>
              </a:rPr>
              <a:t>createObject</a:t>
            </a:r>
            <a:r>
              <a:rPr sz="1300" b="0" dirty="0">
                <a:solidFill>
                  <a:srgbClr val="D4D4D4"/>
                </a:solidFill>
                <a:latin typeface="Courier New"/>
              </a:rPr>
              <a:t>(</a:t>
            </a:r>
            <a:r>
              <a:rPr sz="1300" b="0" dirty="0">
                <a:solidFill>
                  <a:srgbClr val="CE9178"/>
                </a:solidFill>
                <a:latin typeface="Courier New"/>
              </a:rPr>
              <a:t>"component"</a:t>
            </a:r>
            <a:r>
              <a:rPr sz="1300" b="0" dirty="0">
                <a:solidFill>
                  <a:srgbClr val="D4D4D4"/>
                </a:solidFill>
                <a:latin typeface="Courier New"/>
              </a:rPr>
              <a:t>,</a:t>
            </a:r>
            <a:r>
              <a:rPr sz="1300" b="0" dirty="0">
                <a:solidFill>
                  <a:srgbClr val="CE9178"/>
                </a:solidFill>
                <a:latin typeface="Courier New"/>
              </a:rPr>
              <a:t>"</a:t>
            </a:r>
            <a:r>
              <a:rPr sz="1300" b="0" dirty="0" err="1">
                <a:solidFill>
                  <a:srgbClr val="CE9178"/>
                </a:solidFill>
                <a:latin typeface="Courier New"/>
              </a:rPr>
              <a:t>SupportTool</a:t>
            </a:r>
            <a:r>
              <a:rPr sz="1300" b="0" dirty="0">
                <a:solidFill>
                  <a:srgbClr val="CE9178"/>
                </a:solidFill>
                <a:latin typeface="Courier New"/>
              </a:rPr>
              <a:t>"</a:t>
            </a:r>
            <a:r>
              <a:rPr sz="1300" b="0" dirty="0">
                <a:solidFill>
                  <a:srgbClr val="D4D4D4"/>
                </a:solidFill>
                <a:latin typeface="Courier New"/>
              </a:rPr>
              <a:t>);</a:t>
            </a:r>
          </a:p>
          <a:p>
            <a:pPr>
              <a:lnSpc>
                <a:spcPct val="115000"/>
              </a:lnSpc>
              <a:spcBef>
                <a:spcPts val="0"/>
              </a:spcBef>
            </a:pPr>
            <a:r>
              <a:rPr sz="1300" b="0" dirty="0" err="1">
                <a:solidFill>
                  <a:srgbClr val="9CDCFE"/>
                </a:solidFill>
                <a:latin typeface="Courier New"/>
              </a:rPr>
              <a:t>piiGuardrail</a:t>
            </a:r>
            <a:r>
              <a:rPr sz="1300" b="0" dirty="0">
                <a:solidFill>
                  <a:srgbClr val="D4D4D4"/>
                </a:solidFill>
                <a:latin typeface="Courier New"/>
              </a:rPr>
              <a:t> = </a:t>
            </a:r>
            <a:r>
              <a:rPr sz="1300" b="0" dirty="0" err="1">
                <a:solidFill>
                  <a:srgbClr val="4EC9B0"/>
                </a:solidFill>
                <a:latin typeface="Courier New"/>
              </a:rPr>
              <a:t>createObject</a:t>
            </a:r>
            <a:r>
              <a:rPr sz="1300" b="0" dirty="0">
                <a:solidFill>
                  <a:srgbClr val="D4D4D4"/>
                </a:solidFill>
                <a:latin typeface="Courier New"/>
              </a:rPr>
              <a:t>(</a:t>
            </a:r>
            <a:r>
              <a:rPr sz="1300" b="0" dirty="0">
                <a:solidFill>
                  <a:srgbClr val="CE9178"/>
                </a:solidFill>
                <a:latin typeface="Courier New"/>
              </a:rPr>
              <a:t>"component"</a:t>
            </a:r>
            <a:r>
              <a:rPr sz="1300" b="0" dirty="0">
                <a:solidFill>
                  <a:srgbClr val="D4D4D4"/>
                </a:solidFill>
                <a:latin typeface="Courier New"/>
              </a:rPr>
              <a:t>,</a:t>
            </a:r>
            <a:r>
              <a:rPr sz="1300" b="0" dirty="0">
                <a:solidFill>
                  <a:srgbClr val="CE9178"/>
                </a:solidFill>
                <a:latin typeface="Courier New"/>
              </a:rPr>
              <a:t>"</a:t>
            </a:r>
            <a:r>
              <a:rPr sz="1300" b="0" dirty="0" err="1">
                <a:solidFill>
                  <a:srgbClr val="CE9178"/>
                </a:solidFill>
                <a:latin typeface="Courier New"/>
              </a:rPr>
              <a:t>PiiGuardrail</a:t>
            </a:r>
            <a:r>
              <a:rPr sz="1300" b="0" dirty="0">
                <a:solidFill>
                  <a:srgbClr val="CE9178"/>
                </a:solidFill>
                <a:latin typeface="Courier New"/>
              </a:rPr>
              <a:t>"</a:t>
            </a:r>
            <a:r>
              <a:rPr sz="1300" b="0" dirty="0">
                <a:solidFill>
                  <a:srgbClr val="D4D4D4"/>
                </a:solidFill>
                <a:latin typeface="Courier New"/>
              </a:rPr>
              <a:t>);</a:t>
            </a:r>
          </a:p>
          <a:p>
            <a:pPr>
              <a:lnSpc>
                <a:spcPct val="115000"/>
              </a:lnSpc>
              <a:spcBef>
                <a:spcPts val="0"/>
              </a:spcBef>
            </a:pPr>
            <a:endParaRPr sz="1300" b="0" dirty="0">
              <a:solidFill>
                <a:srgbClr val="D4D4D4"/>
              </a:solidFill>
              <a:latin typeface="Courier New"/>
            </a:endParaRPr>
          </a:p>
          <a:p>
            <a:pPr>
              <a:lnSpc>
                <a:spcPct val="115000"/>
              </a:lnSpc>
              <a:spcBef>
                <a:spcPts val="0"/>
              </a:spcBef>
            </a:pPr>
            <a:r>
              <a:rPr sz="1300" b="0" dirty="0">
                <a:solidFill>
                  <a:srgbClr val="9CDCFE"/>
                </a:solidFill>
                <a:latin typeface="Courier New"/>
              </a:rPr>
              <a:t>session</a:t>
            </a:r>
            <a:r>
              <a:rPr sz="1300" b="0" dirty="0">
                <a:solidFill>
                  <a:srgbClr val="D4D4D4"/>
                </a:solidFill>
                <a:latin typeface="Courier New"/>
              </a:rPr>
              <a:t>.</a:t>
            </a:r>
            <a:r>
              <a:rPr lang="en-US" sz="1300" dirty="0">
                <a:solidFill>
                  <a:srgbClr val="9CDCFE"/>
                </a:solidFill>
                <a:latin typeface="Courier New"/>
              </a:rPr>
              <a:t>nexora</a:t>
            </a:r>
            <a:r>
              <a:rPr sz="1300" b="0" dirty="0">
                <a:solidFill>
                  <a:srgbClr val="9CDCFE"/>
                </a:solidFill>
                <a:latin typeface="Courier New"/>
              </a:rPr>
              <a:t>Problem5AI</a:t>
            </a:r>
            <a:r>
              <a:rPr sz="1300" b="0" dirty="0">
                <a:solidFill>
                  <a:srgbClr val="D4D4D4"/>
                </a:solidFill>
                <a:latin typeface="Courier New"/>
              </a:rPr>
              <a:t> = </a:t>
            </a:r>
            <a:r>
              <a:rPr sz="1300" b="0" dirty="0">
                <a:solidFill>
                  <a:srgbClr val="4EC9B0"/>
                </a:solidFill>
                <a:latin typeface="Courier New"/>
              </a:rPr>
              <a:t>agent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CHATMODEL</a:t>
            </a:r>
            <a:r>
              <a:rPr sz="1300" b="0" dirty="0">
                <a:solidFill>
                  <a:srgbClr val="D4D4D4"/>
                </a:solidFill>
                <a:latin typeface="Courier New"/>
              </a:rPr>
              <a:t>       : </a:t>
            </a:r>
            <a:r>
              <a:rPr sz="1300" b="0" dirty="0" err="1">
                <a:solidFill>
                  <a:srgbClr val="9CDCFE"/>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CHATMEMORY</a:t>
            </a:r>
            <a:r>
              <a:rPr sz="1300" b="0" dirty="0">
                <a:solidFill>
                  <a:srgbClr val="D4D4D4"/>
                </a:solidFill>
                <a:latin typeface="Courier New"/>
              </a:rPr>
              <a:t>      : { </a:t>
            </a:r>
            <a:r>
              <a:rPr sz="1300" b="0" dirty="0">
                <a:solidFill>
                  <a:srgbClr val="9CDCFE"/>
                </a:solidFill>
                <a:latin typeface="Courier New"/>
              </a:rPr>
              <a:t>MAXMESSAGES</a:t>
            </a:r>
            <a:r>
              <a:rPr sz="1300" b="0" dirty="0">
                <a:solidFill>
                  <a:srgbClr val="D4D4D4"/>
                </a:solidFill>
                <a:latin typeface="Courier New"/>
              </a:rPr>
              <a:t>: </a:t>
            </a:r>
            <a:r>
              <a:rPr sz="1300" b="0" dirty="0">
                <a:solidFill>
                  <a:srgbClr val="B5CEA8"/>
                </a:solidFill>
                <a:latin typeface="Courier New"/>
              </a:rPr>
              <a:t>20</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TOOLS</a:t>
            </a:r>
            <a:r>
              <a:rPr sz="1300" b="0" dirty="0">
                <a:solidFill>
                  <a:srgbClr val="D4D4D4"/>
                </a:solidFill>
                <a:latin typeface="Courier New"/>
              </a:rPr>
              <a:t>           : [ </a:t>
            </a:r>
            <a:r>
              <a:rPr sz="1300" b="0" dirty="0" err="1">
                <a:solidFill>
                  <a:srgbClr val="9CDCFE"/>
                </a:solidFill>
                <a:latin typeface="Courier New"/>
              </a:rPr>
              <a:t>supportTool</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OUTPUTGUARDRAIL</a:t>
            </a:r>
            <a:r>
              <a:rPr sz="1300" b="0" dirty="0">
                <a:solidFill>
                  <a:srgbClr val="D4D4D4"/>
                </a:solidFill>
                <a:latin typeface="Courier New"/>
              </a:rPr>
              <a:t> : </a:t>
            </a:r>
            <a:r>
              <a:rPr sz="1300" b="0" dirty="0" err="1">
                <a:solidFill>
                  <a:srgbClr val="9CDCFE"/>
                </a:solidFill>
                <a:latin typeface="Courier New"/>
              </a:rPr>
              <a:t>piiGuardrail</a:t>
            </a:r>
            <a:r>
              <a:rPr sz="1300" b="0" dirty="0">
                <a:solidFill>
                  <a:srgbClr val="D4D4D4"/>
                </a:solidFill>
                <a:latin typeface="Courier New"/>
              </a:rPr>
              <a:t>   </a:t>
            </a:r>
            <a:r>
              <a:rPr sz="1300" b="0" dirty="0">
                <a:solidFill>
                  <a:srgbClr val="6A9955"/>
                </a:solidFill>
                <a:latin typeface="Courier New"/>
              </a:rPr>
              <a:t>// ← new line</a:t>
            </a:r>
            <a:endParaRPr lang="en-US" sz="1300" b="0" dirty="0">
              <a:solidFill>
                <a:srgbClr val="6A9955"/>
              </a:solidFill>
              <a:latin typeface="Courier New"/>
            </a:endParaRPr>
          </a:p>
          <a:p>
            <a:pPr>
              <a:lnSpc>
                <a:spcPct val="115000"/>
              </a:lnSpc>
              <a:spcBef>
                <a:spcPts val="0"/>
              </a:spcBef>
            </a:pPr>
            <a:endParaRPr sz="1300" b="0" dirty="0">
              <a:solidFill>
                <a:srgbClr val="6A9955"/>
              </a:solidFill>
              <a:latin typeface="Courier New"/>
            </a:endParaRPr>
          </a:p>
          <a:p>
            <a:pPr>
              <a:lnSpc>
                <a:spcPct val="115000"/>
              </a:lnSpc>
              <a:spcBef>
                <a:spcPts val="0"/>
              </a:spcBef>
            </a:pPr>
            <a:r>
              <a:rPr sz="1300" b="0" dirty="0">
                <a:solidFill>
                  <a:srgbClr val="D4D4D4"/>
                </a:solidFill>
                <a:latin typeface="Courier New"/>
              </a:rPr>
              <a:t>});</a:t>
            </a:r>
          </a:p>
        </p:txBody>
      </p:sp>
      <p:sp>
        <p:nvSpPr>
          <p:cNvPr id="8" name="TextBox 7"/>
          <p:cNvSpPr txBox="1"/>
          <p:nvPr/>
        </p:nvSpPr>
        <p:spPr>
          <a:xfrm>
            <a:off x="609600" y="4143515"/>
            <a:ext cx="6702552" cy="2670924"/>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2. System message + chat</a:t>
            </a:r>
          </a:p>
          <a:p>
            <a:pPr>
              <a:lnSpc>
                <a:spcPct val="115000"/>
              </a:lnSpc>
              <a:spcBef>
                <a:spcPts val="0"/>
              </a:spcBef>
            </a:pPr>
            <a:r>
              <a:rPr sz="1300" b="0" dirty="0">
                <a:solidFill>
                  <a:srgbClr val="9CDCFE"/>
                </a:solidFill>
                <a:latin typeface="Courier New"/>
              </a:rPr>
              <a:t>session</a:t>
            </a:r>
            <a:r>
              <a:rPr sz="1300" b="0" dirty="0">
                <a:solidFill>
                  <a:srgbClr val="D4D4D4"/>
                </a:solidFill>
                <a:latin typeface="Courier New"/>
              </a:rPr>
              <a:t>.</a:t>
            </a:r>
            <a:r>
              <a:rPr lang="en-US" sz="1300" dirty="0">
                <a:solidFill>
                  <a:srgbClr val="9CDCFE"/>
                </a:solidFill>
                <a:latin typeface="Courier New"/>
              </a:rPr>
              <a:t>nexora</a:t>
            </a:r>
            <a:r>
              <a:rPr sz="1300" b="0" dirty="0">
                <a:solidFill>
                  <a:srgbClr val="9CDCFE"/>
                </a:solidFill>
                <a:latin typeface="Courier New"/>
              </a:rPr>
              <a:t>Problem5AI</a:t>
            </a:r>
            <a:r>
              <a:rPr sz="1300" b="0" dirty="0">
                <a:solidFill>
                  <a:srgbClr val="D4D4D4"/>
                </a:solidFill>
                <a:latin typeface="Courier New"/>
              </a:rPr>
              <a:t>.</a:t>
            </a:r>
            <a:r>
              <a:rPr sz="1300" b="0" dirty="0">
                <a:solidFill>
                  <a:srgbClr val="4EC9B0"/>
                </a:solidFill>
                <a:latin typeface="Courier New"/>
              </a:rPr>
              <a:t>systemMessage</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CE9178"/>
                </a:solidFill>
                <a:latin typeface="Courier New"/>
              </a:rPr>
              <a:t>"Use </a:t>
            </a:r>
            <a:r>
              <a:rPr sz="1300" b="0" dirty="0" err="1">
                <a:solidFill>
                  <a:srgbClr val="CE9178"/>
                </a:solidFill>
                <a:latin typeface="Courier New"/>
              </a:rPr>
              <a:t>getOrderStatus</a:t>
            </a:r>
            <a:r>
              <a:rPr sz="1300" b="0" dirty="0">
                <a:solidFill>
                  <a:srgbClr val="CE9178"/>
                </a:solidFill>
                <a:latin typeface="Courier New"/>
              </a:rPr>
              <a:t> for order questions.</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Use</a:t>
            </a:r>
            <a:r>
              <a:rPr sz="1300" b="0" dirty="0">
                <a:solidFill>
                  <a:srgbClr val="D4D4D4"/>
                </a:solidFill>
                <a:latin typeface="Courier New"/>
              </a:rPr>
              <a:t> </a:t>
            </a:r>
            <a:r>
              <a:rPr sz="1300" b="0" dirty="0" err="1">
                <a:solidFill>
                  <a:srgbClr val="4EC9B0"/>
                </a:solidFill>
                <a:latin typeface="Courier New"/>
              </a:rPr>
              <a:t>escalateIssue</a:t>
            </a:r>
            <a:r>
              <a:rPr sz="1300" b="0" dirty="0">
                <a:solidFill>
                  <a:srgbClr val="D4D4D4"/>
                </a:solidFill>
                <a:latin typeface="Courier New"/>
              </a:rPr>
              <a:t> </a:t>
            </a:r>
            <a:r>
              <a:rPr sz="1300" b="0" dirty="0">
                <a:solidFill>
                  <a:srgbClr val="9CDCFE"/>
                </a:solidFill>
                <a:latin typeface="Courier New"/>
              </a:rPr>
              <a:t>to</a:t>
            </a:r>
            <a:r>
              <a:rPr sz="1300" b="0" dirty="0">
                <a:solidFill>
                  <a:srgbClr val="D4D4D4"/>
                </a:solidFill>
                <a:latin typeface="Courier New"/>
              </a:rPr>
              <a:t> </a:t>
            </a:r>
            <a:r>
              <a:rPr sz="1300" b="0" dirty="0">
                <a:solidFill>
                  <a:srgbClr val="9CDCFE"/>
                </a:solidFill>
                <a:latin typeface="Courier New"/>
              </a:rPr>
              <a:t>create</a:t>
            </a:r>
            <a:r>
              <a:rPr sz="1300" b="0" dirty="0">
                <a:solidFill>
                  <a:srgbClr val="D4D4D4"/>
                </a:solidFill>
                <a:latin typeface="Courier New"/>
              </a:rPr>
              <a:t> </a:t>
            </a:r>
            <a:r>
              <a:rPr sz="1300" b="0" dirty="0">
                <a:solidFill>
                  <a:srgbClr val="9CDCFE"/>
                </a:solidFill>
                <a:latin typeface="Courier New"/>
              </a:rPr>
              <a:t>tickets</a:t>
            </a:r>
            <a:r>
              <a:rPr sz="1300" b="0" dirty="0">
                <a:solidFill>
                  <a:srgbClr val="D4D4D4"/>
                </a:solidFill>
                <a:latin typeface="Courier New"/>
              </a:rPr>
              <a:t>.</a:t>
            </a:r>
            <a:r>
              <a:rPr sz="1300" b="0" dirty="0">
                <a:solidFill>
                  <a:srgbClr val="CE9178"/>
                </a:solidFill>
                <a:latin typeface="Courier New"/>
              </a:rPr>
              <a:t>",</a:t>
            </a:r>
          </a:p>
          <a:p>
            <a:pPr>
              <a:lnSpc>
                <a:spcPct val="115000"/>
              </a:lnSpc>
              <a:spcBef>
                <a:spcPts val="0"/>
              </a:spcBef>
            </a:pPr>
            <a:r>
              <a:rPr sz="1300" b="0" dirty="0">
                <a:solidFill>
                  <a:srgbClr val="D4D4D4"/>
                </a:solidFill>
                <a:latin typeface="Courier New"/>
              </a:rPr>
              <a:t>);</a:t>
            </a:r>
          </a:p>
          <a:p>
            <a:pPr>
              <a:lnSpc>
                <a:spcPct val="115000"/>
              </a:lnSpc>
              <a:spcBef>
                <a:spcPts val="0"/>
              </a:spcBef>
            </a:pPr>
            <a:r>
              <a:rPr sz="1300" b="0" dirty="0">
                <a:solidFill>
                  <a:srgbClr val="9CDCFE"/>
                </a:solidFill>
                <a:latin typeface="Courier New"/>
              </a:rPr>
              <a:t>response</a:t>
            </a:r>
            <a:r>
              <a:rPr sz="1300" b="0" dirty="0">
                <a:solidFill>
                  <a:srgbClr val="D4D4D4"/>
                </a:solidFill>
                <a:latin typeface="Courier New"/>
              </a:rPr>
              <a:t> = </a:t>
            </a:r>
            <a:r>
              <a:rPr sz="1300" b="0" dirty="0">
                <a:solidFill>
                  <a:srgbClr val="9CDCFE"/>
                </a:solidFill>
                <a:latin typeface="Courier New"/>
              </a:rPr>
              <a:t>session</a:t>
            </a:r>
            <a:r>
              <a:rPr sz="1300" b="0" dirty="0">
                <a:solidFill>
                  <a:srgbClr val="D4D4D4"/>
                </a:solidFill>
                <a:latin typeface="Courier New"/>
              </a:rPr>
              <a:t>.</a:t>
            </a:r>
            <a:r>
              <a:rPr sz="1300" b="0" dirty="0">
                <a:solidFill>
                  <a:srgbClr val="9CDCFE"/>
                </a:solidFill>
                <a:latin typeface="Courier New"/>
              </a:rPr>
              <a:t>acmeProblem5AI</a:t>
            </a:r>
            <a:r>
              <a:rPr sz="1300" b="0" dirty="0">
                <a:solidFill>
                  <a:srgbClr val="D4D4D4"/>
                </a:solidFill>
                <a:latin typeface="Courier New"/>
              </a:rPr>
              <a:t>.</a:t>
            </a:r>
            <a:r>
              <a:rPr sz="1300" b="0" dirty="0">
                <a:solidFill>
                  <a:srgbClr val="4EC9B0"/>
                </a:solidFill>
                <a:latin typeface="Courier New"/>
              </a:rPr>
              <a:t>chat</a:t>
            </a:r>
            <a:r>
              <a:rPr sz="1300" b="0" dirty="0">
                <a:solidFill>
                  <a:srgbClr val="D4D4D4"/>
                </a:solidFill>
                <a:latin typeface="Courier New"/>
              </a:rPr>
              <a:t>( </a:t>
            </a:r>
            <a:r>
              <a:rPr sz="1300" b="0" dirty="0" err="1">
                <a:solidFill>
                  <a:srgbClr val="9CDCFE"/>
                </a:solidFill>
                <a:latin typeface="Courier New"/>
              </a:rPr>
              <a:t>form</a:t>
            </a:r>
            <a:r>
              <a:rPr sz="1300" b="0" dirty="0" err="1">
                <a:solidFill>
                  <a:srgbClr val="D4D4D4"/>
                </a:solidFill>
                <a:latin typeface="Courier New"/>
              </a:rPr>
              <a:t>.</a:t>
            </a:r>
            <a:r>
              <a:rPr sz="1300" b="0" dirty="0" err="1">
                <a:solidFill>
                  <a:srgbClr val="9CDCFE"/>
                </a:solidFill>
                <a:latin typeface="Courier New"/>
              </a:rPr>
              <a:t>question</a:t>
            </a:r>
            <a:r>
              <a:rPr sz="1300" b="0" dirty="0">
                <a:solidFill>
                  <a:srgbClr val="D4D4D4"/>
                </a:solidFill>
                <a:latin typeface="Courier New"/>
              </a:rPr>
              <a:t> );</a:t>
            </a:r>
          </a:p>
          <a:p>
            <a:pPr>
              <a:lnSpc>
                <a:spcPct val="115000"/>
              </a:lnSpc>
              <a:spcBef>
                <a:spcPts val="0"/>
              </a:spcBef>
            </a:pPr>
            <a:endParaRPr sz="1300" b="0" dirty="0">
              <a:solidFill>
                <a:srgbClr val="D4D4D4"/>
              </a:solidFill>
              <a:latin typeface="Courier New"/>
            </a:endParaRPr>
          </a:p>
          <a:p>
            <a:pPr>
              <a:lnSpc>
                <a:spcPct val="115000"/>
              </a:lnSpc>
              <a:spcBef>
                <a:spcPts val="0"/>
              </a:spcBef>
            </a:pPr>
            <a:r>
              <a:rPr sz="1300" b="0" dirty="0">
                <a:solidFill>
                  <a:srgbClr val="6A9955"/>
                </a:solidFill>
                <a:latin typeface="Courier New"/>
              </a:rPr>
              <a:t>// AI output is automatically validated</a:t>
            </a:r>
          </a:p>
          <a:p>
            <a:pPr>
              <a:lnSpc>
                <a:spcPct val="115000"/>
              </a:lnSpc>
              <a:spcBef>
                <a:spcPts val="0"/>
              </a:spcBef>
            </a:pPr>
            <a:r>
              <a:rPr sz="1300" b="0" dirty="0">
                <a:solidFill>
                  <a:srgbClr val="6A9955"/>
                </a:solidFill>
                <a:latin typeface="Courier New"/>
              </a:rPr>
              <a:t>// before it reaches the customer.</a:t>
            </a:r>
          </a:p>
          <a:p>
            <a:pPr>
              <a:lnSpc>
                <a:spcPct val="115000"/>
              </a:lnSpc>
              <a:spcBef>
                <a:spcPts val="0"/>
              </a:spcBef>
            </a:pPr>
            <a:r>
              <a:rPr sz="1300" b="0" dirty="0">
                <a:solidFill>
                  <a:srgbClr val="6A9955"/>
                </a:solidFill>
                <a:latin typeface="Courier New"/>
              </a:rPr>
              <a:t>// SSNs / cards blocked; emails redacted.</a:t>
            </a:r>
            <a:endParaRPr lang="en-US" sz="1300" b="0" dirty="0">
              <a:solidFill>
                <a:srgbClr val="6A9955"/>
              </a:solidFill>
              <a:latin typeface="Courier New"/>
            </a:endParaRPr>
          </a:p>
          <a:p>
            <a:pPr>
              <a:lnSpc>
                <a:spcPct val="115000"/>
              </a:lnSpc>
              <a:spcBef>
                <a:spcPts val="0"/>
              </a:spcBef>
            </a:pPr>
            <a:endParaRPr sz="1300" b="0" dirty="0">
              <a:solidFill>
                <a:srgbClr val="6A9955"/>
              </a:solidFill>
              <a:latin typeface="Courier New"/>
            </a:endParaRPr>
          </a:p>
        </p:txBody>
      </p:sp>
    </p:spTree>
    <p:extLst>
      <p:ext uri="{BB962C8B-B14F-4D97-AF65-F5344CB8AC3E}">
        <p14:creationId xmlns:p14="http://schemas.microsoft.com/office/powerpoint/2010/main" val="1302208335"/>
      </p:ext>
    </p:extLst>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5" dur="indefinite" nodeType="mainSeq">
                <p:childTnLst>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7" grpId="0" animBg="1"/>
      <p:bldP spid="7" grpId="1" animBg="1"/>
      <p:bldP spid="8" grpId="0" animBg="1"/>
      <p:bldP spid="8"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194560"/>
            <a:ext cx="10972800" cy="1188720"/>
          </a:xfrm>
          <a:prstGeom prst="rect">
            <a:avLst/>
          </a:prstGeom>
          <a:noFill/>
        </p:spPr>
        <p:txBody>
          <a:bodyPr wrap="square">
            <a:spAutoFit/>
          </a:bodyPr>
          <a:lstStyle/>
          <a:p>
            <a:pPr algn="ctr"/>
            <a:r>
              <a:rPr sz="4400" b="1" i="0">
                <a:solidFill>
                  <a:srgbClr val="FFFFFF"/>
                </a:solidFill>
              </a:rPr>
              <a:t>🔴  LIVE DEMO</a:t>
            </a:r>
          </a:p>
        </p:txBody>
      </p:sp>
      <p:sp>
        <p:nvSpPr>
          <p:cNvPr id="5" name="TextBox 4"/>
          <p:cNvSpPr txBox="1"/>
          <p:nvPr/>
        </p:nvSpPr>
        <p:spPr>
          <a:xfrm>
            <a:off x="502920" y="3657600"/>
            <a:ext cx="10972800" cy="1138773"/>
          </a:xfrm>
          <a:prstGeom prst="rect">
            <a:avLst/>
          </a:prstGeom>
          <a:noFill/>
        </p:spPr>
        <p:txBody>
          <a:bodyPr wrap="square">
            <a:spAutoFit/>
          </a:bodyPr>
          <a:lstStyle/>
          <a:p>
            <a:pPr algn="ctr"/>
            <a:r>
              <a:rPr lang="en-US" sz="2400" b="0" i="0" dirty="0" err="1">
                <a:solidFill>
                  <a:srgbClr val="CCCCCC"/>
                </a:solidFill>
              </a:rPr>
              <a:t>GuardRails</a:t>
            </a:r>
            <a:r>
              <a:rPr lang="en-US" sz="2400" b="0" i="0" dirty="0">
                <a:solidFill>
                  <a:srgbClr val="CCCCCC"/>
                </a:solidFill>
              </a:rPr>
              <a:t>    ·  </a:t>
            </a:r>
            <a:r>
              <a:rPr lang="en-US" sz="2400" dirty="0">
                <a:solidFill>
                  <a:srgbClr val="CCCCCC"/>
                </a:solidFill>
              </a:rPr>
              <a:t>problem5  ·   Block</a:t>
            </a:r>
            <a:r>
              <a:rPr lang="en-US" sz="2400" b="0" i="0" dirty="0">
                <a:solidFill>
                  <a:srgbClr val="CCCCCC"/>
                </a:solidFill>
              </a:rPr>
              <a:t>/Redact sensitive AI Output</a:t>
            </a:r>
          </a:p>
          <a:p>
            <a:pPr algn="ctr"/>
            <a:r>
              <a:rPr lang="en-US" sz="2400" dirty="0" err="1">
                <a:solidFill>
                  <a:srgbClr val="CCCCCC"/>
                </a:solidFill>
              </a:rPr>
              <a:t>Piiguardrail.cfm</a:t>
            </a:r>
            <a:r>
              <a:rPr lang="en-US" sz="2400" dirty="0">
                <a:solidFill>
                  <a:srgbClr val="CCCCCC"/>
                </a:solidFill>
              </a:rPr>
              <a:t> · problem5-guardrails_demo.cfm</a:t>
            </a:r>
            <a:r>
              <a:rPr lang="en-US" sz="2400" dirty="0">
                <a:solidFill>
                  <a:srgbClr val="1A1A1A"/>
                </a:solidFill>
              </a:rPr>
              <a:t>act sensitive </a:t>
            </a:r>
            <a:r>
              <a:rPr lang="en-US" sz="2000" dirty="0">
                <a:solidFill>
                  <a:srgbClr val="1A1A1A"/>
                </a:solidFill>
              </a:rPr>
              <a:t>AI output</a:t>
            </a:r>
          </a:p>
          <a:p>
            <a:pPr algn="ctr"/>
            <a:endParaRPr lang="en-US" sz="2000" b="0" i="0" dirty="0">
              <a:solidFill>
                <a:srgbClr val="CCCCCC"/>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468880"/>
            <a:ext cx="10972800" cy="615553"/>
          </a:xfrm>
          <a:prstGeom prst="rect">
            <a:avLst/>
          </a:prstGeom>
          <a:noFill/>
        </p:spPr>
        <p:txBody>
          <a:bodyPr wrap="square">
            <a:spAutoFit/>
          </a:bodyPr>
          <a:lstStyle/>
          <a:p>
            <a:pPr algn="l"/>
            <a:r>
              <a:rPr sz="3400" b="1" i="0" dirty="0">
                <a:solidFill>
                  <a:srgbClr val="FFFFFF"/>
                </a:solidFill>
              </a:rPr>
              <a:t>Part </a:t>
            </a:r>
            <a:r>
              <a:rPr lang="en-US" sz="3400" b="1" i="0" dirty="0">
                <a:solidFill>
                  <a:srgbClr val="FFFFFF"/>
                </a:solidFill>
              </a:rPr>
              <a:t>8</a:t>
            </a:r>
            <a:r>
              <a:rPr sz="3400" b="1" i="0" dirty="0">
                <a:solidFill>
                  <a:srgbClr val="FFFFFF"/>
                </a:solidFill>
              </a:rPr>
              <a:t>: Streaming &amp; Observability</a:t>
            </a:r>
          </a:p>
        </p:txBody>
      </p:sp>
      <p:sp>
        <p:nvSpPr>
          <p:cNvPr id="5" name="TextBox 4"/>
          <p:cNvSpPr txBox="1"/>
          <p:nvPr/>
        </p:nvSpPr>
        <p:spPr>
          <a:xfrm>
            <a:off x="502920" y="3931920"/>
            <a:ext cx="10972800" cy="594360"/>
          </a:xfrm>
          <a:prstGeom prst="rect">
            <a:avLst/>
          </a:prstGeom>
          <a:noFill/>
        </p:spPr>
        <p:txBody>
          <a:bodyPr wrap="square">
            <a:spAutoFit/>
          </a:bodyPr>
          <a:lstStyle/>
          <a:p>
            <a:pPr algn="l"/>
            <a:r>
              <a:rPr sz="1600" b="0" i="0">
                <a:solidFill>
                  <a:srgbClr val="AAAAAA"/>
                </a:solidFill>
              </a:rPr>
              <a:t>STREAMINGHANDLER  ·  Token logging  ·  Cost monitoring  ·  Error capture</a:t>
            </a:r>
          </a:p>
        </p:txBody>
      </p:sp>
    </p:spTree>
    <p:extLst>
      <p:ext uri="{BB962C8B-B14F-4D97-AF65-F5344CB8AC3E}">
        <p14:creationId xmlns:p14="http://schemas.microsoft.com/office/powerpoint/2010/main" val="40740780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STREAMINGHANDLER — Three Callbacks</a:t>
            </a:r>
          </a:p>
        </p:txBody>
      </p:sp>
      <p:sp>
        <p:nvSpPr>
          <p:cNvPr id="3" name="TextBox 2"/>
          <p:cNvSpPr txBox="1"/>
          <p:nvPr/>
        </p:nvSpPr>
        <p:spPr>
          <a:xfrm>
            <a:off x="612648" y="1417320"/>
            <a:ext cx="5349240" cy="4800600"/>
          </a:xfrm>
          <a:prstGeom prst="rect">
            <a:avLst/>
          </a:prstGeom>
          <a:solidFill>
            <a:srgbClr val="000000"/>
          </a:solidFill>
        </p:spPr>
        <p:txBody>
          <a:bodyPr wrap="square">
            <a:spAutoFit/>
          </a:bodyPr>
          <a:lstStyle/>
          <a:p>
            <a:r>
              <a:rPr sz="1200" b="1" dirty="0">
                <a:solidFill>
                  <a:srgbClr val="1A1A1A"/>
                </a:solidFill>
              </a:rPr>
              <a:t>Three methods CF 2025 calls automatically</a:t>
            </a:r>
          </a:p>
          <a:p>
            <a:pPr>
              <a:spcBef>
                <a:spcPts val="1200"/>
              </a:spcBef>
            </a:pPr>
            <a:r>
              <a:rPr sz="1100" b="1" dirty="0" err="1">
                <a:solidFill>
                  <a:srgbClr val="00788C"/>
                </a:solidFill>
                <a:latin typeface="Courier New"/>
              </a:rPr>
              <a:t>onPartialResponse</a:t>
            </a:r>
            <a:r>
              <a:rPr sz="1100" b="1" dirty="0">
                <a:solidFill>
                  <a:srgbClr val="00788C"/>
                </a:solidFill>
                <a:latin typeface="Courier New"/>
              </a:rPr>
              <a:t>( </a:t>
            </a:r>
            <a:r>
              <a:rPr sz="1100" b="1" dirty="0" err="1">
                <a:solidFill>
                  <a:srgbClr val="00788C"/>
                </a:solidFill>
                <a:latin typeface="Courier New"/>
              </a:rPr>
              <a:t>partialResponse</a:t>
            </a:r>
            <a:r>
              <a:rPr sz="1100" b="1" dirty="0">
                <a:solidFill>
                  <a:srgbClr val="00788C"/>
                </a:solidFill>
                <a:latin typeface="Courier New"/>
              </a:rPr>
              <a:t> )</a:t>
            </a:r>
          </a:p>
          <a:p>
            <a:pPr>
              <a:spcBef>
                <a:spcPts val="200"/>
              </a:spcBef>
            </a:pPr>
            <a:r>
              <a:rPr sz="1100" dirty="0">
                <a:solidFill>
                  <a:srgbClr val="555555"/>
                </a:solidFill>
              </a:rPr>
              <a:t>  Called for each token as it streams.</a:t>
            </a:r>
          </a:p>
          <a:p>
            <a:pPr>
              <a:spcBef>
                <a:spcPts val="200"/>
              </a:spcBef>
            </a:pPr>
            <a:r>
              <a:rPr sz="1100" dirty="0">
                <a:solidFill>
                  <a:srgbClr val="555555"/>
                </a:solidFill>
              </a:rPr>
              <a:t>  Fires 50–200× per response.</a:t>
            </a:r>
          </a:p>
          <a:p>
            <a:pPr>
              <a:spcBef>
                <a:spcPts val="200"/>
              </a:spcBef>
            </a:pPr>
            <a:r>
              <a:rPr sz="1100" dirty="0">
                <a:solidFill>
                  <a:srgbClr val="555555"/>
                </a:solidFill>
              </a:rPr>
              <a:t>  </a:t>
            </a:r>
            <a:r>
              <a:rPr sz="1100" dirty="0" err="1">
                <a:solidFill>
                  <a:srgbClr val="555555"/>
                </a:solidFill>
              </a:rPr>
              <a:t>partialResponse</a:t>
            </a:r>
            <a:r>
              <a:rPr sz="1100" dirty="0">
                <a:solidFill>
                  <a:srgbClr val="555555"/>
                </a:solidFill>
              </a:rPr>
              <a:t> = text chunk.</a:t>
            </a:r>
          </a:p>
          <a:p>
            <a:pPr>
              <a:spcBef>
                <a:spcPts val="1200"/>
              </a:spcBef>
            </a:pPr>
            <a:r>
              <a:rPr sz="1100" b="1" dirty="0" err="1">
                <a:solidFill>
                  <a:srgbClr val="107C10"/>
                </a:solidFill>
                <a:latin typeface="Courier New"/>
              </a:rPr>
              <a:t>onCompleteResponse</a:t>
            </a:r>
            <a:r>
              <a:rPr sz="1100" b="1" dirty="0">
                <a:solidFill>
                  <a:srgbClr val="107C10"/>
                </a:solidFill>
                <a:latin typeface="Courier New"/>
              </a:rPr>
              <a:t>( response )</a:t>
            </a:r>
          </a:p>
          <a:p>
            <a:pPr>
              <a:spcBef>
                <a:spcPts val="200"/>
              </a:spcBef>
            </a:pPr>
            <a:r>
              <a:rPr sz="1100" dirty="0">
                <a:solidFill>
                  <a:srgbClr val="555555"/>
                </a:solidFill>
              </a:rPr>
              <a:t>  Called once when full response received.</a:t>
            </a:r>
          </a:p>
          <a:p>
            <a:pPr>
              <a:spcBef>
                <a:spcPts val="200"/>
              </a:spcBef>
            </a:pPr>
            <a:r>
              <a:rPr sz="1100" dirty="0">
                <a:solidFill>
                  <a:srgbClr val="555555"/>
                </a:solidFill>
              </a:rPr>
              <a:t>  </a:t>
            </a:r>
            <a:r>
              <a:rPr sz="1100" dirty="0" err="1">
                <a:solidFill>
                  <a:srgbClr val="555555"/>
                </a:solidFill>
              </a:rPr>
              <a:t>response.message</a:t>
            </a:r>
            <a:r>
              <a:rPr sz="1100" dirty="0">
                <a:solidFill>
                  <a:srgbClr val="555555"/>
                </a:solidFill>
              </a:rPr>
              <a:t> = final text.</a:t>
            </a:r>
          </a:p>
          <a:p>
            <a:pPr>
              <a:spcBef>
                <a:spcPts val="200"/>
              </a:spcBef>
            </a:pPr>
            <a:r>
              <a:rPr sz="1100" dirty="0">
                <a:solidFill>
                  <a:srgbClr val="555555"/>
                </a:solidFill>
              </a:rPr>
              <a:t>  </a:t>
            </a:r>
            <a:r>
              <a:rPr sz="1100" dirty="0" err="1">
                <a:solidFill>
                  <a:srgbClr val="555555"/>
                </a:solidFill>
              </a:rPr>
              <a:t>response.metadata</a:t>
            </a:r>
            <a:r>
              <a:rPr sz="1100" dirty="0">
                <a:solidFill>
                  <a:srgbClr val="555555"/>
                </a:solidFill>
              </a:rPr>
              <a:t> = token counts.</a:t>
            </a:r>
          </a:p>
          <a:p>
            <a:pPr>
              <a:spcBef>
                <a:spcPts val="200"/>
              </a:spcBef>
            </a:pPr>
            <a:r>
              <a:rPr sz="1100" dirty="0">
                <a:solidFill>
                  <a:srgbClr val="555555"/>
                </a:solidFill>
              </a:rPr>
              <a:t>  (</a:t>
            </a:r>
            <a:r>
              <a:rPr sz="1100" dirty="0" err="1">
                <a:solidFill>
                  <a:srgbClr val="555555"/>
                </a:solidFill>
              </a:rPr>
              <a:t>input_token</a:t>
            </a:r>
            <a:r>
              <a:rPr sz="1100" dirty="0">
                <a:solidFill>
                  <a:srgbClr val="555555"/>
                </a:solidFill>
              </a:rPr>
              <a:t>, </a:t>
            </a:r>
            <a:r>
              <a:rPr sz="1100" dirty="0" err="1">
                <a:solidFill>
                  <a:srgbClr val="555555"/>
                </a:solidFill>
              </a:rPr>
              <a:t>output_token</a:t>
            </a:r>
            <a:r>
              <a:rPr sz="1100" dirty="0">
                <a:solidFill>
                  <a:srgbClr val="555555"/>
                </a:solidFill>
              </a:rPr>
              <a:t>)</a:t>
            </a:r>
          </a:p>
          <a:p>
            <a:pPr>
              <a:spcBef>
                <a:spcPts val="1200"/>
              </a:spcBef>
            </a:pPr>
            <a:r>
              <a:rPr sz="1100" b="1" dirty="0" err="1">
                <a:solidFill>
                  <a:srgbClr val="EB1000"/>
                </a:solidFill>
                <a:latin typeface="Courier New"/>
              </a:rPr>
              <a:t>onError</a:t>
            </a:r>
            <a:r>
              <a:rPr sz="1100" b="1" dirty="0">
                <a:solidFill>
                  <a:srgbClr val="EB1000"/>
                </a:solidFill>
                <a:latin typeface="Courier New"/>
              </a:rPr>
              <a:t>( error )</a:t>
            </a:r>
          </a:p>
          <a:p>
            <a:pPr>
              <a:spcBef>
                <a:spcPts val="200"/>
              </a:spcBef>
            </a:pPr>
            <a:r>
              <a:rPr sz="1100" dirty="0">
                <a:solidFill>
                  <a:srgbClr val="555555"/>
                </a:solidFill>
              </a:rPr>
              <a:t>  Called if streaming fails.</a:t>
            </a:r>
          </a:p>
          <a:p>
            <a:pPr>
              <a:spcBef>
                <a:spcPts val="200"/>
              </a:spcBef>
            </a:pPr>
            <a:r>
              <a:rPr sz="1100" dirty="0">
                <a:solidFill>
                  <a:srgbClr val="555555"/>
                </a:solidFill>
              </a:rPr>
              <a:t>  </a:t>
            </a:r>
            <a:r>
              <a:rPr sz="1100" dirty="0" err="1">
                <a:solidFill>
                  <a:srgbClr val="555555"/>
                </a:solidFill>
              </a:rPr>
              <a:t>error.message</a:t>
            </a:r>
            <a:r>
              <a:rPr sz="1100" dirty="0">
                <a:solidFill>
                  <a:srgbClr val="555555"/>
                </a:solidFill>
              </a:rPr>
              <a:t> = error text.</a:t>
            </a:r>
          </a:p>
          <a:p>
            <a:pPr>
              <a:spcBef>
                <a:spcPts val="200"/>
              </a:spcBef>
            </a:pPr>
            <a:r>
              <a:rPr sz="1100" dirty="0">
                <a:solidFill>
                  <a:srgbClr val="555555"/>
                </a:solidFill>
              </a:rPr>
              <a:t>  </a:t>
            </a:r>
            <a:r>
              <a:rPr sz="1100" dirty="0" err="1">
                <a:solidFill>
                  <a:srgbClr val="555555"/>
                </a:solidFill>
              </a:rPr>
              <a:t>error.type</a:t>
            </a:r>
            <a:r>
              <a:rPr sz="1100" dirty="0">
                <a:solidFill>
                  <a:srgbClr val="555555"/>
                </a:solidFill>
              </a:rPr>
              <a:t> = exception type.</a:t>
            </a:r>
          </a:p>
          <a:p>
            <a:pPr>
              <a:spcBef>
                <a:spcPts val="200"/>
              </a:spcBef>
            </a:pPr>
            <a:r>
              <a:rPr sz="1100" dirty="0">
                <a:solidFill>
                  <a:srgbClr val="555555"/>
                </a:solidFill>
              </a:rPr>
              <a:t>  </a:t>
            </a:r>
            <a:r>
              <a:rPr sz="1100" dirty="0" err="1">
                <a:solidFill>
                  <a:srgbClr val="555555"/>
                </a:solidFill>
              </a:rPr>
              <a:t>error.stackTrace</a:t>
            </a:r>
            <a:r>
              <a:rPr sz="1100" dirty="0">
                <a:solidFill>
                  <a:srgbClr val="555555"/>
                </a:solidFill>
              </a:rPr>
              <a:t> available.</a:t>
            </a:r>
          </a:p>
        </p:txBody>
      </p:sp>
      <p:sp>
        <p:nvSpPr>
          <p:cNvPr id="4" name="Rectangle 3"/>
          <p:cNvSpPr/>
          <p:nvPr/>
        </p:nvSpPr>
        <p:spPr>
          <a:xfrm>
            <a:off x="6236208" y="1417320"/>
            <a:ext cx="5669280" cy="48006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373368" y="1508760"/>
            <a:ext cx="5440680" cy="329184"/>
          </a:xfrm>
          <a:prstGeom prst="rect">
            <a:avLst/>
          </a:prstGeom>
          <a:noFill/>
        </p:spPr>
        <p:txBody>
          <a:bodyPr wrap="square">
            <a:spAutoFit/>
          </a:bodyPr>
          <a:lstStyle/>
          <a:p>
            <a:pPr algn="l"/>
            <a:r>
              <a:rPr sz="1200" b="1" i="0">
                <a:solidFill>
                  <a:srgbClr val="1A1A1A"/>
                </a:solidFill>
              </a:rPr>
              <a:t>Use cases for streaming handler:</a:t>
            </a:r>
          </a:p>
        </p:txBody>
      </p:sp>
      <p:sp>
        <p:nvSpPr>
          <p:cNvPr id="6" name="TextBox 5"/>
          <p:cNvSpPr txBox="1"/>
          <p:nvPr/>
        </p:nvSpPr>
        <p:spPr>
          <a:xfrm>
            <a:off x="6373368" y="1920240"/>
            <a:ext cx="5440680" cy="4160520"/>
          </a:xfrm>
          <a:prstGeom prst="rect">
            <a:avLst/>
          </a:prstGeom>
          <a:noFill/>
        </p:spPr>
        <p:txBody>
          <a:bodyPr wrap="square">
            <a:spAutoFit/>
          </a:bodyPr>
          <a:lstStyle/>
          <a:p>
            <a:pPr>
              <a:spcBef>
                <a:spcPts val="600"/>
              </a:spcBef>
            </a:pPr>
            <a:r>
              <a:rPr sz="1200" b="1">
                <a:solidFill>
                  <a:srgbClr val="00788C"/>
                </a:solidFill>
              </a:rPr>
              <a:t>Observability  </a:t>
            </a:r>
          </a:p>
          <a:p>
            <a:pPr>
              <a:spcBef>
                <a:spcPts val="100"/>
              </a:spcBef>
            </a:pPr>
            <a:r>
              <a:rPr sz="1050">
                <a:solidFill>
                  <a:srgbClr val="555555"/>
                </a:solidFill>
              </a:rPr>
              <a:t>  Log every token to a file — see exactly what the AI said and when</a:t>
            </a:r>
          </a:p>
          <a:p>
            <a:pPr>
              <a:spcBef>
                <a:spcPts val="600"/>
              </a:spcBef>
            </a:pPr>
            <a:r>
              <a:rPr sz="1200" b="1">
                <a:solidFill>
                  <a:srgbClr val="00788C"/>
                </a:solidFill>
              </a:rPr>
              <a:t>Cost monitoring  </a:t>
            </a:r>
          </a:p>
          <a:p>
            <a:pPr>
              <a:spcBef>
                <a:spcPts val="100"/>
              </a:spcBef>
            </a:pPr>
            <a:r>
              <a:rPr sz="1050">
                <a:solidFill>
                  <a:srgbClr val="555555"/>
                </a:solidFill>
              </a:rPr>
              <a:t>  Track input/output token counts per request — calculate API spend</a:t>
            </a:r>
          </a:p>
          <a:p>
            <a:pPr>
              <a:spcBef>
                <a:spcPts val="600"/>
              </a:spcBef>
            </a:pPr>
            <a:r>
              <a:rPr sz="1200" b="1">
                <a:solidFill>
                  <a:srgbClr val="00788C"/>
                </a:solidFill>
              </a:rPr>
              <a:t>Error capture  </a:t>
            </a:r>
          </a:p>
          <a:p>
            <a:pPr>
              <a:spcBef>
                <a:spcPts val="100"/>
              </a:spcBef>
            </a:pPr>
            <a:r>
              <a:rPr sz="1050">
                <a:solidFill>
                  <a:srgbClr val="555555"/>
                </a:solidFill>
              </a:rPr>
              <a:t>  Log all LLM failures with context for debugging and alerting</a:t>
            </a:r>
          </a:p>
          <a:p>
            <a:pPr>
              <a:spcBef>
                <a:spcPts val="600"/>
              </a:spcBef>
            </a:pPr>
            <a:r>
              <a:rPr sz="1200" b="1">
                <a:solidFill>
                  <a:srgbClr val="00788C"/>
                </a:solidFill>
              </a:rPr>
              <a:t>Response length  </a:t>
            </a:r>
          </a:p>
          <a:p>
            <a:pPr>
              <a:spcBef>
                <a:spcPts val="100"/>
              </a:spcBef>
            </a:pPr>
            <a:r>
              <a:rPr sz="1050">
                <a:solidFill>
                  <a:srgbClr val="555555"/>
                </a:solidFill>
              </a:rPr>
              <a:t>  Detect abnormally long or short responses, trigger alerts</a:t>
            </a:r>
          </a:p>
          <a:p>
            <a:pPr>
              <a:spcBef>
                <a:spcPts val="600"/>
              </a:spcBef>
            </a:pPr>
            <a:r>
              <a:rPr sz="1200" b="1">
                <a:solidFill>
                  <a:srgbClr val="00788C"/>
                </a:solidFill>
              </a:rPr>
              <a:t>Audit trail  </a:t>
            </a:r>
          </a:p>
          <a:p>
            <a:pPr>
              <a:spcBef>
                <a:spcPts val="100"/>
              </a:spcBef>
            </a:pPr>
            <a:r>
              <a:rPr sz="1050">
                <a:solidFill>
                  <a:srgbClr val="555555"/>
                </a:solidFill>
              </a:rPr>
              <a:t>  Compliance requirement — record all AI responses to a database</a:t>
            </a:r>
          </a:p>
          <a:p>
            <a:pPr>
              <a:spcBef>
                <a:spcPts val="600"/>
              </a:spcBef>
            </a:pPr>
            <a:r>
              <a:rPr sz="1200" b="1">
                <a:solidFill>
                  <a:srgbClr val="00788C"/>
                </a:solidFill>
              </a:rPr>
              <a:t>Performance  </a:t>
            </a:r>
          </a:p>
          <a:p>
            <a:pPr>
              <a:spcBef>
                <a:spcPts val="100"/>
              </a:spcBef>
            </a:pPr>
            <a:r>
              <a:rPr sz="1050">
                <a:solidFill>
                  <a:srgbClr val="555555"/>
                </a:solidFill>
              </a:rPr>
              <a:t>  Measure time-to-first-token and response duration</a:t>
            </a:r>
          </a:p>
          <a:p>
            <a:pPr>
              <a:spcBef>
                <a:spcPts val="600"/>
              </a:spcBef>
            </a:pPr>
            <a:r>
              <a:rPr sz="1200" b="1">
                <a:solidFill>
                  <a:srgbClr val="00788C"/>
                </a:solidFill>
              </a:rPr>
              <a:t>Browser streaming  </a:t>
            </a:r>
          </a:p>
          <a:p>
            <a:pPr>
              <a:spcBef>
                <a:spcPts val="100"/>
              </a:spcBef>
            </a:pPr>
            <a:r>
              <a:rPr sz="1050">
                <a:solidFill>
                  <a:srgbClr val="555555"/>
                </a:solidFill>
              </a:rPr>
              <a:t>  Write tokens to shared buffer — client polls to display typewriter effect</a:t>
            </a:r>
          </a:p>
        </p:txBody>
      </p:sp>
    </p:spTree>
    <p:extLst>
      <p:ext uri="{BB962C8B-B14F-4D97-AF65-F5344CB8AC3E}">
        <p14:creationId xmlns:p14="http://schemas.microsoft.com/office/powerpoint/2010/main" val="31897792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64086"/>
            <a:ext cx="10972800" cy="638440"/>
          </a:xfrm>
        </p:spPr>
        <p:txBody>
          <a:bodyPr/>
          <a:lstStyle/>
          <a:p>
            <a:r>
              <a:rPr sz="2500" b="1" dirty="0"/>
              <a:t>STREAMINGHANDLER — Syntax &amp; </a:t>
            </a:r>
            <a:r>
              <a:rPr sz="2500" b="1" dirty="0" err="1"/>
              <a:t>StreamingHandler.cfc</a:t>
            </a:r>
            <a:endParaRPr sz="2500" b="1" dirty="0"/>
          </a:p>
        </p:txBody>
      </p:sp>
      <p:sp>
        <p:nvSpPr>
          <p:cNvPr id="7" name="TextBox 6"/>
          <p:cNvSpPr txBox="1"/>
          <p:nvPr/>
        </p:nvSpPr>
        <p:spPr>
          <a:xfrm>
            <a:off x="451262" y="902526"/>
            <a:ext cx="7043928" cy="2440861"/>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1. </a:t>
            </a:r>
            <a:r>
              <a:rPr sz="1300" b="0" dirty="0" err="1">
                <a:solidFill>
                  <a:srgbClr val="6A9955"/>
                </a:solidFill>
                <a:latin typeface="Courier New"/>
              </a:rPr>
              <a:t>onPartialResponse</a:t>
            </a:r>
            <a:r>
              <a:rPr sz="1300" b="0" dirty="0">
                <a:solidFill>
                  <a:srgbClr val="6A9955"/>
                </a:solidFill>
                <a:latin typeface="Courier New"/>
              </a:rPr>
              <a:t> — fires for every token</a:t>
            </a:r>
          </a:p>
          <a:p>
            <a:pPr>
              <a:lnSpc>
                <a:spcPct val="115000"/>
              </a:lnSpc>
              <a:spcBef>
                <a:spcPts val="0"/>
              </a:spcBef>
            </a:pPr>
            <a:r>
              <a:rPr sz="1300" b="0" dirty="0">
                <a:solidFill>
                  <a:srgbClr val="569CD6"/>
                </a:solidFill>
                <a:latin typeface="Courier New"/>
              </a:rPr>
              <a:t>remote</a:t>
            </a:r>
            <a:r>
              <a:rPr sz="1300" b="0" dirty="0">
                <a:solidFill>
                  <a:srgbClr val="D4D4D4"/>
                </a:solidFill>
                <a:latin typeface="Courier New"/>
              </a:rPr>
              <a:t> </a:t>
            </a:r>
            <a:r>
              <a:rPr sz="1300" b="0" dirty="0">
                <a:solidFill>
                  <a:srgbClr val="569CD6"/>
                </a:solidFill>
                <a:latin typeface="Courier New"/>
              </a:rPr>
              <a:t>void</a:t>
            </a:r>
            <a:r>
              <a:rPr sz="1300" b="0" dirty="0">
                <a:solidFill>
                  <a:srgbClr val="D4D4D4"/>
                </a:solidFill>
                <a:latin typeface="Courier New"/>
              </a:rPr>
              <a:t> </a:t>
            </a:r>
            <a:r>
              <a:rPr sz="1300" b="0" dirty="0">
                <a:solidFill>
                  <a:srgbClr val="569CD6"/>
                </a:solidFill>
                <a:latin typeface="Courier New"/>
              </a:rPr>
              <a:t>function</a:t>
            </a:r>
            <a:r>
              <a:rPr sz="1300" b="0" dirty="0">
                <a:solidFill>
                  <a:srgbClr val="D4D4D4"/>
                </a:solidFill>
                <a:latin typeface="Courier New"/>
              </a:rPr>
              <a:t> </a:t>
            </a:r>
            <a:r>
              <a:rPr sz="1300" b="0" dirty="0" err="1">
                <a:solidFill>
                  <a:srgbClr val="4EC9B0"/>
                </a:solidFill>
                <a:latin typeface="Courier New"/>
              </a:rPr>
              <a:t>onPartialResponse</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569CD6"/>
                </a:solidFill>
                <a:latin typeface="Courier New"/>
              </a:rPr>
              <a:t>required</a:t>
            </a:r>
            <a:r>
              <a:rPr sz="1300" b="0" dirty="0">
                <a:solidFill>
                  <a:srgbClr val="D4D4D4"/>
                </a:solidFill>
                <a:latin typeface="Courier New"/>
              </a:rPr>
              <a:t> </a:t>
            </a:r>
            <a:r>
              <a:rPr sz="1300" b="0" dirty="0">
                <a:solidFill>
                  <a:srgbClr val="569CD6"/>
                </a:solidFill>
                <a:latin typeface="Courier New"/>
              </a:rPr>
              <a:t>string</a:t>
            </a:r>
            <a:r>
              <a:rPr sz="1300" b="0" dirty="0">
                <a:solidFill>
                  <a:srgbClr val="D4D4D4"/>
                </a:solidFill>
                <a:latin typeface="Courier New"/>
              </a:rPr>
              <a:t> </a:t>
            </a:r>
            <a:r>
              <a:rPr sz="1300" b="0" dirty="0" err="1">
                <a:solidFill>
                  <a:srgbClr val="9CDCFE"/>
                </a:solidFill>
                <a:latin typeface="Courier New"/>
              </a:rPr>
              <a:t>partialResponse</a:t>
            </a:r>
            <a:endParaRPr sz="1300" b="0" dirty="0">
              <a:solidFill>
                <a:srgbClr val="9CDCFE"/>
              </a:solidFill>
              <a:latin typeface="Courier New"/>
            </a:endParaRPr>
          </a:p>
          <a:p>
            <a:pPr>
              <a:lnSpc>
                <a:spcPct val="115000"/>
              </a:lnSpc>
              <a:spcBef>
                <a:spcPts val="0"/>
              </a:spcBef>
            </a:pP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err="1">
                <a:solidFill>
                  <a:srgbClr val="4EC9B0"/>
                </a:solidFill>
                <a:latin typeface="Courier New"/>
              </a:rPr>
              <a:t>writeLog</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text</a:t>
            </a:r>
            <a:r>
              <a:rPr sz="1300" b="0" dirty="0">
                <a:solidFill>
                  <a:srgbClr val="D4D4D4"/>
                </a:solidFill>
                <a:latin typeface="Courier New"/>
              </a:rPr>
              <a:t> = </a:t>
            </a:r>
            <a:r>
              <a:rPr sz="1300" b="0" dirty="0">
                <a:solidFill>
                  <a:srgbClr val="CE9178"/>
                </a:solidFill>
                <a:latin typeface="Courier New"/>
              </a:rPr>
              <a:t>"TOKEN:"</a:t>
            </a:r>
            <a:r>
              <a:rPr sz="1300" b="0" dirty="0">
                <a:solidFill>
                  <a:srgbClr val="D4D4D4"/>
                </a:solidFill>
                <a:latin typeface="Courier New"/>
              </a:rPr>
              <a:t> &amp; </a:t>
            </a:r>
            <a:r>
              <a:rPr sz="1300" b="0" dirty="0" err="1">
                <a:solidFill>
                  <a:srgbClr val="9CDCFE"/>
                </a:solidFill>
                <a:latin typeface="Courier New"/>
              </a:rPr>
              <a:t>arguments</a:t>
            </a:r>
            <a:r>
              <a:rPr sz="1300" b="0" dirty="0" err="1">
                <a:solidFill>
                  <a:srgbClr val="D4D4D4"/>
                </a:solidFill>
                <a:latin typeface="Courier New"/>
              </a:rPr>
              <a:t>.</a:t>
            </a:r>
            <a:r>
              <a:rPr sz="1300" b="0" dirty="0" err="1">
                <a:solidFill>
                  <a:srgbClr val="9CDCFE"/>
                </a:solidFill>
                <a:latin typeface="Courier New"/>
              </a:rPr>
              <a:t>partialResponse</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type</a:t>
            </a:r>
            <a:r>
              <a:rPr sz="1300" b="0" dirty="0">
                <a:solidFill>
                  <a:srgbClr val="D4D4D4"/>
                </a:solidFill>
                <a:latin typeface="Courier New"/>
              </a:rPr>
              <a:t> = </a:t>
            </a:r>
            <a:r>
              <a:rPr sz="1300" b="0" dirty="0">
                <a:solidFill>
                  <a:srgbClr val="CE9178"/>
                </a:solidFill>
                <a:latin typeface="Courier New"/>
              </a:rPr>
              <a:t>"information"</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file</a:t>
            </a:r>
            <a:r>
              <a:rPr sz="1300" b="0" dirty="0">
                <a:solidFill>
                  <a:srgbClr val="D4D4D4"/>
                </a:solidFill>
                <a:latin typeface="Courier New"/>
              </a:rPr>
              <a:t> = </a:t>
            </a:r>
            <a:r>
              <a:rPr sz="1300" b="0" dirty="0">
                <a:solidFill>
                  <a:srgbClr val="CE9178"/>
                </a:solidFill>
                <a:latin typeface="Courier New"/>
              </a:rPr>
              <a:t>"</a:t>
            </a:r>
            <a:r>
              <a:rPr sz="1300" b="0" dirty="0" err="1">
                <a:solidFill>
                  <a:srgbClr val="CE9178"/>
                </a:solidFill>
                <a:latin typeface="Courier New"/>
              </a:rPr>
              <a:t>nexora</a:t>
            </a:r>
            <a:r>
              <a:rPr sz="1300" b="0" dirty="0">
                <a:solidFill>
                  <a:srgbClr val="CE9178"/>
                </a:solidFill>
                <a:latin typeface="Courier New"/>
              </a:rPr>
              <a:t>-stream"</a:t>
            </a:r>
          </a:p>
          <a:p>
            <a:pPr>
              <a:lnSpc>
                <a:spcPct val="115000"/>
              </a:lnSpc>
              <a:spcBef>
                <a:spcPts val="0"/>
              </a:spcBef>
            </a:pP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a:t>
            </a:r>
          </a:p>
        </p:txBody>
      </p:sp>
      <p:sp>
        <p:nvSpPr>
          <p:cNvPr id="8" name="TextBox 7"/>
          <p:cNvSpPr txBox="1"/>
          <p:nvPr/>
        </p:nvSpPr>
        <p:spPr>
          <a:xfrm>
            <a:off x="451262" y="3434844"/>
            <a:ext cx="7040880" cy="3538661"/>
          </a:xfrm>
          <a:prstGeom prst="rect">
            <a:avLst/>
          </a:prstGeom>
          <a:solidFill>
            <a:srgbClr val="000000"/>
          </a:solidFill>
        </p:spPr>
        <p:txBody>
          <a:bodyPr wrap="square" lIns="109728" tIns="82296" bIns="64008">
            <a:spAutoFit/>
          </a:bodyPr>
          <a:lstStyle/>
          <a:p>
            <a:pPr>
              <a:lnSpc>
                <a:spcPct val="115000"/>
              </a:lnSpc>
              <a:spcBef>
                <a:spcPts val="0"/>
              </a:spcBef>
            </a:pPr>
            <a:r>
              <a:rPr sz="1200" b="0" dirty="0">
                <a:solidFill>
                  <a:srgbClr val="6A9955"/>
                </a:solidFill>
                <a:latin typeface="Courier New"/>
              </a:rPr>
              <a:t>// 2. </a:t>
            </a:r>
            <a:r>
              <a:rPr sz="1200" b="0" dirty="0" err="1">
                <a:solidFill>
                  <a:srgbClr val="6A9955"/>
                </a:solidFill>
                <a:latin typeface="Courier New"/>
              </a:rPr>
              <a:t>onCompleteResponse</a:t>
            </a:r>
            <a:r>
              <a:rPr sz="1200" b="0" dirty="0">
                <a:solidFill>
                  <a:srgbClr val="6A9955"/>
                </a:solidFill>
                <a:latin typeface="Courier New"/>
              </a:rPr>
              <a:t> — fires once, full result</a:t>
            </a:r>
          </a:p>
          <a:p>
            <a:pPr>
              <a:lnSpc>
                <a:spcPct val="115000"/>
              </a:lnSpc>
              <a:spcBef>
                <a:spcPts val="0"/>
              </a:spcBef>
            </a:pPr>
            <a:r>
              <a:rPr sz="1200" b="0" dirty="0">
                <a:solidFill>
                  <a:srgbClr val="569CD6"/>
                </a:solidFill>
                <a:latin typeface="Courier New"/>
              </a:rPr>
              <a:t>remote</a:t>
            </a:r>
            <a:r>
              <a:rPr sz="1200" b="0" dirty="0">
                <a:solidFill>
                  <a:srgbClr val="D4D4D4"/>
                </a:solidFill>
                <a:latin typeface="Courier New"/>
              </a:rPr>
              <a:t> </a:t>
            </a:r>
            <a:r>
              <a:rPr sz="1200" b="0" dirty="0">
                <a:solidFill>
                  <a:srgbClr val="569CD6"/>
                </a:solidFill>
                <a:latin typeface="Courier New"/>
              </a:rPr>
              <a:t>void</a:t>
            </a:r>
            <a:r>
              <a:rPr sz="1200" b="0" dirty="0">
                <a:solidFill>
                  <a:srgbClr val="D4D4D4"/>
                </a:solidFill>
                <a:latin typeface="Courier New"/>
              </a:rPr>
              <a:t> </a:t>
            </a:r>
            <a:r>
              <a:rPr sz="1200" b="0" dirty="0">
                <a:solidFill>
                  <a:srgbClr val="569CD6"/>
                </a:solidFill>
                <a:latin typeface="Courier New"/>
              </a:rPr>
              <a:t>function</a:t>
            </a:r>
            <a:r>
              <a:rPr sz="1200" b="0" dirty="0">
                <a:solidFill>
                  <a:srgbClr val="D4D4D4"/>
                </a:solidFill>
                <a:latin typeface="Courier New"/>
              </a:rPr>
              <a:t> </a:t>
            </a:r>
            <a:r>
              <a:rPr sz="1200" b="0" dirty="0" err="1">
                <a:solidFill>
                  <a:srgbClr val="4EC9B0"/>
                </a:solidFill>
                <a:latin typeface="Courier New"/>
              </a:rPr>
              <a:t>onCompleteResponse</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569CD6"/>
                </a:solidFill>
                <a:latin typeface="Courier New"/>
              </a:rPr>
              <a:t>required</a:t>
            </a:r>
            <a:r>
              <a:rPr sz="1200" b="0" dirty="0">
                <a:solidFill>
                  <a:srgbClr val="D4D4D4"/>
                </a:solidFill>
                <a:latin typeface="Courier New"/>
              </a:rPr>
              <a:t> </a:t>
            </a:r>
            <a:r>
              <a:rPr sz="1200" b="0" dirty="0">
                <a:solidFill>
                  <a:srgbClr val="569CD6"/>
                </a:solidFill>
                <a:latin typeface="Courier New"/>
              </a:rPr>
              <a:t>struct</a:t>
            </a:r>
            <a:r>
              <a:rPr sz="1200" b="0" dirty="0">
                <a:solidFill>
                  <a:srgbClr val="D4D4D4"/>
                </a:solidFill>
                <a:latin typeface="Courier New"/>
              </a:rPr>
              <a:t> </a:t>
            </a:r>
            <a:r>
              <a:rPr sz="1200" b="0" dirty="0">
                <a:solidFill>
                  <a:srgbClr val="9CDCFE"/>
                </a:solidFill>
                <a:latin typeface="Courier New"/>
              </a:rPr>
              <a:t>response</a:t>
            </a:r>
          </a:p>
          <a:p>
            <a:pPr>
              <a:lnSpc>
                <a:spcPct val="115000"/>
              </a:lnSpc>
              <a:spcBef>
                <a:spcPts val="0"/>
              </a:spcBef>
            </a:pP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569CD6"/>
                </a:solidFill>
                <a:latin typeface="Courier New"/>
              </a:rPr>
              <a:t>in</a:t>
            </a:r>
            <a:r>
              <a:rPr sz="1200" b="0" dirty="0">
                <a:solidFill>
                  <a:srgbClr val="D4D4D4"/>
                </a:solidFill>
                <a:latin typeface="Courier New"/>
              </a:rPr>
              <a:t>  = </a:t>
            </a:r>
            <a:r>
              <a:rPr sz="1200" b="0" dirty="0" err="1">
                <a:solidFill>
                  <a:srgbClr val="9CDCFE"/>
                </a:solidFill>
                <a:latin typeface="Courier New"/>
              </a:rPr>
              <a:t>response</a:t>
            </a:r>
            <a:r>
              <a:rPr sz="1200" b="0" dirty="0" err="1">
                <a:solidFill>
                  <a:srgbClr val="D4D4D4"/>
                </a:solidFill>
                <a:latin typeface="Courier New"/>
              </a:rPr>
              <a:t>.</a:t>
            </a:r>
            <a:r>
              <a:rPr sz="1200" b="0" dirty="0" err="1">
                <a:solidFill>
                  <a:srgbClr val="9CDCFE"/>
                </a:solidFill>
                <a:latin typeface="Courier New"/>
              </a:rPr>
              <a:t>metadata</a:t>
            </a:r>
            <a:r>
              <a:rPr sz="1200" b="0" dirty="0">
                <a:solidFill>
                  <a:srgbClr val="D4D4D4"/>
                </a:solidFill>
                <a:latin typeface="Courier New"/>
              </a:rPr>
              <a:t>[</a:t>
            </a:r>
            <a:r>
              <a:rPr sz="1200" b="0" dirty="0">
                <a:solidFill>
                  <a:srgbClr val="CE9178"/>
                </a:solidFill>
                <a:latin typeface="Courier New"/>
              </a:rPr>
              <a:t>"</a:t>
            </a:r>
            <a:r>
              <a:rPr sz="1200" b="0" dirty="0" err="1">
                <a:solidFill>
                  <a:srgbClr val="CE9178"/>
                </a:solidFill>
                <a:latin typeface="Courier New"/>
              </a:rPr>
              <a:t>input_token</a:t>
            </a:r>
            <a:r>
              <a:rPr sz="1200" b="0" dirty="0">
                <a:solidFill>
                  <a:srgbClr val="CE9178"/>
                </a:solidFill>
                <a:latin typeface="Courier New"/>
              </a:rPr>
              <a:t>"</a:t>
            </a:r>
            <a:r>
              <a:rPr sz="1200" b="0" dirty="0">
                <a:solidFill>
                  <a:srgbClr val="D4D4D4"/>
                </a:solidFill>
                <a:latin typeface="Courier New"/>
              </a:rPr>
              <a:t>]  ?: </a:t>
            </a:r>
            <a:r>
              <a:rPr sz="1200" b="0" dirty="0">
                <a:solidFill>
                  <a:srgbClr val="B5CEA8"/>
                </a:solidFill>
                <a:latin typeface="Courier New"/>
              </a:rPr>
              <a:t>0</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out</a:t>
            </a:r>
            <a:r>
              <a:rPr sz="1200" b="0" dirty="0">
                <a:solidFill>
                  <a:srgbClr val="D4D4D4"/>
                </a:solidFill>
                <a:latin typeface="Courier New"/>
              </a:rPr>
              <a:t> = </a:t>
            </a:r>
            <a:r>
              <a:rPr sz="1200" b="0" dirty="0" err="1">
                <a:solidFill>
                  <a:srgbClr val="9CDCFE"/>
                </a:solidFill>
                <a:latin typeface="Courier New"/>
              </a:rPr>
              <a:t>response</a:t>
            </a:r>
            <a:r>
              <a:rPr sz="1200" b="0" dirty="0" err="1">
                <a:solidFill>
                  <a:srgbClr val="D4D4D4"/>
                </a:solidFill>
                <a:latin typeface="Courier New"/>
              </a:rPr>
              <a:t>.</a:t>
            </a:r>
            <a:r>
              <a:rPr sz="1200" b="0" dirty="0" err="1">
                <a:solidFill>
                  <a:srgbClr val="9CDCFE"/>
                </a:solidFill>
                <a:latin typeface="Courier New"/>
              </a:rPr>
              <a:t>metadata</a:t>
            </a:r>
            <a:r>
              <a:rPr sz="1200" b="0" dirty="0">
                <a:solidFill>
                  <a:srgbClr val="D4D4D4"/>
                </a:solidFill>
                <a:latin typeface="Courier New"/>
              </a:rPr>
              <a:t>[</a:t>
            </a:r>
            <a:r>
              <a:rPr sz="1200" b="0" dirty="0">
                <a:solidFill>
                  <a:srgbClr val="CE9178"/>
                </a:solidFill>
                <a:latin typeface="Courier New"/>
              </a:rPr>
              <a:t>"</a:t>
            </a:r>
            <a:r>
              <a:rPr sz="1200" b="0" dirty="0" err="1">
                <a:solidFill>
                  <a:srgbClr val="CE9178"/>
                </a:solidFill>
                <a:latin typeface="Courier New"/>
              </a:rPr>
              <a:t>output_token</a:t>
            </a:r>
            <a:r>
              <a:rPr sz="1200" b="0" dirty="0">
                <a:solidFill>
                  <a:srgbClr val="CE9178"/>
                </a:solidFill>
                <a:latin typeface="Courier New"/>
              </a:rPr>
              <a:t>"</a:t>
            </a:r>
            <a:r>
              <a:rPr sz="1200" b="0" dirty="0">
                <a:solidFill>
                  <a:srgbClr val="D4D4D4"/>
                </a:solidFill>
                <a:latin typeface="Courier New"/>
              </a:rPr>
              <a:t>] ?: </a:t>
            </a:r>
            <a:r>
              <a:rPr sz="1200" b="0" dirty="0">
                <a:solidFill>
                  <a:srgbClr val="B5CEA8"/>
                </a:solidFill>
                <a:latin typeface="Courier New"/>
              </a:rPr>
              <a:t>0</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err="1">
                <a:solidFill>
                  <a:srgbClr val="4EC9B0"/>
                </a:solidFill>
                <a:latin typeface="Courier New"/>
              </a:rPr>
              <a:t>writeLog</a:t>
            </a:r>
            <a:r>
              <a:rPr sz="1200" b="0" dirty="0">
                <a:solidFill>
                  <a:srgbClr val="D4D4D4"/>
                </a:solidFill>
                <a:latin typeface="Courier New"/>
              </a:rPr>
              <a:t>(</a:t>
            </a:r>
            <a:r>
              <a:rPr sz="1200" b="0" dirty="0">
                <a:solidFill>
                  <a:srgbClr val="9CDCFE"/>
                </a:solidFill>
                <a:latin typeface="Courier New"/>
              </a:rPr>
              <a:t>text</a:t>
            </a:r>
            <a:r>
              <a:rPr sz="1200" b="0" dirty="0">
                <a:solidFill>
                  <a:srgbClr val="D4D4D4"/>
                </a:solidFill>
                <a:latin typeface="Courier New"/>
              </a:rPr>
              <a:t>=</a:t>
            </a:r>
            <a:r>
              <a:rPr sz="1200" b="0" dirty="0">
                <a:solidFill>
                  <a:srgbClr val="CE9178"/>
                </a:solidFill>
                <a:latin typeface="Courier New"/>
              </a:rPr>
              <a:t>"COMPLETE | in="</a:t>
            </a:r>
            <a:r>
              <a:rPr sz="1200" b="0" dirty="0">
                <a:solidFill>
                  <a:srgbClr val="D4D4D4"/>
                </a:solidFill>
                <a:latin typeface="Courier New"/>
              </a:rPr>
              <a:t> &amp;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569CD6"/>
                </a:solidFill>
                <a:latin typeface="Courier New"/>
              </a:rPr>
              <a:t>in</a:t>
            </a:r>
            <a:endParaRPr sz="1200" b="0" dirty="0">
              <a:solidFill>
                <a:srgbClr val="569CD6"/>
              </a:solidFill>
              <a:latin typeface="Courier New"/>
            </a:endParaRPr>
          </a:p>
          <a:p>
            <a:pPr>
              <a:lnSpc>
                <a:spcPct val="115000"/>
              </a:lnSpc>
              <a:spcBef>
                <a:spcPts val="0"/>
              </a:spcBef>
            </a:pPr>
            <a:r>
              <a:rPr sz="1200" b="0" dirty="0">
                <a:solidFill>
                  <a:srgbClr val="D4D4D4"/>
                </a:solidFill>
                <a:latin typeface="Courier New"/>
              </a:rPr>
              <a:t>           &amp; </a:t>
            </a:r>
            <a:r>
              <a:rPr sz="1200" b="0" dirty="0">
                <a:solidFill>
                  <a:srgbClr val="CE9178"/>
                </a:solidFill>
                <a:latin typeface="Courier New"/>
              </a:rPr>
              <a:t>" | out="</a:t>
            </a:r>
            <a:r>
              <a:rPr sz="1200" b="0" dirty="0">
                <a:solidFill>
                  <a:srgbClr val="D4D4D4"/>
                </a:solidFill>
                <a:latin typeface="Courier New"/>
              </a:rPr>
              <a:t> &amp;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out</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file</a:t>
            </a:r>
            <a:r>
              <a:rPr sz="1200" b="0" dirty="0">
                <a:solidFill>
                  <a:srgbClr val="D4D4D4"/>
                </a:solidFill>
                <a:latin typeface="Courier New"/>
              </a:rPr>
              <a:t>=</a:t>
            </a:r>
            <a:r>
              <a:rPr sz="1200" b="0" dirty="0">
                <a:solidFill>
                  <a:srgbClr val="CE9178"/>
                </a:solidFill>
                <a:latin typeface="Courier New"/>
              </a:rPr>
              <a:t>"</a:t>
            </a:r>
            <a:r>
              <a:rPr sz="1200" b="0" dirty="0" err="1">
                <a:solidFill>
                  <a:srgbClr val="CE9178"/>
                </a:solidFill>
                <a:latin typeface="Courier New"/>
              </a:rPr>
              <a:t>nexora</a:t>
            </a:r>
            <a:r>
              <a:rPr sz="1200" b="0" dirty="0">
                <a:solidFill>
                  <a:srgbClr val="CE9178"/>
                </a:solidFill>
                <a:latin typeface="Courier New"/>
              </a:rPr>
              <a:t>-stream"</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a:t>
            </a:r>
          </a:p>
          <a:p>
            <a:pPr>
              <a:lnSpc>
                <a:spcPct val="115000"/>
              </a:lnSpc>
              <a:spcBef>
                <a:spcPts val="0"/>
              </a:spcBef>
            </a:pPr>
            <a:r>
              <a:rPr sz="1200" b="0" dirty="0">
                <a:solidFill>
                  <a:srgbClr val="6A9955"/>
                </a:solidFill>
                <a:latin typeface="Courier New"/>
              </a:rPr>
              <a:t>// 3. </a:t>
            </a:r>
            <a:r>
              <a:rPr sz="1200" b="0" dirty="0" err="1">
                <a:solidFill>
                  <a:srgbClr val="6A9955"/>
                </a:solidFill>
                <a:latin typeface="Courier New"/>
              </a:rPr>
              <a:t>onError</a:t>
            </a:r>
            <a:r>
              <a:rPr sz="1200" b="0" dirty="0">
                <a:solidFill>
                  <a:srgbClr val="6A9955"/>
                </a:solidFill>
                <a:latin typeface="Courier New"/>
              </a:rPr>
              <a:t> — fires if streaming fails</a:t>
            </a:r>
          </a:p>
          <a:p>
            <a:pPr>
              <a:lnSpc>
                <a:spcPct val="115000"/>
              </a:lnSpc>
              <a:spcBef>
                <a:spcPts val="0"/>
              </a:spcBef>
            </a:pPr>
            <a:r>
              <a:rPr sz="1200" b="0" dirty="0">
                <a:solidFill>
                  <a:srgbClr val="569CD6"/>
                </a:solidFill>
                <a:latin typeface="Courier New"/>
              </a:rPr>
              <a:t>remote</a:t>
            </a:r>
            <a:r>
              <a:rPr sz="1200" b="0" dirty="0">
                <a:solidFill>
                  <a:srgbClr val="D4D4D4"/>
                </a:solidFill>
                <a:latin typeface="Courier New"/>
              </a:rPr>
              <a:t> </a:t>
            </a:r>
            <a:r>
              <a:rPr sz="1200" b="0" dirty="0">
                <a:solidFill>
                  <a:srgbClr val="569CD6"/>
                </a:solidFill>
                <a:latin typeface="Courier New"/>
              </a:rPr>
              <a:t>void</a:t>
            </a:r>
            <a:r>
              <a:rPr sz="1200" b="0" dirty="0">
                <a:solidFill>
                  <a:srgbClr val="D4D4D4"/>
                </a:solidFill>
                <a:latin typeface="Courier New"/>
              </a:rPr>
              <a:t> </a:t>
            </a:r>
            <a:r>
              <a:rPr sz="1200" b="0" dirty="0">
                <a:solidFill>
                  <a:srgbClr val="569CD6"/>
                </a:solidFill>
                <a:latin typeface="Courier New"/>
              </a:rPr>
              <a:t>function</a:t>
            </a:r>
            <a:r>
              <a:rPr sz="1200" b="0" dirty="0">
                <a:solidFill>
                  <a:srgbClr val="D4D4D4"/>
                </a:solidFill>
                <a:latin typeface="Courier New"/>
              </a:rPr>
              <a:t> </a:t>
            </a:r>
            <a:r>
              <a:rPr sz="1200" b="0" dirty="0" err="1">
                <a:solidFill>
                  <a:srgbClr val="4EC9B0"/>
                </a:solidFill>
                <a:latin typeface="Courier New"/>
              </a:rPr>
              <a:t>onError</a:t>
            </a:r>
            <a:r>
              <a:rPr sz="1200" b="0" dirty="0">
                <a:solidFill>
                  <a:srgbClr val="D4D4D4"/>
                </a:solidFill>
                <a:latin typeface="Courier New"/>
              </a:rPr>
              <a:t>( </a:t>
            </a:r>
            <a:r>
              <a:rPr sz="1200" b="0" dirty="0">
                <a:solidFill>
                  <a:srgbClr val="569CD6"/>
                </a:solidFill>
                <a:latin typeface="Courier New"/>
              </a:rPr>
              <a:t>required</a:t>
            </a:r>
            <a:r>
              <a:rPr sz="1200" b="0" dirty="0">
                <a:solidFill>
                  <a:srgbClr val="D4D4D4"/>
                </a:solidFill>
                <a:latin typeface="Courier New"/>
              </a:rPr>
              <a:t> </a:t>
            </a:r>
            <a:r>
              <a:rPr sz="1200" b="0" dirty="0">
                <a:solidFill>
                  <a:srgbClr val="569CD6"/>
                </a:solidFill>
                <a:latin typeface="Courier New"/>
              </a:rPr>
              <a:t>struct</a:t>
            </a:r>
            <a:r>
              <a:rPr sz="1200" b="0" dirty="0">
                <a:solidFill>
                  <a:srgbClr val="D4D4D4"/>
                </a:solidFill>
                <a:latin typeface="Courier New"/>
              </a:rPr>
              <a:t> </a:t>
            </a:r>
            <a:r>
              <a:rPr sz="1200" b="0" dirty="0">
                <a:solidFill>
                  <a:srgbClr val="9CDCFE"/>
                </a:solidFill>
                <a:latin typeface="Courier New"/>
              </a:rPr>
              <a:t>error</a:t>
            </a:r>
            <a:r>
              <a:rPr sz="1200" b="0" dirty="0">
                <a:solidFill>
                  <a:srgbClr val="D4D4D4"/>
                </a:solidFill>
                <a:latin typeface="Courier New"/>
              </a:rPr>
              <a:t> ) {</a:t>
            </a:r>
          </a:p>
          <a:p>
            <a:pPr>
              <a:lnSpc>
                <a:spcPct val="115000"/>
              </a:lnSpc>
              <a:spcBef>
                <a:spcPts val="0"/>
              </a:spcBef>
            </a:pPr>
            <a:r>
              <a:rPr sz="1200" b="0" dirty="0">
                <a:solidFill>
                  <a:srgbClr val="D4D4D4"/>
                </a:solidFill>
                <a:latin typeface="Courier New"/>
              </a:rPr>
              <a:t>    </a:t>
            </a:r>
            <a:r>
              <a:rPr sz="1200" b="0" dirty="0" err="1">
                <a:solidFill>
                  <a:srgbClr val="4EC9B0"/>
                </a:solidFill>
                <a:latin typeface="Courier New"/>
              </a:rPr>
              <a:t>writeLog</a:t>
            </a:r>
            <a:r>
              <a:rPr sz="1200" b="0" dirty="0">
                <a:solidFill>
                  <a:srgbClr val="D4D4D4"/>
                </a:solidFill>
                <a:latin typeface="Courier New"/>
              </a:rPr>
              <a:t>(</a:t>
            </a:r>
            <a:r>
              <a:rPr sz="1200" b="0" dirty="0">
                <a:solidFill>
                  <a:srgbClr val="9CDCFE"/>
                </a:solidFill>
                <a:latin typeface="Courier New"/>
              </a:rPr>
              <a:t>text</a:t>
            </a:r>
            <a:r>
              <a:rPr sz="1200" b="0" dirty="0">
                <a:solidFill>
                  <a:srgbClr val="D4D4D4"/>
                </a:solidFill>
                <a:latin typeface="Courier New"/>
              </a:rPr>
              <a:t>=</a:t>
            </a:r>
            <a:r>
              <a:rPr sz="1200" b="0" dirty="0">
                <a:solidFill>
                  <a:srgbClr val="CE9178"/>
                </a:solidFill>
                <a:latin typeface="Courier New"/>
              </a:rPr>
              <a:t>"ERROR:"</a:t>
            </a:r>
            <a:r>
              <a:rPr sz="1200" b="0" dirty="0">
                <a:solidFill>
                  <a:srgbClr val="D4D4D4"/>
                </a:solidFill>
                <a:latin typeface="Courier New"/>
              </a:rPr>
              <a:t> &amp; </a:t>
            </a:r>
            <a:r>
              <a:rPr sz="1200" b="0" dirty="0" err="1">
                <a:solidFill>
                  <a:srgbClr val="9CDCFE"/>
                </a:solidFill>
                <a:latin typeface="Courier New"/>
              </a:rPr>
              <a:t>error</a:t>
            </a:r>
            <a:r>
              <a:rPr sz="1200" b="0" dirty="0" err="1">
                <a:solidFill>
                  <a:srgbClr val="D4D4D4"/>
                </a:solidFill>
                <a:latin typeface="Courier New"/>
              </a:rPr>
              <a:t>.</a:t>
            </a:r>
            <a:r>
              <a:rPr sz="1200" b="0" dirty="0" err="1">
                <a:solidFill>
                  <a:srgbClr val="9CDCFE"/>
                </a:solidFill>
                <a:latin typeface="Courier New"/>
              </a:rPr>
              <a:t>message</a:t>
            </a:r>
            <a:r>
              <a:rPr sz="1200" b="0" dirty="0">
                <a:solidFill>
                  <a:srgbClr val="D4D4D4"/>
                </a:solidFill>
                <a:latin typeface="Courier New"/>
              </a:rPr>
              <a:t>,</a:t>
            </a:r>
            <a:endParaRPr lang="en-US" sz="1200" b="0" dirty="0">
              <a:solidFill>
                <a:srgbClr val="D4D4D4"/>
              </a:solidFill>
              <a:latin typeface="Courier New"/>
            </a:endParaRPr>
          </a:p>
          <a:p>
            <a:pPr>
              <a:lnSpc>
                <a:spcPct val="115000"/>
              </a:lnSpc>
              <a:spcBef>
                <a:spcPts val="0"/>
              </a:spcBef>
            </a:pPr>
            <a:endParaRPr sz="1200" b="0" dirty="0">
              <a:solidFill>
                <a:srgbClr val="D4D4D4"/>
              </a:solidFill>
              <a:latin typeface="Courier New"/>
            </a:endParaRP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type</a:t>
            </a:r>
            <a:r>
              <a:rPr sz="1200" b="0" dirty="0">
                <a:solidFill>
                  <a:srgbClr val="D4D4D4"/>
                </a:solidFill>
                <a:latin typeface="Courier New"/>
              </a:rPr>
              <a:t>=</a:t>
            </a:r>
            <a:r>
              <a:rPr sz="1200" b="0" dirty="0">
                <a:solidFill>
                  <a:srgbClr val="CE9178"/>
                </a:solidFill>
                <a:latin typeface="Courier New"/>
              </a:rPr>
              <a:t>"error"</a:t>
            </a:r>
            <a:r>
              <a:rPr sz="1200" b="0" dirty="0">
                <a:solidFill>
                  <a:srgbClr val="D4D4D4"/>
                </a:solidFill>
                <a:latin typeface="Courier New"/>
              </a:rPr>
              <a:t>, </a:t>
            </a:r>
            <a:r>
              <a:rPr sz="1200" b="0" dirty="0">
                <a:solidFill>
                  <a:srgbClr val="9CDCFE"/>
                </a:solidFill>
                <a:latin typeface="Courier New"/>
              </a:rPr>
              <a:t>file</a:t>
            </a:r>
            <a:r>
              <a:rPr sz="1200" b="0" dirty="0">
                <a:solidFill>
                  <a:srgbClr val="D4D4D4"/>
                </a:solidFill>
                <a:latin typeface="Courier New"/>
              </a:rPr>
              <a:t>=</a:t>
            </a:r>
            <a:r>
              <a:rPr sz="1200" b="0" dirty="0">
                <a:solidFill>
                  <a:srgbClr val="CE9178"/>
                </a:solidFill>
                <a:latin typeface="Courier New"/>
              </a:rPr>
              <a:t>"</a:t>
            </a:r>
            <a:r>
              <a:rPr sz="1200" b="0" dirty="0" err="1">
                <a:solidFill>
                  <a:srgbClr val="CE9178"/>
                </a:solidFill>
                <a:latin typeface="Courier New"/>
              </a:rPr>
              <a:t>nexora</a:t>
            </a:r>
            <a:r>
              <a:rPr sz="1200" b="0" dirty="0">
                <a:solidFill>
                  <a:srgbClr val="CE9178"/>
                </a:solidFill>
                <a:latin typeface="Courier New"/>
              </a:rPr>
              <a:t>-stream"</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a:t>
            </a:r>
          </a:p>
        </p:txBody>
      </p:sp>
      <p:sp>
        <p:nvSpPr>
          <p:cNvPr id="9" name="TextBox 8"/>
          <p:cNvSpPr txBox="1"/>
          <p:nvPr/>
        </p:nvSpPr>
        <p:spPr>
          <a:xfrm>
            <a:off x="7642613" y="2492487"/>
            <a:ext cx="4441357" cy="2440861"/>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4. Attach to agent — one new STREAMINGHANDLER key</a:t>
            </a:r>
          </a:p>
          <a:p>
            <a:pPr>
              <a:lnSpc>
                <a:spcPct val="115000"/>
              </a:lnSpc>
              <a:spcBef>
                <a:spcPts val="0"/>
              </a:spcBef>
            </a:pPr>
            <a:r>
              <a:rPr sz="1300" b="0" dirty="0" err="1">
                <a:solidFill>
                  <a:srgbClr val="9CDCFE"/>
                </a:solidFill>
                <a:latin typeface="Courier New"/>
              </a:rPr>
              <a:t>aiAgent</a:t>
            </a:r>
            <a:r>
              <a:rPr sz="1300" b="0" dirty="0">
                <a:solidFill>
                  <a:srgbClr val="D4D4D4"/>
                </a:solidFill>
                <a:latin typeface="Courier New"/>
              </a:rPr>
              <a:t> = </a:t>
            </a:r>
            <a:r>
              <a:rPr sz="1300" b="0" dirty="0">
                <a:solidFill>
                  <a:srgbClr val="4EC9B0"/>
                </a:solidFill>
                <a:latin typeface="Courier New"/>
              </a:rPr>
              <a:t>agent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CHATMODEL</a:t>
            </a:r>
            <a:r>
              <a:rPr sz="1300" b="0" dirty="0">
                <a:solidFill>
                  <a:srgbClr val="D4D4D4"/>
                </a:solidFill>
                <a:latin typeface="Courier New"/>
              </a:rPr>
              <a:t>        : </a:t>
            </a:r>
            <a:r>
              <a:rPr sz="1300" b="0" dirty="0" err="1">
                <a:solidFill>
                  <a:srgbClr val="9CDCFE"/>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CHATMEMORY</a:t>
            </a:r>
            <a:r>
              <a:rPr sz="1300" b="0" dirty="0">
                <a:solidFill>
                  <a:srgbClr val="D4D4D4"/>
                </a:solidFill>
                <a:latin typeface="Courier New"/>
              </a:rPr>
              <a:t>       : { </a:t>
            </a:r>
            <a:r>
              <a:rPr sz="1300" b="0" dirty="0">
                <a:solidFill>
                  <a:srgbClr val="9CDCFE"/>
                </a:solidFill>
                <a:latin typeface="Courier New"/>
              </a:rPr>
              <a:t>MAXMESSAGES</a:t>
            </a:r>
            <a:r>
              <a:rPr sz="1300" b="0" dirty="0">
                <a:solidFill>
                  <a:srgbClr val="D4D4D4"/>
                </a:solidFill>
                <a:latin typeface="Courier New"/>
              </a:rPr>
              <a:t>: </a:t>
            </a:r>
            <a:r>
              <a:rPr sz="1300" b="0" dirty="0">
                <a:solidFill>
                  <a:srgbClr val="B5CEA8"/>
                </a:solidFill>
                <a:latin typeface="Courier New"/>
              </a:rPr>
              <a:t>20</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TOOLS</a:t>
            </a:r>
            <a:r>
              <a:rPr sz="1300" b="0" dirty="0">
                <a:solidFill>
                  <a:srgbClr val="D4D4D4"/>
                </a:solidFill>
                <a:latin typeface="Courier New"/>
              </a:rPr>
              <a:t>            : [ </a:t>
            </a:r>
            <a:r>
              <a:rPr sz="1300" b="0" dirty="0" err="1">
                <a:solidFill>
                  <a:srgbClr val="9CDCFE"/>
                </a:solidFill>
                <a:latin typeface="Courier New"/>
              </a:rPr>
              <a:t>supportTool</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OUTPUTGUARDRAIL</a:t>
            </a:r>
            <a:r>
              <a:rPr sz="1300" b="0" dirty="0">
                <a:solidFill>
                  <a:srgbClr val="D4D4D4"/>
                </a:solidFill>
                <a:latin typeface="Courier New"/>
              </a:rPr>
              <a:t>  : </a:t>
            </a:r>
            <a:r>
              <a:rPr sz="1300" b="0" dirty="0" err="1">
                <a:solidFill>
                  <a:srgbClr val="9CDCFE"/>
                </a:solidFill>
                <a:latin typeface="Courier New"/>
              </a:rPr>
              <a:t>piiGuardrail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STREAMINGHANDLER</a:t>
            </a:r>
            <a:r>
              <a:rPr sz="1300" b="0" dirty="0">
                <a:solidFill>
                  <a:srgbClr val="D4D4D4"/>
                </a:solidFill>
                <a:latin typeface="Courier New"/>
              </a:rPr>
              <a:t> : </a:t>
            </a:r>
            <a:r>
              <a:rPr sz="1300" b="0" dirty="0">
                <a:solidFill>
                  <a:srgbClr val="CE9178"/>
                </a:solidFill>
                <a:latin typeface="Courier New"/>
              </a:rPr>
              <a:t>"</a:t>
            </a:r>
            <a:r>
              <a:rPr sz="1300" b="0" dirty="0" err="1">
                <a:solidFill>
                  <a:srgbClr val="CE9178"/>
                </a:solidFill>
                <a:latin typeface="Courier New"/>
              </a:rPr>
              <a:t>StreamingHandler</a:t>
            </a:r>
            <a:r>
              <a:rPr sz="1300" b="0" dirty="0">
                <a:solidFill>
                  <a:srgbClr val="CE9178"/>
                </a:solidFill>
                <a:latin typeface="Courier New"/>
              </a:rPr>
              <a:t>"</a:t>
            </a:r>
            <a:endParaRPr lang="en-US" sz="1300" b="0" dirty="0">
              <a:solidFill>
                <a:srgbClr val="CE9178"/>
              </a:solidFill>
              <a:latin typeface="Courier New"/>
            </a:endParaRPr>
          </a:p>
          <a:p>
            <a:pPr>
              <a:lnSpc>
                <a:spcPct val="115000"/>
              </a:lnSpc>
              <a:spcBef>
                <a:spcPts val="0"/>
              </a:spcBef>
            </a:pPr>
            <a:endParaRPr sz="1300" b="0" dirty="0">
              <a:solidFill>
                <a:srgbClr val="CE9178"/>
              </a:solidFill>
              <a:latin typeface="Courier New"/>
            </a:endParaRPr>
          </a:p>
          <a:p>
            <a:pPr>
              <a:lnSpc>
                <a:spcPct val="115000"/>
              </a:lnSpc>
              <a:spcBef>
                <a:spcPts val="0"/>
              </a:spcBef>
            </a:pPr>
            <a:r>
              <a:rPr sz="1300" b="0" dirty="0">
                <a:solidFill>
                  <a:srgbClr val="D4D4D4"/>
                </a:solidFill>
                <a:latin typeface="Courier New"/>
              </a:rPr>
              <a:t>});</a:t>
            </a:r>
          </a:p>
        </p:txBody>
      </p:sp>
    </p:spTree>
    <p:extLst>
      <p:ext uri="{BB962C8B-B14F-4D97-AF65-F5344CB8AC3E}">
        <p14:creationId xmlns:p14="http://schemas.microsoft.com/office/powerpoint/2010/main" val="571444757"/>
      </p:ext>
    </p:extLst>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dur="indefinite" nodeType="mainSeq">
                <p:childTnLst>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7" grpId="0" animBg="1"/>
      <p:bldP spid="7" grpId="1" animBg="1"/>
      <p:bldP spid="8" grpId="0" animBg="1"/>
      <p:bldP spid="8" grpId="1" animBg="1"/>
      <p:bldP spid="9" grpId="0" animBg="1"/>
      <p:bldP spid="9"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dirty="0"/>
              <a:t>Problem </a:t>
            </a:r>
            <a:r>
              <a:rPr lang="en-US" sz="2800" b="1" dirty="0"/>
              <a:t>6</a:t>
            </a:r>
            <a:r>
              <a:rPr sz="2800" b="1" dirty="0"/>
              <a:t> — No Visibility Into the LLM</a:t>
            </a:r>
          </a:p>
        </p:txBody>
      </p:sp>
      <p:sp>
        <p:nvSpPr>
          <p:cNvPr id="3" name="Rectangle 2"/>
          <p:cNvSpPr/>
          <p:nvPr/>
        </p:nvSpPr>
        <p:spPr>
          <a:xfrm>
            <a:off x="609600" y="1210474"/>
            <a:ext cx="11576304" cy="960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536192"/>
            <a:ext cx="11247120" cy="323165"/>
          </a:xfrm>
          <a:prstGeom prst="rect">
            <a:avLst/>
          </a:prstGeom>
          <a:noFill/>
        </p:spPr>
        <p:txBody>
          <a:bodyPr wrap="square">
            <a:spAutoFit/>
          </a:bodyPr>
          <a:lstStyle/>
          <a:p>
            <a:pPr algn="l"/>
            <a:r>
              <a:rPr sz="1500" b="1" i="0" dirty="0">
                <a:solidFill>
                  <a:srgbClr val="FFFFFF"/>
                </a:solidFill>
              </a:rPr>
              <a:t>Problem </a:t>
            </a:r>
            <a:r>
              <a:rPr lang="en-US" sz="1500" b="1" i="0" dirty="0">
                <a:solidFill>
                  <a:srgbClr val="FFFFFF"/>
                </a:solidFill>
              </a:rPr>
              <a:t>6</a:t>
            </a:r>
            <a:r>
              <a:rPr sz="1500" b="1" i="0" dirty="0">
                <a:solidFill>
                  <a:srgbClr val="FFFFFF"/>
                </a:solidFill>
              </a:rPr>
              <a:t>: The LLM is a black box — no logs, no token counts, no error capture, no cost visibility.</a:t>
            </a:r>
          </a:p>
        </p:txBody>
      </p:sp>
      <p:sp>
        <p:nvSpPr>
          <p:cNvPr id="5" name="TextBox 4"/>
          <p:cNvSpPr txBox="1"/>
          <p:nvPr/>
        </p:nvSpPr>
        <p:spPr>
          <a:xfrm>
            <a:off x="612648" y="2496312"/>
            <a:ext cx="11576304" cy="369332"/>
          </a:xfrm>
          <a:prstGeom prst="rect">
            <a:avLst/>
          </a:prstGeom>
          <a:noFill/>
        </p:spPr>
        <p:txBody>
          <a:bodyPr wrap="square">
            <a:spAutoFit/>
          </a:bodyPr>
          <a:lstStyle/>
          <a:p>
            <a:pPr algn="l"/>
            <a:r>
              <a:rPr b="0" i="1" dirty="0">
                <a:solidFill>
                  <a:srgbClr val="555555"/>
                </a:solidFill>
              </a:rPr>
              <a:t>Without a streaming handler, these questions go unanswered:</a:t>
            </a:r>
          </a:p>
        </p:txBody>
      </p:sp>
      <p:sp>
        <p:nvSpPr>
          <p:cNvPr id="6" name="TextBox 5"/>
          <p:cNvSpPr txBox="1"/>
          <p:nvPr/>
        </p:nvSpPr>
        <p:spPr>
          <a:xfrm>
            <a:off x="609600" y="2898648"/>
            <a:ext cx="11579352" cy="2010807"/>
          </a:xfrm>
          <a:prstGeom prst="rect">
            <a:avLst/>
          </a:prstGeom>
          <a:noFill/>
        </p:spPr>
        <p:txBody>
          <a:bodyPr wrap="square">
            <a:spAutoFit/>
          </a:bodyPr>
          <a:lstStyle/>
          <a:p>
            <a:pPr>
              <a:spcBef>
                <a:spcPts val="400"/>
              </a:spcBef>
            </a:pPr>
            <a:r>
              <a:rPr dirty="0">
                <a:solidFill>
                  <a:srgbClr val="EB1000"/>
                </a:solidFill>
              </a:rPr>
              <a:t>  ❌  "Why is our AI bill $2,400 this month?" — no token tracking, can't answer</a:t>
            </a:r>
          </a:p>
          <a:p>
            <a:pPr>
              <a:spcBef>
                <a:spcPts val="400"/>
              </a:spcBef>
            </a:pPr>
            <a:r>
              <a:rPr dirty="0">
                <a:solidFill>
                  <a:srgbClr val="EB1000"/>
                </a:solidFill>
              </a:rPr>
              <a:t>  ❌  "Did the AI ever give a wrong answer?" — no log of AI responses</a:t>
            </a:r>
          </a:p>
          <a:p>
            <a:pPr>
              <a:spcBef>
                <a:spcPts val="400"/>
              </a:spcBef>
            </a:pPr>
            <a:r>
              <a:rPr dirty="0">
                <a:solidFill>
                  <a:srgbClr val="EB1000"/>
                </a:solidFill>
              </a:rPr>
              <a:t>  ❌  "Why did order #99821 query fail at 3:14 AM?" — no error capture</a:t>
            </a:r>
          </a:p>
          <a:p>
            <a:pPr>
              <a:spcBef>
                <a:spcPts val="400"/>
              </a:spcBef>
            </a:pPr>
            <a:r>
              <a:rPr dirty="0">
                <a:solidFill>
                  <a:srgbClr val="EB1000"/>
                </a:solidFill>
              </a:rPr>
              <a:t>  ❌  "Which questions generate the longest responses?" — no length monitoring</a:t>
            </a:r>
          </a:p>
          <a:p>
            <a:pPr>
              <a:spcBef>
                <a:spcPts val="400"/>
              </a:spcBef>
            </a:pPr>
            <a:r>
              <a:rPr dirty="0">
                <a:solidFill>
                  <a:srgbClr val="EB1000"/>
                </a:solidFill>
              </a:rPr>
              <a:t>  ❌  "Is the AI timing out sometimes?" — errors silently swallowed</a:t>
            </a:r>
          </a:p>
          <a:p>
            <a:pPr>
              <a:spcBef>
                <a:spcPts val="400"/>
              </a:spcBef>
            </a:pPr>
            <a:r>
              <a:rPr dirty="0">
                <a:solidFill>
                  <a:srgbClr val="EB1000"/>
                </a:solidFill>
              </a:rPr>
              <a:t>  ❌  "How do I know what prompts cost the most?" — blind to token usage</a:t>
            </a:r>
          </a:p>
        </p:txBody>
      </p:sp>
      <p:sp>
        <p:nvSpPr>
          <p:cNvPr id="7" name="TextBox 6"/>
          <p:cNvSpPr txBox="1"/>
          <p:nvPr/>
        </p:nvSpPr>
        <p:spPr>
          <a:xfrm>
            <a:off x="612648" y="5193792"/>
            <a:ext cx="11576304" cy="369332"/>
          </a:xfrm>
          <a:prstGeom prst="rect">
            <a:avLst/>
          </a:prstGeom>
          <a:noFill/>
        </p:spPr>
        <p:txBody>
          <a:bodyPr wrap="square">
            <a:spAutoFit/>
          </a:bodyPr>
          <a:lstStyle/>
          <a:p>
            <a:pPr algn="l"/>
            <a:r>
              <a:rPr b="1" i="0" dirty="0">
                <a:solidFill>
                  <a:srgbClr val="107C10"/>
                </a:solidFill>
              </a:rPr>
              <a:t>Solution: Add STREAMINGHANDLER — logs tokens, token counts, and errors to acme-</a:t>
            </a:r>
            <a:r>
              <a:rPr b="1" i="0" dirty="0" err="1">
                <a:solidFill>
                  <a:srgbClr val="107C10"/>
                </a:solidFill>
              </a:rPr>
              <a:t>stream.log</a:t>
            </a:r>
            <a:r>
              <a:rPr b="1" i="0" dirty="0">
                <a:solidFill>
                  <a:srgbClr val="107C10"/>
                </a:solidFill>
              </a:rPr>
              <a:t>.  →</a:t>
            </a:r>
          </a:p>
        </p:txBody>
      </p:sp>
    </p:spTree>
    <p:extLst>
      <p:ext uri="{BB962C8B-B14F-4D97-AF65-F5344CB8AC3E}">
        <p14:creationId xmlns:p14="http://schemas.microsoft.com/office/powerpoint/2010/main" val="164097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b="1" dirty="0"/>
              <a:t>Problem </a:t>
            </a:r>
            <a:r>
              <a:rPr lang="en-US" sz="2500" b="1" dirty="0"/>
              <a:t>6</a:t>
            </a:r>
            <a:r>
              <a:rPr sz="2500" b="1" dirty="0"/>
              <a:t> — Solution: Add STREAMINGHANDLER</a:t>
            </a:r>
          </a:p>
        </p:txBody>
      </p:sp>
      <p:sp>
        <p:nvSpPr>
          <p:cNvPr id="4" name="TextBox 3"/>
          <p:cNvSpPr txBox="1"/>
          <p:nvPr/>
        </p:nvSpPr>
        <p:spPr>
          <a:xfrm>
            <a:off x="7940040" y="1393569"/>
            <a:ext cx="4251960" cy="4785926"/>
          </a:xfrm>
          <a:prstGeom prst="rect">
            <a:avLst/>
          </a:prstGeom>
          <a:noFill/>
        </p:spPr>
        <p:txBody>
          <a:bodyPr wrap="square">
            <a:spAutoFit/>
          </a:bodyPr>
          <a:lstStyle/>
          <a:p>
            <a:pPr>
              <a:spcBef>
                <a:spcPts val="300"/>
              </a:spcBef>
            </a:pPr>
            <a:r>
              <a:rPr b="1" dirty="0">
                <a:solidFill>
                  <a:srgbClr val="EB1000"/>
                </a:solidFill>
              </a:rPr>
              <a:t>The complete </a:t>
            </a:r>
            <a:r>
              <a:rPr b="1" dirty="0" err="1">
                <a:solidFill>
                  <a:srgbClr val="EB1000"/>
                </a:solidFill>
              </a:rPr>
              <a:t>Nexora</a:t>
            </a:r>
            <a:r>
              <a:rPr b="1" dirty="0">
                <a:solidFill>
                  <a:srgbClr val="EB1000"/>
                </a:solidFill>
              </a:rPr>
              <a:t> stack:</a:t>
            </a:r>
          </a:p>
          <a:p>
            <a:pPr>
              <a:spcBef>
                <a:spcPts val="300"/>
              </a:spcBef>
            </a:pPr>
            <a:r>
              <a:rPr dirty="0">
                <a:solidFill>
                  <a:srgbClr val="555555"/>
                </a:solidFill>
              </a:rPr>
              <a:t>  </a:t>
            </a:r>
            <a:r>
              <a:rPr dirty="0" err="1">
                <a:solidFill>
                  <a:srgbClr val="555555"/>
                </a:solidFill>
              </a:rPr>
              <a:t>ChatModel</a:t>
            </a:r>
            <a:r>
              <a:rPr dirty="0">
                <a:solidFill>
                  <a:srgbClr val="555555"/>
                </a:solidFill>
              </a:rPr>
              <a:t>()  →  OpenAI connection</a:t>
            </a:r>
          </a:p>
          <a:p>
            <a:pPr>
              <a:spcBef>
                <a:spcPts val="300"/>
              </a:spcBef>
            </a:pPr>
            <a:r>
              <a:rPr dirty="0">
                <a:solidFill>
                  <a:srgbClr val="555555"/>
                </a:solidFill>
              </a:rPr>
              <a:t>  </a:t>
            </a:r>
            <a:r>
              <a:rPr dirty="0" err="1">
                <a:solidFill>
                  <a:srgbClr val="555555"/>
                </a:solidFill>
              </a:rPr>
              <a:t>systemMessage</a:t>
            </a:r>
            <a:r>
              <a:rPr dirty="0">
                <a:solidFill>
                  <a:srgbClr val="555555"/>
                </a:solidFill>
              </a:rPr>
              <a:t>()  →  Acme identity</a:t>
            </a:r>
          </a:p>
          <a:p>
            <a:pPr>
              <a:spcBef>
                <a:spcPts val="300"/>
              </a:spcBef>
            </a:pPr>
            <a:r>
              <a:rPr dirty="0">
                <a:solidFill>
                  <a:srgbClr val="555555"/>
                </a:solidFill>
              </a:rPr>
              <a:t>  CHATMEMORY  →  conversation history</a:t>
            </a:r>
          </a:p>
          <a:p>
            <a:pPr>
              <a:spcBef>
                <a:spcPts val="300"/>
              </a:spcBef>
            </a:pPr>
            <a:r>
              <a:rPr dirty="0">
                <a:solidFill>
                  <a:srgbClr val="555555"/>
                </a:solidFill>
              </a:rPr>
              <a:t>  </a:t>
            </a:r>
            <a:r>
              <a:rPr dirty="0" err="1">
                <a:solidFill>
                  <a:srgbClr val="555555"/>
                </a:solidFill>
              </a:rPr>
              <a:t>SupportTool</a:t>
            </a:r>
            <a:r>
              <a:rPr dirty="0">
                <a:solidFill>
                  <a:srgbClr val="555555"/>
                </a:solidFill>
              </a:rPr>
              <a:t> (CFC)  →  order lookup</a:t>
            </a:r>
          </a:p>
          <a:p>
            <a:pPr>
              <a:spcBef>
                <a:spcPts val="300"/>
              </a:spcBef>
            </a:pPr>
            <a:r>
              <a:rPr lang="en-US" dirty="0">
                <a:solidFill>
                  <a:srgbClr val="555555"/>
                </a:solidFill>
              </a:rPr>
              <a:t>  </a:t>
            </a:r>
            <a:r>
              <a:rPr dirty="0">
                <a:solidFill>
                  <a:srgbClr val="555555"/>
                </a:solidFill>
              </a:rPr>
              <a:t>OUTPUTGUARDRAIL  →  PII filter</a:t>
            </a:r>
          </a:p>
          <a:p>
            <a:pPr>
              <a:spcBef>
                <a:spcPts val="300"/>
              </a:spcBef>
            </a:pPr>
            <a:r>
              <a:rPr dirty="0">
                <a:solidFill>
                  <a:srgbClr val="107C10"/>
                </a:solidFill>
              </a:rPr>
              <a:t>  STREAMINGHANDLER  →  observability  ✓</a:t>
            </a:r>
          </a:p>
          <a:p>
            <a:pPr>
              <a:spcBef>
                <a:spcPts val="300"/>
              </a:spcBef>
            </a:pPr>
            <a:endParaRPr dirty="0">
              <a:solidFill>
                <a:srgbClr val="107C10"/>
              </a:solidFill>
            </a:endParaRPr>
          </a:p>
          <a:p>
            <a:pPr>
              <a:spcBef>
                <a:spcPts val="300"/>
              </a:spcBef>
            </a:pPr>
            <a:r>
              <a:rPr b="1" dirty="0">
                <a:solidFill>
                  <a:srgbClr val="EB1000"/>
                </a:solidFill>
              </a:rPr>
              <a:t>What you get:</a:t>
            </a:r>
          </a:p>
          <a:p>
            <a:pPr>
              <a:spcBef>
                <a:spcPts val="300"/>
              </a:spcBef>
            </a:pPr>
            <a:r>
              <a:rPr dirty="0">
                <a:solidFill>
                  <a:srgbClr val="555555"/>
                </a:solidFill>
              </a:rPr>
              <a:t>  Token-by-token log → audit trail</a:t>
            </a:r>
          </a:p>
          <a:p>
            <a:pPr>
              <a:spcBef>
                <a:spcPts val="300"/>
              </a:spcBef>
            </a:pPr>
            <a:r>
              <a:rPr dirty="0">
                <a:solidFill>
                  <a:srgbClr val="555555"/>
                </a:solidFill>
              </a:rPr>
              <a:t>  Token counts → cost per request</a:t>
            </a:r>
          </a:p>
          <a:p>
            <a:pPr>
              <a:spcBef>
                <a:spcPts val="300"/>
              </a:spcBef>
            </a:pPr>
            <a:r>
              <a:rPr dirty="0">
                <a:solidFill>
                  <a:srgbClr val="555555"/>
                </a:solidFill>
              </a:rPr>
              <a:t>  Error log → incident visibility</a:t>
            </a:r>
          </a:p>
          <a:p>
            <a:pPr>
              <a:spcBef>
                <a:spcPts val="300"/>
              </a:spcBef>
            </a:pPr>
            <a:r>
              <a:rPr dirty="0">
                <a:solidFill>
                  <a:srgbClr val="555555"/>
                </a:solidFill>
              </a:rPr>
              <a:t>  Response length → quality monitoring</a:t>
            </a:r>
          </a:p>
          <a:p>
            <a:pPr>
              <a:spcBef>
                <a:spcPts val="300"/>
              </a:spcBef>
            </a:pPr>
            <a:endParaRPr dirty="0">
              <a:solidFill>
                <a:srgbClr val="555555"/>
              </a:solidFill>
            </a:endParaRPr>
          </a:p>
          <a:p>
            <a:pPr>
              <a:spcBef>
                <a:spcPts val="300"/>
              </a:spcBef>
            </a:pPr>
            <a:endParaRPr dirty="0">
              <a:solidFill>
                <a:srgbClr val="555555"/>
              </a:solidFill>
            </a:endParaRPr>
          </a:p>
        </p:txBody>
      </p:sp>
      <p:sp>
        <p:nvSpPr>
          <p:cNvPr id="7" name="TextBox 6"/>
          <p:cNvSpPr txBox="1"/>
          <p:nvPr/>
        </p:nvSpPr>
        <p:spPr>
          <a:xfrm>
            <a:off x="612648" y="1216151"/>
            <a:ext cx="7086600" cy="2700613"/>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All 5 features wired together</a:t>
            </a:r>
          </a:p>
          <a:p>
            <a:pPr>
              <a:lnSpc>
                <a:spcPct val="115000"/>
              </a:lnSpc>
              <a:spcBef>
                <a:spcPts val="0"/>
              </a:spcBef>
            </a:pPr>
            <a:r>
              <a:rPr sz="1300" b="0" dirty="0" err="1">
                <a:solidFill>
                  <a:srgbClr val="9CDCFE"/>
                </a:solidFill>
                <a:latin typeface="Courier New"/>
              </a:rPr>
              <a:t>session</a:t>
            </a:r>
            <a:r>
              <a:rPr sz="1300" b="0" dirty="0" err="1">
                <a:solidFill>
                  <a:srgbClr val="D4D4D4"/>
                </a:solidFill>
                <a:latin typeface="Courier New"/>
              </a:rPr>
              <a:t>.</a:t>
            </a:r>
            <a:r>
              <a:rPr lang="en-US" sz="1300" dirty="0" err="1">
                <a:solidFill>
                  <a:srgbClr val="9CDCFE"/>
                </a:solidFill>
                <a:latin typeface="Courier New"/>
              </a:rPr>
              <a:t>nexora</a:t>
            </a:r>
            <a:r>
              <a:rPr sz="1300" b="0" dirty="0" err="1">
                <a:solidFill>
                  <a:srgbClr val="9CDCFE"/>
                </a:solidFill>
                <a:latin typeface="Courier New"/>
              </a:rPr>
              <a:t>FinalAI</a:t>
            </a:r>
            <a:r>
              <a:rPr sz="1300" b="0" dirty="0">
                <a:solidFill>
                  <a:srgbClr val="D4D4D4"/>
                </a:solidFill>
                <a:latin typeface="Courier New"/>
              </a:rPr>
              <a:t> = </a:t>
            </a:r>
            <a:r>
              <a:rPr sz="1300" b="0" dirty="0">
                <a:solidFill>
                  <a:srgbClr val="4EC9B0"/>
                </a:solidFill>
                <a:latin typeface="Courier New"/>
              </a:rPr>
              <a:t>agent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CHATMODEL</a:t>
            </a:r>
            <a:r>
              <a:rPr sz="1300" b="0" dirty="0">
                <a:solidFill>
                  <a:srgbClr val="D4D4D4"/>
                </a:solidFill>
                <a:latin typeface="Courier New"/>
              </a:rPr>
              <a:t>        : </a:t>
            </a:r>
            <a:r>
              <a:rPr sz="1300" b="0" dirty="0" err="1">
                <a:solidFill>
                  <a:srgbClr val="9CDCFE"/>
                </a:solidFill>
                <a:latin typeface="Courier New"/>
              </a:rPr>
              <a:t>chatModel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CHATMEMORY</a:t>
            </a:r>
            <a:r>
              <a:rPr sz="1300" b="0" dirty="0">
                <a:solidFill>
                  <a:srgbClr val="D4D4D4"/>
                </a:solidFill>
                <a:latin typeface="Courier New"/>
              </a:rPr>
              <a:t>       : { </a:t>
            </a:r>
            <a:r>
              <a:rPr sz="1300" b="0" dirty="0">
                <a:solidFill>
                  <a:srgbClr val="9CDCFE"/>
                </a:solidFill>
                <a:latin typeface="Courier New"/>
              </a:rPr>
              <a:t>MAXMESSAGES</a:t>
            </a:r>
            <a:r>
              <a:rPr sz="1300" b="0" dirty="0">
                <a:solidFill>
                  <a:srgbClr val="D4D4D4"/>
                </a:solidFill>
                <a:latin typeface="Courier New"/>
              </a:rPr>
              <a:t>: </a:t>
            </a:r>
            <a:r>
              <a:rPr sz="1300" b="0" dirty="0">
                <a:solidFill>
                  <a:srgbClr val="B5CEA8"/>
                </a:solidFill>
                <a:latin typeface="Courier New"/>
              </a:rPr>
              <a:t>20</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TOOLS</a:t>
            </a:r>
            <a:r>
              <a:rPr sz="1300" b="0" dirty="0">
                <a:solidFill>
                  <a:srgbClr val="D4D4D4"/>
                </a:solidFill>
                <a:latin typeface="Courier New"/>
              </a:rPr>
              <a:t>            : [ </a:t>
            </a:r>
            <a:r>
              <a:rPr sz="1300" b="0" dirty="0" err="1">
                <a:solidFill>
                  <a:srgbClr val="9CDCFE"/>
                </a:solidFill>
                <a:latin typeface="Courier New"/>
              </a:rPr>
              <a:t>supportTool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 </a:t>
            </a:r>
            <a:r>
              <a:rPr sz="1300" b="0" dirty="0" err="1">
                <a:solidFill>
                  <a:srgbClr val="9CDCFE"/>
                </a:solidFill>
                <a:latin typeface="Courier New"/>
              </a:rPr>
              <a:t>mcpClient</a:t>
            </a:r>
            <a:r>
              <a:rPr sz="1300" b="0" dirty="0">
                <a:solidFill>
                  <a:srgbClr val="D4D4D4"/>
                </a:solidFill>
                <a:latin typeface="Courier New"/>
              </a:rPr>
              <a:t>:[</a:t>
            </a:r>
            <a:r>
              <a:rPr sz="1300" b="0" dirty="0" err="1">
                <a:solidFill>
                  <a:srgbClr val="9CDCFE"/>
                </a:solidFill>
                <a:latin typeface="Courier New"/>
              </a:rPr>
              <a:t>mcpClient</a:t>
            </a:r>
            <a:r>
              <a:rPr sz="1300" b="0" dirty="0">
                <a:solidFill>
                  <a:srgbClr val="D4D4D4"/>
                </a:solidFill>
                <a:latin typeface="Courier New"/>
              </a:rPr>
              <a:t>] } ],</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OUTPUTGUARDRAIL</a:t>
            </a:r>
            <a:r>
              <a:rPr sz="1300" b="0" dirty="0">
                <a:solidFill>
                  <a:srgbClr val="D4D4D4"/>
                </a:solidFill>
                <a:latin typeface="Courier New"/>
              </a:rPr>
              <a:t>  : </a:t>
            </a:r>
            <a:r>
              <a:rPr sz="1300" b="0" dirty="0" err="1">
                <a:solidFill>
                  <a:srgbClr val="9CDCFE"/>
                </a:solidFill>
                <a:latin typeface="Courier New"/>
              </a:rPr>
              <a:t>piiGuardrail</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STREAMINGHANDLER</a:t>
            </a:r>
            <a:r>
              <a:rPr sz="1300" b="0" dirty="0">
                <a:solidFill>
                  <a:srgbClr val="D4D4D4"/>
                </a:solidFill>
                <a:latin typeface="Courier New"/>
              </a:rPr>
              <a:t> : </a:t>
            </a:r>
            <a:r>
              <a:rPr sz="1300" b="0" dirty="0">
                <a:solidFill>
                  <a:srgbClr val="CE9178"/>
                </a:solidFill>
                <a:latin typeface="Courier New"/>
              </a:rPr>
              <a:t>"</a:t>
            </a:r>
            <a:r>
              <a:rPr sz="1300" b="0" dirty="0" err="1">
                <a:solidFill>
                  <a:srgbClr val="CE9178"/>
                </a:solidFill>
                <a:latin typeface="Courier New"/>
              </a:rPr>
              <a:t>StreamingHandler</a:t>
            </a:r>
            <a:r>
              <a:rPr sz="1300" b="0" dirty="0">
                <a:solidFill>
                  <a:srgbClr val="CE9178"/>
                </a:solidFill>
                <a:latin typeface="Courier New"/>
              </a:rPr>
              <a:t>"</a:t>
            </a:r>
          </a:p>
          <a:p>
            <a:pPr>
              <a:lnSpc>
                <a:spcPct val="115000"/>
              </a:lnSpc>
              <a:spcBef>
                <a:spcPts val="0"/>
              </a:spcBef>
            </a:pPr>
            <a:r>
              <a:rPr sz="1300" b="0" dirty="0">
                <a:solidFill>
                  <a:srgbClr val="D4D4D4"/>
                </a:solidFill>
                <a:latin typeface="Courier New"/>
              </a:rPr>
              <a:t>});</a:t>
            </a:r>
            <a:endParaRPr lang="en-US" sz="1300" b="0" dirty="0">
              <a:solidFill>
                <a:srgbClr val="D4D4D4"/>
              </a:solidFill>
              <a:latin typeface="Courier New"/>
            </a:endParaRPr>
          </a:p>
          <a:p>
            <a:pPr>
              <a:lnSpc>
                <a:spcPct val="115000"/>
              </a:lnSpc>
              <a:spcBef>
                <a:spcPts val="0"/>
              </a:spcBef>
            </a:pPr>
            <a:endParaRPr sz="1300" b="0" dirty="0">
              <a:solidFill>
                <a:srgbClr val="D4D4D4"/>
              </a:solidFill>
              <a:latin typeface="Courier New"/>
            </a:endParaRPr>
          </a:p>
          <a:p>
            <a:pPr>
              <a:lnSpc>
                <a:spcPct val="115000"/>
              </a:lnSpc>
              <a:spcBef>
                <a:spcPts val="0"/>
              </a:spcBef>
            </a:pPr>
            <a:r>
              <a:rPr sz="1300" b="0" dirty="0" err="1">
                <a:solidFill>
                  <a:srgbClr val="9CDCFE"/>
                </a:solidFill>
                <a:latin typeface="Courier New"/>
              </a:rPr>
              <a:t>session</a:t>
            </a:r>
            <a:r>
              <a:rPr sz="1300" b="0" dirty="0" err="1">
                <a:solidFill>
                  <a:srgbClr val="D4D4D4"/>
                </a:solidFill>
                <a:latin typeface="Courier New"/>
              </a:rPr>
              <a:t>.</a:t>
            </a:r>
            <a:r>
              <a:rPr lang="en-US" sz="1300" dirty="0" err="1">
                <a:solidFill>
                  <a:srgbClr val="9CDCFE"/>
                </a:solidFill>
                <a:latin typeface="Courier New"/>
              </a:rPr>
              <a:t>nexora</a:t>
            </a:r>
            <a:r>
              <a:rPr sz="1300" b="0" dirty="0" err="1">
                <a:solidFill>
                  <a:srgbClr val="9CDCFE"/>
                </a:solidFill>
                <a:latin typeface="Courier New"/>
              </a:rPr>
              <a:t>FinalAI</a:t>
            </a:r>
            <a:r>
              <a:rPr sz="1300" b="0" dirty="0" err="1">
                <a:solidFill>
                  <a:srgbClr val="D4D4D4"/>
                </a:solidFill>
                <a:latin typeface="Courier New"/>
              </a:rPr>
              <a:t>.</a:t>
            </a:r>
            <a:r>
              <a:rPr sz="1300" b="0" dirty="0" err="1">
                <a:solidFill>
                  <a:srgbClr val="4EC9B0"/>
                </a:solidFill>
                <a:latin typeface="Courier New"/>
              </a:rPr>
              <a:t>systemMessage</a:t>
            </a:r>
            <a:r>
              <a:rPr sz="1300" b="0" dirty="0">
                <a:solidFill>
                  <a:srgbClr val="D4D4D4"/>
                </a:solidFill>
                <a:latin typeface="Courier New"/>
              </a:rPr>
              <a:t>( </a:t>
            </a:r>
            <a:r>
              <a:rPr sz="1300" b="0" dirty="0">
                <a:solidFill>
                  <a:srgbClr val="CE9178"/>
                </a:solidFill>
                <a:latin typeface="Courier New"/>
              </a:rPr>
              <a:t>"..."</a:t>
            </a:r>
            <a:r>
              <a:rPr sz="1300" b="0" dirty="0">
                <a:solidFill>
                  <a:srgbClr val="D4D4D4"/>
                </a:solidFill>
                <a:latin typeface="Courier New"/>
              </a:rPr>
              <a:t> );</a:t>
            </a:r>
          </a:p>
        </p:txBody>
      </p:sp>
      <p:sp>
        <p:nvSpPr>
          <p:cNvPr id="8" name="TextBox 7"/>
          <p:cNvSpPr txBox="1"/>
          <p:nvPr/>
        </p:nvSpPr>
        <p:spPr>
          <a:xfrm>
            <a:off x="609600" y="4123611"/>
            <a:ext cx="7089648" cy="2210798"/>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Live streaming log (tail -f </a:t>
            </a:r>
            <a:r>
              <a:rPr sz="1300" b="0" dirty="0" err="1">
                <a:solidFill>
                  <a:srgbClr val="6A9955"/>
                </a:solidFill>
                <a:latin typeface="Courier New"/>
              </a:rPr>
              <a:t>nexora-stream.log</a:t>
            </a:r>
            <a:r>
              <a:rPr sz="1300" b="0" dirty="0">
                <a:solidFill>
                  <a:srgbClr val="6A9955"/>
                </a:solidFill>
                <a:latin typeface="Courier New"/>
              </a:rPr>
              <a:t>):</a:t>
            </a:r>
          </a:p>
          <a:p>
            <a:pPr>
              <a:lnSpc>
                <a:spcPct val="115000"/>
              </a:lnSpc>
              <a:spcBef>
                <a:spcPts val="0"/>
              </a:spcBef>
            </a:pPr>
            <a:r>
              <a:rPr sz="1300" b="0" dirty="0">
                <a:solidFill>
                  <a:srgbClr val="6A9955"/>
                </a:solidFill>
                <a:latin typeface="Courier New"/>
              </a:rPr>
              <a:t>// </a:t>
            </a:r>
            <a:r>
              <a:rPr sz="1300" b="0" dirty="0" err="1">
                <a:solidFill>
                  <a:srgbClr val="6A9955"/>
                </a:solidFill>
                <a:latin typeface="Courier New"/>
              </a:rPr>
              <a:t>TOKEN:Your</a:t>
            </a:r>
            <a:endParaRPr sz="1300" b="0" dirty="0">
              <a:solidFill>
                <a:srgbClr val="6A9955"/>
              </a:solidFill>
              <a:latin typeface="Courier New"/>
            </a:endParaRPr>
          </a:p>
          <a:p>
            <a:pPr>
              <a:lnSpc>
                <a:spcPct val="115000"/>
              </a:lnSpc>
              <a:spcBef>
                <a:spcPts val="0"/>
              </a:spcBef>
            </a:pPr>
            <a:r>
              <a:rPr sz="1300" b="0" dirty="0">
                <a:solidFill>
                  <a:srgbClr val="6A9955"/>
                </a:solidFill>
                <a:latin typeface="Courier New"/>
              </a:rPr>
              <a:t>// TOKEN: return</a:t>
            </a:r>
          </a:p>
          <a:p>
            <a:pPr>
              <a:lnSpc>
                <a:spcPct val="115000"/>
              </a:lnSpc>
              <a:spcBef>
                <a:spcPts val="0"/>
              </a:spcBef>
            </a:pPr>
            <a:r>
              <a:rPr sz="1300" b="0" dirty="0">
                <a:solidFill>
                  <a:srgbClr val="6A9955"/>
                </a:solidFill>
                <a:latin typeface="Courier New"/>
              </a:rPr>
              <a:t>// TOKEN: policy</a:t>
            </a:r>
          </a:p>
          <a:p>
            <a:pPr>
              <a:lnSpc>
                <a:spcPct val="115000"/>
              </a:lnSpc>
              <a:spcBef>
                <a:spcPts val="0"/>
              </a:spcBef>
            </a:pPr>
            <a:r>
              <a:rPr sz="1300" b="0" dirty="0">
                <a:solidFill>
                  <a:srgbClr val="6A9955"/>
                </a:solidFill>
                <a:latin typeface="Courier New"/>
              </a:rPr>
              <a:t>// TOKEN: is 30 days</a:t>
            </a:r>
          </a:p>
          <a:p>
            <a:pPr>
              <a:lnSpc>
                <a:spcPct val="115000"/>
              </a:lnSpc>
              <a:spcBef>
                <a:spcPts val="0"/>
              </a:spcBef>
            </a:pPr>
            <a:r>
              <a:rPr sz="1300" b="0" dirty="0">
                <a:solidFill>
                  <a:srgbClr val="6A9955"/>
                </a:solidFill>
                <a:latin typeface="Courier New"/>
              </a:rPr>
              <a:t>// COMPLETE | </a:t>
            </a:r>
            <a:r>
              <a:rPr sz="1300" b="0" dirty="0" err="1">
                <a:solidFill>
                  <a:srgbClr val="6A9955"/>
                </a:solidFill>
                <a:latin typeface="Courier New"/>
              </a:rPr>
              <a:t>in_token</a:t>
            </a:r>
            <a:r>
              <a:rPr sz="1300" b="0" dirty="0">
                <a:solidFill>
                  <a:srgbClr val="6A9955"/>
                </a:solidFill>
                <a:latin typeface="Courier New"/>
              </a:rPr>
              <a:t>=201 | </a:t>
            </a:r>
            <a:r>
              <a:rPr sz="1300" b="0" dirty="0" err="1">
                <a:solidFill>
                  <a:srgbClr val="6A9955"/>
                </a:solidFill>
                <a:latin typeface="Courier New"/>
              </a:rPr>
              <a:t>out_token</a:t>
            </a:r>
            <a:r>
              <a:rPr sz="1300" b="0" dirty="0">
                <a:solidFill>
                  <a:srgbClr val="6A9955"/>
                </a:solidFill>
                <a:latin typeface="Courier New"/>
              </a:rPr>
              <a:t>=28</a:t>
            </a:r>
          </a:p>
          <a:p>
            <a:pPr>
              <a:lnSpc>
                <a:spcPct val="115000"/>
              </a:lnSpc>
              <a:spcBef>
                <a:spcPts val="0"/>
              </a:spcBef>
            </a:pPr>
            <a:r>
              <a:rPr sz="1300" b="0" dirty="0">
                <a:solidFill>
                  <a:srgbClr val="6A9955"/>
                </a:solidFill>
                <a:latin typeface="Courier New"/>
              </a:rPr>
              <a:t>//</a:t>
            </a:r>
          </a:p>
          <a:p>
            <a:pPr>
              <a:lnSpc>
                <a:spcPct val="115000"/>
              </a:lnSpc>
              <a:spcBef>
                <a:spcPts val="0"/>
              </a:spcBef>
            </a:pPr>
            <a:r>
              <a:rPr sz="1300" b="0" dirty="0">
                <a:solidFill>
                  <a:srgbClr val="6A9955"/>
                </a:solidFill>
                <a:latin typeface="Courier New"/>
              </a:rPr>
              <a:t>// Cost per call:</a:t>
            </a:r>
          </a:p>
          <a:p>
            <a:pPr>
              <a:lnSpc>
                <a:spcPct val="115000"/>
              </a:lnSpc>
              <a:spcBef>
                <a:spcPts val="0"/>
              </a:spcBef>
            </a:pPr>
            <a:r>
              <a:rPr sz="1300" b="0" dirty="0">
                <a:solidFill>
                  <a:srgbClr val="6A9955"/>
                </a:solidFill>
                <a:latin typeface="Courier New"/>
              </a:rPr>
              <a:t>// 201 × $0.00015 + 28 × $0.0006 = $0.047</a:t>
            </a:r>
          </a:p>
        </p:txBody>
      </p:sp>
    </p:spTree>
    <p:extLst>
      <p:ext uri="{BB962C8B-B14F-4D97-AF65-F5344CB8AC3E}">
        <p14:creationId xmlns:p14="http://schemas.microsoft.com/office/powerpoint/2010/main" val="1247085947"/>
      </p:ext>
    </p:extLst>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dur="indefinite" nodeType="mainSeq">
                <p:childTnLst>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4" grpId="0"/>
      <p:bldP spid="7" grpId="0" animBg="1"/>
      <p:bldP spid="7" grpId="1" animBg="1"/>
      <p:bldP spid="8" grpId="0" animBg="1"/>
      <p:bldP spid="8"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194560"/>
            <a:ext cx="10972800" cy="1188720"/>
          </a:xfrm>
          <a:prstGeom prst="rect">
            <a:avLst/>
          </a:prstGeom>
          <a:noFill/>
        </p:spPr>
        <p:txBody>
          <a:bodyPr wrap="square">
            <a:spAutoFit/>
          </a:bodyPr>
          <a:lstStyle/>
          <a:p>
            <a:pPr algn="ctr"/>
            <a:r>
              <a:rPr sz="4400" b="1" i="0">
                <a:solidFill>
                  <a:srgbClr val="FFFFFF"/>
                </a:solidFill>
              </a:rPr>
              <a:t>🔴  LIVE DEMO</a:t>
            </a:r>
          </a:p>
        </p:txBody>
      </p:sp>
      <p:sp>
        <p:nvSpPr>
          <p:cNvPr id="5" name="TextBox 4"/>
          <p:cNvSpPr txBox="1"/>
          <p:nvPr/>
        </p:nvSpPr>
        <p:spPr>
          <a:xfrm>
            <a:off x="502920" y="3657600"/>
            <a:ext cx="10972800" cy="1200329"/>
          </a:xfrm>
          <a:prstGeom prst="rect">
            <a:avLst/>
          </a:prstGeom>
          <a:noFill/>
        </p:spPr>
        <p:txBody>
          <a:bodyPr wrap="square">
            <a:spAutoFit/>
          </a:bodyPr>
          <a:lstStyle/>
          <a:p>
            <a:pPr algn="ctr"/>
            <a:r>
              <a:rPr sz="2400" b="1" i="0" dirty="0">
                <a:solidFill>
                  <a:srgbClr val="CCCCCC"/>
                </a:solidFill>
              </a:rPr>
              <a:t>Streaming   ·  </a:t>
            </a:r>
            <a:r>
              <a:rPr lang="en-US" sz="2400" b="1" i="0" dirty="0">
                <a:solidFill>
                  <a:srgbClr val="CCCCCC"/>
                </a:solidFill>
              </a:rPr>
              <a:t>problem6</a:t>
            </a:r>
            <a:r>
              <a:rPr sz="2400" b="1" i="0" dirty="0">
                <a:solidFill>
                  <a:srgbClr val="CCCCCC"/>
                </a:solidFill>
              </a:rPr>
              <a:t>· </a:t>
            </a:r>
            <a:r>
              <a:rPr lang="en-US" sz="2400" b="1" dirty="0">
                <a:solidFill>
                  <a:schemeClr val="bg2"/>
                </a:solidFill>
              </a:rPr>
              <a:t>No Visibility Into the LLM</a:t>
            </a:r>
          </a:p>
          <a:p>
            <a:pPr algn="ctr"/>
            <a:r>
              <a:rPr lang="en-US" sz="2400" b="1" dirty="0" err="1">
                <a:solidFill>
                  <a:srgbClr val="CCCCCC"/>
                </a:solidFill>
              </a:rPr>
              <a:t>Streaming.cfm</a:t>
            </a:r>
            <a:r>
              <a:rPr lang="en-US" sz="2400" b="1" dirty="0">
                <a:solidFill>
                  <a:srgbClr val="CCCCCC"/>
                </a:solidFill>
              </a:rPr>
              <a:t> ·   </a:t>
            </a:r>
            <a:r>
              <a:rPr lang="en-US" sz="2400" b="1" dirty="0">
                <a:solidFill>
                  <a:schemeClr val="bg2"/>
                </a:solidFill>
              </a:rPr>
              <a:t>problem6-streaming_demo.cfm</a:t>
            </a:r>
          </a:p>
          <a:p>
            <a:pPr algn="ctr"/>
            <a:endParaRPr sz="2400" b="1" i="0" dirty="0">
              <a:solidFill>
                <a:schemeClr val="bg2"/>
              </a:solidFill>
            </a:endParaRPr>
          </a:p>
        </p:txBody>
      </p:sp>
    </p:spTree>
    <p:extLst>
      <p:ext uri="{BB962C8B-B14F-4D97-AF65-F5344CB8AC3E}">
        <p14:creationId xmlns:p14="http://schemas.microsoft.com/office/powerpoint/2010/main" val="14048536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468880"/>
            <a:ext cx="10972800" cy="615553"/>
          </a:xfrm>
          <a:prstGeom prst="rect">
            <a:avLst/>
          </a:prstGeom>
          <a:noFill/>
        </p:spPr>
        <p:txBody>
          <a:bodyPr wrap="square">
            <a:spAutoFit/>
          </a:bodyPr>
          <a:lstStyle/>
          <a:p>
            <a:pPr algn="l"/>
            <a:r>
              <a:rPr sz="3400" b="1" i="0" dirty="0">
                <a:solidFill>
                  <a:srgbClr val="FFFFFF"/>
                </a:solidFill>
              </a:rPr>
              <a:t>Part </a:t>
            </a:r>
            <a:r>
              <a:rPr lang="en-US" sz="3400" b="1" i="0" dirty="0">
                <a:solidFill>
                  <a:srgbClr val="FFFFFF"/>
                </a:solidFill>
              </a:rPr>
              <a:t>9</a:t>
            </a:r>
            <a:r>
              <a:rPr sz="3400" b="1" i="0" dirty="0">
                <a:solidFill>
                  <a:srgbClr val="FFFFFF"/>
                </a:solidFill>
              </a:rPr>
              <a:t>: MCP — Model Context Protocol</a:t>
            </a:r>
          </a:p>
        </p:txBody>
      </p:sp>
      <p:sp>
        <p:nvSpPr>
          <p:cNvPr id="5" name="TextBox 4"/>
          <p:cNvSpPr txBox="1"/>
          <p:nvPr/>
        </p:nvSpPr>
        <p:spPr>
          <a:xfrm>
            <a:off x="502920" y="3931920"/>
            <a:ext cx="10972800" cy="594360"/>
          </a:xfrm>
          <a:prstGeom prst="rect">
            <a:avLst/>
          </a:prstGeom>
          <a:noFill/>
        </p:spPr>
        <p:txBody>
          <a:bodyPr wrap="square">
            <a:spAutoFit/>
          </a:bodyPr>
          <a:lstStyle/>
          <a:p>
            <a:pPr algn="l"/>
            <a:r>
              <a:rPr sz="1600" b="0" i="0">
                <a:solidFill>
                  <a:srgbClr val="AAAAAA"/>
                </a:solidFill>
              </a:rPr>
              <a:t>Connect AI to real external services  ·  McpClient  ·  Email tickets  ·  Live integrations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MCP — Model Context Protocol</a:t>
            </a:r>
          </a:p>
        </p:txBody>
      </p:sp>
      <p:sp>
        <p:nvSpPr>
          <p:cNvPr id="3" name="TextBox 2"/>
          <p:cNvSpPr txBox="1"/>
          <p:nvPr/>
        </p:nvSpPr>
        <p:spPr>
          <a:xfrm>
            <a:off x="612648" y="1417320"/>
            <a:ext cx="5349240" cy="3118803"/>
          </a:xfrm>
          <a:prstGeom prst="rect">
            <a:avLst/>
          </a:prstGeom>
          <a:noFill/>
        </p:spPr>
        <p:txBody>
          <a:bodyPr wrap="square">
            <a:spAutoFit/>
          </a:bodyPr>
          <a:lstStyle/>
          <a:p>
            <a:r>
              <a:rPr b="1" dirty="0">
                <a:solidFill>
                  <a:srgbClr val="1A1A1A"/>
                </a:solidFill>
              </a:rPr>
              <a:t>What MCP solves</a:t>
            </a:r>
          </a:p>
          <a:p>
            <a:pPr>
              <a:spcBef>
                <a:spcPts val="400"/>
              </a:spcBef>
            </a:pPr>
            <a:r>
              <a:rPr dirty="0">
                <a:solidFill>
                  <a:srgbClr val="1A1A1A"/>
                </a:solidFill>
              </a:rPr>
              <a:t>  • Function tools: AI calls your CFC directly (same server)</a:t>
            </a:r>
          </a:p>
          <a:p>
            <a:pPr>
              <a:spcBef>
                <a:spcPts val="400"/>
              </a:spcBef>
            </a:pPr>
            <a:r>
              <a:rPr dirty="0">
                <a:solidFill>
                  <a:srgbClr val="1A1A1A"/>
                </a:solidFill>
              </a:rPr>
              <a:t>  • MCP: AI calls any tool via HTTP — any language, any server</a:t>
            </a:r>
          </a:p>
          <a:p>
            <a:pPr>
              <a:spcBef>
                <a:spcPts val="400"/>
              </a:spcBef>
            </a:pPr>
            <a:r>
              <a:rPr dirty="0">
                <a:solidFill>
                  <a:srgbClr val="1A1A1A"/>
                </a:solidFill>
              </a:rPr>
              <a:t>  • </a:t>
            </a:r>
            <a:r>
              <a:rPr dirty="0" err="1">
                <a:solidFill>
                  <a:srgbClr val="1A1A1A"/>
                </a:solidFill>
              </a:rPr>
              <a:t>Standardised</a:t>
            </a:r>
            <a:r>
              <a:rPr dirty="0">
                <a:solidFill>
                  <a:srgbClr val="1A1A1A"/>
                </a:solidFill>
              </a:rPr>
              <a:t> protocol — Anthropic open spec, widely adopted</a:t>
            </a:r>
          </a:p>
          <a:p>
            <a:pPr>
              <a:spcBef>
                <a:spcPts val="400"/>
              </a:spcBef>
            </a:pPr>
            <a:r>
              <a:rPr dirty="0">
                <a:solidFill>
                  <a:srgbClr val="1A1A1A"/>
                </a:solidFill>
              </a:rPr>
              <a:t>  • Tool discovery: AI asks the MCP server "what tools do you have?"</a:t>
            </a:r>
          </a:p>
          <a:p>
            <a:pPr>
              <a:spcBef>
                <a:spcPts val="400"/>
              </a:spcBef>
            </a:pPr>
            <a:r>
              <a:rPr dirty="0">
                <a:solidFill>
                  <a:srgbClr val="1A1A1A"/>
                </a:solidFill>
              </a:rPr>
              <a:t>  • One </a:t>
            </a:r>
            <a:r>
              <a:rPr dirty="0" err="1">
                <a:solidFill>
                  <a:srgbClr val="1A1A1A"/>
                </a:solidFill>
              </a:rPr>
              <a:t>McpClient</a:t>
            </a:r>
            <a:r>
              <a:rPr dirty="0">
                <a:solidFill>
                  <a:srgbClr val="1A1A1A"/>
                </a:solidFill>
              </a:rPr>
              <a:t> can expose hundreds of tools at once</a:t>
            </a:r>
          </a:p>
        </p:txBody>
      </p:sp>
      <p:sp>
        <p:nvSpPr>
          <p:cNvPr id="4" name="Rectangle 3"/>
          <p:cNvSpPr/>
          <p:nvPr/>
        </p:nvSpPr>
        <p:spPr>
          <a:xfrm>
            <a:off x="6096000" y="1210474"/>
            <a:ext cx="5571282" cy="5647526"/>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96000" y="1380159"/>
            <a:ext cx="5440680" cy="329184"/>
          </a:xfrm>
          <a:prstGeom prst="rect">
            <a:avLst/>
          </a:prstGeom>
          <a:noFill/>
        </p:spPr>
        <p:txBody>
          <a:bodyPr wrap="square">
            <a:spAutoFit/>
          </a:bodyPr>
          <a:lstStyle/>
          <a:p>
            <a:pPr algn="l"/>
            <a:r>
              <a:rPr sz="1200" b="1" i="0" dirty="0">
                <a:solidFill>
                  <a:srgbClr val="1A1A1A"/>
                </a:solidFill>
              </a:rPr>
              <a:t>Direct CFC tool  vs  MCP tool:</a:t>
            </a:r>
          </a:p>
        </p:txBody>
      </p:sp>
      <p:sp>
        <p:nvSpPr>
          <p:cNvPr id="6" name="TextBox 5"/>
          <p:cNvSpPr txBox="1"/>
          <p:nvPr/>
        </p:nvSpPr>
        <p:spPr>
          <a:xfrm>
            <a:off x="6096000" y="1709343"/>
            <a:ext cx="6586726" cy="5101397"/>
          </a:xfrm>
          <a:prstGeom prst="rect">
            <a:avLst/>
          </a:prstGeom>
          <a:noFill/>
        </p:spPr>
        <p:txBody>
          <a:bodyPr wrap="square">
            <a:spAutoFit/>
          </a:bodyPr>
          <a:lstStyle/>
          <a:p>
            <a:pPr>
              <a:spcBef>
                <a:spcPts val="300"/>
              </a:spcBef>
            </a:pPr>
            <a:r>
              <a:rPr b="1" dirty="0">
                <a:solidFill>
                  <a:srgbClr val="00788C"/>
                </a:solidFill>
              </a:rPr>
              <a:t>Direct CFC (TOOLS:[cfc])</a:t>
            </a:r>
          </a:p>
          <a:p>
            <a:pPr>
              <a:spcBef>
                <a:spcPts val="300"/>
              </a:spcBef>
            </a:pPr>
            <a:r>
              <a:rPr dirty="0">
                <a:solidFill>
                  <a:srgbClr val="107C10"/>
                </a:solidFill>
              </a:rPr>
              <a:t>  ✓ Zero network overhead</a:t>
            </a:r>
          </a:p>
          <a:p>
            <a:pPr>
              <a:spcBef>
                <a:spcPts val="300"/>
              </a:spcBef>
            </a:pPr>
            <a:r>
              <a:rPr dirty="0">
                <a:solidFill>
                  <a:srgbClr val="107C10"/>
                </a:solidFill>
              </a:rPr>
              <a:t>  ✓ Simplest syntax</a:t>
            </a:r>
          </a:p>
          <a:p>
            <a:pPr>
              <a:spcBef>
                <a:spcPts val="300"/>
              </a:spcBef>
            </a:pPr>
            <a:r>
              <a:rPr dirty="0">
                <a:solidFill>
                  <a:srgbClr val="EB1000"/>
                </a:solidFill>
              </a:rPr>
              <a:t>  ✗ Only calls CF CFCs</a:t>
            </a:r>
          </a:p>
          <a:p>
            <a:pPr>
              <a:spcBef>
                <a:spcPts val="300"/>
              </a:spcBef>
            </a:pPr>
            <a:r>
              <a:rPr dirty="0">
                <a:solidFill>
                  <a:srgbClr val="EB1000"/>
                </a:solidFill>
              </a:rPr>
              <a:t>  ✗ Same server only</a:t>
            </a:r>
          </a:p>
          <a:p>
            <a:pPr>
              <a:spcBef>
                <a:spcPts val="300"/>
              </a:spcBef>
            </a:pPr>
            <a:endParaRPr dirty="0">
              <a:solidFill>
                <a:srgbClr val="EB1000"/>
              </a:solidFill>
            </a:endParaRPr>
          </a:p>
          <a:p>
            <a:pPr>
              <a:spcBef>
                <a:spcPts val="300"/>
              </a:spcBef>
            </a:pPr>
            <a:r>
              <a:rPr b="1" dirty="0">
                <a:solidFill>
                  <a:srgbClr val="00788C"/>
                </a:solidFill>
              </a:rPr>
              <a:t>MCP (</a:t>
            </a:r>
            <a:r>
              <a:rPr b="1" dirty="0" err="1">
                <a:solidFill>
                  <a:srgbClr val="00788C"/>
                </a:solidFill>
              </a:rPr>
              <a:t>McpClient</a:t>
            </a:r>
            <a:r>
              <a:rPr b="1" dirty="0">
                <a:solidFill>
                  <a:srgbClr val="00788C"/>
                </a:solidFill>
              </a:rPr>
              <a:t>)</a:t>
            </a:r>
          </a:p>
          <a:p>
            <a:pPr>
              <a:spcBef>
                <a:spcPts val="300"/>
              </a:spcBef>
            </a:pPr>
            <a:r>
              <a:rPr dirty="0">
                <a:solidFill>
                  <a:srgbClr val="107C10"/>
                </a:solidFill>
              </a:rPr>
              <a:t>  ✓ Any language, any platform</a:t>
            </a:r>
          </a:p>
          <a:p>
            <a:pPr>
              <a:spcBef>
                <a:spcPts val="300"/>
              </a:spcBef>
            </a:pPr>
            <a:r>
              <a:rPr dirty="0">
                <a:solidFill>
                  <a:srgbClr val="107C10"/>
                </a:solidFill>
              </a:rPr>
              <a:t>  ✓ External service integration</a:t>
            </a:r>
          </a:p>
          <a:p>
            <a:pPr>
              <a:spcBef>
                <a:spcPts val="300"/>
              </a:spcBef>
            </a:pPr>
            <a:r>
              <a:rPr dirty="0">
                <a:solidFill>
                  <a:srgbClr val="107C10"/>
                </a:solidFill>
              </a:rPr>
              <a:t>  ✓ Tool discovery — auto-detect methods</a:t>
            </a:r>
          </a:p>
          <a:p>
            <a:pPr>
              <a:spcBef>
                <a:spcPts val="300"/>
              </a:spcBef>
            </a:pPr>
            <a:r>
              <a:rPr dirty="0">
                <a:solidFill>
                  <a:srgbClr val="107C10"/>
                </a:solidFill>
              </a:rPr>
              <a:t>  ✓ One client = hundreds of tools</a:t>
            </a:r>
          </a:p>
          <a:p>
            <a:pPr>
              <a:spcBef>
                <a:spcPts val="300"/>
              </a:spcBef>
            </a:pPr>
            <a:r>
              <a:rPr dirty="0">
                <a:solidFill>
                  <a:srgbClr val="EB1000"/>
                </a:solidFill>
              </a:rPr>
              <a:t>  ✗ HTTP network hop per call</a:t>
            </a:r>
          </a:p>
          <a:p>
            <a:pPr>
              <a:spcBef>
                <a:spcPts val="300"/>
              </a:spcBef>
            </a:pPr>
            <a:endParaRPr dirty="0">
              <a:solidFill>
                <a:srgbClr val="EB1000"/>
              </a:solidFill>
            </a:endParaRPr>
          </a:p>
          <a:p>
            <a:pPr>
              <a:spcBef>
                <a:spcPts val="300"/>
              </a:spcBef>
            </a:pPr>
            <a:r>
              <a:rPr b="1" dirty="0">
                <a:solidFill>
                  <a:srgbClr val="00788C"/>
                </a:solidFill>
              </a:rPr>
              <a:t>Mix both:</a:t>
            </a:r>
          </a:p>
          <a:p>
            <a:pPr>
              <a:spcBef>
                <a:spcPts val="300"/>
              </a:spcBef>
            </a:pPr>
            <a:r>
              <a:rPr dirty="0">
                <a:solidFill>
                  <a:srgbClr val="555555"/>
                </a:solidFill>
              </a:rPr>
              <a:t>  TOOLS:[</a:t>
            </a:r>
            <a:r>
              <a:rPr dirty="0" err="1">
                <a:solidFill>
                  <a:srgbClr val="555555"/>
                </a:solidFill>
              </a:rPr>
              <a:t>directCFC</a:t>
            </a:r>
            <a:r>
              <a:rPr dirty="0">
                <a:solidFill>
                  <a:srgbClr val="555555"/>
                </a:solidFill>
              </a:rPr>
              <a:t>, {</a:t>
            </a:r>
            <a:r>
              <a:rPr dirty="0" err="1">
                <a:solidFill>
                  <a:srgbClr val="555555"/>
                </a:solidFill>
              </a:rPr>
              <a:t>mcpClient</a:t>
            </a:r>
            <a:r>
              <a:rPr dirty="0">
                <a:solidFill>
                  <a:srgbClr val="555555"/>
                </a:solidFill>
              </a:rPr>
              <a:t>:[</a:t>
            </a:r>
            <a:r>
              <a:rPr dirty="0" err="1">
                <a:solidFill>
                  <a:srgbClr val="555555"/>
                </a:solidFill>
              </a:rPr>
              <a:t>mcp</a:t>
            </a:r>
            <a:r>
              <a:rPr dirty="0">
                <a:solidFill>
                  <a:srgbClr val="555555"/>
                </a:solidFill>
              </a:rPr>
              <a:t>]}]</a:t>
            </a:r>
          </a:p>
          <a:p>
            <a:pPr>
              <a:spcBef>
                <a:spcPts val="300"/>
              </a:spcBef>
            </a:pPr>
            <a:r>
              <a:rPr dirty="0">
                <a:solidFill>
                  <a:srgbClr val="555555"/>
                </a:solidFill>
              </a:rPr>
              <a:t>  Fast local + rich external in one agent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64085"/>
            <a:ext cx="10972800" cy="522993"/>
          </a:xfrm>
        </p:spPr>
        <p:txBody>
          <a:bodyPr/>
          <a:lstStyle/>
          <a:p>
            <a:r>
              <a:rPr sz="2700" b="1" dirty="0"/>
              <a:t>Writing an MCP Tool — </a:t>
            </a:r>
            <a:r>
              <a:rPr sz="2700" b="1" dirty="0" err="1"/>
              <a:t>TicketTool.cfc</a:t>
            </a:r>
            <a:endParaRPr sz="2700" b="1" dirty="0"/>
          </a:p>
        </p:txBody>
      </p:sp>
      <p:sp>
        <p:nvSpPr>
          <p:cNvPr id="7" name="TextBox 6"/>
          <p:cNvSpPr txBox="1"/>
          <p:nvPr/>
        </p:nvSpPr>
        <p:spPr>
          <a:xfrm>
            <a:off x="612648" y="1216153"/>
            <a:ext cx="6158542" cy="2689198"/>
          </a:xfrm>
          <a:prstGeom prst="rect">
            <a:avLst/>
          </a:prstGeom>
          <a:solidFill>
            <a:srgbClr val="000000"/>
          </a:solidFill>
        </p:spPr>
        <p:txBody>
          <a:bodyPr wrap="square" lIns="109728" tIns="82296" bIns="64008">
            <a:spAutoFit/>
          </a:bodyPr>
          <a:lstStyle/>
          <a:p>
            <a:pPr>
              <a:lnSpc>
                <a:spcPct val="115000"/>
              </a:lnSpc>
              <a:spcBef>
                <a:spcPts val="0"/>
              </a:spcBef>
            </a:pPr>
            <a:r>
              <a:rPr sz="1200" b="0" dirty="0">
                <a:solidFill>
                  <a:srgbClr val="6A9955"/>
                </a:solidFill>
                <a:latin typeface="Courier New"/>
              </a:rPr>
              <a:t>// 1. @</a:t>
            </a:r>
            <a:r>
              <a:rPr sz="1200" b="0" dirty="0" err="1">
                <a:solidFill>
                  <a:srgbClr val="6A9955"/>
                </a:solidFill>
                <a:latin typeface="Courier New"/>
              </a:rPr>
              <a:t>mcpTool</a:t>
            </a:r>
            <a:r>
              <a:rPr sz="1200" b="0" dirty="0">
                <a:solidFill>
                  <a:srgbClr val="6A9955"/>
                </a:solidFill>
                <a:latin typeface="Courier New"/>
              </a:rPr>
              <a:t> makes this callable via MCP protocol</a:t>
            </a:r>
          </a:p>
          <a:p>
            <a:pPr>
              <a:lnSpc>
                <a:spcPct val="115000"/>
              </a:lnSpc>
              <a:spcBef>
                <a:spcPts val="0"/>
              </a:spcBef>
            </a:pPr>
            <a:r>
              <a:rPr sz="1200" b="0" dirty="0">
                <a:solidFill>
                  <a:srgbClr val="6A9955"/>
                </a:solidFill>
                <a:latin typeface="Courier New"/>
              </a:rPr>
              <a:t>/**</a:t>
            </a:r>
          </a:p>
          <a:p>
            <a:pPr>
              <a:lnSpc>
                <a:spcPct val="115000"/>
              </a:lnSpc>
              <a:spcBef>
                <a:spcPts val="0"/>
              </a:spcBef>
            </a:pPr>
            <a:r>
              <a:rPr sz="1200" b="0" dirty="0">
                <a:solidFill>
                  <a:srgbClr val="6A9955"/>
                </a:solidFill>
                <a:latin typeface="Courier New"/>
              </a:rPr>
              <a:t> * @</a:t>
            </a:r>
            <a:r>
              <a:rPr sz="1200" b="0" dirty="0" err="1">
                <a:solidFill>
                  <a:srgbClr val="6A9955"/>
                </a:solidFill>
                <a:latin typeface="Courier New"/>
              </a:rPr>
              <a:t>mcpTool</a:t>
            </a:r>
            <a:endParaRPr sz="1200" b="0" dirty="0">
              <a:solidFill>
                <a:srgbClr val="6A9955"/>
              </a:solidFill>
              <a:latin typeface="Courier New"/>
            </a:endParaRPr>
          </a:p>
          <a:p>
            <a:pPr>
              <a:lnSpc>
                <a:spcPct val="115000"/>
              </a:lnSpc>
              <a:spcBef>
                <a:spcPts val="0"/>
              </a:spcBef>
            </a:pPr>
            <a:r>
              <a:rPr sz="1200" b="0" dirty="0">
                <a:solidFill>
                  <a:srgbClr val="6A9955"/>
                </a:solidFill>
                <a:latin typeface="Courier New"/>
              </a:rPr>
              <a:t> * @</a:t>
            </a:r>
            <a:r>
              <a:rPr sz="1200" b="0" dirty="0" err="1">
                <a:solidFill>
                  <a:srgbClr val="6A9955"/>
                </a:solidFill>
                <a:latin typeface="Courier New"/>
              </a:rPr>
              <a:t>mcpDescription</a:t>
            </a:r>
            <a:r>
              <a:rPr sz="1200" b="0" dirty="0">
                <a:solidFill>
                  <a:srgbClr val="6A9955"/>
                </a:solidFill>
                <a:latin typeface="Courier New"/>
              </a:rPr>
              <a:t> File a support escalation ticket</a:t>
            </a:r>
          </a:p>
          <a:p>
            <a:pPr>
              <a:lnSpc>
                <a:spcPct val="115000"/>
              </a:lnSpc>
              <a:spcBef>
                <a:spcPts val="0"/>
              </a:spcBef>
            </a:pPr>
            <a:r>
              <a:rPr sz="1200" b="0" dirty="0">
                <a:solidFill>
                  <a:srgbClr val="6A9955"/>
                </a:solidFill>
                <a:latin typeface="Courier New"/>
              </a:rPr>
              <a:t> *   and email the support team.</a:t>
            </a:r>
          </a:p>
          <a:p>
            <a:pPr>
              <a:lnSpc>
                <a:spcPct val="115000"/>
              </a:lnSpc>
              <a:spcBef>
                <a:spcPts val="0"/>
              </a:spcBef>
            </a:pPr>
            <a:r>
              <a:rPr sz="1200" b="0" dirty="0">
                <a:solidFill>
                  <a:srgbClr val="6A9955"/>
                </a:solidFill>
                <a:latin typeface="Courier New"/>
              </a:rPr>
              <a:t> * /</a:t>
            </a:r>
          </a:p>
          <a:p>
            <a:pPr>
              <a:lnSpc>
                <a:spcPct val="115000"/>
              </a:lnSpc>
              <a:spcBef>
                <a:spcPts val="0"/>
              </a:spcBef>
            </a:pPr>
            <a:r>
              <a:rPr sz="1200" b="0" dirty="0">
                <a:solidFill>
                  <a:srgbClr val="569CD6"/>
                </a:solidFill>
                <a:latin typeface="Courier New"/>
              </a:rPr>
              <a:t>string</a:t>
            </a:r>
            <a:r>
              <a:rPr sz="1200" b="0" dirty="0">
                <a:solidFill>
                  <a:srgbClr val="D4D4D4"/>
                </a:solidFill>
                <a:latin typeface="Courier New"/>
              </a:rPr>
              <a:t> </a:t>
            </a:r>
            <a:r>
              <a:rPr sz="1200" b="0" dirty="0">
                <a:solidFill>
                  <a:srgbClr val="569CD6"/>
                </a:solidFill>
                <a:latin typeface="Courier New"/>
              </a:rPr>
              <a:t>function</a:t>
            </a:r>
            <a:r>
              <a:rPr sz="1200" b="0" dirty="0">
                <a:solidFill>
                  <a:srgbClr val="D4D4D4"/>
                </a:solidFill>
                <a:latin typeface="Courier New"/>
              </a:rPr>
              <a:t> </a:t>
            </a:r>
            <a:r>
              <a:rPr sz="1200" b="0" dirty="0" err="1">
                <a:solidFill>
                  <a:srgbClr val="4EC9B0"/>
                </a:solidFill>
                <a:latin typeface="Courier New"/>
              </a:rPr>
              <a:t>fileTicket</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569CD6"/>
                </a:solidFill>
                <a:latin typeface="Courier New"/>
              </a:rPr>
              <a:t>required</a:t>
            </a:r>
            <a:r>
              <a:rPr sz="1200" b="0" dirty="0">
                <a:solidFill>
                  <a:srgbClr val="D4D4D4"/>
                </a:solidFill>
                <a:latin typeface="Courier New"/>
              </a:rPr>
              <a:t> </a:t>
            </a:r>
            <a:r>
              <a:rPr sz="1200" b="0" dirty="0">
                <a:solidFill>
                  <a:srgbClr val="569CD6"/>
                </a:solidFill>
                <a:latin typeface="Courier New"/>
              </a:rPr>
              <a:t>string</a:t>
            </a:r>
            <a:r>
              <a:rPr sz="1200" b="0" dirty="0">
                <a:solidFill>
                  <a:srgbClr val="D4D4D4"/>
                </a:solidFill>
                <a:latin typeface="Courier New"/>
              </a:rPr>
              <a:t> </a:t>
            </a:r>
            <a:r>
              <a:rPr sz="1200" b="0" dirty="0">
                <a:solidFill>
                  <a:srgbClr val="9CDCFE"/>
                </a:solidFill>
                <a:latin typeface="Courier New"/>
              </a:rPr>
              <a:t>summary</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569CD6"/>
                </a:solidFill>
                <a:latin typeface="Courier New"/>
              </a:rPr>
              <a:t>string</a:t>
            </a:r>
            <a:r>
              <a:rPr sz="1200" b="0" dirty="0">
                <a:solidFill>
                  <a:srgbClr val="D4D4D4"/>
                </a:solidFill>
                <a:latin typeface="Courier New"/>
              </a:rPr>
              <a:t> </a:t>
            </a:r>
            <a:r>
              <a:rPr sz="1200" b="0" dirty="0" err="1">
                <a:solidFill>
                  <a:srgbClr val="9CDCFE"/>
                </a:solidFill>
                <a:latin typeface="Courier New"/>
              </a:rPr>
              <a:t>orderId</a:t>
            </a:r>
            <a:r>
              <a:rPr sz="1200" b="0" dirty="0">
                <a:solidFill>
                  <a:srgbClr val="D4D4D4"/>
                </a:solidFill>
                <a:latin typeface="Courier New"/>
              </a:rPr>
              <a:t>  = </a:t>
            </a:r>
            <a:r>
              <a:rPr sz="1200" b="0" dirty="0">
                <a:solidFill>
                  <a:srgbClr val="CE9178"/>
                </a:solidFill>
                <a:latin typeface="Courier New"/>
              </a:rPr>
              <a:t>""</a:t>
            </a:r>
            <a:r>
              <a:rPr sz="1200" b="0" dirty="0">
                <a:solidFill>
                  <a:srgbClr val="D4D4D4"/>
                </a:solidFill>
                <a:latin typeface="Courier New"/>
              </a:rPr>
              <a:t>,</a:t>
            </a:r>
            <a:endParaRPr lang="en-US" sz="1200" b="0" dirty="0">
              <a:solidFill>
                <a:srgbClr val="D4D4D4"/>
              </a:solidFill>
              <a:latin typeface="Courier New"/>
            </a:endParaRPr>
          </a:p>
          <a:p>
            <a:pPr>
              <a:lnSpc>
                <a:spcPct val="115000"/>
              </a:lnSpc>
              <a:spcBef>
                <a:spcPts val="0"/>
              </a:spcBef>
            </a:pPr>
            <a:endParaRPr sz="1200" b="0" dirty="0">
              <a:solidFill>
                <a:srgbClr val="D4D4D4"/>
              </a:solidFill>
              <a:latin typeface="Courier New"/>
            </a:endParaRPr>
          </a:p>
          <a:p>
            <a:pPr>
              <a:lnSpc>
                <a:spcPct val="115000"/>
              </a:lnSpc>
              <a:spcBef>
                <a:spcPts val="0"/>
              </a:spcBef>
            </a:pPr>
            <a:r>
              <a:rPr sz="1200" b="0" dirty="0">
                <a:solidFill>
                  <a:srgbClr val="D4D4D4"/>
                </a:solidFill>
                <a:latin typeface="Courier New"/>
              </a:rPr>
              <a:t>    </a:t>
            </a:r>
            <a:r>
              <a:rPr sz="1200" b="0" dirty="0">
                <a:solidFill>
                  <a:srgbClr val="569CD6"/>
                </a:solidFill>
                <a:latin typeface="Courier New"/>
              </a:rPr>
              <a:t>string</a:t>
            </a:r>
            <a:r>
              <a:rPr sz="1200" b="0" dirty="0">
                <a:solidFill>
                  <a:srgbClr val="D4D4D4"/>
                </a:solidFill>
                <a:latin typeface="Courier New"/>
              </a:rPr>
              <a:t> </a:t>
            </a:r>
            <a:r>
              <a:rPr sz="1200" b="0" dirty="0">
                <a:solidFill>
                  <a:srgbClr val="9CDCFE"/>
                </a:solidFill>
                <a:latin typeface="Courier New"/>
              </a:rPr>
              <a:t>priority</a:t>
            </a:r>
            <a:r>
              <a:rPr sz="1200" b="0" dirty="0">
                <a:solidFill>
                  <a:srgbClr val="D4D4D4"/>
                </a:solidFill>
                <a:latin typeface="Courier New"/>
              </a:rPr>
              <a:t> = </a:t>
            </a:r>
            <a:r>
              <a:rPr sz="1200" b="0" dirty="0">
                <a:solidFill>
                  <a:srgbClr val="CE9178"/>
                </a:solidFill>
                <a:latin typeface="Courier New"/>
              </a:rPr>
              <a:t>"high"</a:t>
            </a:r>
          </a:p>
          <a:p>
            <a:pPr>
              <a:lnSpc>
                <a:spcPct val="115000"/>
              </a:lnSpc>
              <a:spcBef>
                <a:spcPts val="0"/>
              </a:spcBef>
            </a:pPr>
            <a:r>
              <a:rPr sz="1200" b="0" dirty="0">
                <a:solidFill>
                  <a:srgbClr val="D4D4D4"/>
                </a:solidFill>
                <a:latin typeface="Courier New"/>
              </a:rPr>
              <a:t>) {</a:t>
            </a:r>
          </a:p>
        </p:txBody>
      </p:sp>
      <p:sp>
        <p:nvSpPr>
          <p:cNvPr id="8" name="TextBox 7"/>
          <p:cNvSpPr txBox="1"/>
          <p:nvPr/>
        </p:nvSpPr>
        <p:spPr>
          <a:xfrm>
            <a:off x="609600" y="3840480"/>
            <a:ext cx="6158542" cy="3113929"/>
          </a:xfrm>
          <a:prstGeom prst="rect">
            <a:avLst/>
          </a:prstGeom>
          <a:solidFill>
            <a:srgbClr val="000000"/>
          </a:solidFill>
        </p:spPr>
        <p:txBody>
          <a:bodyPr wrap="square" lIns="109728" tIns="82296" bIns="64008">
            <a:spAutoFit/>
          </a:bodyPr>
          <a:lstStyle/>
          <a:p>
            <a:pPr>
              <a:lnSpc>
                <a:spcPct val="115000"/>
              </a:lnSpc>
              <a:spcBef>
                <a:spcPts val="0"/>
              </a:spcBef>
            </a:pPr>
            <a:r>
              <a:rPr sz="1200" b="0" dirty="0">
                <a:solidFill>
                  <a:srgbClr val="6A9955"/>
                </a:solidFill>
                <a:latin typeface="Courier New"/>
              </a:rPr>
              <a:t>// 2. Function body — ticket ID + </a:t>
            </a:r>
            <a:r>
              <a:rPr sz="1200" b="0" dirty="0" err="1">
                <a:solidFill>
                  <a:srgbClr val="6A9955"/>
                </a:solidFill>
                <a:latin typeface="Courier New"/>
              </a:rPr>
              <a:t>cfmail</a:t>
            </a:r>
            <a:endParaRPr sz="1200" b="0" dirty="0">
              <a:solidFill>
                <a:srgbClr val="6A9955"/>
              </a:solidFill>
              <a:latin typeface="Courier New"/>
            </a:endParaRPr>
          </a:p>
          <a:p>
            <a:pPr>
              <a:lnSpc>
                <a:spcPct val="115000"/>
              </a:lnSpc>
              <a:spcBef>
                <a:spcPts val="0"/>
              </a:spcBef>
            </a:pPr>
            <a:r>
              <a:rPr sz="1200" b="0" dirty="0">
                <a:solidFill>
                  <a:srgbClr val="D4D4D4"/>
                </a:solidFill>
                <a:latin typeface="Courier New"/>
              </a:rPr>
              <a:t>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ticketId</a:t>
            </a:r>
            <a:r>
              <a:rPr sz="1200" b="0" dirty="0">
                <a:solidFill>
                  <a:srgbClr val="D4D4D4"/>
                </a:solidFill>
                <a:latin typeface="Courier New"/>
              </a:rPr>
              <a:t> = </a:t>
            </a:r>
            <a:r>
              <a:rPr sz="1200" b="0" dirty="0">
                <a:solidFill>
                  <a:srgbClr val="CE9178"/>
                </a:solidFill>
                <a:latin typeface="Courier New"/>
              </a:rPr>
              <a:t>"TKT-"</a:t>
            </a:r>
          </a:p>
          <a:p>
            <a:pPr>
              <a:lnSpc>
                <a:spcPct val="115000"/>
              </a:lnSpc>
              <a:spcBef>
                <a:spcPts val="0"/>
              </a:spcBef>
            </a:pPr>
            <a:r>
              <a:rPr sz="1200" b="0" dirty="0">
                <a:solidFill>
                  <a:srgbClr val="D4D4D4"/>
                </a:solidFill>
                <a:latin typeface="Courier New"/>
              </a:rPr>
              <a:t>        &amp; </a:t>
            </a:r>
            <a:r>
              <a:rPr sz="1200" b="0" dirty="0" err="1">
                <a:solidFill>
                  <a:srgbClr val="4EC9B0"/>
                </a:solidFill>
                <a:latin typeface="Courier New"/>
              </a:rPr>
              <a:t>uCase</a:t>
            </a:r>
            <a:r>
              <a:rPr sz="1200" b="0" dirty="0">
                <a:solidFill>
                  <a:srgbClr val="D4D4D4"/>
                </a:solidFill>
                <a:latin typeface="Courier New"/>
              </a:rPr>
              <a:t>(</a:t>
            </a:r>
            <a:r>
              <a:rPr sz="1200" b="0" dirty="0">
                <a:solidFill>
                  <a:srgbClr val="4EC9B0"/>
                </a:solidFill>
                <a:latin typeface="Courier New"/>
              </a:rPr>
              <a:t>left</a:t>
            </a:r>
            <a:r>
              <a:rPr sz="1200" b="0" dirty="0">
                <a:solidFill>
                  <a:srgbClr val="D4D4D4"/>
                </a:solidFill>
                <a:latin typeface="Courier New"/>
              </a:rPr>
              <a:t>(</a:t>
            </a:r>
            <a:r>
              <a:rPr sz="1200" b="0" dirty="0">
                <a:solidFill>
                  <a:srgbClr val="4EC9B0"/>
                </a:solidFill>
                <a:latin typeface="Courier New"/>
              </a:rPr>
              <a:t>hash</a:t>
            </a:r>
            <a:r>
              <a:rPr sz="1200" b="0" dirty="0">
                <a:solidFill>
                  <a:srgbClr val="D4D4D4"/>
                </a:solidFill>
                <a:latin typeface="Courier New"/>
              </a:rPr>
              <a:t>(</a:t>
            </a:r>
            <a:r>
              <a:rPr sz="1200" b="0" dirty="0">
                <a:solidFill>
                  <a:srgbClr val="4EC9B0"/>
                </a:solidFill>
                <a:latin typeface="Courier New"/>
              </a:rPr>
              <a:t>now</a:t>
            </a:r>
            <a:r>
              <a:rPr sz="1200" b="0" dirty="0">
                <a:solidFill>
                  <a:srgbClr val="D4D4D4"/>
                </a:solidFill>
                <a:latin typeface="Courier New"/>
              </a:rPr>
              <a:t>() &amp; </a:t>
            </a:r>
            <a:r>
              <a:rPr sz="1200" b="0" dirty="0" err="1">
                <a:solidFill>
                  <a:srgbClr val="4EC9B0"/>
                </a:solidFill>
                <a:latin typeface="Courier New"/>
              </a:rPr>
              <a:t>createUUID</a:t>
            </a:r>
            <a:r>
              <a:rPr sz="1200" b="0" dirty="0">
                <a:solidFill>
                  <a:srgbClr val="D4D4D4"/>
                </a:solidFill>
                <a:latin typeface="Courier New"/>
              </a:rPr>
              <a:t>()), </a:t>
            </a:r>
            <a:r>
              <a:rPr sz="1200" b="0" dirty="0">
                <a:solidFill>
                  <a:srgbClr val="B5CEA8"/>
                </a:solidFill>
                <a:latin typeface="Courier New"/>
              </a:rPr>
              <a:t>6</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err="1">
                <a:solidFill>
                  <a:srgbClr val="569CD6"/>
                </a:solidFill>
                <a:latin typeface="Courier New"/>
              </a:rPr>
              <a:t>cfmail</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to</a:t>
            </a:r>
            <a:r>
              <a:rPr sz="1200" b="0" dirty="0">
                <a:solidFill>
                  <a:srgbClr val="D4D4D4"/>
                </a:solidFill>
                <a:latin typeface="Courier New"/>
              </a:rPr>
              <a:t>      = </a:t>
            </a:r>
            <a:r>
              <a:rPr sz="1200" b="0" dirty="0" err="1">
                <a:solidFill>
                  <a:srgbClr val="9CDCFE"/>
                </a:solidFill>
                <a:latin typeface="Courier New"/>
              </a:rPr>
              <a:t>variables</a:t>
            </a:r>
            <a:r>
              <a:rPr sz="1200" b="0" dirty="0" err="1">
                <a:solidFill>
                  <a:srgbClr val="D4D4D4"/>
                </a:solidFill>
                <a:latin typeface="Courier New"/>
              </a:rPr>
              <a:t>.</a:t>
            </a:r>
            <a:r>
              <a:rPr sz="1200" b="0" dirty="0" err="1">
                <a:solidFill>
                  <a:srgbClr val="9CDCFE"/>
                </a:solidFill>
                <a:latin typeface="Courier New"/>
              </a:rPr>
              <a:t>supportEmail</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from</a:t>
            </a:r>
            <a:r>
              <a:rPr sz="1200" b="0" dirty="0">
                <a:solidFill>
                  <a:srgbClr val="D4D4D4"/>
                </a:solidFill>
                <a:latin typeface="Courier New"/>
              </a:rPr>
              <a:t>    = </a:t>
            </a:r>
            <a:r>
              <a:rPr sz="1200" b="0" dirty="0">
                <a:solidFill>
                  <a:srgbClr val="CE9178"/>
                </a:solidFill>
                <a:latin typeface="Courier New"/>
              </a:rPr>
              <a:t>"</a:t>
            </a:r>
            <a:r>
              <a:rPr sz="1200" b="0" dirty="0" err="1">
                <a:solidFill>
                  <a:srgbClr val="CE9178"/>
                </a:solidFill>
                <a:latin typeface="Courier New"/>
              </a:rPr>
              <a:t>noreply@nexora.demo</a:t>
            </a:r>
            <a:r>
              <a:rPr sz="1200" b="0" dirty="0">
                <a:solidFill>
                  <a:srgbClr val="CE9178"/>
                </a:solidFill>
                <a:latin typeface="Courier New"/>
              </a:rPr>
              <a:t>"</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subject</a:t>
            </a:r>
            <a:r>
              <a:rPr sz="1200" b="0" dirty="0">
                <a:solidFill>
                  <a:srgbClr val="D4D4D4"/>
                </a:solidFill>
                <a:latin typeface="Courier New"/>
              </a:rPr>
              <a:t> = </a:t>
            </a:r>
            <a:r>
              <a:rPr sz="1200" b="0" dirty="0">
                <a:solidFill>
                  <a:srgbClr val="CE9178"/>
                </a:solidFill>
                <a:latin typeface="Courier New"/>
              </a:rPr>
              <a:t>"[</a:t>
            </a:r>
            <a:r>
              <a:rPr sz="1200" b="0" dirty="0" err="1">
                <a:solidFill>
                  <a:srgbClr val="CE9178"/>
                </a:solidFill>
                <a:latin typeface="Courier New"/>
              </a:rPr>
              <a:t>Nexora</a:t>
            </a:r>
            <a:r>
              <a:rPr sz="1200" b="0" dirty="0">
                <a:solidFill>
                  <a:srgbClr val="CE9178"/>
                </a:solidFill>
                <a:latin typeface="Courier New"/>
              </a:rPr>
              <a:t>] "</a:t>
            </a:r>
            <a:r>
              <a:rPr sz="1200" b="0" dirty="0">
                <a:solidFill>
                  <a:srgbClr val="D4D4D4"/>
                </a:solidFill>
                <a:latin typeface="Courier New"/>
              </a:rPr>
              <a:t> &amp;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ticketId</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type</a:t>
            </a:r>
            <a:r>
              <a:rPr sz="1200" b="0" dirty="0">
                <a:solidFill>
                  <a:srgbClr val="D4D4D4"/>
                </a:solidFill>
                <a:latin typeface="Courier New"/>
              </a:rPr>
              <a:t>    = </a:t>
            </a:r>
            <a:r>
              <a:rPr sz="1200" b="0" dirty="0">
                <a:solidFill>
                  <a:srgbClr val="CE9178"/>
                </a:solidFill>
                <a:latin typeface="Courier New"/>
              </a:rPr>
              <a:t>"html"</a:t>
            </a:r>
          </a:p>
          <a:p>
            <a:pPr>
              <a:lnSpc>
                <a:spcPct val="115000"/>
              </a:lnSpc>
              <a:spcBef>
                <a:spcPts val="0"/>
              </a:spcBef>
            </a:pPr>
            <a:r>
              <a:rPr sz="1200" b="0" dirty="0">
                <a:solidFill>
                  <a:srgbClr val="D4D4D4"/>
                </a:solidFill>
                <a:latin typeface="Courier New"/>
              </a:rPr>
              <a:t>    ) { </a:t>
            </a:r>
            <a:r>
              <a:rPr sz="1200" b="0" dirty="0" err="1">
                <a:solidFill>
                  <a:srgbClr val="4EC9B0"/>
                </a:solidFill>
                <a:latin typeface="Courier New"/>
              </a:rPr>
              <a:t>writeOutput</a:t>
            </a:r>
            <a:r>
              <a:rPr sz="1200" b="0" dirty="0">
                <a:solidFill>
                  <a:srgbClr val="D4D4D4"/>
                </a:solidFill>
                <a:latin typeface="Courier New"/>
              </a:rPr>
              <a:t>(</a:t>
            </a:r>
            <a:r>
              <a:rPr sz="1200" b="0" dirty="0" err="1">
                <a:solidFill>
                  <a:srgbClr val="4EC9B0"/>
                </a:solidFill>
                <a:latin typeface="Courier New"/>
              </a:rPr>
              <a:t>buildHtmlEmail</a:t>
            </a:r>
            <a:r>
              <a:rPr sz="1200" b="0" dirty="0">
                <a:solidFill>
                  <a:srgbClr val="D4D4D4"/>
                </a:solidFill>
                <a:latin typeface="Courier New"/>
              </a:rPr>
              <a:t>(</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ticketId</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arguments</a:t>
            </a: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    </a:t>
            </a:r>
            <a:r>
              <a:rPr sz="1200" b="0" dirty="0">
                <a:solidFill>
                  <a:srgbClr val="569CD6"/>
                </a:solidFill>
                <a:latin typeface="Courier New"/>
              </a:rPr>
              <a:t>return</a:t>
            </a:r>
            <a:r>
              <a:rPr sz="1200" b="0" dirty="0">
                <a:solidFill>
                  <a:srgbClr val="D4D4D4"/>
                </a:solidFill>
                <a:latin typeface="Courier New"/>
              </a:rPr>
              <a:t> </a:t>
            </a:r>
            <a:r>
              <a:rPr sz="1200" b="0" dirty="0">
                <a:solidFill>
                  <a:srgbClr val="CE9178"/>
                </a:solidFill>
                <a:latin typeface="Courier New"/>
              </a:rPr>
              <a:t>"Ticket ##"</a:t>
            </a:r>
            <a:r>
              <a:rPr sz="1200" b="0" dirty="0">
                <a:solidFill>
                  <a:srgbClr val="D4D4D4"/>
                </a:solidFill>
                <a:latin typeface="Courier New"/>
              </a:rPr>
              <a:t> &amp; </a:t>
            </a:r>
            <a:r>
              <a:rPr sz="1200" b="0" dirty="0" err="1">
                <a:solidFill>
                  <a:srgbClr val="9CDCFE"/>
                </a:solidFill>
                <a:latin typeface="Courier New"/>
              </a:rPr>
              <a:t>local</a:t>
            </a:r>
            <a:r>
              <a:rPr sz="1200" b="0" dirty="0" err="1">
                <a:solidFill>
                  <a:srgbClr val="D4D4D4"/>
                </a:solidFill>
                <a:latin typeface="Courier New"/>
              </a:rPr>
              <a:t>.</a:t>
            </a:r>
            <a:r>
              <a:rPr sz="1200" b="0" dirty="0" err="1">
                <a:solidFill>
                  <a:srgbClr val="9CDCFE"/>
                </a:solidFill>
                <a:latin typeface="Courier New"/>
              </a:rPr>
              <a:t>ticketId</a:t>
            </a:r>
            <a:endParaRPr lang="en-US" sz="1200" b="0" dirty="0">
              <a:solidFill>
                <a:srgbClr val="9CDCFE"/>
              </a:solidFill>
              <a:latin typeface="Courier New"/>
            </a:endParaRPr>
          </a:p>
          <a:p>
            <a:pPr>
              <a:lnSpc>
                <a:spcPct val="115000"/>
              </a:lnSpc>
              <a:spcBef>
                <a:spcPts val="0"/>
              </a:spcBef>
            </a:pPr>
            <a:endParaRPr sz="1200" b="0" dirty="0">
              <a:solidFill>
                <a:srgbClr val="9CDCFE"/>
              </a:solidFill>
              <a:latin typeface="Courier New"/>
            </a:endParaRPr>
          </a:p>
          <a:p>
            <a:pPr>
              <a:lnSpc>
                <a:spcPct val="115000"/>
              </a:lnSpc>
              <a:spcBef>
                <a:spcPts val="0"/>
              </a:spcBef>
            </a:pPr>
            <a:r>
              <a:rPr sz="1200" b="0" dirty="0">
                <a:solidFill>
                  <a:srgbClr val="D4D4D4"/>
                </a:solidFill>
                <a:latin typeface="Courier New"/>
              </a:rPr>
              <a:t>         &amp; </a:t>
            </a:r>
            <a:r>
              <a:rPr sz="1200" b="0" dirty="0">
                <a:solidFill>
                  <a:srgbClr val="CE9178"/>
                </a:solidFill>
                <a:latin typeface="Courier New"/>
              </a:rPr>
              <a:t>" — response within 2 hours."</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dur="indefinite" nodeType="mainSeq">
                <p:childTnLst>
                  <p:par>
                    <p:cTn id="12" fill="hold">
                      <p:stCondLst>
                        <p:cond delay="indefinite"/>
                      </p:stCondLst>
                      <p:childTnLst>
                        <p:par>
                          <p:cTn id="13" fill="hold">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2"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7" grpId="1" animBg="1"/>
      <p:bldP spid="7" grpId="2" animBg="1"/>
      <p:bldP spid="8" grpId="2" animBg="1"/>
      <p:bldP spid="8" grpId="3"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dirty="0"/>
              <a:t>Problem </a:t>
            </a:r>
            <a:r>
              <a:rPr lang="en-US" sz="2800" dirty="0"/>
              <a:t>7</a:t>
            </a:r>
            <a:r>
              <a:rPr sz="2800" b="1" dirty="0"/>
              <a:t> — Ticket Filing Is Just Mock Code</a:t>
            </a:r>
          </a:p>
        </p:txBody>
      </p:sp>
      <p:sp>
        <p:nvSpPr>
          <p:cNvPr id="3" name="Rectangle 2"/>
          <p:cNvSpPr/>
          <p:nvPr/>
        </p:nvSpPr>
        <p:spPr>
          <a:xfrm>
            <a:off x="612648" y="1210474"/>
            <a:ext cx="11576304" cy="960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536192"/>
            <a:ext cx="11247120" cy="369332"/>
          </a:xfrm>
          <a:prstGeom prst="rect">
            <a:avLst/>
          </a:prstGeom>
          <a:noFill/>
        </p:spPr>
        <p:txBody>
          <a:bodyPr wrap="square">
            <a:spAutoFit/>
          </a:bodyPr>
          <a:lstStyle/>
          <a:p>
            <a:pPr algn="l"/>
            <a:r>
              <a:rPr b="1" i="0" dirty="0">
                <a:solidFill>
                  <a:srgbClr val="FFFFFF"/>
                </a:solidFill>
              </a:rPr>
              <a:t>Problem 6: </a:t>
            </a:r>
            <a:r>
              <a:rPr b="1" i="0" dirty="0" err="1">
                <a:solidFill>
                  <a:srgbClr val="FFFFFF"/>
                </a:solidFill>
              </a:rPr>
              <a:t>escalateIssue</a:t>
            </a:r>
            <a:r>
              <a:rPr b="1" i="0" dirty="0">
                <a:solidFill>
                  <a:srgbClr val="FFFFFF"/>
                </a:solidFill>
              </a:rPr>
              <a:t>() in </a:t>
            </a:r>
            <a:r>
              <a:rPr b="1" i="0" dirty="0" err="1">
                <a:solidFill>
                  <a:srgbClr val="FFFFFF"/>
                </a:solidFill>
              </a:rPr>
              <a:t>SupportTool.cfc</a:t>
            </a:r>
            <a:r>
              <a:rPr b="1" i="0" dirty="0">
                <a:solidFill>
                  <a:srgbClr val="FFFFFF"/>
                </a:solidFill>
              </a:rPr>
              <a:t> just returns a fake ticket number — no real action taken.</a:t>
            </a:r>
          </a:p>
        </p:txBody>
      </p:sp>
      <p:sp>
        <p:nvSpPr>
          <p:cNvPr id="5" name="TextBox 4"/>
          <p:cNvSpPr txBox="1"/>
          <p:nvPr/>
        </p:nvSpPr>
        <p:spPr>
          <a:xfrm>
            <a:off x="612648" y="2496312"/>
            <a:ext cx="11576304" cy="369332"/>
          </a:xfrm>
          <a:prstGeom prst="rect">
            <a:avLst/>
          </a:prstGeom>
          <a:noFill/>
        </p:spPr>
        <p:txBody>
          <a:bodyPr wrap="square">
            <a:spAutoFit/>
          </a:bodyPr>
          <a:lstStyle/>
          <a:p>
            <a:pPr algn="l"/>
            <a:r>
              <a:rPr b="0" i="1" dirty="0">
                <a:solidFill>
                  <a:srgbClr val="555555"/>
                </a:solidFill>
              </a:rPr>
              <a:t>Problem 4/5 code — escalation goes nowhere:</a:t>
            </a:r>
          </a:p>
        </p:txBody>
      </p:sp>
      <p:sp>
        <p:nvSpPr>
          <p:cNvPr id="6" name="TextBox 5"/>
          <p:cNvSpPr txBox="1"/>
          <p:nvPr/>
        </p:nvSpPr>
        <p:spPr>
          <a:xfrm>
            <a:off x="612648" y="2898648"/>
            <a:ext cx="11576304" cy="1631216"/>
          </a:xfrm>
          <a:prstGeom prst="rect">
            <a:avLst/>
          </a:prstGeom>
          <a:noFill/>
        </p:spPr>
        <p:txBody>
          <a:bodyPr wrap="square">
            <a:spAutoFit/>
          </a:bodyPr>
          <a:lstStyle/>
          <a:p>
            <a:pPr>
              <a:spcBef>
                <a:spcPts val="300"/>
              </a:spcBef>
            </a:pPr>
            <a:r>
              <a:rPr b="1" dirty="0">
                <a:solidFill>
                  <a:srgbClr val="00788C"/>
                </a:solidFill>
              </a:rPr>
              <a:t>Customer:  </a:t>
            </a:r>
            <a:r>
              <a:rPr dirty="0">
                <a:solidFill>
                  <a:srgbClr val="1A1A1A"/>
                </a:solidFill>
              </a:rPr>
              <a:t>My order #77654 arrived damaged. I want to escalate immediately.</a:t>
            </a:r>
          </a:p>
          <a:p>
            <a:pPr>
              <a:spcBef>
                <a:spcPts val="300"/>
              </a:spcBef>
            </a:pPr>
            <a:r>
              <a:rPr b="1" dirty="0">
                <a:solidFill>
                  <a:srgbClr val="EB1000"/>
                </a:solidFill>
              </a:rPr>
              <a:t>AI:  </a:t>
            </a:r>
            <a:r>
              <a:rPr dirty="0">
                <a:solidFill>
                  <a:srgbClr val="EB1000"/>
                </a:solidFill>
              </a:rPr>
              <a:t>"Ticket SUPPORT-4821 created." (No actual ticket exists, no one notified)  ❌</a:t>
            </a:r>
          </a:p>
          <a:p>
            <a:pPr>
              <a:spcBef>
                <a:spcPts val="300"/>
              </a:spcBef>
            </a:pPr>
            <a:r>
              <a:rPr b="1" dirty="0">
                <a:solidFill>
                  <a:srgbClr val="6330A0"/>
                </a:solidFill>
              </a:rPr>
              <a:t>Support Team:  </a:t>
            </a:r>
            <a:r>
              <a:rPr dirty="0">
                <a:solidFill>
                  <a:srgbClr val="EB1000"/>
                </a:solidFill>
              </a:rPr>
              <a:t>... (silence — no email, no notification, nothing)  ❌</a:t>
            </a:r>
          </a:p>
          <a:p>
            <a:pPr>
              <a:spcBef>
                <a:spcPts val="300"/>
              </a:spcBef>
            </a:pPr>
            <a:r>
              <a:rPr b="1" dirty="0">
                <a:solidFill>
                  <a:srgbClr val="00788C"/>
                </a:solidFill>
              </a:rPr>
              <a:t>Customer:  </a:t>
            </a:r>
            <a:r>
              <a:rPr dirty="0">
                <a:solidFill>
                  <a:srgbClr val="1A1A1A"/>
                </a:solidFill>
              </a:rPr>
              <a:t>(24 hours later) Why hasn't anyone contacted me?</a:t>
            </a:r>
          </a:p>
          <a:p>
            <a:pPr>
              <a:spcBef>
                <a:spcPts val="300"/>
              </a:spcBef>
            </a:pPr>
            <a:r>
              <a:rPr b="1" dirty="0">
                <a:solidFill>
                  <a:srgbClr val="EB1000"/>
                </a:solidFill>
              </a:rPr>
              <a:t>AI:  </a:t>
            </a:r>
            <a:r>
              <a:rPr dirty="0">
                <a:solidFill>
                  <a:srgbClr val="EB1000"/>
                </a:solidFill>
              </a:rPr>
              <a:t>"I can see ticket SUPPORT-4821 was created..." (doesn't exist)  ❌</a:t>
            </a:r>
          </a:p>
        </p:txBody>
      </p:sp>
      <p:sp>
        <p:nvSpPr>
          <p:cNvPr id="7" name="TextBox 6"/>
          <p:cNvSpPr txBox="1"/>
          <p:nvPr/>
        </p:nvSpPr>
        <p:spPr>
          <a:xfrm>
            <a:off x="612648" y="5193792"/>
            <a:ext cx="11576304" cy="369332"/>
          </a:xfrm>
          <a:prstGeom prst="rect">
            <a:avLst/>
          </a:prstGeom>
          <a:noFill/>
        </p:spPr>
        <p:txBody>
          <a:bodyPr wrap="square">
            <a:spAutoFit/>
          </a:bodyPr>
          <a:lstStyle/>
          <a:p>
            <a:pPr algn="l"/>
            <a:r>
              <a:rPr b="1" i="0" dirty="0">
                <a:solidFill>
                  <a:srgbClr val="107C10"/>
                </a:solidFill>
              </a:rPr>
              <a:t>Solution: Move escalation to MCP + </a:t>
            </a:r>
            <a:r>
              <a:rPr b="1" i="0" dirty="0" err="1">
                <a:solidFill>
                  <a:srgbClr val="107C10"/>
                </a:solidFill>
              </a:rPr>
              <a:t>TicketTool.cfc</a:t>
            </a:r>
            <a:r>
              <a:rPr b="1" i="0" dirty="0">
                <a:solidFill>
                  <a:srgbClr val="107C10"/>
                </a:solidFill>
              </a:rPr>
              <a:t> → real ticket ID + </a:t>
            </a:r>
            <a:r>
              <a:rPr b="1" i="0" dirty="0" err="1">
                <a:solidFill>
                  <a:srgbClr val="107C10"/>
                </a:solidFill>
              </a:rPr>
              <a:t>cfmail</a:t>
            </a:r>
            <a:r>
              <a:rPr b="1" i="0" dirty="0">
                <a:solidFill>
                  <a:srgbClr val="107C10"/>
                </a:solidFill>
              </a:rPr>
              <a:t> notification.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t>Problem </a:t>
            </a:r>
            <a:r>
              <a:rPr lang="en-US" sz="2400" b="1" dirty="0"/>
              <a:t>7</a:t>
            </a:r>
            <a:r>
              <a:rPr sz="2400" b="1" dirty="0"/>
              <a:t> — Solution: Escalation via MCP + Email</a:t>
            </a:r>
          </a:p>
        </p:txBody>
      </p:sp>
      <p:sp>
        <p:nvSpPr>
          <p:cNvPr id="4" name="TextBox 3"/>
          <p:cNvSpPr txBox="1"/>
          <p:nvPr/>
        </p:nvSpPr>
        <p:spPr>
          <a:xfrm>
            <a:off x="7699248" y="1417320"/>
            <a:ext cx="4251960" cy="4362733"/>
          </a:xfrm>
          <a:prstGeom prst="rect">
            <a:avLst/>
          </a:prstGeom>
          <a:noFill/>
        </p:spPr>
        <p:txBody>
          <a:bodyPr wrap="square">
            <a:spAutoFit/>
          </a:bodyPr>
          <a:lstStyle/>
          <a:p>
            <a:pPr>
              <a:spcBef>
                <a:spcPts val="300"/>
              </a:spcBef>
            </a:pPr>
            <a:r>
              <a:rPr b="1" dirty="0">
                <a:solidFill>
                  <a:srgbClr val="EB1000"/>
                </a:solidFill>
              </a:rPr>
              <a:t>What changed:</a:t>
            </a:r>
          </a:p>
          <a:p>
            <a:pPr>
              <a:spcBef>
                <a:spcPts val="300"/>
              </a:spcBef>
            </a:pPr>
            <a:r>
              <a:rPr dirty="0">
                <a:solidFill>
                  <a:srgbClr val="555555"/>
                </a:solidFill>
              </a:rPr>
              <a:t>  </a:t>
            </a:r>
            <a:r>
              <a:rPr dirty="0" err="1"/>
              <a:t>McpClient</a:t>
            </a:r>
            <a:r>
              <a:rPr dirty="0"/>
              <a:t>() added — MCP connection</a:t>
            </a:r>
          </a:p>
          <a:p>
            <a:pPr>
              <a:spcBef>
                <a:spcPts val="300"/>
              </a:spcBef>
            </a:pPr>
            <a:r>
              <a:rPr dirty="0"/>
              <a:t>  TOOLS now mixes CFC + MCP client</a:t>
            </a:r>
          </a:p>
          <a:p>
            <a:pPr>
              <a:spcBef>
                <a:spcPts val="300"/>
              </a:spcBef>
            </a:pPr>
            <a:r>
              <a:rPr dirty="0"/>
              <a:t>  </a:t>
            </a:r>
            <a:r>
              <a:rPr dirty="0" err="1"/>
              <a:t>escalateIssue</a:t>
            </a:r>
            <a:r>
              <a:rPr dirty="0"/>
              <a:t> replaced by </a:t>
            </a:r>
            <a:r>
              <a:rPr dirty="0" err="1"/>
              <a:t>fileTicket</a:t>
            </a:r>
            <a:endParaRPr dirty="0"/>
          </a:p>
          <a:p>
            <a:pPr>
              <a:spcBef>
                <a:spcPts val="300"/>
              </a:spcBef>
            </a:pPr>
            <a:endParaRPr dirty="0">
              <a:solidFill>
                <a:srgbClr val="555555"/>
              </a:solidFill>
            </a:endParaRPr>
          </a:p>
          <a:p>
            <a:pPr>
              <a:spcBef>
                <a:spcPts val="300"/>
              </a:spcBef>
            </a:pPr>
            <a:r>
              <a:rPr b="1" dirty="0">
                <a:solidFill>
                  <a:srgbClr val="EB1000"/>
                </a:solidFill>
              </a:rPr>
              <a:t>The full </a:t>
            </a:r>
            <a:r>
              <a:rPr b="1" dirty="0" err="1">
                <a:solidFill>
                  <a:srgbClr val="EB1000"/>
                </a:solidFill>
              </a:rPr>
              <a:t>Nexora</a:t>
            </a:r>
            <a:r>
              <a:rPr b="1" dirty="0">
                <a:solidFill>
                  <a:srgbClr val="EB1000"/>
                </a:solidFill>
              </a:rPr>
              <a:t> stack:</a:t>
            </a:r>
          </a:p>
          <a:p>
            <a:pPr>
              <a:spcBef>
                <a:spcPts val="300"/>
              </a:spcBef>
            </a:pPr>
            <a:r>
              <a:rPr dirty="0">
                <a:solidFill>
                  <a:srgbClr val="555555"/>
                </a:solidFill>
              </a:rPr>
              <a:t>  </a:t>
            </a:r>
            <a:r>
              <a:rPr dirty="0" err="1"/>
              <a:t>ChatModel</a:t>
            </a:r>
            <a:r>
              <a:rPr dirty="0"/>
              <a:t>() → OpenAI GPT-4o-mini</a:t>
            </a:r>
          </a:p>
          <a:p>
            <a:pPr>
              <a:spcBef>
                <a:spcPts val="300"/>
              </a:spcBef>
            </a:pPr>
            <a:r>
              <a:rPr dirty="0"/>
              <a:t>  </a:t>
            </a:r>
            <a:r>
              <a:rPr dirty="0" err="1"/>
              <a:t>systemMessage</a:t>
            </a:r>
            <a:r>
              <a:rPr dirty="0"/>
              <a:t>() → Acme identity</a:t>
            </a:r>
          </a:p>
          <a:p>
            <a:pPr>
              <a:spcBef>
                <a:spcPts val="300"/>
              </a:spcBef>
            </a:pPr>
            <a:r>
              <a:rPr dirty="0"/>
              <a:t>  CHATMEMORY → 20-turn history</a:t>
            </a:r>
          </a:p>
          <a:p>
            <a:pPr>
              <a:spcBef>
                <a:spcPts val="300"/>
              </a:spcBef>
            </a:pPr>
            <a:r>
              <a:rPr dirty="0"/>
              <a:t>  OUTPUTGUARDRAIL → PII filter</a:t>
            </a:r>
          </a:p>
          <a:p>
            <a:pPr>
              <a:spcBef>
                <a:spcPts val="300"/>
              </a:spcBef>
            </a:pPr>
            <a:r>
              <a:rPr dirty="0"/>
              <a:t>  </a:t>
            </a:r>
            <a:r>
              <a:rPr dirty="0" err="1"/>
              <a:t>SupportTool</a:t>
            </a:r>
            <a:r>
              <a:rPr dirty="0"/>
              <a:t> (CFC) → order lookup</a:t>
            </a:r>
            <a:endParaRPr lang="en-US" dirty="0"/>
          </a:p>
          <a:p>
            <a:pPr>
              <a:spcBef>
                <a:spcPts val="300"/>
              </a:spcBef>
            </a:pPr>
            <a:r>
              <a:rPr lang="en-US" dirty="0"/>
              <a:t>  STREAMINGHANDLER  →  observability</a:t>
            </a:r>
            <a:endParaRPr dirty="0"/>
          </a:p>
          <a:p>
            <a:pPr>
              <a:spcBef>
                <a:spcPts val="300"/>
              </a:spcBef>
            </a:pPr>
            <a:r>
              <a:rPr dirty="0">
                <a:solidFill>
                  <a:srgbClr val="107C10"/>
                </a:solidFill>
              </a:rPr>
              <a:t>  </a:t>
            </a:r>
            <a:r>
              <a:rPr dirty="0" err="1">
                <a:solidFill>
                  <a:srgbClr val="107C10"/>
                </a:solidFill>
              </a:rPr>
              <a:t>McpClient</a:t>
            </a:r>
            <a:r>
              <a:rPr dirty="0">
                <a:solidFill>
                  <a:srgbClr val="107C10"/>
                </a:solidFill>
              </a:rPr>
              <a:t> → </a:t>
            </a:r>
            <a:r>
              <a:rPr dirty="0" err="1">
                <a:solidFill>
                  <a:srgbClr val="107C10"/>
                </a:solidFill>
              </a:rPr>
              <a:t>fileTicket</a:t>
            </a:r>
            <a:r>
              <a:rPr dirty="0">
                <a:solidFill>
                  <a:srgbClr val="107C10"/>
                </a:solidFill>
              </a:rPr>
              <a:t>() → email  ✓</a:t>
            </a:r>
          </a:p>
          <a:p>
            <a:pPr>
              <a:spcBef>
                <a:spcPts val="300"/>
              </a:spcBef>
            </a:pPr>
            <a:endParaRPr sz="1100" dirty="0">
              <a:solidFill>
                <a:srgbClr val="107C10"/>
              </a:solidFill>
            </a:endParaRPr>
          </a:p>
        </p:txBody>
      </p:sp>
      <p:sp>
        <p:nvSpPr>
          <p:cNvPr id="7" name="TextBox 6"/>
          <p:cNvSpPr txBox="1"/>
          <p:nvPr/>
        </p:nvSpPr>
        <p:spPr>
          <a:xfrm>
            <a:off x="612648" y="1216152"/>
            <a:ext cx="6621529" cy="2440861"/>
          </a:xfrm>
          <a:prstGeom prst="rect">
            <a:avLst/>
          </a:prstGeom>
          <a:solidFill>
            <a:srgbClr val="000000"/>
          </a:solidFill>
        </p:spPr>
        <p:txBody>
          <a:bodyPr wrap="square" lIns="109728" tIns="82296" bIns="64008">
            <a:spAutoFit/>
          </a:bodyPr>
          <a:lstStyle/>
          <a:p>
            <a:pPr>
              <a:lnSpc>
                <a:spcPct val="115000"/>
              </a:lnSpc>
              <a:spcBef>
                <a:spcPts val="0"/>
              </a:spcBef>
            </a:pPr>
            <a:r>
              <a:rPr sz="1300" b="0" dirty="0">
                <a:solidFill>
                  <a:srgbClr val="6A9955"/>
                </a:solidFill>
                <a:latin typeface="Courier New"/>
              </a:rPr>
              <a:t>// 1. Connect to MCP server (HTTP transport)</a:t>
            </a:r>
          </a:p>
          <a:p>
            <a:pPr>
              <a:lnSpc>
                <a:spcPct val="115000"/>
              </a:lnSpc>
              <a:spcBef>
                <a:spcPts val="0"/>
              </a:spcBef>
            </a:pPr>
            <a:r>
              <a:rPr sz="1300" b="0" dirty="0" err="1">
                <a:solidFill>
                  <a:srgbClr val="9CDCFE"/>
                </a:solidFill>
                <a:latin typeface="Courier New"/>
              </a:rPr>
              <a:t>mcpServerUrl</a:t>
            </a:r>
            <a:r>
              <a:rPr sz="1300" b="0" dirty="0">
                <a:solidFill>
                  <a:srgbClr val="D4D4D4"/>
                </a:solidFill>
                <a:latin typeface="Courier New"/>
              </a:rPr>
              <a:t> = </a:t>
            </a:r>
            <a:r>
              <a:rPr sz="1300" b="0" dirty="0">
                <a:solidFill>
                  <a:srgbClr val="CE9178"/>
                </a:solidFill>
                <a:latin typeface="Courier New"/>
              </a:rPr>
              <a:t>"http://"</a:t>
            </a:r>
            <a:r>
              <a:rPr sz="1300" b="0" dirty="0">
                <a:solidFill>
                  <a:srgbClr val="D4D4D4"/>
                </a:solidFill>
                <a:latin typeface="Courier New"/>
              </a:rPr>
              <a:t> &amp; </a:t>
            </a:r>
            <a:r>
              <a:rPr sz="1300" b="0" dirty="0" err="1">
                <a:solidFill>
                  <a:srgbClr val="9CDCFE"/>
                </a:solidFill>
                <a:latin typeface="Courier New"/>
              </a:rPr>
              <a:t>cgi</a:t>
            </a:r>
            <a:r>
              <a:rPr sz="1300" b="0" dirty="0" err="1">
                <a:solidFill>
                  <a:srgbClr val="D4D4D4"/>
                </a:solidFill>
                <a:latin typeface="Courier New"/>
              </a:rPr>
              <a:t>.</a:t>
            </a:r>
            <a:r>
              <a:rPr sz="1300" b="0" dirty="0" err="1">
                <a:solidFill>
                  <a:srgbClr val="9CDCFE"/>
                </a:solidFill>
                <a:latin typeface="Courier New"/>
              </a:rPr>
              <a:t>SERVER_NAME</a:t>
            </a:r>
            <a:endParaRPr sz="1300" b="0" dirty="0">
              <a:solidFill>
                <a:srgbClr val="9CDCFE"/>
              </a:solidFill>
              <a:latin typeface="Courier New"/>
            </a:endParaRPr>
          </a:p>
          <a:p>
            <a:pPr>
              <a:lnSpc>
                <a:spcPct val="115000"/>
              </a:lnSpc>
              <a:spcBef>
                <a:spcPts val="0"/>
              </a:spcBef>
            </a:pPr>
            <a:r>
              <a:rPr sz="1300" b="0" dirty="0">
                <a:solidFill>
                  <a:srgbClr val="D4D4D4"/>
                </a:solidFill>
                <a:latin typeface="Courier New"/>
              </a:rPr>
              <a:t>             &amp; </a:t>
            </a:r>
            <a:r>
              <a:rPr sz="1300" b="0" dirty="0">
                <a:solidFill>
                  <a:srgbClr val="CE9178"/>
                </a:solidFill>
                <a:latin typeface="Courier New"/>
              </a:rPr>
              <a:t>"/</a:t>
            </a:r>
            <a:r>
              <a:rPr sz="1300" b="0" dirty="0" err="1">
                <a:solidFill>
                  <a:srgbClr val="CE9178"/>
                </a:solidFill>
                <a:latin typeface="Courier New"/>
              </a:rPr>
              <a:t>aiTesting</a:t>
            </a:r>
            <a:r>
              <a:rPr sz="1300" b="0" dirty="0">
                <a:solidFill>
                  <a:srgbClr val="CE9178"/>
                </a:solidFill>
                <a:latin typeface="Courier New"/>
              </a:rPr>
              <a:t>/</a:t>
            </a:r>
            <a:r>
              <a:rPr sz="1300" b="0" dirty="0" err="1">
                <a:solidFill>
                  <a:srgbClr val="CE9178"/>
                </a:solidFill>
                <a:latin typeface="Courier New"/>
              </a:rPr>
              <a:t>nexora</a:t>
            </a:r>
            <a:r>
              <a:rPr sz="1300" b="0" dirty="0">
                <a:solidFill>
                  <a:srgbClr val="CE9178"/>
                </a:solidFill>
                <a:latin typeface="Courier New"/>
              </a:rPr>
              <a:t>/</a:t>
            </a:r>
            <a:r>
              <a:rPr sz="1300" b="0" dirty="0" err="1">
                <a:solidFill>
                  <a:srgbClr val="CE9178"/>
                </a:solidFill>
                <a:latin typeface="Courier New"/>
              </a:rPr>
              <a:t>mcp</a:t>
            </a:r>
            <a:r>
              <a:rPr sz="1300" b="0" dirty="0">
                <a:solidFill>
                  <a:srgbClr val="CE9178"/>
                </a:solidFill>
                <a:latin typeface="Courier New"/>
              </a:rPr>
              <a:t>/</a:t>
            </a:r>
            <a:r>
              <a:rPr sz="1300" b="0" dirty="0" err="1">
                <a:solidFill>
                  <a:srgbClr val="CE9178"/>
                </a:solidFill>
                <a:latin typeface="Courier New"/>
              </a:rPr>
              <a:t>server.cfm</a:t>
            </a:r>
            <a:r>
              <a:rPr sz="1300" b="0" dirty="0">
                <a:solidFill>
                  <a:srgbClr val="CE9178"/>
                </a:solidFill>
                <a:latin typeface="Courier New"/>
              </a:rPr>
              <a:t>"</a:t>
            </a:r>
            <a:r>
              <a:rPr sz="1300" b="0" dirty="0">
                <a:solidFill>
                  <a:srgbClr val="D4D4D4"/>
                </a:solidFill>
                <a:latin typeface="Courier New"/>
              </a:rPr>
              <a:t>;</a:t>
            </a:r>
          </a:p>
          <a:p>
            <a:pPr>
              <a:lnSpc>
                <a:spcPct val="115000"/>
              </a:lnSpc>
              <a:spcBef>
                <a:spcPts val="0"/>
              </a:spcBef>
            </a:pPr>
            <a:endParaRPr sz="1300" b="0" dirty="0">
              <a:solidFill>
                <a:srgbClr val="D4D4D4"/>
              </a:solidFill>
              <a:latin typeface="Courier New"/>
            </a:endParaRPr>
          </a:p>
          <a:p>
            <a:pPr>
              <a:lnSpc>
                <a:spcPct val="115000"/>
              </a:lnSpc>
              <a:spcBef>
                <a:spcPts val="0"/>
              </a:spcBef>
            </a:pPr>
            <a:r>
              <a:rPr sz="1300" b="0" dirty="0" err="1">
                <a:solidFill>
                  <a:srgbClr val="9CDCFE"/>
                </a:solidFill>
                <a:latin typeface="Courier New"/>
              </a:rPr>
              <a:t>mcpClient</a:t>
            </a:r>
            <a:r>
              <a:rPr sz="1300" b="0" dirty="0">
                <a:solidFill>
                  <a:srgbClr val="D4D4D4"/>
                </a:solidFill>
                <a:latin typeface="Courier New"/>
              </a:rPr>
              <a:t> = </a:t>
            </a:r>
            <a:r>
              <a:rPr sz="1300" b="0" dirty="0" err="1">
                <a:solidFill>
                  <a:srgbClr val="4EC9B0"/>
                </a:solidFill>
                <a:latin typeface="Courier New"/>
              </a:rPr>
              <a:t>McpClient</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a:solidFill>
                  <a:srgbClr val="9CDCFE"/>
                </a:solidFill>
                <a:latin typeface="Courier New"/>
              </a:rPr>
              <a:t>transport</a:t>
            </a:r>
            <a:r>
              <a:rPr sz="1300" b="0" dirty="0">
                <a:solidFill>
                  <a:srgbClr val="D4D4D4"/>
                </a:solidFill>
                <a:latin typeface="Courier New"/>
              </a:rPr>
              <a:t>  : { </a:t>
            </a:r>
            <a:r>
              <a:rPr sz="1300" b="0" dirty="0" err="1">
                <a:solidFill>
                  <a:srgbClr val="9CDCFE"/>
                </a:solidFill>
                <a:latin typeface="Courier New"/>
              </a:rPr>
              <a:t>type</a:t>
            </a:r>
            <a:r>
              <a:rPr sz="1300" b="0" dirty="0" err="1">
                <a:solidFill>
                  <a:srgbClr val="D4D4D4"/>
                </a:solidFill>
                <a:latin typeface="Courier New"/>
              </a:rPr>
              <a:t>:</a:t>
            </a:r>
            <a:r>
              <a:rPr sz="1300" b="0" dirty="0" err="1">
                <a:solidFill>
                  <a:srgbClr val="CE9178"/>
                </a:solidFill>
                <a:latin typeface="Courier New"/>
              </a:rPr>
              <a:t>"HTTP</a:t>
            </a:r>
            <a:r>
              <a:rPr sz="1300" b="0" dirty="0">
                <a:solidFill>
                  <a:srgbClr val="CE9178"/>
                </a:solidFill>
                <a:latin typeface="Courier New"/>
              </a:rPr>
              <a:t>"</a:t>
            </a:r>
            <a:r>
              <a:rPr sz="1300" b="0" dirty="0">
                <a:solidFill>
                  <a:srgbClr val="D4D4D4"/>
                </a:solidFill>
                <a:latin typeface="Courier New"/>
              </a:rPr>
              <a:t>, </a:t>
            </a:r>
            <a:r>
              <a:rPr sz="1300" b="0" dirty="0" err="1">
                <a:solidFill>
                  <a:srgbClr val="9CDCFE"/>
                </a:solidFill>
                <a:latin typeface="Courier New"/>
              </a:rPr>
              <a:t>URL</a:t>
            </a:r>
            <a:r>
              <a:rPr sz="1300" b="0" dirty="0" err="1">
                <a:solidFill>
                  <a:srgbClr val="D4D4D4"/>
                </a:solidFill>
                <a:latin typeface="Courier New"/>
              </a:rPr>
              <a:t>:</a:t>
            </a:r>
            <a:r>
              <a:rPr sz="1300" b="0" dirty="0" err="1">
                <a:solidFill>
                  <a:srgbClr val="9CDCFE"/>
                </a:solidFill>
                <a:latin typeface="Courier New"/>
              </a:rPr>
              <a:t>mcpServerUrl</a:t>
            </a:r>
            <a:r>
              <a:rPr sz="1300" b="0" dirty="0">
                <a:solidFill>
                  <a:srgbClr val="D4D4D4"/>
                </a:solidFill>
                <a:latin typeface="Courier New"/>
              </a:rPr>
              <a:t> },</a:t>
            </a:r>
          </a:p>
          <a:p>
            <a:pPr>
              <a:lnSpc>
                <a:spcPct val="115000"/>
              </a:lnSpc>
              <a:spcBef>
                <a:spcPts val="0"/>
              </a:spcBef>
            </a:pPr>
            <a:r>
              <a:rPr sz="1300" b="0" dirty="0">
                <a:solidFill>
                  <a:srgbClr val="D4D4D4"/>
                </a:solidFill>
                <a:latin typeface="Courier New"/>
              </a:rPr>
              <a:t>    </a:t>
            </a:r>
            <a:r>
              <a:rPr sz="1300" b="0" dirty="0" err="1">
                <a:solidFill>
                  <a:srgbClr val="9CDCFE"/>
                </a:solidFill>
                <a:latin typeface="Courier New"/>
              </a:rPr>
              <a:t>clientInfo</a:t>
            </a:r>
            <a:r>
              <a:rPr sz="1300" b="0" dirty="0">
                <a:solidFill>
                  <a:srgbClr val="D4D4D4"/>
                </a:solidFill>
                <a:latin typeface="Courier New"/>
              </a:rPr>
              <a:t> : { </a:t>
            </a:r>
            <a:r>
              <a:rPr sz="1300" b="0" dirty="0">
                <a:solidFill>
                  <a:srgbClr val="9CDCFE"/>
                </a:solidFill>
                <a:latin typeface="Courier New"/>
              </a:rPr>
              <a:t>name</a:t>
            </a:r>
            <a:r>
              <a:rPr sz="1300" b="0" dirty="0">
                <a:solidFill>
                  <a:srgbClr val="D4D4D4"/>
                </a:solidFill>
                <a:latin typeface="Courier New"/>
              </a:rPr>
              <a:t>:</a:t>
            </a:r>
            <a:r>
              <a:rPr sz="1300" b="0" dirty="0">
                <a:solidFill>
                  <a:srgbClr val="CE9178"/>
                </a:solidFill>
                <a:latin typeface="Courier New"/>
              </a:rPr>
              <a:t>"</a:t>
            </a:r>
            <a:r>
              <a:rPr sz="1300" b="0" dirty="0" err="1">
                <a:solidFill>
                  <a:srgbClr val="CE9178"/>
                </a:solidFill>
                <a:latin typeface="Courier New"/>
              </a:rPr>
              <a:t>nexora</a:t>
            </a:r>
            <a:r>
              <a:rPr sz="1300" b="0" dirty="0">
                <a:solidFill>
                  <a:srgbClr val="CE9178"/>
                </a:solidFill>
                <a:latin typeface="Courier New"/>
              </a:rPr>
              <a:t>-client"</a:t>
            </a:r>
            <a:r>
              <a:rPr sz="1300" b="0" dirty="0">
                <a:solidFill>
                  <a:srgbClr val="D4D4D4"/>
                </a:solidFill>
                <a:latin typeface="Courier New"/>
              </a:rPr>
              <a:t>, </a:t>
            </a:r>
            <a:r>
              <a:rPr sz="1300" b="0" dirty="0">
                <a:solidFill>
                  <a:srgbClr val="9CDCFE"/>
                </a:solidFill>
                <a:latin typeface="Courier New"/>
              </a:rPr>
              <a:t>version</a:t>
            </a:r>
            <a:r>
              <a:rPr sz="1300" b="0" dirty="0">
                <a:solidFill>
                  <a:srgbClr val="D4D4D4"/>
                </a:solidFill>
                <a:latin typeface="Courier New"/>
              </a:rPr>
              <a:t>:</a:t>
            </a:r>
            <a:r>
              <a:rPr sz="1300" b="0" dirty="0">
                <a:solidFill>
                  <a:srgbClr val="CE9178"/>
                </a:solidFill>
                <a:latin typeface="Courier New"/>
              </a:rPr>
              <a:t>"1.0"</a:t>
            </a:r>
            <a:r>
              <a:rPr sz="1300" b="0" dirty="0">
                <a:solidFill>
                  <a:srgbClr val="D4D4D4"/>
                </a:solidFill>
                <a:latin typeface="Courier New"/>
              </a:rPr>
              <a:t>},</a:t>
            </a:r>
          </a:p>
          <a:p>
            <a:pPr>
              <a:lnSpc>
                <a:spcPct val="115000"/>
              </a:lnSpc>
              <a:spcBef>
                <a:spcPts val="0"/>
              </a:spcBef>
            </a:pPr>
            <a:r>
              <a:rPr sz="1300" b="0" dirty="0">
                <a:solidFill>
                  <a:srgbClr val="D4D4D4"/>
                </a:solidFill>
                <a:latin typeface="Courier New"/>
              </a:rPr>
              <a:t>    </a:t>
            </a:r>
            <a:r>
              <a:rPr sz="1300" b="0" dirty="0" err="1">
                <a:solidFill>
                  <a:srgbClr val="9CDCFE"/>
                </a:solidFill>
                <a:latin typeface="Courier New"/>
              </a:rPr>
              <a:t>requestTimeout</a:t>
            </a:r>
            <a:r>
              <a:rPr sz="1300" b="0" dirty="0">
                <a:solidFill>
                  <a:srgbClr val="D4D4D4"/>
                </a:solidFill>
                <a:latin typeface="Courier New"/>
              </a:rPr>
              <a:t>: </a:t>
            </a:r>
            <a:r>
              <a:rPr sz="1300" b="0" dirty="0">
                <a:solidFill>
                  <a:srgbClr val="B5CEA8"/>
                </a:solidFill>
                <a:latin typeface="Courier New"/>
              </a:rPr>
              <a:t>30</a:t>
            </a:r>
            <a:endParaRPr lang="en-US" sz="1300" b="0" dirty="0">
              <a:solidFill>
                <a:srgbClr val="B5CEA8"/>
              </a:solidFill>
              <a:latin typeface="Courier New"/>
            </a:endParaRPr>
          </a:p>
          <a:p>
            <a:pPr>
              <a:lnSpc>
                <a:spcPct val="115000"/>
              </a:lnSpc>
              <a:spcBef>
                <a:spcPts val="0"/>
              </a:spcBef>
            </a:pPr>
            <a:endParaRPr sz="1300" b="0" dirty="0">
              <a:solidFill>
                <a:srgbClr val="B5CEA8"/>
              </a:solidFill>
              <a:latin typeface="Courier New"/>
            </a:endParaRPr>
          </a:p>
          <a:p>
            <a:pPr>
              <a:lnSpc>
                <a:spcPct val="115000"/>
              </a:lnSpc>
              <a:spcBef>
                <a:spcPts val="0"/>
              </a:spcBef>
            </a:pPr>
            <a:r>
              <a:rPr sz="1300" b="0" dirty="0">
                <a:solidFill>
                  <a:srgbClr val="D4D4D4"/>
                </a:solidFill>
                <a:latin typeface="Courier New"/>
              </a:rPr>
              <a:t>});</a:t>
            </a:r>
          </a:p>
        </p:txBody>
      </p:sp>
      <p:sp>
        <p:nvSpPr>
          <p:cNvPr id="8" name="TextBox 7"/>
          <p:cNvSpPr txBox="1"/>
          <p:nvPr/>
        </p:nvSpPr>
        <p:spPr>
          <a:xfrm>
            <a:off x="609599" y="3840480"/>
            <a:ext cx="6621529" cy="2901564"/>
          </a:xfrm>
          <a:prstGeom prst="rect">
            <a:avLst/>
          </a:prstGeom>
          <a:solidFill>
            <a:srgbClr val="000000"/>
          </a:solidFill>
        </p:spPr>
        <p:txBody>
          <a:bodyPr wrap="square" lIns="109728" tIns="82296" bIns="64008">
            <a:spAutoFit/>
          </a:bodyPr>
          <a:lstStyle/>
          <a:p>
            <a:pPr>
              <a:lnSpc>
                <a:spcPct val="115000"/>
              </a:lnSpc>
              <a:spcBef>
                <a:spcPts val="0"/>
              </a:spcBef>
            </a:pPr>
            <a:r>
              <a:rPr sz="1200" b="0" dirty="0">
                <a:solidFill>
                  <a:srgbClr val="6A9955"/>
                </a:solidFill>
                <a:latin typeface="Courier New"/>
              </a:rPr>
              <a:t>// 2. Mix CFC tool (direct) + MCP tool (network)</a:t>
            </a:r>
          </a:p>
          <a:p>
            <a:pPr>
              <a:lnSpc>
                <a:spcPct val="115000"/>
              </a:lnSpc>
              <a:spcBef>
                <a:spcPts val="0"/>
              </a:spcBef>
            </a:pPr>
            <a:r>
              <a:rPr sz="1200" b="0" dirty="0" err="1">
                <a:solidFill>
                  <a:srgbClr val="9CDCFE"/>
                </a:solidFill>
                <a:latin typeface="Courier New"/>
              </a:rPr>
              <a:t>supportTool</a:t>
            </a:r>
            <a:r>
              <a:rPr sz="1200" b="0" dirty="0">
                <a:solidFill>
                  <a:srgbClr val="D4D4D4"/>
                </a:solidFill>
                <a:latin typeface="Courier New"/>
              </a:rPr>
              <a:t> = </a:t>
            </a:r>
            <a:r>
              <a:rPr sz="1200" b="0" dirty="0" err="1">
                <a:solidFill>
                  <a:srgbClr val="4EC9B0"/>
                </a:solidFill>
                <a:latin typeface="Courier New"/>
              </a:rPr>
              <a:t>createObject</a:t>
            </a:r>
            <a:r>
              <a:rPr sz="1200" b="0" dirty="0">
                <a:solidFill>
                  <a:srgbClr val="D4D4D4"/>
                </a:solidFill>
                <a:latin typeface="Courier New"/>
              </a:rPr>
              <a:t>(</a:t>
            </a:r>
            <a:r>
              <a:rPr sz="1200" b="0" dirty="0">
                <a:solidFill>
                  <a:srgbClr val="CE9178"/>
                </a:solidFill>
                <a:latin typeface="Courier New"/>
              </a:rPr>
              <a:t>"component"</a:t>
            </a:r>
            <a:r>
              <a:rPr sz="1200" b="0" dirty="0">
                <a:solidFill>
                  <a:srgbClr val="D4D4D4"/>
                </a:solidFill>
                <a:latin typeface="Courier New"/>
              </a:rPr>
              <a:t>,</a:t>
            </a:r>
            <a:r>
              <a:rPr sz="1200" b="0" dirty="0">
                <a:solidFill>
                  <a:srgbClr val="CE9178"/>
                </a:solidFill>
                <a:latin typeface="Courier New"/>
              </a:rPr>
              <a:t>"</a:t>
            </a:r>
            <a:r>
              <a:rPr sz="1200" b="0" dirty="0" err="1">
                <a:solidFill>
                  <a:srgbClr val="CE9178"/>
                </a:solidFill>
                <a:latin typeface="Courier New"/>
              </a:rPr>
              <a:t>SupportTool</a:t>
            </a:r>
            <a:r>
              <a:rPr sz="1200" b="0" dirty="0">
                <a:solidFill>
                  <a:srgbClr val="CE9178"/>
                </a:solidFill>
                <a:latin typeface="Courier New"/>
              </a:rPr>
              <a:t>"</a:t>
            </a:r>
            <a:r>
              <a:rPr sz="1200" b="0" dirty="0">
                <a:solidFill>
                  <a:srgbClr val="D4D4D4"/>
                </a:solidFill>
                <a:latin typeface="Courier New"/>
              </a:rPr>
              <a:t>);</a:t>
            </a:r>
          </a:p>
          <a:p>
            <a:pPr>
              <a:lnSpc>
                <a:spcPct val="115000"/>
              </a:lnSpc>
              <a:spcBef>
                <a:spcPts val="0"/>
              </a:spcBef>
            </a:pPr>
            <a:endParaRPr sz="1200" b="0" dirty="0">
              <a:solidFill>
                <a:srgbClr val="D4D4D4"/>
              </a:solidFill>
              <a:latin typeface="Courier New"/>
            </a:endParaRPr>
          </a:p>
          <a:p>
            <a:pPr>
              <a:lnSpc>
                <a:spcPct val="115000"/>
              </a:lnSpc>
              <a:spcBef>
                <a:spcPts val="0"/>
              </a:spcBef>
            </a:pPr>
            <a:r>
              <a:rPr sz="1200" b="0" dirty="0">
                <a:solidFill>
                  <a:srgbClr val="9CDCFE"/>
                </a:solidFill>
                <a:latin typeface="Courier New"/>
              </a:rPr>
              <a:t>session</a:t>
            </a:r>
            <a:r>
              <a:rPr sz="1200" b="0" dirty="0">
                <a:solidFill>
                  <a:srgbClr val="D4D4D4"/>
                </a:solidFill>
                <a:latin typeface="Courier New"/>
              </a:rPr>
              <a:t>.</a:t>
            </a:r>
            <a:r>
              <a:rPr lang="en-US" sz="1200" dirty="0">
                <a:solidFill>
                  <a:srgbClr val="9CDCFE"/>
                </a:solidFill>
                <a:latin typeface="Courier New"/>
              </a:rPr>
              <a:t>nexora</a:t>
            </a:r>
            <a:r>
              <a:rPr sz="1200" b="0" dirty="0">
                <a:solidFill>
                  <a:srgbClr val="9CDCFE"/>
                </a:solidFill>
                <a:latin typeface="Courier New"/>
              </a:rPr>
              <a:t>Problem6AI</a:t>
            </a:r>
            <a:r>
              <a:rPr sz="1200" b="0" dirty="0">
                <a:solidFill>
                  <a:srgbClr val="D4D4D4"/>
                </a:solidFill>
                <a:latin typeface="Courier New"/>
              </a:rPr>
              <a:t> = </a:t>
            </a:r>
            <a:r>
              <a:rPr sz="1200" b="0" dirty="0">
                <a:solidFill>
                  <a:srgbClr val="4EC9B0"/>
                </a:solidFill>
                <a:latin typeface="Courier New"/>
              </a:rPr>
              <a:t>agent</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CHATMODEL</a:t>
            </a:r>
            <a:r>
              <a:rPr sz="1200" b="0" dirty="0">
                <a:solidFill>
                  <a:srgbClr val="D4D4D4"/>
                </a:solidFill>
                <a:latin typeface="Courier New"/>
              </a:rPr>
              <a:t>  : </a:t>
            </a:r>
            <a:r>
              <a:rPr sz="1200" b="0" dirty="0" err="1">
                <a:solidFill>
                  <a:srgbClr val="9CDCFE"/>
                </a:solidFill>
                <a:latin typeface="Courier New"/>
              </a:rPr>
              <a:t>chatModel</a:t>
            </a:r>
            <a:r>
              <a:rPr sz="1200" b="0" dirty="0">
                <a:solidFill>
                  <a:srgbClr val="D4D4D4"/>
                </a:solidFill>
                <a:latin typeface="Courier New"/>
              </a:rPr>
              <a:t>,</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CHATMEMORY</a:t>
            </a:r>
            <a:r>
              <a:rPr sz="1200" b="0" dirty="0">
                <a:solidFill>
                  <a:srgbClr val="D4D4D4"/>
                </a:solidFill>
                <a:latin typeface="Courier New"/>
              </a:rPr>
              <a:t> : { </a:t>
            </a:r>
            <a:r>
              <a:rPr sz="1200" b="0" dirty="0">
                <a:solidFill>
                  <a:srgbClr val="9CDCFE"/>
                </a:solidFill>
                <a:latin typeface="Courier New"/>
              </a:rPr>
              <a:t>MAXMESSAGES</a:t>
            </a:r>
            <a:r>
              <a:rPr sz="1200" b="0" dirty="0">
                <a:solidFill>
                  <a:srgbClr val="D4D4D4"/>
                </a:solidFill>
                <a:latin typeface="Courier New"/>
              </a:rPr>
              <a:t>: </a:t>
            </a:r>
            <a:r>
              <a:rPr sz="1200" b="0" dirty="0">
                <a:solidFill>
                  <a:srgbClr val="B5CEA8"/>
                </a:solidFill>
                <a:latin typeface="Courier New"/>
              </a:rPr>
              <a:t>20</a:t>
            </a: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    </a:t>
            </a:r>
            <a:r>
              <a:rPr sz="1200" b="0" dirty="0">
                <a:solidFill>
                  <a:srgbClr val="9CDCFE"/>
                </a:solidFill>
                <a:latin typeface="Courier New"/>
              </a:rPr>
              <a:t>TOOLS</a:t>
            </a:r>
            <a:r>
              <a:rPr sz="1200" b="0" dirty="0">
                <a:solidFill>
                  <a:srgbClr val="D4D4D4"/>
                </a:solidFill>
                <a:latin typeface="Courier New"/>
              </a:rPr>
              <a:t>      : [</a:t>
            </a:r>
          </a:p>
          <a:p>
            <a:pPr>
              <a:lnSpc>
                <a:spcPct val="115000"/>
              </a:lnSpc>
              <a:spcBef>
                <a:spcPts val="0"/>
              </a:spcBef>
            </a:pPr>
            <a:r>
              <a:rPr sz="1200" b="0" dirty="0">
                <a:solidFill>
                  <a:srgbClr val="D4D4D4"/>
                </a:solidFill>
                <a:latin typeface="Courier New"/>
              </a:rPr>
              <a:t>        { </a:t>
            </a:r>
            <a:r>
              <a:rPr sz="1200" b="0" dirty="0">
                <a:solidFill>
                  <a:srgbClr val="9CDCFE"/>
                </a:solidFill>
                <a:latin typeface="Courier New"/>
              </a:rPr>
              <a:t>CFC</a:t>
            </a:r>
            <a:r>
              <a:rPr sz="1200" b="0" dirty="0">
                <a:solidFill>
                  <a:srgbClr val="D4D4D4"/>
                </a:solidFill>
                <a:latin typeface="Courier New"/>
              </a:rPr>
              <a:t>: </a:t>
            </a:r>
            <a:r>
              <a:rPr sz="1200" b="0" dirty="0">
                <a:solidFill>
                  <a:srgbClr val="CE9178"/>
                </a:solidFill>
                <a:latin typeface="Courier New"/>
              </a:rPr>
              <a:t>"</a:t>
            </a:r>
            <a:r>
              <a:rPr sz="1200" b="0" dirty="0" err="1">
                <a:solidFill>
                  <a:srgbClr val="CE9178"/>
                </a:solidFill>
                <a:latin typeface="Courier New"/>
              </a:rPr>
              <a:t>aiTesting.nexora.SupportTool</a:t>
            </a:r>
            <a:r>
              <a:rPr sz="1200" b="0" dirty="0">
                <a:solidFill>
                  <a:srgbClr val="CE9178"/>
                </a:solidFill>
                <a:latin typeface="Courier New"/>
              </a:rPr>
              <a:t>"</a:t>
            </a: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        { </a:t>
            </a:r>
            <a:r>
              <a:rPr sz="1200" b="0" dirty="0" err="1">
                <a:solidFill>
                  <a:srgbClr val="9CDCFE"/>
                </a:solidFill>
                <a:latin typeface="Courier New"/>
              </a:rPr>
              <a:t>mcpClient</a:t>
            </a:r>
            <a:r>
              <a:rPr sz="1200" b="0" dirty="0">
                <a:solidFill>
                  <a:srgbClr val="D4D4D4"/>
                </a:solidFill>
                <a:latin typeface="Courier New"/>
              </a:rPr>
              <a:t>: [</a:t>
            </a:r>
            <a:r>
              <a:rPr sz="1200" b="0" dirty="0" err="1">
                <a:solidFill>
                  <a:srgbClr val="9CDCFE"/>
                </a:solidFill>
                <a:latin typeface="Courier New"/>
              </a:rPr>
              <a:t>mcpClient</a:t>
            </a:r>
            <a:r>
              <a:rPr sz="1200" b="0" dirty="0">
                <a:solidFill>
                  <a:srgbClr val="D4D4D4"/>
                </a:solidFill>
                <a:latin typeface="Courier New"/>
              </a:rPr>
              <a:t>] }   </a:t>
            </a:r>
            <a:r>
              <a:rPr sz="1200" b="0" dirty="0">
                <a:solidFill>
                  <a:srgbClr val="6A9955"/>
                </a:solidFill>
                <a:latin typeface="Courier New"/>
              </a:rPr>
              <a:t>// ← MCP</a:t>
            </a:r>
          </a:p>
          <a:p>
            <a:pPr>
              <a:lnSpc>
                <a:spcPct val="115000"/>
              </a:lnSpc>
              <a:spcBef>
                <a:spcPts val="0"/>
              </a:spcBef>
            </a:pPr>
            <a:r>
              <a:rPr sz="1200" b="0" dirty="0">
                <a:solidFill>
                  <a:srgbClr val="D4D4D4"/>
                </a:solidFill>
                <a:latin typeface="Courier New"/>
              </a:rPr>
              <a:t>    ]</a:t>
            </a:r>
          </a:p>
          <a:p>
            <a:pPr>
              <a:lnSpc>
                <a:spcPct val="115000"/>
              </a:lnSpc>
              <a:spcBef>
                <a:spcPts val="0"/>
              </a:spcBef>
            </a:pPr>
            <a:r>
              <a:rPr sz="1200" b="0" dirty="0">
                <a:solidFill>
                  <a:srgbClr val="D4D4D4"/>
                </a:solidFill>
                <a:latin typeface="Courier New"/>
              </a:rPr>
              <a:t>});</a:t>
            </a:r>
          </a:p>
          <a:p>
            <a:pPr>
              <a:lnSpc>
                <a:spcPct val="115000"/>
              </a:lnSpc>
              <a:spcBef>
                <a:spcPts val="0"/>
              </a:spcBef>
            </a:pPr>
            <a:r>
              <a:rPr sz="1200" b="0" dirty="0">
                <a:solidFill>
                  <a:srgbClr val="9CDCFE"/>
                </a:solidFill>
                <a:latin typeface="Courier New"/>
              </a:rPr>
              <a:t>session</a:t>
            </a:r>
            <a:r>
              <a:rPr sz="1200" b="0" dirty="0">
                <a:solidFill>
                  <a:srgbClr val="D4D4D4"/>
                </a:solidFill>
                <a:latin typeface="Courier New"/>
              </a:rPr>
              <a:t>.</a:t>
            </a:r>
            <a:r>
              <a:rPr sz="1200" b="0" dirty="0">
                <a:solidFill>
                  <a:srgbClr val="9CDCFE"/>
                </a:solidFill>
                <a:latin typeface="Courier New"/>
              </a:rPr>
              <a:t>acmeProblem6AI</a:t>
            </a:r>
            <a:r>
              <a:rPr sz="1200" b="0" dirty="0">
                <a:solidFill>
                  <a:srgbClr val="D4D4D4"/>
                </a:solidFill>
                <a:latin typeface="Courier New"/>
              </a:rPr>
              <a:t>.</a:t>
            </a:r>
            <a:r>
              <a:rPr sz="1200" b="0" dirty="0">
                <a:solidFill>
                  <a:srgbClr val="4EC9B0"/>
                </a:solidFill>
                <a:latin typeface="Courier New"/>
              </a:rPr>
              <a:t>systemMessage</a:t>
            </a:r>
            <a:r>
              <a:rPr sz="1200" b="0" dirty="0">
                <a:solidFill>
                  <a:srgbClr val="D4D4D4"/>
                </a:solidFill>
                <a:latin typeface="Courier New"/>
              </a:rPr>
              <a:t>( </a:t>
            </a:r>
            <a:r>
              <a:rPr sz="1200" b="0" dirty="0">
                <a:solidFill>
                  <a:srgbClr val="CE9178"/>
                </a:solidFill>
                <a:latin typeface="Courier New"/>
              </a:rPr>
              <a:t>"..."</a:t>
            </a:r>
            <a:r>
              <a:rPr sz="1200" b="0" dirty="0">
                <a:solidFill>
                  <a:srgbClr val="D4D4D4"/>
                </a:solidFill>
                <a:latin typeface="Courier New"/>
              </a:rPr>
              <a:t> );</a:t>
            </a:r>
            <a:endParaRPr lang="en-US" sz="1200" b="0" dirty="0">
              <a:solidFill>
                <a:srgbClr val="D4D4D4"/>
              </a:solidFill>
              <a:latin typeface="Courier New"/>
            </a:endParaRPr>
          </a:p>
          <a:p>
            <a:pPr>
              <a:lnSpc>
                <a:spcPct val="115000"/>
              </a:lnSpc>
              <a:spcBef>
                <a:spcPts val="0"/>
              </a:spcBef>
            </a:pPr>
            <a:endParaRPr sz="1200" b="0" dirty="0">
              <a:solidFill>
                <a:srgbClr val="D4D4D4"/>
              </a:solidFill>
              <a:latin typeface="Courier New"/>
            </a:endParaRP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3"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dur="indefinite" nodeType="mainSeq">
                <p:childTnLst>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2"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Begin" delay="0"/>
              </p:prevCondLst>
            </p:seq>
          </p:childTnLst>
        </p:cTn>
      </p:par>
    </p:tnLst>
    <p:bldLst>
      <p:bldP spid="4" grpId="0"/>
      <p:bldP spid="7" grpId="1" animBg="1"/>
      <p:bldP spid="7" grpId="2" animBg="1"/>
      <p:bldP spid="8" grpId="2" animBg="1"/>
      <p:bldP spid="8" grpId="3"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194560"/>
            <a:ext cx="10972800" cy="1188720"/>
          </a:xfrm>
          <a:prstGeom prst="rect">
            <a:avLst/>
          </a:prstGeom>
          <a:noFill/>
        </p:spPr>
        <p:txBody>
          <a:bodyPr wrap="square">
            <a:spAutoFit/>
          </a:bodyPr>
          <a:lstStyle/>
          <a:p>
            <a:pPr algn="ctr"/>
            <a:r>
              <a:rPr sz="4400" b="1" i="0">
                <a:solidFill>
                  <a:srgbClr val="FFFFFF"/>
                </a:solidFill>
              </a:rPr>
              <a:t>🔴  LIVE DEMO</a:t>
            </a:r>
          </a:p>
        </p:txBody>
      </p:sp>
      <p:sp>
        <p:nvSpPr>
          <p:cNvPr id="5" name="TextBox 4"/>
          <p:cNvSpPr txBox="1"/>
          <p:nvPr/>
        </p:nvSpPr>
        <p:spPr>
          <a:xfrm>
            <a:off x="502920" y="3657600"/>
            <a:ext cx="10972800" cy="400110"/>
          </a:xfrm>
          <a:prstGeom prst="rect">
            <a:avLst/>
          </a:prstGeom>
          <a:noFill/>
        </p:spPr>
        <p:txBody>
          <a:bodyPr wrap="square">
            <a:spAutoFit/>
          </a:bodyPr>
          <a:lstStyle/>
          <a:p>
            <a:pPr algn="ctr"/>
            <a:r>
              <a:rPr sz="2000" b="0" i="0" dirty="0">
                <a:solidFill>
                  <a:srgbClr val="CCCCCC"/>
                </a:solidFill>
              </a:rPr>
              <a:t>MCP Demo  · problem</a:t>
            </a:r>
            <a:r>
              <a:rPr lang="en-US" sz="2000" b="0" i="0" dirty="0">
                <a:solidFill>
                  <a:srgbClr val="CCCCCC"/>
                </a:solidFill>
              </a:rPr>
              <a:t>7 – File escalation tickets</a:t>
            </a:r>
            <a:endParaRPr sz="2000" b="0" i="0" dirty="0">
              <a:solidFill>
                <a:srgbClr val="CCCCCC"/>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468880"/>
            <a:ext cx="10972800" cy="1371600"/>
          </a:xfrm>
          <a:prstGeom prst="rect">
            <a:avLst/>
          </a:prstGeom>
          <a:noFill/>
        </p:spPr>
        <p:txBody>
          <a:bodyPr wrap="square">
            <a:spAutoFit/>
          </a:bodyPr>
          <a:lstStyle/>
          <a:p>
            <a:pPr algn="l"/>
            <a:r>
              <a:rPr sz="3400" b="1" i="0">
                <a:solidFill>
                  <a:srgbClr val="FFFFFF"/>
                </a:solidFill>
              </a:rPr>
              <a:t>Part 10: RAG</a:t>
            </a:r>
          </a:p>
        </p:txBody>
      </p:sp>
      <p:sp>
        <p:nvSpPr>
          <p:cNvPr id="5" name="TextBox 4"/>
          <p:cNvSpPr txBox="1"/>
          <p:nvPr/>
        </p:nvSpPr>
        <p:spPr>
          <a:xfrm>
            <a:off x="502920" y="3931920"/>
            <a:ext cx="10972800" cy="594360"/>
          </a:xfrm>
          <a:prstGeom prst="rect">
            <a:avLst/>
          </a:prstGeom>
          <a:noFill/>
        </p:spPr>
        <p:txBody>
          <a:bodyPr wrap="square">
            <a:spAutoFit/>
          </a:bodyPr>
          <a:lstStyle/>
          <a:p>
            <a:pPr algn="l"/>
            <a:r>
              <a:rPr sz="1600" b="0" i="0">
                <a:solidFill>
                  <a:srgbClr val="AAAAAA"/>
                </a:solidFill>
              </a:rPr>
              <a:t>Retrieval-Augmented Generation — Grounding AI in Your Own Knowledge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0"/>
            <a:ext cx="11274552" cy="621792"/>
          </a:xfrm>
          <a:prstGeom prst="rect">
            <a:avLst/>
          </a:prstGeom>
          <a:noFill/>
        </p:spPr>
        <p:txBody>
          <a:bodyPr wrap="square" lIns="118872" tIns="91440" rIns="100584" bIns="73152">
            <a:spAutoFit/>
          </a:bodyPr>
          <a:lstStyle/>
          <a:p>
            <a:pPr>
              <a:lnSpc>
                <a:spcPct val="120000"/>
              </a:lnSpc>
            </a:pPr>
            <a:r>
              <a:rPr sz="2600" b="1">
                <a:solidFill>
                  <a:srgbClr val="1A1A1A"/>
                </a:solidFill>
                <a:latin typeface="Calibri"/>
              </a:rPr>
              <a:t>What is RAG?  —  Retrieval-Augmented Generation</a:t>
            </a:r>
          </a:p>
        </p:txBody>
      </p:sp>
      <p:sp>
        <p:nvSpPr>
          <p:cNvPr id="3" name="Rectangle 2"/>
          <p:cNvSpPr/>
          <p:nvPr/>
        </p:nvSpPr>
        <p:spPr>
          <a:xfrm>
            <a:off x="458788" y="749808"/>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841248"/>
            <a:ext cx="11274552" cy="424732"/>
          </a:xfrm>
          <a:prstGeom prst="rect">
            <a:avLst/>
          </a:prstGeom>
          <a:noFill/>
        </p:spPr>
        <p:txBody>
          <a:bodyPr wrap="square" lIns="118872" tIns="91440" rIns="100584" bIns="73152">
            <a:spAutoFit/>
          </a:bodyPr>
          <a:lstStyle/>
          <a:p>
            <a:pPr>
              <a:lnSpc>
                <a:spcPct val="120000"/>
              </a:lnSpc>
            </a:pPr>
            <a:r>
              <a:rPr sz="1500" b="1">
                <a:solidFill>
                  <a:srgbClr val="1A1A1A"/>
                </a:solidFill>
                <a:latin typeface="Calibri"/>
              </a:rPr>
              <a:t>Imagine ChatGPT is taking an open-book exam.</a:t>
            </a:r>
          </a:p>
        </p:txBody>
      </p:sp>
      <p:sp>
        <p:nvSpPr>
          <p:cNvPr id="5" name="TextBox 4"/>
          <p:cNvSpPr txBox="1"/>
          <p:nvPr/>
        </p:nvSpPr>
        <p:spPr>
          <a:xfrm>
            <a:off x="458788" y="1298449"/>
            <a:ext cx="5394960" cy="2108911"/>
          </a:xfrm>
          <a:prstGeom prst="rect">
            <a:avLst/>
          </a:prstGeom>
          <a:solidFill>
            <a:srgbClr val="9B1C1C"/>
          </a:solidFill>
        </p:spPr>
        <p:txBody>
          <a:bodyPr wrap="square" lIns="118872" tIns="91440" rIns="100584" bIns="73152">
            <a:spAutoFit/>
          </a:bodyPr>
          <a:lstStyle/>
          <a:p>
            <a:pPr>
              <a:lnSpc>
                <a:spcPct val="120000"/>
              </a:lnSpc>
            </a:pPr>
            <a:r>
              <a:rPr sz="1500" b="1">
                <a:solidFill>
                  <a:srgbClr val="FFFFFF"/>
                </a:solidFill>
                <a:latin typeface="Calibri"/>
              </a:rPr>
              <a:t>Without RAG</a:t>
            </a:r>
          </a:p>
          <a:p>
            <a:pPr>
              <a:lnSpc>
                <a:spcPct val="120000"/>
              </a:lnSpc>
            </a:pPr>
            <a:endParaRPr sz="1500" b="1">
              <a:solidFill>
                <a:srgbClr val="FFFFFF"/>
              </a:solidFill>
              <a:latin typeface="Calibri"/>
            </a:endParaRPr>
          </a:p>
          <a:p>
            <a:pPr>
              <a:lnSpc>
                <a:spcPct val="120000"/>
              </a:lnSpc>
            </a:pPr>
            <a:r>
              <a:rPr sz="1300">
                <a:solidFill>
                  <a:srgbClr val="FFFFFF"/>
                </a:solidFill>
                <a:latin typeface="Calibri"/>
              </a:rPr>
              <a:t>Answers from frozen training data</a:t>
            </a:r>
          </a:p>
          <a:p>
            <a:pPr>
              <a:lnSpc>
                <a:spcPct val="120000"/>
              </a:lnSpc>
            </a:pPr>
            <a:r>
              <a:rPr sz="1300">
                <a:solidFill>
                  <a:srgbClr val="FFFFFF"/>
                </a:solidFill>
                <a:latin typeface="Calibri"/>
              </a:rPr>
              <a:t>Doesn't know your documents</a:t>
            </a:r>
          </a:p>
          <a:p>
            <a:pPr>
              <a:lnSpc>
                <a:spcPct val="120000"/>
              </a:lnSpc>
            </a:pPr>
            <a:r>
              <a:rPr sz="1300">
                <a:solidFill>
                  <a:srgbClr val="FFFFFF"/>
                </a:solidFill>
                <a:latin typeface="Calibri"/>
              </a:rPr>
              <a:t>May hallucinate — guessing from patterns</a:t>
            </a:r>
          </a:p>
          <a:p>
            <a:pPr>
              <a:lnSpc>
                <a:spcPct val="120000"/>
              </a:lnSpc>
            </a:pPr>
            <a:endParaRPr sz="1300">
              <a:solidFill>
                <a:srgbClr val="FFFFFF"/>
              </a:solidFill>
              <a:latin typeface="Calibri"/>
            </a:endParaRPr>
          </a:p>
          <a:p>
            <a:pPr>
              <a:lnSpc>
                <a:spcPct val="120000"/>
              </a:lnSpc>
            </a:pPr>
            <a:r>
              <a:rPr sz="1200">
                <a:solidFill>
                  <a:srgbClr val="FFFFFF"/>
                </a:solidFill>
                <a:latin typeface="Calibri"/>
              </a:rPr>
              <a:t>Customer: "What is your return policy?"</a:t>
            </a:r>
          </a:p>
          <a:p>
            <a:pPr>
              <a:lnSpc>
                <a:spcPct val="120000"/>
              </a:lnSpc>
            </a:pPr>
            <a:r>
              <a:rPr sz="1200">
                <a:solidFill>
                  <a:srgbClr val="FFCC00"/>
                </a:solidFill>
                <a:latin typeface="Calibri"/>
              </a:rPr>
              <a:t>AI: "Most companies allow 30 days..."  ← not YOUR policy</a:t>
            </a:r>
          </a:p>
        </p:txBody>
      </p:sp>
      <p:sp>
        <p:nvSpPr>
          <p:cNvPr id="6" name="TextBox 5"/>
          <p:cNvSpPr txBox="1"/>
          <p:nvPr/>
        </p:nvSpPr>
        <p:spPr>
          <a:xfrm>
            <a:off x="6338380" y="1298449"/>
            <a:ext cx="5394960" cy="2107693"/>
          </a:xfrm>
          <a:prstGeom prst="rect">
            <a:avLst/>
          </a:prstGeom>
          <a:solidFill>
            <a:srgbClr val="065F46"/>
          </a:solidFill>
        </p:spPr>
        <p:txBody>
          <a:bodyPr wrap="square" lIns="118872" tIns="91440" rIns="100584" bIns="73152">
            <a:spAutoFit/>
          </a:bodyPr>
          <a:lstStyle/>
          <a:p>
            <a:pPr>
              <a:lnSpc>
                <a:spcPct val="120000"/>
              </a:lnSpc>
            </a:pPr>
            <a:r>
              <a:rPr sz="1500" b="1">
                <a:solidFill>
                  <a:srgbClr val="FFFFFF"/>
                </a:solidFill>
                <a:latin typeface="Calibri"/>
              </a:rPr>
              <a:t>With RAG</a:t>
            </a:r>
          </a:p>
          <a:p>
            <a:pPr>
              <a:lnSpc>
                <a:spcPct val="120000"/>
              </a:lnSpc>
            </a:pPr>
            <a:endParaRPr sz="1500" b="1">
              <a:solidFill>
                <a:srgbClr val="FFFFFF"/>
              </a:solidFill>
              <a:latin typeface="Calibri"/>
            </a:endParaRPr>
          </a:p>
          <a:p>
            <a:pPr>
              <a:lnSpc>
                <a:spcPct val="120000"/>
              </a:lnSpc>
            </a:pPr>
            <a:r>
              <a:rPr sz="1300">
                <a:solidFill>
                  <a:srgbClr val="FFFFFF"/>
                </a:solidFill>
                <a:latin typeface="Calibri"/>
              </a:rPr>
              <a:t>Retrieves relevant notes from YOUR documents</a:t>
            </a:r>
          </a:p>
          <a:p>
            <a:pPr>
              <a:lnSpc>
                <a:spcPct val="120000"/>
              </a:lnSpc>
            </a:pPr>
            <a:r>
              <a:rPr sz="1300">
                <a:solidFill>
                  <a:srgbClr val="FFFFFF"/>
                </a:solidFill>
                <a:latin typeface="Calibri"/>
              </a:rPr>
              <a:t>Answers grounded in actual content</a:t>
            </a:r>
          </a:p>
          <a:p>
            <a:pPr>
              <a:lnSpc>
                <a:spcPct val="120000"/>
              </a:lnSpc>
            </a:pPr>
            <a:r>
              <a:rPr sz="1300">
                <a:solidFill>
                  <a:srgbClr val="FFFFFF"/>
                </a:solidFill>
                <a:latin typeface="Calibri"/>
              </a:rPr>
              <a:t>Can't hallucinate what's in your docs</a:t>
            </a:r>
          </a:p>
          <a:p>
            <a:pPr>
              <a:lnSpc>
                <a:spcPct val="120000"/>
              </a:lnSpc>
            </a:pPr>
            <a:endParaRPr sz="1300">
              <a:solidFill>
                <a:srgbClr val="FFFFFF"/>
              </a:solidFill>
              <a:latin typeface="Calibri"/>
            </a:endParaRPr>
          </a:p>
          <a:p>
            <a:pPr>
              <a:lnSpc>
                <a:spcPct val="120000"/>
              </a:lnSpc>
            </a:pPr>
            <a:r>
              <a:rPr sz="1200">
                <a:solidFill>
                  <a:srgbClr val="FFFFFF"/>
                </a:solidFill>
                <a:latin typeface="Calibri"/>
              </a:rPr>
              <a:t>Customer: "What is your return policy?"</a:t>
            </a:r>
          </a:p>
          <a:p>
            <a:pPr>
              <a:lnSpc>
                <a:spcPct val="120000"/>
              </a:lnSpc>
            </a:pPr>
            <a:r>
              <a:rPr sz="1200">
                <a:solidFill>
                  <a:srgbClr val="86EFAC"/>
                </a:solidFill>
                <a:latin typeface="Calibri"/>
              </a:rPr>
              <a:t>Retrieves return-policy.txt → answers exactly  ✓</a:t>
            </a:r>
          </a:p>
        </p:txBody>
      </p:sp>
      <p:sp>
        <p:nvSpPr>
          <p:cNvPr id="7" name="TextBox 6"/>
          <p:cNvSpPr txBox="1"/>
          <p:nvPr/>
        </p:nvSpPr>
        <p:spPr>
          <a:xfrm>
            <a:off x="458788" y="3749039"/>
            <a:ext cx="11274552" cy="459228"/>
          </a:xfrm>
          <a:prstGeom prst="rect">
            <a:avLst/>
          </a:prstGeom>
          <a:solidFill>
            <a:srgbClr val="1D4ED8"/>
          </a:solidFill>
        </p:spPr>
        <p:txBody>
          <a:bodyPr wrap="square" lIns="118872" tIns="91440" rIns="100584" bIns="73152">
            <a:spAutoFit/>
          </a:bodyPr>
          <a:lstStyle/>
          <a:p>
            <a:pPr>
              <a:lnSpc>
                <a:spcPct val="120000"/>
              </a:lnSpc>
            </a:pPr>
            <a:r>
              <a:rPr sz="1700" b="1">
                <a:solidFill>
                  <a:srgbClr val="FFFFFF"/>
                </a:solidFill>
                <a:latin typeface="Calibri"/>
              </a:rPr>
              <a:t>Retrieval — Augmented — Generation</a:t>
            </a:r>
          </a:p>
        </p:txBody>
      </p:sp>
      <p:sp>
        <p:nvSpPr>
          <p:cNvPr id="8" name="TextBox 7"/>
          <p:cNvSpPr txBox="1"/>
          <p:nvPr/>
        </p:nvSpPr>
        <p:spPr>
          <a:xfrm>
            <a:off x="458788" y="4389120"/>
            <a:ext cx="11274552" cy="411480"/>
          </a:xfrm>
          <a:prstGeom prst="rect">
            <a:avLst/>
          </a:prstGeom>
          <a:noFill/>
        </p:spPr>
        <p:txBody>
          <a:bodyPr wrap="square" lIns="118872" tIns="91440" rIns="100584" bIns="73152">
            <a:spAutoFit/>
          </a:bodyPr>
          <a:lstStyle/>
          <a:p>
            <a:pPr>
              <a:lnSpc>
                <a:spcPct val="120000"/>
              </a:lnSpc>
            </a:pPr>
            <a:r>
              <a:rPr sz="1400" b="1">
                <a:solidFill>
                  <a:srgbClr val="1A1A1A"/>
                </a:solidFill>
                <a:latin typeface="Calibri"/>
              </a:rPr>
              <a:t>Retrieve relevant data   +   Generate answer using that data</a:t>
            </a:r>
          </a:p>
        </p:txBody>
      </p:sp>
      <p:sp>
        <p:nvSpPr>
          <p:cNvPr id="9" name="TextBox 8"/>
          <p:cNvSpPr txBox="1"/>
          <p:nvPr/>
        </p:nvSpPr>
        <p:spPr>
          <a:xfrm>
            <a:off x="458788" y="4919473"/>
            <a:ext cx="11274552" cy="373051"/>
          </a:xfrm>
          <a:prstGeom prst="rect">
            <a:avLst/>
          </a:prstGeom>
          <a:noFill/>
        </p:spPr>
        <p:txBody>
          <a:bodyPr wrap="square" lIns="118872" tIns="91440" rIns="100584" bIns="73152">
            <a:spAutoFit/>
          </a:bodyPr>
          <a:lstStyle/>
          <a:p>
            <a:pPr>
              <a:lnSpc>
                <a:spcPct val="120000"/>
              </a:lnSpc>
            </a:pPr>
            <a:r>
              <a:rPr sz="1200">
                <a:solidFill>
                  <a:srgbClr val="444444"/>
                </a:solidFill>
                <a:latin typeface="Calibri"/>
              </a:rPr>
              <a:t>Real-world example: "Why did my test fail?" — RAG searches your actual logs, reads the relevant entry, gives a context-aware answer.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0"/>
            <a:ext cx="11274552" cy="621792"/>
          </a:xfrm>
          <a:prstGeom prst="rect">
            <a:avLst/>
          </a:prstGeom>
          <a:noFill/>
        </p:spPr>
        <p:txBody>
          <a:bodyPr wrap="square" lIns="118872" tIns="91440" rIns="100584" bIns="73152">
            <a:spAutoFit/>
          </a:bodyPr>
          <a:lstStyle/>
          <a:p>
            <a:pPr>
              <a:lnSpc>
                <a:spcPct val="120000"/>
              </a:lnSpc>
            </a:pPr>
            <a:r>
              <a:rPr sz="2600" b="1">
                <a:solidFill>
                  <a:srgbClr val="1A1A1A"/>
                </a:solidFill>
                <a:latin typeface="Calibri"/>
              </a:rPr>
              <a:t>How RAG Works — Two Phases</a:t>
            </a:r>
          </a:p>
        </p:txBody>
      </p:sp>
      <p:sp>
        <p:nvSpPr>
          <p:cNvPr id="3" name="Rectangle 2"/>
          <p:cNvSpPr/>
          <p:nvPr/>
        </p:nvSpPr>
        <p:spPr>
          <a:xfrm>
            <a:off x="458788" y="749808"/>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841249"/>
            <a:ext cx="5577840" cy="390235"/>
          </a:xfrm>
          <a:prstGeom prst="rect">
            <a:avLst/>
          </a:prstGeom>
          <a:solidFill>
            <a:srgbClr val="1D4ED8"/>
          </a:solidFill>
        </p:spPr>
        <p:txBody>
          <a:bodyPr wrap="square" lIns="118872" tIns="91440" rIns="100584" bIns="73152">
            <a:spAutoFit/>
          </a:bodyPr>
          <a:lstStyle/>
          <a:p>
            <a:pPr>
              <a:lnSpc>
                <a:spcPct val="120000"/>
              </a:lnSpc>
            </a:pPr>
            <a:r>
              <a:rPr sz="1300" b="1">
                <a:solidFill>
                  <a:srgbClr val="FFFFFF"/>
                </a:solidFill>
                <a:latin typeface="Calibri"/>
              </a:rPr>
              <a:t>PHASE 1: INDEXING  (runs once at startup)</a:t>
            </a:r>
          </a:p>
        </p:txBody>
      </p:sp>
      <p:sp>
        <p:nvSpPr>
          <p:cNvPr id="5" name="TextBox 4"/>
          <p:cNvSpPr txBox="1"/>
          <p:nvPr/>
        </p:nvSpPr>
        <p:spPr>
          <a:xfrm>
            <a:off x="458788" y="1371601"/>
            <a:ext cx="5577840" cy="3235373"/>
          </a:xfrm>
          <a:prstGeom prst="rect">
            <a:avLst/>
          </a:prstGeom>
          <a:solidFill>
            <a:srgbClr val="EFF6FF"/>
          </a:solidFill>
        </p:spPr>
        <p:txBody>
          <a:bodyPr wrap="square" lIns="118872" tIns="91440" rIns="100584" bIns="73152">
            <a:spAutoFit/>
          </a:bodyPr>
          <a:lstStyle/>
          <a:p>
            <a:pPr>
              <a:lnSpc>
                <a:spcPct val="120000"/>
              </a:lnSpc>
            </a:pPr>
            <a:r>
              <a:rPr sz="1300" b="1">
                <a:solidFill>
                  <a:srgbClr val="1D4ED8"/>
                </a:solidFill>
                <a:latin typeface="Calibri"/>
              </a:rPr>
              <a:t>Step 1 — Chunking</a:t>
            </a:r>
          </a:p>
          <a:p>
            <a:pPr>
              <a:lnSpc>
                <a:spcPct val="120000"/>
              </a:lnSpc>
            </a:pPr>
            <a:r>
              <a:rPr sz="1200">
                <a:solidFill>
                  <a:srgbClr val="1A1A1A"/>
                </a:solidFill>
                <a:latin typeface="Calibri"/>
              </a:rPr>
              <a:t>Take your documents (PDFs, text files, web pages)</a:t>
            </a:r>
          </a:p>
          <a:p>
            <a:pPr>
              <a:lnSpc>
                <a:spcPct val="120000"/>
              </a:lnSpc>
            </a:pPr>
            <a:r>
              <a:rPr sz="1200">
                <a:solidFill>
                  <a:srgbClr val="1A1A1A"/>
                </a:solidFill>
                <a:latin typeface="Calibri"/>
              </a:rPr>
              <a:t>Break into small pieces — 500–800 characters each</a:t>
            </a:r>
          </a:p>
          <a:p>
            <a:pPr>
              <a:lnSpc>
                <a:spcPct val="120000"/>
              </a:lnSpc>
            </a:pPr>
            <a:r>
              <a:rPr sz="1100">
                <a:solidFill>
                  <a:srgbClr val="444444"/>
                </a:solidFill>
                <a:latin typeface="Calibri"/>
              </a:rPr>
              <a:t>These pieces are called chunks</a:t>
            </a:r>
          </a:p>
          <a:p>
            <a:pPr>
              <a:lnSpc>
                <a:spcPct val="120000"/>
              </a:lnSpc>
            </a:pPr>
            <a:endParaRPr sz="1100">
              <a:solidFill>
                <a:srgbClr val="444444"/>
              </a:solidFill>
              <a:latin typeface="Calibri"/>
            </a:endParaRPr>
          </a:p>
          <a:p>
            <a:pPr>
              <a:lnSpc>
                <a:spcPct val="120000"/>
              </a:lnSpc>
            </a:pPr>
            <a:r>
              <a:rPr sz="1300" b="1">
                <a:solidFill>
                  <a:srgbClr val="1D4ED8"/>
                </a:solidFill>
                <a:latin typeface="Calibri"/>
              </a:rPr>
              <a:t>Step 2 — Embeddings</a:t>
            </a:r>
          </a:p>
          <a:p>
            <a:pPr>
              <a:lnSpc>
                <a:spcPct val="120000"/>
              </a:lnSpc>
            </a:pPr>
            <a:r>
              <a:rPr sz="1200">
                <a:solidFill>
                  <a:srgbClr val="1A1A1A"/>
                </a:solidFill>
                <a:latin typeface="Calibri"/>
              </a:rPr>
              <a:t>Each chunk converted to a vector (list of numbers)</a:t>
            </a:r>
          </a:p>
          <a:p>
            <a:pPr>
              <a:lnSpc>
                <a:spcPct val="120000"/>
              </a:lnSpc>
            </a:pPr>
            <a:r>
              <a:rPr sz="1200">
                <a:solidFill>
                  <a:srgbClr val="1A1A1A"/>
                </a:solidFill>
                <a:latin typeface="Calibri"/>
              </a:rPr>
              <a:t>"Database connection failed" → [0.23, -0.91, 0.44…]</a:t>
            </a:r>
          </a:p>
          <a:p>
            <a:pPr>
              <a:lnSpc>
                <a:spcPct val="120000"/>
              </a:lnSpc>
            </a:pPr>
            <a:r>
              <a:rPr sz="1200">
                <a:solidFill>
                  <a:srgbClr val="1A1A1A"/>
                </a:solidFill>
                <a:latin typeface="Calibri"/>
              </a:rPr>
              <a:t>Chunks with similar meaning get similar numbers</a:t>
            </a:r>
          </a:p>
          <a:p>
            <a:pPr>
              <a:lnSpc>
                <a:spcPct val="120000"/>
              </a:lnSpc>
            </a:pPr>
            <a:r>
              <a:rPr sz="1100">
                <a:solidFill>
                  <a:srgbClr val="444444"/>
                </a:solidFill>
                <a:latin typeface="Calibri"/>
              </a:rPr>
              <a:t>even using completely different words</a:t>
            </a:r>
          </a:p>
          <a:p>
            <a:pPr>
              <a:lnSpc>
                <a:spcPct val="120000"/>
              </a:lnSpc>
            </a:pPr>
            <a:endParaRPr sz="1100">
              <a:solidFill>
                <a:srgbClr val="444444"/>
              </a:solidFill>
              <a:latin typeface="Calibri"/>
            </a:endParaRPr>
          </a:p>
          <a:p>
            <a:pPr>
              <a:lnSpc>
                <a:spcPct val="120000"/>
              </a:lnSpc>
            </a:pPr>
            <a:r>
              <a:rPr sz="1300" b="1">
                <a:solidFill>
                  <a:srgbClr val="1D4ED8"/>
                </a:solidFill>
                <a:latin typeface="Calibri"/>
              </a:rPr>
              <a:t>Step 3 — Vector Store</a:t>
            </a:r>
          </a:p>
          <a:p>
            <a:pPr>
              <a:lnSpc>
                <a:spcPct val="120000"/>
              </a:lnSpc>
            </a:pPr>
            <a:r>
              <a:rPr sz="1200">
                <a:solidFill>
                  <a:srgbClr val="1A1A1A"/>
                </a:solidFill>
                <a:latin typeface="Calibri"/>
              </a:rPr>
              <a:t>Vectors saved in a similarity-search database</a:t>
            </a:r>
          </a:p>
          <a:p>
            <a:pPr>
              <a:lnSpc>
                <a:spcPct val="120000"/>
              </a:lnSpc>
            </a:pPr>
            <a:r>
              <a:rPr sz="1200">
                <a:solidFill>
                  <a:srgbClr val="1A1A1A"/>
                </a:solidFill>
                <a:latin typeface="Calibri"/>
              </a:rPr>
              <a:t>InMemory (dev)  ·  Pinecone / Milvus / Chroma (prod)</a:t>
            </a:r>
          </a:p>
        </p:txBody>
      </p:sp>
      <p:sp>
        <p:nvSpPr>
          <p:cNvPr id="6" name="TextBox 5"/>
          <p:cNvSpPr txBox="1"/>
          <p:nvPr/>
        </p:nvSpPr>
        <p:spPr>
          <a:xfrm>
            <a:off x="6292660" y="841249"/>
            <a:ext cx="5486400" cy="390235"/>
          </a:xfrm>
          <a:prstGeom prst="rect">
            <a:avLst/>
          </a:prstGeom>
          <a:solidFill>
            <a:srgbClr val="059669"/>
          </a:solidFill>
        </p:spPr>
        <p:txBody>
          <a:bodyPr wrap="square" lIns="118872" tIns="91440" rIns="100584" bIns="73152">
            <a:spAutoFit/>
          </a:bodyPr>
          <a:lstStyle/>
          <a:p>
            <a:pPr>
              <a:lnSpc>
                <a:spcPct val="120000"/>
              </a:lnSpc>
            </a:pPr>
            <a:r>
              <a:rPr sz="1300" b="1">
                <a:solidFill>
                  <a:srgbClr val="FFFFFF"/>
                </a:solidFill>
                <a:latin typeface="Calibri"/>
              </a:rPr>
              <a:t>PHASE 2: QUERY  (per user question)</a:t>
            </a:r>
          </a:p>
        </p:txBody>
      </p:sp>
      <p:sp>
        <p:nvSpPr>
          <p:cNvPr id="7" name="TextBox 6"/>
          <p:cNvSpPr txBox="1"/>
          <p:nvPr/>
        </p:nvSpPr>
        <p:spPr>
          <a:xfrm>
            <a:off x="6292660" y="1371600"/>
            <a:ext cx="5486400" cy="3512372"/>
          </a:xfrm>
          <a:prstGeom prst="rect">
            <a:avLst/>
          </a:prstGeom>
          <a:solidFill>
            <a:srgbClr val="ECFDF5"/>
          </a:solidFill>
        </p:spPr>
        <p:txBody>
          <a:bodyPr wrap="square" lIns="118872" tIns="91440" rIns="100584" bIns="73152">
            <a:spAutoFit/>
          </a:bodyPr>
          <a:lstStyle/>
          <a:p>
            <a:pPr>
              <a:lnSpc>
                <a:spcPct val="120000"/>
              </a:lnSpc>
            </a:pPr>
            <a:r>
              <a:rPr sz="1300" b="1">
                <a:solidFill>
                  <a:srgbClr val="059669"/>
                </a:solidFill>
                <a:latin typeface="Calibri"/>
              </a:rPr>
              <a:t>Step 1 — Embed the question</a:t>
            </a:r>
          </a:p>
          <a:p>
            <a:pPr>
              <a:lnSpc>
                <a:spcPct val="120000"/>
              </a:lnSpc>
            </a:pPr>
            <a:r>
              <a:rPr sz="1200">
                <a:solidFill>
                  <a:srgbClr val="1A1A1A"/>
                </a:solidFill>
                <a:latin typeface="Calibri"/>
              </a:rPr>
              <a:t>User question converted to a vector</a:t>
            </a:r>
          </a:p>
          <a:p>
            <a:pPr>
              <a:lnSpc>
                <a:spcPct val="120000"/>
              </a:lnSpc>
            </a:pPr>
            <a:endParaRPr sz="1200">
              <a:solidFill>
                <a:srgbClr val="1A1A1A"/>
              </a:solidFill>
              <a:latin typeface="Calibri"/>
            </a:endParaRPr>
          </a:p>
          <a:p>
            <a:pPr>
              <a:lnSpc>
                <a:spcPct val="120000"/>
              </a:lnSpc>
            </a:pPr>
            <a:r>
              <a:rPr sz="1300" b="1">
                <a:solidFill>
                  <a:srgbClr val="059669"/>
                </a:solidFill>
                <a:latin typeface="Calibri"/>
              </a:rPr>
              <a:t>Step 2 — Similarity Search</a:t>
            </a:r>
          </a:p>
          <a:p>
            <a:pPr>
              <a:lnSpc>
                <a:spcPct val="120000"/>
              </a:lnSpc>
            </a:pPr>
            <a:r>
              <a:rPr sz="1200">
                <a:solidFill>
                  <a:srgbClr val="1A1A1A"/>
                </a:solidFill>
                <a:latin typeface="Calibri"/>
              </a:rPr>
              <a:t>Find top 3–5 chunks whose vectors are closest</a:t>
            </a:r>
          </a:p>
          <a:p>
            <a:pPr>
              <a:lnSpc>
                <a:spcPct val="120000"/>
              </a:lnSpc>
            </a:pPr>
            <a:r>
              <a:rPr sz="1200">
                <a:solidFill>
                  <a:srgbClr val="1A1A1A"/>
                </a:solidFill>
                <a:latin typeface="Calibri"/>
              </a:rPr>
              <a:t>Uses cosine similarity — mathematical closeness</a:t>
            </a:r>
          </a:p>
          <a:p>
            <a:pPr>
              <a:lnSpc>
                <a:spcPct val="120000"/>
              </a:lnSpc>
            </a:pPr>
            <a:r>
              <a:rPr sz="1200">
                <a:solidFill>
                  <a:srgbClr val="1A1A1A"/>
                </a:solidFill>
                <a:latin typeface="Calibri"/>
              </a:rPr>
              <a:t>"Can I return a broken item?" finds warranty AND</a:t>
            </a:r>
          </a:p>
          <a:p>
            <a:pPr>
              <a:lnSpc>
                <a:spcPct val="120000"/>
              </a:lnSpc>
            </a:pPr>
            <a:r>
              <a:rPr sz="1100">
                <a:solidFill>
                  <a:srgbClr val="444444"/>
                </a:solidFill>
                <a:latin typeface="Calibri"/>
              </a:rPr>
              <a:t>return policy — no exact words needed</a:t>
            </a:r>
          </a:p>
          <a:p>
            <a:pPr>
              <a:lnSpc>
                <a:spcPct val="120000"/>
              </a:lnSpc>
            </a:pPr>
            <a:endParaRPr sz="1100">
              <a:solidFill>
                <a:srgbClr val="444444"/>
              </a:solidFill>
              <a:latin typeface="Calibri"/>
            </a:endParaRPr>
          </a:p>
          <a:p>
            <a:pPr>
              <a:lnSpc>
                <a:spcPct val="120000"/>
              </a:lnSpc>
            </a:pPr>
            <a:r>
              <a:rPr sz="1300" b="1">
                <a:solidFill>
                  <a:srgbClr val="059669"/>
                </a:solidFill>
                <a:latin typeface="Calibri"/>
              </a:rPr>
              <a:t>Step 3 — Inject Context</a:t>
            </a:r>
          </a:p>
          <a:p>
            <a:pPr>
              <a:lnSpc>
                <a:spcPct val="120000"/>
              </a:lnSpc>
            </a:pPr>
            <a:r>
              <a:rPr sz="1200">
                <a:solidFill>
                  <a:srgbClr val="1A1A1A"/>
                </a:solidFill>
                <a:latin typeface="Calibri"/>
              </a:rPr>
              <a:t>Top chunks injected into the LLM prompt</a:t>
            </a:r>
          </a:p>
          <a:p>
            <a:pPr>
              <a:lnSpc>
                <a:spcPct val="120000"/>
              </a:lnSpc>
            </a:pPr>
            <a:endParaRPr sz="1200">
              <a:solidFill>
                <a:srgbClr val="1A1A1A"/>
              </a:solidFill>
              <a:latin typeface="Calibri"/>
            </a:endParaRPr>
          </a:p>
          <a:p>
            <a:pPr>
              <a:lnSpc>
                <a:spcPct val="120000"/>
              </a:lnSpc>
            </a:pPr>
            <a:r>
              <a:rPr sz="1300" b="1">
                <a:solidFill>
                  <a:srgbClr val="059669"/>
                </a:solidFill>
                <a:latin typeface="Calibri"/>
              </a:rPr>
              <a:t>Step 4 — Generate</a:t>
            </a:r>
          </a:p>
          <a:p>
            <a:pPr>
              <a:lnSpc>
                <a:spcPct val="120000"/>
              </a:lnSpc>
            </a:pPr>
            <a:r>
              <a:rPr sz="1200">
                <a:solidFill>
                  <a:srgbClr val="1A1A1A"/>
                </a:solidFill>
                <a:latin typeface="Calibri"/>
              </a:rPr>
              <a:t>LLM answers using ONLY that context</a:t>
            </a:r>
          </a:p>
          <a:p>
            <a:pPr>
              <a:lnSpc>
                <a:spcPct val="120000"/>
              </a:lnSpc>
            </a:pPr>
            <a:r>
              <a:rPr sz="1200" b="1">
                <a:solidFill>
                  <a:srgbClr val="059669"/>
                </a:solidFill>
                <a:latin typeface="Calibri"/>
              </a:rPr>
              <a:t>2,000 tokens → 500–800 tokens of exactly the right content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0"/>
            <a:ext cx="11274552" cy="621792"/>
          </a:xfrm>
          <a:prstGeom prst="rect">
            <a:avLst/>
          </a:prstGeom>
          <a:noFill/>
        </p:spPr>
        <p:txBody>
          <a:bodyPr wrap="square" lIns="118872" tIns="91440" rIns="100584" bIns="73152">
            <a:spAutoFit/>
          </a:bodyPr>
          <a:lstStyle/>
          <a:p>
            <a:pPr>
              <a:lnSpc>
                <a:spcPct val="120000"/>
              </a:lnSpc>
            </a:pPr>
            <a:r>
              <a:rPr sz="2600" b="1">
                <a:solidFill>
                  <a:srgbClr val="1A1A1A"/>
                </a:solidFill>
                <a:latin typeface="Calibri"/>
              </a:rPr>
              <a:t>RAG Architecture — The Full Pipeline</a:t>
            </a:r>
          </a:p>
        </p:txBody>
      </p:sp>
      <p:sp>
        <p:nvSpPr>
          <p:cNvPr id="3" name="Rectangle 2"/>
          <p:cNvSpPr/>
          <p:nvPr/>
        </p:nvSpPr>
        <p:spPr>
          <a:xfrm>
            <a:off x="458788" y="749808"/>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841248"/>
            <a:ext cx="4206240" cy="3365858"/>
          </a:xfrm>
          <a:prstGeom prst="rect">
            <a:avLst/>
          </a:prstGeom>
          <a:solidFill>
            <a:srgbClr val="1E3A5F"/>
          </a:solidFill>
        </p:spPr>
        <p:txBody>
          <a:bodyPr wrap="square" lIns="118872" tIns="91440" rIns="100584" bIns="73152">
            <a:spAutoFit/>
          </a:bodyPr>
          <a:lstStyle/>
          <a:p>
            <a:pPr>
              <a:lnSpc>
                <a:spcPct val="120000"/>
              </a:lnSpc>
            </a:pPr>
            <a:r>
              <a:rPr sz="1400" b="1">
                <a:solidFill>
                  <a:srgbClr val="FFFFFF"/>
                </a:solidFill>
                <a:latin typeface="Calibri"/>
              </a:rPr>
              <a:t>INDEXING</a:t>
            </a:r>
          </a:p>
          <a:p>
            <a:pPr>
              <a:lnSpc>
                <a:spcPct val="120000"/>
              </a:lnSpc>
            </a:pPr>
            <a:r>
              <a:rPr sz="1100">
                <a:solidFill>
                  <a:srgbClr val="BFDBFF"/>
                </a:solidFill>
                <a:latin typeface="Calibri"/>
              </a:rPr>
              <a:t>expensive · runs once</a:t>
            </a:r>
          </a:p>
          <a:p>
            <a:pPr>
              <a:lnSpc>
                <a:spcPct val="120000"/>
              </a:lnSpc>
            </a:pPr>
            <a:endParaRPr sz="1100">
              <a:solidFill>
                <a:srgbClr val="BFDBFF"/>
              </a:solidFill>
              <a:latin typeface="Calibri"/>
            </a:endParaRPr>
          </a:p>
          <a:p>
            <a:pPr>
              <a:lnSpc>
                <a:spcPct val="120000"/>
              </a:lnSpc>
            </a:pPr>
            <a:r>
              <a:rPr sz="1300" b="1">
                <a:solidFill>
                  <a:srgbClr val="FFFFFF"/>
                </a:solidFill>
                <a:latin typeface="Calibri"/>
              </a:rPr>
              <a:t>Your Documents</a:t>
            </a:r>
          </a:p>
          <a:p>
            <a:pPr>
              <a:lnSpc>
                <a:spcPct val="120000"/>
              </a:lnSpc>
            </a:pPr>
            <a:r>
              <a:rPr sz="1100">
                <a:solidFill>
                  <a:srgbClr val="BFDBFF"/>
                </a:solidFill>
                <a:latin typeface="Calibri"/>
              </a:rPr>
              <a:t>  PDFs · text files · web pages</a:t>
            </a:r>
          </a:p>
          <a:p>
            <a:pPr>
              <a:lnSpc>
                <a:spcPct val="120000"/>
              </a:lnSpc>
            </a:pPr>
            <a:r>
              <a:rPr sz="1400">
                <a:solidFill>
                  <a:srgbClr val="BFDBFF"/>
                </a:solidFill>
                <a:latin typeface="Calibri"/>
              </a:rPr>
              <a:t>         ↓</a:t>
            </a:r>
          </a:p>
          <a:p>
            <a:pPr>
              <a:lnSpc>
                <a:spcPct val="120000"/>
              </a:lnSpc>
            </a:pPr>
            <a:r>
              <a:rPr sz="1300" b="1">
                <a:solidFill>
                  <a:srgbClr val="FFFFFF"/>
                </a:solidFill>
                <a:latin typeface="Calibri"/>
              </a:rPr>
              <a:t>Chunking</a:t>
            </a:r>
          </a:p>
          <a:p>
            <a:pPr>
              <a:lnSpc>
                <a:spcPct val="120000"/>
              </a:lnSpc>
            </a:pPr>
            <a:r>
              <a:rPr sz="1100">
                <a:solidFill>
                  <a:srgbClr val="BFDBFF"/>
                </a:solidFill>
                <a:latin typeface="Calibri"/>
              </a:rPr>
              <a:t>  500–800 chars per chunk</a:t>
            </a:r>
          </a:p>
          <a:p>
            <a:pPr>
              <a:lnSpc>
                <a:spcPct val="120000"/>
              </a:lnSpc>
            </a:pPr>
            <a:r>
              <a:rPr sz="1400">
                <a:solidFill>
                  <a:srgbClr val="BFDBFF"/>
                </a:solidFill>
                <a:latin typeface="Calibri"/>
              </a:rPr>
              <a:t>         ↓</a:t>
            </a:r>
          </a:p>
          <a:p>
            <a:pPr>
              <a:lnSpc>
                <a:spcPct val="120000"/>
              </a:lnSpc>
            </a:pPr>
            <a:r>
              <a:rPr sz="1300" b="1">
                <a:solidFill>
                  <a:srgbClr val="FFFFFF"/>
                </a:solidFill>
                <a:latin typeface="Calibri"/>
              </a:rPr>
              <a:t>Embedding</a:t>
            </a:r>
          </a:p>
          <a:p>
            <a:pPr>
              <a:lnSpc>
                <a:spcPct val="120000"/>
              </a:lnSpc>
            </a:pPr>
            <a:r>
              <a:rPr sz="1100">
                <a:solidFill>
                  <a:srgbClr val="BFDBFF"/>
                </a:solidFill>
                <a:latin typeface="Calibri"/>
              </a:rPr>
              <a:t>  text → vector [0.23, -0.91…]</a:t>
            </a:r>
          </a:p>
          <a:p>
            <a:pPr>
              <a:lnSpc>
                <a:spcPct val="120000"/>
              </a:lnSpc>
            </a:pPr>
            <a:r>
              <a:rPr sz="1400">
                <a:solidFill>
                  <a:srgbClr val="BFDBFF"/>
                </a:solidFill>
                <a:latin typeface="Calibri"/>
              </a:rPr>
              <a:t>         ↓</a:t>
            </a:r>
          </a:p>
          <a:p>
            <a:pPr>
              <a:lnSpc>
                <a:spcPct val="120000"/>
              </a:lnSpc>
            </a:pPr>
            <a:r>
              <a:rPr sz="1300" b="1">
                <a:solidFill>
                  <a:srgbClr val="FFFFFF"/>
                </a:solidFill>
                <a:latin typeface="Calibri"/>
              </a:rPr>
              <a:t>Vector Store</a:t>
            </a:r>
          </a:p>
          <a:p>
            <a:pPr>
              <a:lnSpc>
                <a:spcPct val="120000"/>
              </a:lnSpc>
            </a:pPr>
            <a:r>
              <a:rPr sz="1100">
                <a:solidFill>
                  <a:srgbClr val="BFDBFF"/>
                </a:solidFill>
                <a:latin typeface="Calibri"/>
              </a:rPr>
              <a:t>  InMemory / Pinecone / Milvus</a:t>
            </a:r>
          </a:p>
        </p:txBody>
      </p:sp>
      <p:sp>
        <p:nvSpPr>
          <p:cNvPr id="5" name="TextBox 4"/>
          <p:cNvSpPr txBox="1"/>
          <p:nvPr/>
        </p:nvSpPr>
        <p:spPr>
          <a:xfrm>
            <a:off x="4866196" y="841248"/>
            <a:ext cx="4279392" cy="3365858"/>
          </a:xfrm>
          <a:prstGeom prst="rect">
            <a:avLst/>
          </a:prstGeom>
          <a:solidFill>
            <a:srgbClr val="065F46"/>
          </a:solidFill>
        </p:spPr>
        <p:txBody>
          <a:bodyPr wrap="square" lIns="118872" tIns="91440" rIns="100584" bIns="73152">
            <a:spAutoFit/>
          </a:bodyPr>
          <a:lstStyle/>
          <a:p>
            <a:pPr>
              <a:lnSpc>
                <a:spcPct val="120000"/>
              </a:lnSpc>
            </a:pPr>
            <a:r>
              <a:rPr sz="1400" b="1">
                <a:solidFill>
                  <a:srgbClr val="FFFFFF"/>
                </a:solidFill>
                <a:latin typeface="Calibri"/>
              </a:rPr>
              <a:t>QUERY PHASE</a:t>
            </a:r>
          </a:p>
          <a:p>
            <a:pPr>
              <a:lnSpc>
                <a:spcPct val="120000"/>
              </a:lnSpc>
            </a:pPr>
            <a:r>
              <a:rPr sz="1100">
                <a:solidFill>
                  <a:srgbClr val="BBF7D0"/>
                </a:solidFill>
                <a:latin typeface="Calibri"/>
              </a:rPr>
              <a:t>fast · cheap · every request</a:t>
            </a:r>
          </a:p>
          <a:p>
            <a:pPr>
              <a:lnSpc>
                <a:spcPct val="120000"/>
              </a:lnSpc>
            </a:pPr>
            <a:endParaRPr sz="1100">
              <a:solidFill>
                <a:srgbClr val="BBF7D0"/>
              </a:solidFill>
              <a:latin typeface="Calibri"/>
            </a:endParaRPr>
          </a:p>
          <a:p>
            <a:pPr>
              <a:lnSpc>
                <a:spcPct val="120000"/>
              </a:lnSpc>
            </a:pPr>
            <a:r>
              <a:rPr sz="1300" b="1">
                <a:solidFill>
                  <a:srgbClr val="FFFFFF"/>
                </a:solidFill>
                <a:latin typeface="Calibri"/>
              </a:rPr>
              <a:t>User Question</a:t>
            </a:r>
          </a:p>
          <a:p>
            <a:pPr>
              <a:lnSpc>
                <a:spcPct val="120000"/>
              </a:lnSpc>
            </a:pPr>
            <a:r>
              <a:rPr sz="1100">
                <a:solidFill>
                  <a:srgbClr val="BBF7D0"/>
                </a:solidFill>
                <a:latin typeface="Calibri"/>
              </a:rPr>
              <a:t>  "What is your return policy?"</a:t>
            </a:r>
          </a:p>
          <a:p>
            <a:pPr>
              <a:lnSpc>
                <a:spcPct val="120000"/>
              </a:lnSpc>
            </a:pPr>
            <a:r>
              <a:rPr sz="1400">
                <a:solidFill>
                  <a:srgbClr val="BBF7D0"/>
                </a:solidFill>
                <a:latin typeface="Calibri"/>
              </a:rPr>
              <a:t>         ↓</a:t>
            </a:r>
          </a:p>
          <a:p>
            <a:pPr>
              <a:lnSpc>
                <a:spcPct val="120000"/>
              </a:lnSpc>
            </a:pPr>
            <a:r>
              <a:rPr sz="1300" b="1">
                <a:solidFill>
                  <a:srgbClr val="FFFFFF"/>
                </a:solidFill>
                <a:latin typeface="Calibri"/>
              </a:rPr>
              <a:t>Embed Question</a:t>
            </a:r>
          </a:p>
          <a:p>
            <a:pPr>
              <a:lnSpc>
                <a:spcPct val="120000"/>
              </a:lnSpc>
            </a:pPr>
            <a:r>
              <a:rPr sz="1100">
                <a:solidFill>
                  <a:srgbClr val="BBF7D0"/>
                </a:solidFill>
                <a:latin typeface="Calibri"/>
              </a:rPr>
              <a:t>  question → vector</a:t>
            </a:r>
          </a:p>
          <a:p>
            <a:pPr>
              <a:lnSpc>
                <a:spcPct val="120000"/>
              </a:lnSpc>
            </a:pPr>
            <a:r>
              <a:rPr sz="1400">
                <a:solidFill>
                  <a:srgbClr val="BBF7D0"/>
                </a:solidFill>
                <a:latin typeface="Calibri"/>
              </a:rPr>
              <a:t>         ↓</a:t>
            </a:r>
          </a:p>
          <a:p>
            <a:pPr>
              <a:lnSpc>
                <a:spcPct val="120000"/>
              </a:lnSpc>
            </a:pPr>
            <a:r>
              <a:rPr sz="1300" b="1">
                <a:solidFill>
                  <a:srgbClr val="FFFFFF"/>
                </a:solidFill>
                <a:latin typeface="Calibri"/>
              </a:rPr>
              <a:t>Similarity Search</a:t>
            </a:r>
          </a:p>
          <a:p>
            <a:pPr>
              <a:lnSpc>
                <a:spcPct val="120000"/>
              </a:lnSpc>
            </a:pPr>
            <a:r>
              <a:rPr sz="1100">
                <a:solidFill>
                  <a:srgbClr val="BBF7D0"/>
                </a:solidFill>
                <a:latin typeface="Calibri"/>
              </a:rPr>
              <a:t>  find top-K closest chunks</a:t>
            </a:r>
          </a:p>
          <a:p>
            <a:pPr>
              <a:lnSpc>
                <a:spcPct val="120000"/>
              </a:lnSpc>
            </a:pPr>
            <a:r>
              <a:rPr sz="1400">
                <a:solidFill>
                  <a:srgbClr val="BBF7D0"/>
                </a:solidFill>
                <a:latin typeface="Calibri"/>
              </a:rPr>
              <a:t>         ↓</a:t>
            </a:r>
          </a:p>
          <a:p>
            <a:pPr>
              <a:lnSpc>
                <a:spcPct val="120000"/>
              </a:lnSpc>
            </a:pPr>
            <a:r>
              <a:rPr sz="1300" b="1">
                <a:solidFill>
                  <a:srgbClr val="FFFFFF"/>
                </a:solidFill>
                <a:latin typeface="Calibri"/>
              </a:rPr>
              <a:t>Build Prompt</a:t>
            </a:r>
          </a:p>
          <a:p>
            <a:pPr>
              <a:lnSpc>
                <a:spcPct val="120000"/>
              </a:lnSpc>
            </a:pPr>
            <a:r>
              <a:rPr sz="1100">
                <a:solidFill>
                  <a:srgbClr val="BBF7D0"/>
                </a:solidFill>
                <a:latin typeface="Calibri"/>
              </a:rPr>
              <a:t>  [chunks as context] + [question]</a:t>
            </a:r>
          </a:p>
        </p:txBody>
      </p:sp>
      <p:sp>
        <p:nvSpPr>
          <p:cNvPr id="6" name="TextBox 5"/>
          <p:cNvSpPr txBox="1"/>
          <p:nvPr/>
        </p:nvSpPr>
        <p:spPr>
          <a:xfrm>
            <a:off x="9328468" y="841248"/>
            <a:ext cx="2404872" cy="3864456"/>
          </a:xfrm>
          <a:prstGeom prst="rect">
            <a:avLst/>
          </a:prstGeom>
          <a:solidFill>
            <a:srgbClr val="D97706"/>
          </a:solidFill>
        </p:spPr>
        <p:txBody>
          <a:bodyPr wrap="square" lIns="118872" tIns="91440" rIns="100584" bIns="73152">
            <a:spAutoFit/>
          </a:bodyPr>
          <a:lstStyle/>
          <a:p>
            <a:pPr>
              <a:lnSpc>
                <a:spcPct val="120000"/>
              </a:lnSpc>
            </a:pPr>
            <a:r>
              <a:rPr sz="1300" b="1">
                <a:solidFill>
                  <a:srgbClr val="FFFFFF"/>
                </a:solidFill>
                <a:latin typeface="Calibri"/>
              </a:rPr>
              <a:t>OUTPUT</a:t>
            </a:r>
          </a:p>
          <a:p>
            <a:pPr>
              <a:lnSpc>
                <a:spcPct val="120000"/>
              </a:lnSpc>
            </a:pPr>
            <a:endParaRPr sz="1300" b="1">
              <a:solidFill>
                <a:srgbClr val="FFFFFF"/>
              </a:solidFill>
              <a:latin typeface="Calibri"/>
            </a:endParaRPr>
          </a:p>
          <a:p>
            <a:pPr>
              <a:lnSpc>
                <a:spcPct val="120000"/>
              </a:lnSpc>
            </a:pPr>
            <a:r>
              <a:rPr sz="1200" b="1">
                <a:solidFill>
                  <a:srgbClr val="FFFFFF"/>
                </a:solidFill>
                <a:latin typeface="Calibri"/>
              </a:rPr>
              <a:t>LLM reads</a:t>
            </a:r>
          </a:p>
          <a:p>
            <a:pPr>
              <a:lnSpc>
                <a:spcPct val="120000"/>
              </a:lnSpc>
            </a:pPr>
            <a:r>
              <a:rPr sz="1200" b="1">
                <a:solidFill>
                  <a:srgbClr val="FFFFFF"/>
                </a:solidFill>
                <a:latin typeface="Calibri"/>
              </a:rPr>
              <a:t>ONLY the</a:t>
            </a:r>
          </a:p>
          <a:p>
            <a:pPr>
              <a:lnSpc>
                <a:spcPct val="120000"/>
              </a:lnSpc>
            </a:pPr>
            <a:r>
              <a:rPr sz="1200" b="1">
                <a:solidFill>
                  <a:srgbClr val="FFFFFF"/>
                </a:solidFill>
                <a:latin typeface="Calibri"/>
              </a:rPr>
              <a:t>retrieved</a:t>
            </a:r>
          </a:p>
          <a:p>
            <a:pPr>
              <a:lnSpc>
                <a:spcPct val="120000"/>
              </a:lnSpc>
            </a:pPr>
            <a:r>
              <a:rPr sz="1200" b="1">
                <a:solidFill>
                  <a:srgbClr val="FFFFFF"/>
                </a:solidFill>
                <a:latin typeface="Calibri"/>
              </a:rPr>
              <a:t>chunks</a:t>
            </a:r>
          </a:p>
          <a:p>
            <a:pPr>
              <a:lnSpc>
                <a:spcPct val="120000"/>
              </a:lnSpc>
            </a:pPr>
            <a:endParaRPr sz="1200" b="1">
              <a:solidFill>
                <a:srgbClr val="FFFFFF"/>
              </a:solidFill>
              <a:latin typeface="Calibri"/>
            </a:endParaRPr>
          </a:p>
          <a:p>
            <a:pPr>
              <a:lnSpc>
                <a:spcPct val="120000"/>
              </a:lnSpc>
            </a:pPr>
            <a:r>
              <a:rPr sz="1600">
                <a:solidFill>
                  <a:srgbClr val="FFE08A"/>
                </a:solidFill>
                <a:latin typeface="Calibri"/>
              </a:rPr>
              <a:t>  ↓</a:t>
            </a:r>
          </a:p>
          <a:p>
            <a:pPr>
              <a:lnSpc>
                <a:spcPct val="120000"/>
              </a:lnSpc>
            </a:pPr>
            <a:endParaRPr sz="1600">
              <a:solidFill>
                <a:srgbClr val="FFE08A"/>
              </a:solidFill>
              <a:latin typeface="Calibri"/>
            </a:endParaRPr>
          </a:p>
          <a:p>
            <a:pPr>
              <a:lnSpc>
                <a:spcPct val="120000"/>
              </a:lnSpc>
            </a:pPr>
            <a:r>
              <a:rPr sz="1300" b="1">
                <a:solidFill>
                  <a:srgbClr val="FFE08A"/>
                </a:solidFill>
                <a:latin typeface="Calibri"/>
              </a:rPr>
              <a:t>Grounded</a:t>
            </a:r>
          </a:p>
          <a:p>
            <a:pPr>
              <a:lnSpc>
                <a:spcPct val="120000"/>
              </a:lnSpc>
            </a:pPr>
            <a:r>
              <a:rPr sz="1300" b="1">
                <a:solidFill>
                  <a:srgbClr val="FFE08A"/>
                </a:solidFill>
                <a:latin typeface="Calibri"/>
              </a:rPr>
              <a:t>Answer</a:t>
            </a:r>
          </a:p>
          <a:p>
            <a:pPr>
              <a:lnSpc>
                <a:spcPct val="120000"/>
              </a:lnSpc>
            </a:pPr>
            <a:endParaRPr sz="1300" b="1">
              <a:solidFill>
                <a:srgbClr val="FFE08A"/>
              </a:solidFill>
              <a:latin typeface="Calibri"/>
            </a:endParaRPr>
          </a:p>
          <a:p>
            <a:pPr>
              <a:lnSpc>
                <a:spcPct val="120000"/>
              </a:lnSpc>
            </a:pPr>
            <a:r>
              <a:rPr sz="1100">
                <a:solidFill>
                  <a:srgbClr val="FFFFFF"/>
                </a:solidFill>
                <a:latin typeface="Calibri"/>
              </a:rPr>
              <a:t>Not memory.</a:t>
            </a:r>
          </a:p>
          <a:p>
            <a:pPr>
              <a:lnSpc>
                <a:spcPct val="120000"/>
              </a:lnSpc>
            </a:pPr>
            <a:r>
              <a:rPr sz="1100">
                <a:solidFill>
                  <a:srgbClr val="FFFFFF"/>
                </a:solidFill>
                <a:latin typeface="Calibri"/>
              </a:rPr>
              <a:t>Not guessing.</a:t>
            </a:r>
          </a:p>
          <a:p>
            <a:pPr>
              <a:lnSpc>
                <a:spcPct val="120000"/>
              </a:lnSpc>
            </a:pPr>
            <a:r>
              <a:rPr sz="1100" b="1">
                <a:solidFill>
                  <a:srgbClr val="FFE08A"/>
                </a:solidFill>
                <a:latin typeface="Calibri"/>
              </a:rPr>
              <a:t>From YOUR</a:t>
            </a:r>
          </a:p>
          <a:p>
            <a:pPr>
              <a:lnSpc>
                <a:spcPct val="120000"/>
              </a:lnSpc>
            </a:pPr>
            <a:r>
              <a:rPr sz="1100" b="1">
                <a:solidFill>
                  <a:srgbClr val="FFE08A"/>
                </a:solidFill>
                <a:latin typeface="Calibri"/>
              </a:rPr>
              <a:t>documents.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0"/>
            <a:ext cx="11274552" cy="621792"/>
          </a:xfrm>
          <a:prstGeom prst="rect">
            <a:avLst/>
          </a:prstGeom>
          <a:noFill/>
        </p:spPr>
        <p:txBody>
          <a:bodyPr wrap="square" lIns="118872" tIns="91440" rIns="100584" bIns="73152">
            <a:spAutoFit/>
          </a:bodyPr>
          <a:lstStyle/>
          <a:p>
            <a:pPr>
              <a:lnSpc>
                <a:spcPct val="120000"/>
              </a:lnSpc>
            </a:pPr>
            <a:r>
              <a:rPr sz="2600" b="1">
                <a:solidFill>
                  <a:srgbClr val="1A1A1A"/>
                </a:solidFill>
                <a:latin typeface="Calibri"/>
              </a:rPr>
              <a:t>Why RAG?  —  Benefits &amp; Limitations</a:t>
            </a:r>
          </a:p>
        </p:txBody>
      </p:sp>
      <p:sp>
        <p:nvSpPr>
          <p:cNvPr id="3" name="Rectangle 2"/>
          <p:cNvSpPr/>
          <p:nvPr/>
        </p:nvSpPr>
        <p:spPr>
          <a:xfrm>
            <a:off x="458788" y="749808"/>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841249"/>
            <a:ext cx="5394960" cy="406073"/>
          </a:xfrm>
          <a:prstGeom prst="rect">
            <a:avLst/>
          </a:prstGeom>
          <a:solidFill>
            <a:srgbClr val="059669"/>
          </a:solidFill>
        </p:spPr>
        <p:txBody>
          <a:bodyPr wrap="square" lIns="118872" tIns="91440" rIns="100584" bIns="73152">
            <a:spAutoFit/>
          </a:bodyPr>
          <a:lstStyle/>
          <a:p>
            <a:pPr>
              <a:lnSpc>
                <a:spcPct val="120000"/>
              </a:lnSpc>
            </a:pPr>
            <a:r>
              <a:rPr sz="1400" b="1">
                <a:solidFill>
                  <a:srgbClr val="FFFFFF"/>
                </a:solidFill>
                <a:latin typeface="Calibri"/>
              </a:rPr>
              <a:t>✓  What RAG Gives You</a:t>
            </a:r>
          </a:p>
        </p:txBody>
      </p:sp>
      <p:sp>
        <p:nvSpPr>
          <p:cNvPr id="5" name="TextBox 4"/>
          <p:cNvSpPr txBox="1"/>
          <p:nvPr/>
        </p:nvSpPr>
        <p:spPr>
          <a:xfrm>
            <a:off x="458788" y="1371600"/>
            <a:ext cx="5394960" cy="2662908"/>
          </a:xfrm>
          <a:prstGeom prst="rect">
            <a:avLst/>
          </a:prstGeom>
          <a:solidFill>
            <a:srgbClr val="ECFDF5"/>
          </a:solidFill>
        </p:spPr>
        <p:txBody>
          <a:bodyPr wrap="square" lIns="118872" tIns="91440" rIns="100584" bIns="73152">
            <a:spAutoFit/>
          </a:bodyPr>
          <a:lstStyle/>
          <a:p>
            <a:pPr>
              <a:lnSpc>
                <a:spcPct val="120000"/>
              </a:lnSpc>
            </a:pPr>
            <a:r>
              <a:rPr sz="1300" b="1">
                <a:solidFill>
                  <a:srgbClr val="059669"/>
                </a:solidFill>
                <a:latin typeface="Calibri"/>
              </a:rPr>
              <a:t>No retraining needed</a:t>
            </a:r>
          </a:p>
          <a:p>
            <a:pPr>
              <a:lnSpc>
                <a:spcPct val="120000"/>
              </a:lnSpc>
            </a:pPr>
            <a:r>
              <a:rPr sz="1200">
                <a:solidFill>
                  <a:srgbClr val="1A1A1A"/>
                </a:solidFill>
                <a:latin typeface="Calibri"/>
              </a:rPr>
              <a:t>Update your knowledge base without touching the LLM.</a:t>
            </a:r>
          </a:p>
          <a:p>
            <a:pPr>
              <a:lnSpc>
                <a:spcPct val="120000"/>
              </a:lnSpc>
            </a:pPr>
            <a:endParaRPr sz="1200">
              <a:solidFill>
                <a:srgbClr val="1A1A1A"/>
              </a:solidFill>
              <a:latin typeface="Calibri"/>
            </a:endParaRPr>
          </a:p>
          <a:p>
            <a:pPr>
              <a:lnSpc>
                <a:spcPct val="120000"/>
              </a:lnSpc>
            </a:pPr>
            <a:r>
              <a:rPr sz="1300" b="1">
                <a:solidFill>
                  <a:srgbClr val="059669"/>
                </a:solidFill>
                <a:latin typeface="Calibri"/>
              </a:rPr>
              <a:t>Real-time data</a:t>
            </a:r>
          </a:p>
          <a:p>
            <a:pPr>
              <a:lnSpc>
                <a:spcPct val="120000"/>
              </a:lnSpc>
            </a:pPr>
            <a:r>
              <a:rPr sz="1200">
                <a:solidFill>
                  <a:srgbClr val="1A1A1A"/>
                </a:solidFill>
                <a:latin typeface="Calibri"/>
              </a:rPr>
              <a:t>Re-ingest whenever documents change. No lag.</a:t>
            </a:r>
          </a:p>
          <a:p>
            <a:pPr>
              <a:lnSpc>
                <a:spcPct val="120000"/>
              </a:lnSpc>
            </a:pPr>
            <a:endParaRPr sz="1200">
              <a:solidFill>
                <a:srgbClr val="1A1A1A"/>
              </a:solidFill>
              <a:latin typeface="Calibri"/>
            </a:endParaRPr>
          </a:p>
          <a:p>
            <a:pPr>
              <a:lnSpc>
                <a:spcPct val="120000"/>
              </a:lnSpc>
            </a:pPr>
            <a:r>
              <a:rPr sz="1300" b="1">
                <a:solidFill>
                  <a:srgbClr val="059669"/>
                </a:solidFill>
                <a:latin typeface="Calibri"/>
              </a:rPr>
              <a:t>Works with private data</a:t>
            </a:r>
          </a:p>
          <a:p>
            <a:pPr>
              <a:lnSpc>
                <a:spcPct val="120000"/>
              </a:lnSpc>
            </a:pPr>
            <a:r>
              <a:rPr sz="1200">
                <a:solidFill>
                  <a:srgbClr val="1A1A1A"/>
                </a:solidFill>
                <a:latin typeface="Calibri"/>
              </a:rPr>
              <a:t>Your documents stay inside your own infrastructure.</a:t>
            </a:r>
          </a:p>
          <a:p>
            <a:pPr>
              <a:lnSpc>
                <a:spcPct val="120000"/>
              </a:lnSpc>
            </a:pPr>
            <a:endParaRPr sz="1200">
              <a:solidFill>
                <a:srgbClr val="1A1A1A"/>
              </a:solidFill>
              <a:latin typeface="Calibri"/>
            </a:endParaRPr>
          </a:p>
          <a:p>
            <a:pPr>
              <a:lnSpc>
                <a:spcPct val="120000"/>
              </a:lnSpc>
            </a:pPr>
            <a:r>
              <a:rPr sz="1300" b="1">
                <a:solidFill>
                  <a:srgbClr val="059669"/>
                </a:solidFill>
                <a:latin typeface="Calibri"/>
              </a:rPr>
              <a:t>Reduces hallucination</a:t>
            </a:r>
          </a:p>
          <a:p>
            <a:pPr>
              <a:lnSpc>
                <a:spcPct val="120000"/>
              </a:lnSpc>
            </a:pPr>
            <a:r>
              <a:rPr sz="1200">
                <a:solidFill>
                  <a:srgbClr val="1A1A1A"/>
                </a:solidFill>
                <a:latin typeface="Calibri"/>
              </a:rPr>
              <a:t>LLM answers from verified context, not imagination.</a:t>
            </a:r>
          </a:p>
        </p:txBody>
      </p:sp>
      <p:sp>
        <p:nvSpPr>
          <p:cNvPr id="6" name="TextBox 5"/>
          <p:cNvSpPr txBox="1"/>
          <p:nvPr/>
        </p:nvSpPr>
        <p:spPr>
          <a:xfrm>
            <a:off x="6338380" y="841249"/>
            <a:ext cx="5394960" cy="410497"/>
          </a:xfrm>
          <a:prstGeom prst="rect">
            <a:avLst/>
          </a:prstGeom>
          <a:solidFill>
            <a:srgbClr val="D97706"/>
          </a:solidFill>
        </p:spPr>
        <p:txBody>
          <a:bodyPr wrap="square" lIns="118872" tIns="91440" rIns="100584" bIns="73152">
            <a:spAutoFit/>
          </a:bodyPr>
          <a:lstStyle/>
          <a:p>
            <a:pPr>
              <a:lnSpc>
                <a:spcPct val="120000"/>
              </a:lnSpc>
            </a:pPr>
            <a:r>
              <a:rPr sz="1400" b="1">
                <a:solidFill>
                  <a:srgbClr val="FFFFFF"/>
                </a:solidFill>
                <a:latin typeface="Calibri"/>
              </a:rPr>
              <a:t>⚠  Limitations to Know</a:t>
            </a:r>
          </a:p>
        </p:txBody>
      </p:sp>
      <p:sp>
        <p:nvSpPr>
          <p:cNvPr id="7" name="TextBox 6"/>
          <p:cNvSpPr txBox="1"/>
          <p:nvPr/>
        </p:nvSpPr>
        <p:spPr>
          <a:xfrm>
            <a:off x="6338380" y="1371600"/>
            <a:ext cx="5394960" cy="2662908"/>
          </a:xfrm>
          <a:prstGeom prst="rect">
            <a:avLst/>
          </a:prstGeom>
          <a:solidFill>
            <a:srgbClr val="FFF7ED"/>
          </a:solidFill>
        </p:spPr>
        <p:txBody>
          <a:bodyPr wrap="square" lIns="118872" tIns="91440" rIns="100584" bIns="73152">
            <a:spAutoFit/>
          </a:bodyPr>
          <a:lstStyle/>
          <a:p>
            <a:pPr>
              <a:lnSpc>
                <a:spcPct val="120000"/>
              </a:lnSpc>
            </a:pPr>
            <a:r>
              <a:rPr sz="1300" b="1">
                <a:solidFill>
                  <a:srgbClr val="D97706"/>
                </a:solidFill>
                <a:latin typeface="Calibri"/>
              </a:rPr>
              <a:t>Retrieval quality matters</a:t>
            </a:r>
          </a:p>
          <a:p>
            <a:pPr>
              <a:lnSpc>
                <a:spcPct val="120000"/>
              </a:lnSpc>
            </a:pPr>
            <a:r>
              <a:rPr sz="1200">
                <a:solidFill>
                  <a:srgbClr val="1A1A1A"/>
                </a:solidFill>
                <a:latin typeface="Calibri"/>
              </a:rPr>
              <a:t>Wrong chunk retrieved → wrong answer.</a:t>
            </a:r>
          </a:p>
          <a:p>
            <a:pPr>
              <a:lnSpc>
                <a:spcPct val="120000"/>
              </a:lnSpc>
            </a:pPr>
            <a:endParaRPr sz="1200">
              <a:solidFill>
                <a:srgbClr val="1A1A1A"/>
              </a:solidFill>
              <a:latin typeface="Calibri"/>
            </a:endParaRPr>
          </a:p>
          <a:p>
            <a:pPr>
              <a:lnSpc>
                <a:spcPct val="120000"/>
              </a:lnSpc>
            </a:pPr>
            <a:r>
              <a:rPr sz="1300" b="1">
                <a:solidFill>
                  <a:srgbClr val="D97706"/>
                </a:solidFill>
                <a:latin typeface="Calibri"/>
              </a:rPr>
              <a:t>Chunking strategy matters</a:t>
            </a:r>
          </a:p>
          <a:p>
            <a:pPr>
              <a:lnSpc>
                <a:spcPct val="120000"/>
              </a:lnSpc>
            </a:pPr>
            <a:r>
              <a:rPr sz="1200">
                <a:solidFill>
                  <a:srgbClr val="1A1A1A"/>
                </a:solidFill>
                <a:latin typeface="Calibri"/>
              </a:rPr>
              <a:t>Too big → noisy context. Too small → missing context.</a:t>
            </a:r>
          </a:p>
          <a:p>
            <a:pPr>
              <a:lnSpc>
                <a:spcPct val="120000"/>
              </a:lnSpc>
            </a:pPr>
            <a:endParaRPr sz="1200">
              <a:solidFill>
                <a:srgbClr val="1A1A1A"/>
              </a:solidFill>
              <a:latin typeface="Calibri"/>
            </a:endParaRPr>
          </a:p>
          <a:p>
            <a:pPr>
              <a:lnSpc>
                <a:spcPct val="120000"/>
              </a:lnSpc>
            </a:pPr>
            <a:r>
              <a:rPr sz="1300" b="1">
                <a:solidFill>
                  <a:srgbClr val="D97706"/>
                </a:solidFill>
                <a:latin typeface="Calibri"/>
              </a:rPr>
              <a:t>Small latency cost</a:t>
            </a:r>
          </a:p>
          <a:p>
            <a:pPr>
              <a:lnSpc>
                <a:spcPct val="120000"/>
              </a:lnSpc>
            </a:pPr>
            <a:r>
              <a:rPr sz="1200">
                <a:solidFill>
                  <a:srgbClr val="1A1A1A"/>
                </a:solidFill>
                <a:latin typeface="Calibri"/>
              </a:rPr>
              <a:t>Retrieval + embedding step adds a few hundred ms.</a:t>
            </a:r>
          </a:p>
          <a:p>
            <a:pPr>
              <a:lnSpc>
                <a:spcPct val="120000"/>
              </a:lnSpc>
            </a:pPr>
            <a:endParaRPr sz="1200">
              <a:solidFill>
                <a:srgbClr val="1A1A1A"/>
              </a:solidFill>
              <a:latin typeface="Calibri"/>
            </a:endParaRPr>
          </a:p>
          <a:p>
            <a:pPr>
              <a:lnSpc>
                <a:spcPct val="120000"/>
              </a:lnSpc>
            </a:pPr>
            <a:r>
              <a:rPr sz="1300" b="1">
                <a:solidFill>
                  <a:srgbClr val="D97706"/>
                </a:solidFill>
                <a:latin typeface="Calibri"/>
              </a:rPr>
              <a:t>Context window limits</a:t>
            </a:r>
          </a:p>
          <a:p>
            <a:pPr>
              <a:lnSpc>
                <a:spcPct val="120000"/>
              </a:lnSpc>
            </a:pPr>
            <a:r>
              <a:rPr sz="1200">
                <a:solidFill>
                  <a:srgbClr val="1A1A1A"/>
                </a:solidFill>
                <a:latin typeface="Calibri"/>
              </a:rPr>
              <a:t>You can only inject so many chunks per request.</a:t>
            </a:r>
          </a:p>
        </p:txBody>
      </p:sp>
      <p:sp>
        <p:nvSpPr>
          <p:cNvPr id="8" name="TextBox 7"/>
          <p:cNvSpPr txBox="1"/>
          <p:nvPr/>
        </p:nvSpPr>
        <p:spPr>
          <a:xfrm>
            <a:off x="458788" y="5056633"/>
            <a:ext cx="11274552" cy="390235"/>
          </a:xfrm>
          <a:prstGeom prst="rect">
            <a:avLst/>
          </a:prstGeom>
          <a:noFill/>
        </p:spPr>
        <p:txBody>
          <a:bodyPr wrap="square" lIns="118872" tIns="91440" rIns="100584" bIns="73152">
            <a:spAutoFit/>
          </a:bodyPr>
          <a:lstStyle/>
          <a:p>
            <a:pPr>
              <a:lnSpc>
                <a:spcPct val="120000"/>
              </a:lnSpc>
            </a:pPr>
            <a:r>
              <a:rPr sz="1300" b="1">
                <a:solidFill>
                  <a:srgbClr val="1D4ED8"/>
                </a:solidFill>
                <a:latin typeface="Calibri"/>
              </a:rPr>
              <a:t>ColdFusion 2025: simpleRAG() for quick starts  ·  agent() with INGESTION for production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0"/>
            <a:ext cx="11274552" cy="621792"/>
          </a:xfrm>
          <a:prstGeom prst="rect">
            <a:avLst/>
          </a:prstGeom>
          <a:noFill/>
        </p:spPr>
        <p:txBody>
          <a:bodyPr wrap="square" lIns="118872" tIns="91440" rIns="100584" bIns="73152">
            <a:spAutoFit/>
          </a:bodyPr>
          <a:lstStyle/>
          <a:p>
            <a:pPr>
              <a:lnSpc>
                <a:spcPct val="120000"/>
              </a:lnSpc>
            </a:pPr>
            <a:r>
              <a:rPr sz="2600" b="1">
                <a:solidFill>
                  <a:srgbClr val="1A1A1A"/>
                </a:solidFill>
                <a:latin typeface="Calibri"/>
              </a:rPr>
              <a:t>The Problem: System Message Doesn't Scale</a:t>
            </a:r>
          </a:p>
        </p:txBody>
      </p:sp>
      <p:sp>
        <p:nvSpPr>
          <p:cNvPr id="3" name="Rectangle 2"/>
          <p:cNvSpPr/>
          <p:nvPr/>
        </p:nvSpPr>
        <p:spPr>
          <a:xfrm>
            <a:off x="458788" y="749808"/>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822961"/>
            <a:ext cx="11274552" cy="631583"/>
          </a:xfrm>
          <a:prstGeom prst="rect">
            <a:avLst/>
          </a:prstGeom>
          <a:solidFill>
            <a:srgbClr val="D97706"/>
          </a:solidFill>
        </p:spPr>
        <p:txBody>
          <a:bodyPr wrap="square" lIns="118872" tIns="91440" rIns="100584" bIns="73152">
            <a:spAutoFit/>
          </a:bodyPr>
          <a:lstStyle/>
          <a:p>
            <a:pPr>
              <a:lnSpc>
                <a:spcPct val="120000"/>
              </a:lnSpc>
            </a:pPr>
            <a:r>
              <a:rPr sz="1400" b="1">
                <a:solidFill>
                  <a:srgbClr val="FFFFFF"/>
                </a:solidFill>
                <a:latin typeface="Calibri"/>
              </a:rPr>
              <a:t>Problem 2: We pasted 4 policy documents into systemMessage()</a:t>
            </a:r>
          </a:p>
          <a:p>
            <a:pPr>
              <a:lnSpc>
                <a:spcPct val="120000"/>
              </a:lnSpc>
            </a:pPr>
            <a:r>
              <a:rPr sz="1200">
                <a:solidFill>
                  <a:srgbClr val="FFFFFF"/>
                </a:solidFill>
                <a:latin typeface="Calibri"/>
              </a:rPr>
              <a:t>Return policy · Shipping policy · Warranty terms · Digital products  =  2,000 tokens</a:t>
            </a:r>
          </a:p>
        </p:txBody>
      </p:sp>
      <p:sp>
        <p:nvSpPr>
          <p:cNvPr id="5" name="TextBox 4"/>
          <p:cNvSpPr txBox="1"/>
          <p:nvPr/>
        </p:nvSpPr>
        <p:spPr>
          <a:xfrm>
            <a:off x="458788" y="1618488"/>
            <a:ext cx="11274552" cy="1850378"/>
          </a:xfrm>
          <a:prstGeom prst="rect">
            <a:avLst/>
          </a:prstGeom>
          <a:solidFill>
            <a:srgbClr val="F3F4F6"/>
          </a:solidFill>
        </p:spPr>
        <p:txBody>
          <a:bodyPr wrap="square" lIns="118872" tIns="91440" rIns="100584" bIns="73152">
            <a:spAutoFit/>
          </a:bodyPr>
          <a:lstStyle/>
          <a:p>
            <a:pPr>
              <a:lnSpc>
                <a:spcPct val="120000"/>
              </a:lnSpc>
            </a:pPr>
            <a:r>
              <a:rPr sz="1400" b="1" dirty="0">
                <a:solidFill>
                  <a:srgbClr val="1A1A1A"/>
                </a:solidFill>
                <a:latin typeface="Calibri"/>
              </a:rPr>
              <a:t>The hidden cost nobody talks about in demos</a:t>
            </a:r>
          </a:p>
          <a:p>
            <a:pPr>
              <a:lnSpc>
                <a:spcPct val="120000"/>
              </a:lnSpc>
            </a:pPr>
            <a:endParaRPr sz="1400" b="1" dirty="0">
              <a:solidFill>
                <a:srgbClr val="1A1A1A"/>
              </a:solidFill>
              <a:latin typeface="Calibri"/>
            </a:endParaRPr>
          </a:p>
          <a:p>
            <a:pPr>
              <a:lnSpc>
                <a:spcPct val="120000"/>
              </a:lnSpc>
            </a:pPr>
            <a:r>
              <a:rPr sz="1300" dirty="0">
                <a:solidFill>
                  <a:srgbClr val="1A1A1A"/>
                </a:solidFill>
                <a:latin typeface="Calibri"/>
              </a:rPr>
              <a:t>Every message — even "Where is my order?" — injects all 2,000 tokens into the LLM.</a:t>
            </a:r>
          </a:p>
          <a:p>
            <a:pPr>
              <a:lnSpc>
                <a:spcPct val="120000"/>
              </a:lnSpc>
            </a:pPr>
            <a:r>
              <a:rPr sz="1300" dirty="0">
                <a:solidFill>
                  <a:srgbClr val="1A1A1A"/>
                </a:solidFill>
                <a:latin typeface="Calibri"/>
              </a:rPr>
              <a:t>Customer asked about shipping. We sent the AI the entire return policy,</a:t>
            </a:r>
          </a:p>
          <a:p>
            <a:pPr>
              <a:lnSpc>
                <a:spcPct val="120000"/>
              </a:lnSpc>
            </a:pPr>
            <a:r>
              <a:rPr sz="1300" dirty="0">
                <a:solidFill>
                  <a:srgbClr val="1A1A1A"/>
                </a:solidFill>
                <a:latin typeface="Calibri"/>
              </a:rPr>
              <a:t>warranty terms, digital products policy — all of it — every single time.</a:t>
            </a:r>
          </a:p>
          <a:p>
            <a:pPr>
              <a:lnSpc>
                <a:spcPct val="120000"/>
              </a:lnSpc>
            </a:pPr>
            <a:endParaRPr sz="1300" dirty="0">
              <a:solidFill>
                <a:srgbClr val="1A1A1A"/>
              </a:solidFill>
              <a:latin typeface="Calibri"/>
            </a:endParaRPr>
          </a:p>
          <a:p>
            <a:pPr>
              <a:lnSpc>
                <a:spcPct val="120000"/>
              </a:lnSpc>
            </a:pPr>
            <a:r>
              <a:rPr sz="1200" dirty="0">
                <a:solidFill>
                  <a:srgbClr val="444444"/>
                </a:solidFill>
                <a:latin typeface="Calibri"/>
              </a:rPr>
              <a:t>Like a support agent who reads the entire company handbook before answering 'What's the </a:t>
            </a:r>
            <a:r>
              <a:rPr sz="1200" dirty="0" err="1">
                <a:solidFill>
                  <a:srgbClr val="444444"/>
                </a:solidFill>
                <a:latin typeface="Calibri"/>
              </a:rPr>
              <a:t>WiFi</a:t>
            </a:r>
            <a:r>
              <a:rPr sz="1200" dirty="0">
                <a:solidFill>
                  <a:srgbClr val="444444"/>
                </a:solidFill>
                <a:latin typeface="Calibri"/>
              </a:rPr>
              <a:t> password?'</a:t>
            </a:r>
          </a:p>
        </p:txBody>
      </p:sp>
      <p:sp>
        <p:nvSpPr>
          <p:cNvPr id="6" name="TextBox 5"/>
          <p:cNvSpPr txBox="1"/>
          <p:nvPr/>
        </p:nvSpPr>
        <p:spPr>
          <a:xfrm>
            <a:off x="458788" y="3273553"/>
            <a:ext cx="11274552" cy="871649"/>
          </a:xfrm>
          <a:prstGeom prst="rect">
            <a:avLst/>
          </a:prstGeom>
          <a:solidFill>
            <a:srgbClr val="1E3A5F"/>
          </a:solidFill>
        </p:spPr>
        <p:txBody>
          <a:bodyPr wrap="square" lIns="118872" tIns="91440" rIns="100584" bIns="73152">
            <a:spAutoFit/>
          </a:bodyPr>
          <a:lstStyle/>
          <a:p>
            <a:pPr>
              <a:lnSpc>
                <a:spcPct val="120000"/>
              </a:lnSpc>
            </a:pPr>
            <a:r>
              <a:rPr sz="1400" b="1" dirty="0">
                <a:solidFill>
                  <a:srgbClr val="FFFFFF"/>
                </a:solidFill>
                <a:latin typeface="Calibri"/>
              </a:rPr>
              <a:t>Now scale it up</a:t>
            </a:r>
          </a:p>
          <a:p>
            <a:pPr>
              <a:lnSpc>
                <a:spcPct val="120000"/>
              </a:lnSpc>
            </a:pPr>
            <a:r>
              <a:rPr sz="1300" dirty="0">
                <a:solidFill>
                  <a:srgbClr val="FFFFFF"/>
                </a:solidFill>
                <a:latin typeface="Calibri"/>
              </a:rPr>
              <a:t>4 documents  →  400 documents  →  knowledge base that changes weekly</a:t>
            </a:r>
          </a:p>
          <a:p>
            <a:pPr>
              <a:lnSpc>
                <a:spcPct val="120000"/>
              </a:lnSpc>
            </a:pPr>
            <a:r>
              <a:rPr sz="1200" dirty="0">
                <a:solidFill>
                  <a:srgbClr val="FFFFFF"/>
                </a:solidFill>
                <a:latin typeface="Calibri"/>
              </a:rPr>
              <a:t>The system message approach completely breaks down.  That's exactly why Problem 8 exists.</a:t>
            </a:r>
          </a:p>
        </p:txBody>
      </p:sp>
      <p:sp>
        <p:nvSpPr>
          <p:cNvPr id="7" name="TextBox 6"/>
          <p:cNvSpPr txBox="1"/>
          <p:nvPr/>
        </p:nvSpPr>
        <p:spPr>
          <a:xfrm>
            <a:off x="458788" y="4187952"/>
            <a:ext cx="11274552" cy="407484"/>
          </a:xfrm>
          <a:prstGeom prst="rect">
            <a:avLst/>
          </a:prstGeom>
          <a:noFill/>
        </p:spPr>
        <p:txBody>
          <a:bodyPr wrap="square" lIns="118872" tIns="91440" rIns="100584" bIns="73152">
            <a:spAutoFit/>
          </a:bodyPr>
          <a:lstStyle/>
          <a:p>
            <a:pPr>
              <a:lnSpc>
                <a:spcPct val="120000"/>
              </a:lnSpc>
            </a:pPr>
            <a:r>
              <a:rPr sz="1400" b="1">
                <a:solidFill>
                  <a:srgbClr val="059669"/>
                </a:solidFill>
                <a:latin typeface="Calibri"/>
              </a:rPr>
              <a:t>RAG solves this: retrieve only the relevant 500–800 tokens per question instead of all 2,000, every time.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0"/>
            <a:ext cx="11274552" cy="621792"/>
          </a:xfrm>
          <a:prstGeom prst="rect">
            <a:avLst/>
          </a:prstGeom>
          <a:noFill/>
        </p:spPr>
        <p:txBody>
          <a:bodyPr wrap="square" lIns="118872" tIns="91440" rIns="100584" bIns="73152">
            <a:spAutoFit/>
          </a:bodyPr>
          <a:lstStyle/>
          <a:p>
            <a:pPr>
              <a:lnSpc>
                <a:spcPct val="120000"/>
              </a:lnSpc>
            </a:pPr>
            <a:r>
              <a:rPr sz="2600" b="1">
                <a:solidFill>
                  <a:srgbClr val="1A1A1A"/>
                </a:solidFill>
                <a:latin typeface="Calibri"/>
              </a:rPr>
              <a:t>ColdFusion 2025: Simple RAG — simpleRAG()</a:t>
            </a:r>
          </a:p>
        </p:txBody>
      </p:sp>
      <p:sp>
        <p:nvSpPr>
          <p:cNvPr id="3" name="Rectangle 2"/>
          <p:cNvSpPr/>
          <p:nvPr/>
        </p:nvSpPr>
        <p:spPr>
          <a:xfrm>
            <a:off x="458788" y="749808"/>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78076" y="914400"/>
            <a:ext cx="3886200" cy="4122988"/>
          </a:xfrm>
          <a:prstGeom prst="rect">
            <a:avLst/>
          </a:prstGeom>
          <a:noFill/>
        </p:spPr>
        <p:txBody>
          <a:bodyPr wrap="square" lIns="118872" tIns="91440" rIns="100584" bIns="73152">
            <a:spAutoFit/>
          </a:bodyPr>
          <a:lstStyle/>
          <a:p>
            <a:pPr>
              <a:lnSpc>
                <a:spcPct val="120000"/>
              </a:lnSpc>
            </a:pPr>
            <a:r>
              <a:rPr sz="1500" b="1">
                <a:solidFill>
                  <a:srgbClr val="1A1A1A"/>
                </a:solidFill>
                <a:latin typeface="Calibri"/>
              </a:rPr>
              <a:t>simpleRAG()</a:t>
            </a:r>
          </a:p>
          <a:p>
            <a:pPr>
              <a:lnSpc>
                <a:spcPct val="120000"/>
              </a:lnSpc>
            </a:pPr>
            <a:endParaRPr sz="1500" b="1">
              <a:solidFill>
                <a:srgbClr val="1A1A1A"/>
              </a:solidFill>
              <a:latin typeface="Calibri"/>
            </a:endParaRPr>
          </a:p>
          <a:p>
            <a:pPr>
              <a:lnSpc>
                <a:spcPct val="120000"/>
              </a:lnSpc>
            </a:pPr>
            <a:r>
              <a:rPr sz="1200" b="1">
                <a:solidFill>
                  <a:srgbClr val="1A1A1A"/>
                </a:solidFill>
                <a:latin typeface="Calibri"/>
              </a:rPr>
              <a:t>3 arguments: docs path,</a:t>
            </a:r>
          </a:p>
          <a:p>
            <a:pPr>
              <a:lnSpc>
                <a:spcPct val="120000"/>
              </a:lnSpc>
            </a:pPr>
            <a:r>
              <a:rPr sz="1200" b="1">
                <a:solidFill>
                  <a:srgbClr val="1A1A1A"/>
                </a:solidFill>
                <a:latin typeface="Calibri"/>
              </a:rPr>
              <a:t>chatModel, options struct.</a:t>
            </a:r>
          </a:p>
          <a:p>
            <a:pPr>
              <a:lnSpc>
                <a:spcPct val="120000"/>
              </a:lnSpc>
            </a:pPr>
            <a:endParaRPr sz="1200" b="1">
              <a:solidFill>
                <a:srgbClr val="1A1A1A"/>
              </a:solidFill>
              <a:latin typeface="Calibri"/>
            </a:endParaRPr>
          </a:p>
          <a:p>
            <a:pPr>
              <a:lnSpc>
                <a:spcPct val="120000"/>
              </a:lnSpc>
            </a:pPr>
            <a:r>
              <a:rPr sz="1200" b="1">
                <a:solidFill>
                  <a:srgbClr val="1A1A1A"/>
                </a:solidFill>
                <a:latin typeface="Calibri"/>
              </a:rPr>
              <a:t>Handles everything:</a:t>
            </a:r>
          </a:p>
          <a:p>
            <a:pPr>
              <a:lnSpc>
                <a:spcPct val="120000"/>
              </a:lnSpc>
            </a:pPr>
            <a:r>
              <a:rPr sz="1100">
                <a:solidFill>
                  <a:srgbClr val="1A1A1A"/>
                </a:solidFill>
                <a:latin typeface="Calibri"/>
              </a:rPr>
              <a:t>  • Chunking</a:t>
            </a:r>
          </a:p>
          <a:p>
            <a:pPr>
              <a:lnSpc>
                <a:spcPct val="120000"/>
              </a:lnSpc>
            </a:pPr>
            <a:r>
              <a:rPr sz="1100">
                <a:solidFill>
                  <a:srgbClr val="1A1A1A"/>
                </a:solidFill>
                <a:latin typeface="Calibri"/>
              </a:rPr>
              <a:t>  • Embedding</a:t>
            </a:r>
          </a:p>
          <a:p>
            <a:pPr>
              <a:lnSpc>
                <a:spcPct val="120000"/>
              </a:lnSpc>
            </a:pPr>
            <a:r>
              <a:rPr sz="1100">
                <a:solidFill>
                  <a:srgbClr val="1A1A1A"/>
                </a:solidFill>
                <a:latin typeface="Calibri"/>
              </a:rPr>
              <a:t>  • Vector storage</a:t>
            </a:r>
          </a:p>
          <a:p>
            <a:pPr>
              <a:lnSpc>
                <a:spcPct val="120000"/>
              </a:lnSpc>
            </a:pPr>
            <a:r>
              <a:rPr sz="1100">
                <a:solidFill>
                  <a:srgbClr val="1A1A1A"/>
                </a:solidFill>
                <a:latin typeface="Calibri"/>
              </a:rPr>
              <a:t>  • Retrieval</a:t>
            </a:r>
          </a:p>
          <a:p>
            <a:pPr>
              <a:lnSpc>
                <a:spcPct val="120000"/>
              </a:lnSpc>
            </a:pPr>
            <a:endParaRPr sz="1100">
              <a:solidFill>
                <a:srgbClr val="1A1A1A"/>
              </a:solidFill>
              <a:latin typeface="Calibri"/>
            </a:endParaRPr>
          </a:p>
          <a:p>
            <a:pPr>
              <a:lnSpc>
                <a:spcPct val="120000"/>
              </a:lnSpc>
            </a:pPr>
            <a:r>
              <a:rPr sz="1200" b="1">
                <a:solidFill>
                  <a:srgbClr val="059669"/>
                </a:solidFill>
                <a:latin typeface="Calibri"/>
              </a:rPr>
              <a:t>ingest() once.</a:t>
            </a:r>
          </a:p>
          <a:p>
            <a:pPr>
              <a:lnSpc>
                <a:spcPct val="120000"/>
              </a:lnSpc>
            </a:pPr>
            <a:r>
              <a:rPr sz="1200" b="1">
                <a:solidFill>
                  <a:srgbClr val="1D4ED8"/>
                </a:solidFill>
                <a:latin typeface="Calibri"/>
              </a:rPr>
              <a:t>ask() = stateless</a:t>
            </a:r>
          </a:p>
          <a:p>
            <a:pPr>
              <a:lnSpc>
                <a:spcPct val="120000"/>
              </a:lnSpc>
            </a:pPr>
            <a:r>
              <a:rPr sz="1200" b="1">
                <a:solidFill>
                  <a:srgbClr val="1D4ED8"/>
                </a:solidFill>
                <a:latin typeface="Calibri"/>
              </a:rPr>
              <a:t>chat() = stateful</a:t>
            </a:r>
          </a:p>
          <a:p>
            <a:pPr>
              <a:lnSpc>
                <a:spcPct val="120000"/>
              </a:lnSpc>
            </a:pPr>
            <a:endParaRPr sz="1200" b="1">
              <a:solidFill>
                <a:srgbClr val="1D4ED8"/>
              </a:solidFill>
              <a:latin typeface="Calibri"/>
            </a:endParaRPr>
          </a:p>
          <a:p>
            <a:pPr>
              <a:lnSpc>
                <a:spcPct val="120000"/>
              </a:lnSpc>
            </a:pPr>
            <a:r>
              <a:rPr sz="1200" b="1">
                <a:solidFill>
                  <a:srgbClr val="1A1A1A"/>
                </a:solidFill>
                <a:latin typeface="Calibri"/>
              </a:rPr>
              <a:t>Debug helpers:</a:t>
            </a:r>
          </a:p>
          <a:p>
            <a:pPr>
              <a:lnSpc>
                <a:spcPct val="120000"/>
              </a:lnSpc>
            </a:pPr>
            <a:r>
              <a:rPr sz="1100">
                <a:solidFill>
                  <a:srgbClr val="444444"/>
                </a:solidFill>
                <a:latin typeface="Calibri"/>
              </a:rPr>
              <a:t>getStatistics()</a:t>
            </a:r>
          </a:p>
          <a:p>
            <a:pPr>
              <a:lnSpc>
                <a:spcPct val="120000"/>
              </a:lnSpc>
            </a:pPr>
            <a:r>
              <a:rPr sz="1100">
                <a:solidFill>
                  <a:srgbClr val="444444"/>
                </a:solidFill>
                <a:latin typeface="Calibri"/>
              </a:rPr>
              <a:t>getConfiguration()</a:t>
            </a:r>
          </a:p>
        </p:txBody>
      </p:sp>
      <p:sp>
        <p:nvSpPr>
          <p:cNvPr id="5" name="TextBox 4"/>
          <p:cNvSpPr txBox="1"/>
          <p:nvPr/>
        </p:nvSpPr>
        <p:spPr>
          <a:xfrm>
            <a:off x="458788" y="914400"/>
            <a:ext cx="4366132" cy="3840090"/>
          </a:xfrm>
          <a:prstGeom prst="rect">
            <a:avLst/>
          </a:prstGeom>
          <a:solidFill>
            <a:srgbClr val="000000"/>
          </a:solidFill>
        </p:spPr>
        <p:txBody>
          <a:bodyPr wrap="none" lIns="109728" tIns="82296" bIns="64008">
            <a:spAutoFit/>
          </a:bodyPr>
          <a:lstStyle/>
          <a:p>
            <a:pPr>
              <a:lnSpc>
                <a:spcPct val="115000"/>
              </a:lnSpc>
            </a:pPr>
            <a:r>
              <a:rPr sz="1100">
                <a:solidFill>
                  <a:srgbClr val="9CDCFE"/>
                </a:solidFill>
                <a:latin typeface="Courier New"/>
              </a:rPr>
              <a:t>chatModel</a:t>
            </a:r>
            <a:r>
              <a:rPr sz="1100">
                <a:solidFill>
                  <a:srgbClr val="D4D4D4"/>
                </a:solidFill>
                <a:latin typeface="Courier New"/>
              </a:rPr>
              <a:t> = </a:t>
            </a:r>
            <a:r>
              <a:rPr sz="1100">
                <a:solidFill>
                  <a:srgbClr val="4EC9B0"/>
                </a:solidFill>
                <a:latin typeface="Courier New"/>
              </a:rPr>
              <a:t>ChatModel</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PROVIDER</a:t>
            </a:r>
            <a:r>
              <a:rPr sz="1100">
                <a:solidFill>
                  <a:srgbClr val="D4D4D4"/>
                </a:solidFill>
                <a:latin typeface="Courier New"/>
              </a:rPr>
              <a:t>:  </a:t>
            </a:r>
            <a:r>
              <a:rPr sz="1100">
                <a:solidFill>
                  <a:srgbClr val="CE9178"/>
                </a:solidFill>
                <a:latin typeface="Courier New"/>
              </a:rPr>
              <a:t>"openai"</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APIKEY</a:t>
            </a:r>
            <a:r>
              <a:rPr sz="1100">
                <a:solidFill>
                  <a:srgbClr val="D4D4D4"/>
                </a:solidFill>
                <a:latin typeface="Courier New"/>
              </a:rPr>
              <a:t>:    </a:t>
            </a:r>
            <a:r>
              <a:rPr sz="1100">
                <a:solidFill>
                  <a:srgbClr val="9CDCFE"/>
                </a:solidFill>
                <a:latin typeface="Courier New"/>
              </a:rPr>
              <a:t>application</a:t>
            </a:r>
            <a:r>
              <a:rPr sz="1100">
                <a:solidFill>
                  <a:srgbClr val="D4D4D4"/>
                </a:solidFill>
                <a:latin typeface="Courier New"/>
              </a:rPr>
              <a:t>.</a:t>
            </a:r>
            <a:r>
              <a:rPr sz="1100">
                <a:solidFill>
                  <a:srgbClr val="9CDCFE"/>
                </a:solidFill>
                <a:latin typeface="Courier New"/>
              </a:rPr>
              <a:t>openaiKey</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MODELNAME</a:t>
            </a:r>
            <a:r>
              <a:rPr sz="1100">
                <a:solidFill>
                  <a:srgbClr val="D4D4D4"/>
                </a:solidFill>
                <a:latin typeface="Courier New"/>
              </a:rPr>
              <a:t>: </a:t>
            </a:r>
            <a:r>
              <a:rPr sz="1100">
                <a:solidFill>
                  <a:srgbClr val="CE9178"/>
                </a:solidFill>
                <a:latin typeface="Courier New"/>
              </a:rPr>
              <a:t>"gpt-4o-mini"</a:t>
            </a:r>
          </a:p>
          <a:p>
            <a:pPr>
              <a:lnSpc>
                <a:spcPct val="115000"/>
              </a:lnSpc>
            </a:pPr>
            <a:r>
              <a:rPr sz="1100">
                <a:solidFill>
                  <a:srgbClr val="D4D4D4"/>
                </a:solidFill>
                <a:latin typeface="Courier New"/>
              </a:rPr>
              <a:t>});</a:t>
            </a:r>
          </a:p>
          <a:p>
            <a:pPr>
              <a:lnSpc>
                <a:spcPct val="115000"/>
              </a:lnSpc>
            </a:pPr>
            <a:endParaRPr sz="1100">
              <a:solidFill>
                <a:srgbClr val="D4D4D4"/>
              </a:solidFill>
              <a:latin typeface="Courier New"/>
            </a:endParaRPr>
          </a:p>
          <a:p>
            <a:pPr>
              <a:lnSpc>
                <a:spcPct val="115000"/>
              </a:lnSpc>
            </a:pPr>
            <a:r>
              <a:rPr sz="1100">
                <a:solidFill>
                  <a:srgbClr val="9CDCFE"/>
                </a:solidFill>
                <a:latin typeface="Courier New"/>
              </a:rPr>
              <a:t>ragBot</a:t>
            </a:r>
            <a:r>
              <a:rPr sz="1100">
                <a:solidFill>
                  <a:srgbClr val="D4D4D4"/>
                </a:solidFill>
                <a:latin typeface="Courier New"/>
              </a:rPr>
              <a:t> = </a:t>
            </a:r>
            <a:r>
              <a:rPr sz="1100">
                <a:solidFill>
                  <a:srgbClr val="4EC9B0"/>
                </a:solidFill>
                <a:latin typeface="Courier New"/>
              </a:rPr>
              <a:t>simpleRAG</a:t>
            </a:r>
            <a:r>
              <a:rPr sz="1100">
                <a:solidFill>
                  <a:srgbClr val="D4D4D4"/>
                </a:solidFill>
                <a:latin typeface="Courier New"/>
              </a:rPr>
              <a:t>(</a:t>
            </a:r>
            <a:r>
              <a:rPr sz="1100">
                <a:solidFill>
                  <a:srgbClr val="CE9178"/>
                </a:solidFill>
                <a:latin typeface="Courier New"/>
              </a:rPr>
              <a:t>"/path/to/docs/"</a:t>
            </a:r>
            <a:r>
              <a:rPr sz="1100">
                <a:solidFill>
                  <a:srgbClr val="D4D4D4"/>
                </a:solidFill>
                <a:latin typeface="Courier New"/>
              </a:rPr>
              <a:t>, </a:t>
            </a:r>
            <a:r>
              <a:rPr sz="1100">
                <a:solidFill>
                  <a:srgbClr val="9CDCFE"/>
                </a:solidFill>
                <a:latin typeface="Courier New"/>
              </a:rPr>
              <a:t>chatModel</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chunkSize</a:t>
            </a:r>
            <a:r>
              <a:rPr sz="1100">
                <a:solidFill>
                  <a:srgbClr val="D4D4D4"/>
                </a:solidFill>
                <a:latin typeface="Courier New"/>
              </a:rPr>
              <a:t>:    </a:t>
            </a:r>
            <a:r>
              <a:rPr sz="1100">
                <a:solidFill>
                  <a:srgbClr val="B5CEA8"/>
                </a:solidFill>
                <a:latin typeface="Courier New"/>
              </a:rPr>
              <a:t>800</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chunkOverlap</a:t>
            </a:r>
            <a:r>
              <a:rPr sz="1100">
                <a:solidFill>
                  <a:srgbClr val="D4D4D4"/>
                </a:solidFill>
                <a:latin typeface="Courier New"/>
              </a:rPr>
              <a:t>: </a:t>
            </a:r>
            <a:r>
              <a:rPr sz="1100">
                <a:solidFill>
                  <a:srgbClr val="B5CEA8"/>
                </a:solidFill>
                <a:latin typeface="Courier New"/>
              </a:rPr>
              <a:t>150</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vectorStore</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provider</a:t>
            </a:r>
            <a:r>
              <a:rPr sz="1100">
                <a:solidFill>
                  <a:srgbClr val="D4D4D4"/>
                </a:solidFill>
                <a:latin typeface="Courier New"/>
              </a:rPr>
              <a:t>: </a:t>
            </a:r>
            <a:r>
              <a:rPr sz="1100">
                <a:solidFill>
                  <a:srgbClr val="CE9178"/>
                </a:solidFill>
                <a:latin typeface="Courier New"/>
              </a:rPr>
              <a:t>"INMEMORY"</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embeddingModel</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provider</a:t>
            </a:r>
            <a:r>
              <a:rPr sz="1100">
                <a:solidFill>
                  <a:srgbClr val="D4D4D4"/>
                </a:solidFill>
                <a:latin typeface="Courier New"/>
              </a:rPr>
              <a:t>:  </a:t>
            </a:r>
            <a:r>
              <a:rPr sz="1100">
                <a:solidFill>
                  <a:srgbClr val="CE9178"/>
                </a:solidFill>
                <a:latin typeface="Courier New"/>
              </a:rPr>
              <a:t>"openai"</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modelName</a:t>
            </a:r>
            <a:r>
              <a:rPr sz="1100">
                <a:solidFill>
                  <a:srgbClr val="D4D4D4"/>
                </a:solidFill>
                <a:latin typeface="Courier New"/>
              </a:rPr>
              <a:t>: </a:t>
            </a:r>
            <a:r>
              <a:rPr sz="1100">
                <a:solidFill>
                  <a:srgbClr val="CE9178"/>
                </a:solidFill>
                <a:latin typeface="Courier New"/>
              </a:rPr>
              <a:t>"text-embedding-3-small"</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apiKey</a:t>
            </a:r>
            <a:r>
              <a:rPr sz="1100">
                <a:solidFill>
                  <a:srgbClr val="D4D4D4"/>
                </a:solidFill>
                <a:latin typeface="Courier New"/>
              </a:rPr>
              <a:t>:    </a:t>
            </a:r>
            <a:r>
              <a:rPr sz="1100">
                <a:solidFill>
                  <a:srgbClr val="9CDCFE"/>
                </a:solidFill>
                <a:latin typeface="Courier New"/>
              </a:rPr>
              <a:t>application</a:t>
            </a:r>
            <a:r>
              <a:rPr sz="1100">
                <a:solidFill>
                  <a:srgbClr val="D4D4D4"/>
                </a:solidFill>
                <a:latin typeface="Courier New"/>
              </a:rPr>
              <a:t>.</a:t>
            </a:r>
            <a:r>
              <a:rPr sz="1100">
                <a:solidFill>
                  <a:srgbClr val="9CDCFE"/>
                </a:solidFill>
                <a:latin typeface="Courier New"/>
              </a:rPr>
              <a:t>openaiKey</a:t>
            </a:r>
          </a:p>
          <a:p>
            <a:pPr>
              <a:lnSpc>
                <a:spcPct val="115000"/>
              </a:lnSpc>
            </a:pPr>
            <a:r>
              <a:rPr sz="1100">
                <a:solidFill>
                  <a:srgbClr val="D4D4D4"/>
                </a:solidFill>
                <a:latin typeface="Courier New"/>
              </a:rPr>
              <a:t>        }</a:t>
            </a:r>
          </a:p>
          <a:p>
            <a:pPr>
              <a:lnSpc>
                <a:spcPct val="115000"/>
              </a:lnSpc>
            </a:pPr>
            <a:r>
              <a:rPr sz="1100">
                <a:solidFill>
                  <a:srgbClr val="D4D4D4"/>
                </a:solidFill>
                <a:latin typeface="Courier New"/>
              </a:rPr>
              <a:t>    }</a:t>
            </a:r>
          </a:p>
          <a:p>
            <a:pPr>
              <a:lnSpc>
                <a:spcPct val="115000"/>
              </a:lnSpc>
            </a:pPr>
            <a:r>
              <a:rPr sz="1100">
                <a:solidFill>
                  <a:srgbClr val="D4D4D4"/>
                </a:solidFill>
                <a:latin typeface="Courier New"/>
              </a:rPr>
              <a:t>});</a:t>
            </a:r>
          </a:p>
          <a:p>
            <a:pPr>
              <a:lnSpc>
                <a:spcPct val="115000"/>
              </a:lnSpc>
            </a:pPr>
            <a:r>
              <a:rPr sz="1100">
                <a:solidFill>
                  <a:srgbClr val="9CDCFE"/>
                </a:solidFill>
                <a:latin typeface="Courier New"/>
              </a:rPr>
              <a:t>ragBot</a:t>
            </a:r>
            <a:r>
              <a:rPr sz="1100">
                <a:solidFill>
                  <a:srgbClr val="D4D4D4"/>
                </a:solidFill>
                <a:latin typeface="Courier New"/>
              </a:rPr>
              <a:t>.</a:t>
            </a:r>
            <a:r>
              <a:rPr sz="1100">
                <a:solidFill>
                  <a:srgbClr val="4EC9B0"/>
                </a:solidFill>
                <a:latin typeface="Courier New"/>
              </a:rPr>
              <a:t>ingest</a:t>
            </a:r>
            <a:r>
              <a:rPr sz="1100">
                <a:solidFill>
                  <a:srgbClr val="D4D4D4"/>
                </a:solidFill>
                <a:latin typeface="Courier New"/>
              </a:rPr>
              <a:t>();   </a:t>
            </a:r>
            <a:r>
              <a:rPr sz="1100">
                <a:solidFill>
                  <a:srgbClr val="6A9955"/>
                </a:solidFill>
                <a:latin typeface="Courier New"/>
              </a:rPr>
              <a:t>// full pipeline — call once</a:t>
            </a:r>
          </a:p>
        </p:txBody>
      </p:sp>
      <p:sp>
        <p:nvSpPr>
          <p:cNvPr id="6" name="TextBox 5"/>
          <p:cNvSpPr txBox="1"/>
          <p:nvPr/>
        </p:nvSpPr>
        <p:spPr>
          <a:xfrm>
            <a:off x="458788" y="4314318"/>
            <a:ext cx="5470600" cy="2440861"/>
          </a:xfrm>
          <a:prstGeom prst="rect">
            <a:avLst/>
          </a:prstGeom>
          <a:solidFill>
            <a:srgbClr val="000000"/>
          </a:solidFill>
        </p:spPr>
        <p:txBody>
          <a:bodyPr wrap="none" lIns="109728" tIns="82296" bIns="64008">
            <a:spAutoFit/>
          </a:bodyPr>
          <a:lstStyle/>
          <a:p>
            <a:pPr>
              <a:lnSpc>
                <a:spcPct val="115000"/>
              </a:lnSpc>
            </a:pPr>
            <a:r>
              <a:rPr sz="1300">
                <a:solidFill>
                  <a:srgbClr val="6A9955"/>
                </a:solidFill>
                <a:latin typeface="Courier New"/>
              </a:rPr>
              <a:t>// Stateless — no memory between calls</a:t>
            </a:r>
          </a:p>
          <a:p>
            <a:pPr>
              <a:lnSpc>
                <a:spcPct val="115000"/>
              </a:lnSpc>
            </a:pPr>
            <a:r>
              <a:rPr sz="1300">
                <a:solidFill>
                  <a:srgbClr val="9CDCFE"/>
                </a:solidFill>
                <a:latin typeface="Courier New"/>
              </a:rPr>
              <a:t>answer</a:t>
            </a:r>
            <a:r>
              <a:rPr sz="1300">
                <a:solidFill>
                  <a:srgbClr val="D4D4D4"/>
                </a:solidFill>
                <a:latin typeface="Courier New"/>
              </a:rPr>
              <a:t> = </a:t>
            </a:r>
            <a:r>
              <a:rPr sz="1300">
                <a:solidFill>
                  <a:srgbClr val="9CDCFE"/>
                </a:solidFill>
                <a:latin typeface="Courier New"/>
              </a:rPr>
              <a:t>ragBot</a:t>
            </a:r>
            <a:r>
              <a:rPr sz="1300">
                <a:solidFill>
                  <a:srgbClr val="D4D4D4"/>
                </a:solidFill>
                <a:latin typeface="Courier New"/>
              </a:rPr>
              <a:t>.</a:t>
            </a:r>
            <a:r>
              <a:rPr sz="1300">
                <a:solidFill>
                  <a:srgbClr val="4EC9B0"/>
                </a:solidFill>
                <a:latin typeface="Courier New"/>
              </a:rPr>
              <a:t>ask</a:t>
            </a:r>
            <a:r>
              <a:rPr sz="1300">
                <a:solidFill>
                  <a:srgbClr val="D4D4D4"/>
                </a:solidFill>
                <a:latin typeface="Courier New"/>
              </a:rPr>
              <a:t>(</a:t>
            </a:r>
            <a:r>
              <a:rPr sz="1300">
                <a:solidFill>
                  <a:srgbClr val="CE9178"/>
                </a:solidFill>
                <a:latin typeface="Courier New"/>
              </a:rPr>
              <a:t>"What is your return policy?"</a:t>
            </a:r>
            <a:r>
              <a:rPr sz="1300">
                <a:solidFill>
                  <a:srgbClr val="D4D4D4"/>
                </a:solidFill>
                <a:latin typeface="Courier New"/>
              </a:rPr>
              <a:t>);</a:t>
            </a:r>
          </a:p>
          <a:p>
            <a:pPr>
              <a:lnSpc>
                <a:spcPct val="115000"/>
              </a:lnSpc>
            </a:pPr>
            <a:endParaRPr sz="1300">
              <a:solidFill>
                <a:srgbClr val="D4D4D4"/>
              </a:solidFill>
              <a:latin typeface="Courier New"/>
            </a:endParaRPr>
          </a:p>
          <a:p>
            <a:pPr>
              <a:lnSpc>
                <a:spcPct val="115000"/>
              </a:lnSpc>
            </a:pPr>
            <a:r>
              <a:rPr sz="1300">
                <a:solidFill>
                  <a:srgbClr val="6A9955"/>
                </a:solidFill>
                <a:latin typeface="Courier New"/>
              </a:rPr>
              <a:t>// Stateful — built-in memory, remembers conversation</a:t>
            </a:r>
          </a:p>
          <a:p>
            <a:pPr>
              <a:lnSpc>
                <a:spcPct val="115000"/>
              </a:lnSpc>
            </a:pPr>
            <a:r>
              <a:rPr sz="1300">
                <a:solidFill>
                  <a:srgbClr val="9CDCFE"/>
                </a:solidFill>
                <a:latin typeface="Courier New"/>
              </a:rPr>
              <a:t>answer</a:t>
            </a:r>
            <a:r>
              <a:rPr sz="1300">
                <a:solidFill>
                  <a:srgbClr val="D4D4D4"/>
                </a:solidFill>
                <a:latin typeface="Courier New"/>
              </a:rPr>
              <a:t> = </a:t>
            </a:r>
            <a:r>
              <a:rPr sz="1300">
                <a:solidFill>
                  <a:srgbClr val="9CDCFE"/>
                </a:solidFill>
                <a:latin typeface="Courier New"/>
              </a:rPr>
              <a:t>ragBot</a:t>
            </a:r>
            <a:r>
              <a:rPr sz="1300">
                <a:solidFill>
                  <a:srgbClr val="D4D4D4"/>
                </a:solidFill>
                <a:latin typeface="Courier New"/>
              </a:rPr>
              <a:t>.</a:t>
            </a:r>
            <a:r>
              <a:rPr sz="1300">
                <a:solidFill>
                  <a:srgbClr val="4EC9B0"/>
                </a:solidFill>
                <a:latin typeface="Courier New"/>
              </a:rPr>
              <a:t>chat</a:t>
            </a:r>
            <a:r>
              <a:rPr sz="1300">
                <a:solidFill>
                  <a:srgbClr val="D4D4D4"/>
                </a:solidFill>
                <a:latin typeface="Courier New"/>
              </a:rPr>
              <a:t>(</a:t>
            </a:r>
            <a:r>
              <a:rPr sz="1300">
                <a:solidFill>
                  <a:srgbClr val="CE9178"/>
                </a:solidFill>
                <a:latin typeface="Courier New"/>
              </a:rPr>
              <a:t>"What is your return policy?"</a:t>
            </a:r>
            <a:r>
              <a:rPr sz="1300">
                <a:solidFill>
                  <a:srgbClr val="D4D4D4"/>
                </a:solidFill>
                <a:latin typeface="Courier New"/>
              </a:rPr>
              <a:t>);</a:t>
            </a:r>
          </a:p>
          <a:p>
            <a:pPr>
              <a:lnSpc>
                <a:spcPct val="115000"/>
              </a:lnSpc>
            </a:pPr>
            <a:r>
              <a:rPr sz="1300">
                <a:solidFill>
                  <a:srgbClr val="4EC9B0"/>
                </a:solidFill>
                <a:latin typeface="Courier New"/>
              </a:rPr>
              <a:t>writeOutput</a:t>
            </a:r>
            <a:r>
              <a:rPr sz="1300">
                <a:solidFill>
                  <a:srgbClr val="D4D4D4"/>
                </a:solidFill>
                <a:latin typeface="Courier New"/>
              </a:rPr>
              <a:t>(</a:t>
            </a:r>
            <a:r>
              <a:rPr sz="1300">
                <a:solidFill>
                  <a:srgbClr val="9CDCFE"/>
                </a:solidFill>
                <a:latin typeface="Courier New"/>
              </a:rPr>
              <a:t>answer</a:t>
            </a:r>
            <a:r>
              <a:rPr sz="1300">
                <a:solidFill>
                  <a:srgbClr val="D4D4D4"/>
                </a:solidFill>
                <a:latin typeface="Courier New"/>
              </a:rPr>
              <a:t>.</a:t>
            </a:r>
            <a:r>
              <a:rPr sz="1300">
                <a:solidFill>
                  <a:srgbClr val="9CDCFE"/>
                </a:solidFill>
                <a:latin typeface="Courier New"/>
              </a:rPr>
              <a:t>message</a:t>
            </a:r>
            <a:r>
              <a:rPr sz="1300">
                <a:solidFill>
                  <a:srgbClr val="D4D4D4"/>
                </a:solidFill>
                <a:latin typeface="Courier New"/>
              </a:rPr>
              <a:t>);</a:t>
            </a:r>
          </a:p>
          <a:p>
            <a:pPr>
              <a:lnSpc>
                <a:spcPct val="115000"/>
              </a:lnSpc>
            </a:pPr>
            <a:endParaRPr sz="1300">
              <a:solidFill>
                <a:srgbClr val="D4D4D4"/>
              </a:solidFill>
              <a:latin typeface="Courier New"/>
            </a:endParaRPr>
          </a:p>
          <a:p>
            <a:pPr>
              <a:lnSpc>
                <a:spcPct val="115000"/>
              </a:lnSpc>
            </a:pPr>
            <a:r>
              <a:rPr sz="1300">
                <a:solidFill>
                  <a:srgbClr val="6A9955"/>
                </a:solidFill>
                <a:latin typeface="Courier New"/>
              </a:rPr>
              <a:t>// Debug helpers</a:t>
            </a:r>
          </a:p>
          <a:p>
            <a:pPr>
              <a:lnSpc>
                <a:spcPct val="115000"/>
              </a:lnSpc>
            </a:pPr>
            <a:r>
              <a:rPr sz="1300">
                <a:solidFill>
                  <a:srgbClr val="9CDCFE"/>
                </a:solidFill>
                <a:latin typeface="Courier New"/>
              </a:rPr>
              <a:t>ragBot</a:t>
            </a:r>
            <a:r>
              <a:rPr sz="1300">
                <a:solidFill>
                  <a:srgbClr val="D4D4D4"/>
                </a:solidFill>
                <a:latin typeface="Courier New"/>
              </a:rPr>
              <a:t>.</a:t>
            </a:r>
            <a:r>
              <a:rPr sz="1300">
                <a:solidFill>
                  <a:srgbClr val="4EC9B0"/>
                </a:solidFill>
                <a:latin typeface="Courier New"/>
              </a:rPr>
              <a:t>getStatistics</a:t>
            </a:r>
            <a:r>
              <a:rPr sz="1300">
                <a:solidFill>
                  <a:srgbClr val="D4D4D4"/>
                </a:solidFill>
                <a:latin typeface="Courier New"/>
              </a:rPr>
              <a:t>();</a:t>
            </a:r>
          </a:p>
          <a:p>
            <a:pPr>
              <a:lnSpc>
                <a:spcPct val="115000"/>
              </a:lnSpc>
            </a:pPr>
            <a:r>
              <a:rPr sz="1300">
                <a:solidFill>
                  <a:srgbClr val="9CDCFE"/>
                </a:solidFill>
                <a:latin typeface="Courier New"/>
              </a:rPr>
              <a:t>ragBot</a:t>
            </a:r>
            <a:r>
              <a:rPr sz="1300">
                <a:solidFill>
                  <a:srgbClr val="D4D4D4"/>
                </a:solidFill>
                <a:latin typeface="Courier New"/>
              </a:rPr>
              <a:t>.</a:t>
            </a:r>
            <a:r>
              <a:rPr sz="1300">
                <a:solidFill>
                  <a:srgbClr val="4EC9B0"/>
                </a:solidFill>
                <a:latin typeface="Courier New"/>
              </a:rPr>
              <a:t>getConfiguration</a:t>
            </a:r>
            <a:r>
              <a:rPr sz="1300">
                <a:solidFill>
                  <a:srgbClr val="D4D4D4"/>
                </a:solidFill>
                <a:latin typeface="Courier New"/>
              </a:rPr>
              <a:t>();</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0"/>
            <a:ext cx="11274552" cy="621792"/>
          </a:xfrm>
          <a:prstGeom prst="rect">
            <a:avLst/>
          </a:prstGeom>
          <a:noFill/>
        </p:spPr>
        <p:txBody>
          <a:bodyPr wrap="square" lIns="118872" tIns="91440" rIns="100584" bIns="73152">
            <a:spAutoFit/>
          </a:bodyPr>
          <a:lstStyle/>
          <a:p>
            <a:pPr>
              <a:lnSpc>
                <a:spcPct val="120000"/>
              </a:lnSpc>
            </a:pPr>
            <a:r>
              <a:rPr sz="2600" b="1">
                <a:solidFill>
                  <a:srgbClr val="1A1A1A"/>
                </a:solidFill>
                <a:latin typeface="Calibri"/>
              </a:rPr>
              <a:t>ColdFusion 2025: Advanced RAG — agent() with INGESTION</a:t>
            </a:r>
          </a:p>
        </p:txBody>
      </p:sp>
      <p:sp>
        <p:nvSpPr>
          <p:cNvPr id="3" name="Rectangle 2"/>
          <p:cNvSpPr/>
          <p:nvPr/>
        </p:nvSpPr>
        <p:spPr>
          <a:xfrm>
            <a:off x="458788" y="749808"/>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78076" y="914400"/>
            <a:ext cx="3886200" cy="4289188"/>
          </a:xfrm>
          <a:prstGeom prst="rect">
            <a:avLst/>
          </a:prstGeom>
          <a:noFill/>
        </p:spPr>
        <p:txBody>
          <a:bodyPr wrap="square" lIns="118872" tIns="91440" rIns="100584" bIns="73152">
            <a:spAutoFit/>
          </a:bodyPr>
          <a:lstStyle/>
          <a:p>
            <a:pPr>
              <a:lnSpc>
                <a:spcPct val="120000"/>
              </a:lnSpc>
            </a:pPr>
            <a:r>
              <a:rPr sz="1400" b="1">
                <a:solidFill>
                  <a:srgbClr val="1A1A1A"/>
                </a:solidFill>
                <a:latin typeface="Calibri"/>
              </a:rPr>
              <a:t>agent() + INGESTION</a:t>
            </a:r>
          </a:p>
          <a:p>
            <a:pPr>
              <a:lnSpc>
                <a:spcPct val="120000"/>
              </a:lnSpc>
            </a:pPr>
            <a:endParaRPr sz="1400" b="1">
              <a:solidFill>
                <a:srgbClr val="1A1A1A"/>
              </a:solidFill>
              <a:latin typeface="Calibri"/>
            </a:endParaRPr>
          </a:p>
          <a:p>
            <a:pPr>
              <a:lnSpc>
                <a:spcPct val="120000"/>
              </a:lnSpc>
            </a:pPr>
            <a:r>
              <a:rPr sz="1200" b="1">
                <a:solidFill>
                  <a:srgbClr val="1A1A1A"/>
                </a:solidFill>
                <a:latin typeface="Calibri"/>
              </a:rPr>
              <a:t>Full control over:</a:t>
            </a:r>
          </a:p>
          <a:p>
            <a:pPr>
              <a:lnSpc>
                <a:spcPct val="120000"/>
              </a:lnSpc>
            </a:pPr>
            <a:r>
              <a:rPr sz="1100">
                <a:solidFill>
                  <a:srgbClr val="1A1A1A"/>
                </a:solidFill>
                <a:latin typeface="Calibri"/>
              </a:rPr>
              <a:t>  • Chunk size &amp; overlap</a:t>
            </a:r>
          </a:p>
          <a:p>
            <a:pPr>
              <a:lnSpc>
                <a:spcPct val="120000"/>
              </a:lnSpc>
            </a:pPr>
            <a:r>
              <a:rPr sz="1100">
                <a:solidFill>
                  <a:srgbClr val="1A1A1A"/>
                </a:solidFill>
                <a:latin typeface="Calibri"/>
              </a:rPr>
              <a:t>  • Embedding model</a:t>
            </a:r>
          </a:p>
          <a:p>
            <a:pPr>
              <a:lnSpc>
                <a:spcPct val="120000"/>
              </a:lnSpc>
            </a:pPr>
            <a:r>
              <a:rPr sz="1100">
                <a:solidFill>
                  <a:srgbClr val="1A1A1A"/>
                </a:solidFill>
                <a:latin typeface="Calibri"/>
              </a:rPr>
              <a:t>  • Vector store provider</a:t>
            </a:r>
          </a:p>
          <a:p>
            <a:pPr>
              <a:lnSpc>
                <a:spcPct val="120000"/>
              </a:lnSpc>
            </a:pPr>
            <a:r>
              <a:rPr sz="1100">
                <a:solidFill>
                  <a:srgbClr val="1A1A1A"/>
                </a:solidFill>
                <a:latin typeface="Calibri"/>
              </a:rPr>
              <a:t>  • Query transformation</a:t>
            </a:r>
          </a:p>
          <a:p>
            <a:pPr>
              <a:lnSpc>
                <a:spcPct val="120000"/>
              </a:lnSpc>
            </a:pPr>
            <a:r>
              <a:rPr sz="1100">
                <a:solidFill>
                  <a:srgbClr val="1A1A1A"/>
                </a:solidFill>
                <a:latin typeface="Calibri"/>
              </a:rPr>
              <a:t>  • Guardrails</a:t>
            </a:r>
          </a:p>
          <a:p>
            <a:pPr>
              <a:lnSpc>
                <a:spcPct val="120000"/>
              </a:lnSpc>
            </a:pPr>
            <a:endParaRPr sz="1100">
              <a:solidFill>
                <a:srgbClr val="1A1A1A"/>
              </a:solidFill>
              <a:latin typeface="Calibri"/>
            </a:endParaRPr>
          </a:p>
          <a:p>
            <a:pPr>
              <a:lnSpc>
                <a:spcPct val="120000"/>
              </a:lnSpc>
            </a:pPr>
            <a:r>
              <a:rPr sz="1200" b="1">
                <a:solidFill>
                  <a:srgbClr val="1D4ED8"/>
                </a:solidFill>
                <a:latin typeface="Calibri"/>
              </a:rPr>
              <a:t>Key feature:</a:t>
            </a:r>
          </a:p>
          <a:p>
            <a:pPr>
              <a:lnSpc>
                <a:spcPct val="120000"/>
              </a:lnSpc>
            </a:pPr>
            <a:r>
              <a:rPr sz="1200" b="1">
                <a:solidFill>
                  <a:srgbClr val="1D4ED8"/>
                </a:solidFill>
                <a:latin typeface="Calibri"/>
              </a:rPr>
              <a:t>retrievalAugmentor with</a:t>
            </a:r>
          </a:p>
          <a:p>
            <a:pPr>
              <a:lnSpc>
                <a:spcPct val="120000"/>
              </a:lnSpc>
            </a:pPr>
            <a:r>
              <a:rPr sz="1200" b="1">
                <a:solidFill>
                  <a:srgbClr val="1D4ED8"/>
                </a:solidFill>
                <a:latin typeface="Calibri"/>
              </a:rPr>
              <a:t>compressing query</a:t>
            </a:r>
          </a:p>
          <a:p>
            <a:pPr>
              <a:lnSpc>
                <a:spcPct val="120000"/>
              </a:lnSpc>
            </a:pPr>
            <a:r>
              <a:rPr sz="1200" b="1">
                <a:solidFill>
                  <a:srgbClr val="1D4ED8"/>
                </a:solidFill>
                <a:latin typeface="Calibri"/>
              </a:rPr>
              <a:t>transformer — rewrites</a:t>
            </a:r>
          </a:p>
          <a:p>
            <a:pPr>
              <a:lnSpc>
                <a:spcPct val="120000"/>
              </a:lnSpc>
            </a:pPr>
            <a:r>
              <a:rPr sz="1200" b="1">
                <a:solidFill>
                  <a:srgbClr val="1D4ED8"/>
                </a:solidFill>
                <a:latin typeface="Calibri"/>
              </a:rPr>
              <a:t>vague follow-ups into</a:t>
            </a:r>
          </a:p>
          <a:p>
            <a:pPr>
              <a:lnSpc>
                <a:spcPct val="120000"/>
              </a:lnSpc>
            </a:pPr>
            <a:r>
              <a:rPr sz="1200" b="1">
                <a:solidFill>
                  <a:srgbClr val="1D4ED8"/>
                </a:solidFill>
                <a:latin typeface="Calibri"/>
              </a:rPr>
              <a:t>precise questions before</a:t>
            </a:r>
          </a:p>
          <a:p>
            <a:pPr>
              <a:lnSpc>
                <a:spcPct val="120000"/>
              </a:lnSpc>
            </a:pPr>
            <a:r>
              <a:rPr sz="1200" b="1">
                <a:solidFill>
                  <a:srgbClr val="1D4ED8"/>
                </a:solidFill>
                <a:latin typeface="Calibri"/>
              </a:rPr>
              <a:t>vector search.</a:t>
            </a:r>
          </a:p>
          <a:p>
            <a:pPr>
              <a:lnSpc>
                <a:spcPct val="120000"/>
              </a:lnSpc>
            </a:pPr>
            <a:endParaRPr sz="1200" b="1">
              <a:solidFill>
                <a:srgbClr val="1D4ED8"/>
              </a:solidFill>
              <a:latin typeface="Calibri"/>
            </a:endParaRPr>
          </a:p>
          <a:p>
            <a:pPr>
              <a:lnSpc>
                <a:spcPct val="120000"/>
              </a:lnSpc>
            </a:pPr>
            <a:r>
              <a:rPr sz="1100">
                <a:solidFill>
                  <a:srgbClr val="1A1A1A"/>
                </a:solidFill>
                <a:latin typeface="Calibri"/>
              </a:rPr>
              <a:t>Best for: production,</a:t>
            </a:r>
          </a:p>
          <a:p>
            <a:pPr>
              <a:lnSpc>
                <a:spcPct val="120000"/>
              </a:lnSpc>
            </a:pPr>
            <a:r>
              <a:rPr sz="1100">
                <a:solidFill>
                  <a:srgbClr val="1A1A1A"/>
                </a:solidFill>
                <a:latin typeface="Calibri"/>
              </a:rPr>
              <a:t>multi-turn conversations.</a:t>
            </a:r>
          </a:p>
        </p:txBody>
      </p:sp>
      <p:sp>
        <p:nvSpPr>
          <p:cNvPr id="5" name="TextBox 4"/>
          <p:cNvSpPr txBox="1"/>
          <p:nvPr/>
        </p:nvSpPr>
        <p:spPr>
          <a:xfrm>
            <a:off x="458788" y="914401"/>
            <a:ext cx="4705968" cy="4034759"/>
          </a:xfrm>
          <a:prstGeom prst="rect">
            <a:avLst/>
          </a:prstGeom>
          <a:solidFill>
            <a:srgbClr val="000000"/>
          </a:solidFill>
        </p:spPr>
        <p:txBody>
          <a:bodyPr wrap="none" lIns="109728" tIns="82296" bIns="64008">
            <a:spAutoFit/>
          </a:bodyPr>
          <a:lstStyle/>
          <a:p>
            <a:pPr>
              <a:lnSpc>
                <a:spcPct val="115000"/>
              </a:lnSpc>
            </a:pPr>
            <a:r>
              <a:rPr sz="1100">
                <a:solidFill>
                  <a:srgbClr val="9CDCFE"/>
                </a:solidFill>
                <a:latin typeface="Courier New"/>
              </a:rPr>
              <a:t>ragAgent</a:t>
            </a:r>
            <a:r>
              <a:rPr sz="1100">
                <a:solidFill>
                  <a:srgbClr val="D4D4D4"/>
                </a:solidFill>
                <a:latin typeface="Courier New"/>
              </a:rPr>
              <a:t> = </a:t>
            </a:r>
            <a:r>
              <a:rPr sz="1100">
                <a:solidFill>
                  <a:srgbClr val="4EC9B0"/>
                </a:solidFill>
                <a:latin typeface="Courier New"/>
              </a:rPr>
              <a:t>agent</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CHATMODEL</a:t>
            </a:r>
            <a:r>
              <a:rPr sz="1100">
                <a:solidFill>
                  <a:srgbClr val="D4D4D4"/>
                </a:solidFill>
                <a:latin typeface="Courier New"/>
              </a:rPr>
              <a:t>:  </a:t>
            </a:r>
            <a:r>
              <a:rPr sz="1100">
                <a:solidFill>
                  <a:srgbClr val="9CDCFE"/>
                </a:solidFill>
                <a:latin typeface="Courier New"/>
              </a:rPr>
              <a:t>chatModel</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CHATMEMORY</a:t>
            </a:r>
            <a:r>
              <a:rPr sz="1100">
                <a:solidFill>
                  <a:srgbClr val="D4D4D4"/>
                </a:solidFill>
                <a:latin typeface="Courier New"/>
              </a:rPr>
              <a:t>: { </a:t>
            </a:r>
            <a:r>
              <a:rPr sz="1100">
                <a:solidFill>
                  <a:srgbClr val="9CDCFE"/>
                </a:solidFill>
                <a:latin typeface="Courier New"/>
              </a:rPr>
              <a:t>MAXMESSAGES</a:t>
            </a:r>
            <a:r>
              <a:rPr sz="1100">
                <a:solidFill>
                  <a:srgbClr val="D4D4D4"/>
                </a:solidFill>
                <a:latin typeface="Courier New"/>
              </a:rPr>
              <a:t>: </a:t>
            </a:r>
            <a:r>
              <a:rPr sz="1100">
                <a:solidFill>
                  <a:srgbClr val="4EC9B0"/>
                </a:solidFill>
                <a:latin typeface="Courier New"/>
              </a:rPr>
              <a:t>javacast</a:t>
            </a:r>
            <a:r>
              <a:rPr sz="1100">
                <a:solidFill>
                  <a:srgbClr val="D4D4D4"/>
                </a:solidFill>
                <a:latin typeface="Courier New"/>
              </a:rPr>
              <a:t>(</a:t>
            </a:r>
            <a:r>
              <a:rPr sz="1100">
                <a:solidFill>
                  <a:srgbClr val="CE9178"/>
                </a:solidFill>
                <a:latin typeface="Courier New"/>
              </a:rPr>
              <a:t>"int"</a:t>
            </a:r>
            <a:r>
              <a:rPr sz="1100">
                <a:solidFill>
                  <a:srgbClr val="D4D4D4"/>
                </a:solidFill>
                <a:latin typeface="Courier New"/>
              </a:rPr>
              <a:t>, </a:t>
            </a:r>
            <a:r>
              <a:rPr sz="1100">
                <a:solidFill>
                  <a:srgbClr val="B5CEA8"/>
                </a:solidFill>
                <a:latin typeface="Courier New"/>
              </a:rPr>
              <a:t>20</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INGESTION</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source</a:t>
            </a:r>
            <a:r>
              <a:rPr sz="1100">
                <a:solidFill>
                  <a:srgbClr val="D4D4D4"/>
                </a:solidFill>
                <a:latin typeface="Courier New"/>
              </a:rPr>
              <a:t>:       </a:t>
            </a:r>
            <a:r>
              <a:rPr sz="1100">
                <a:solidFill>
                  <a:srgbClr val="4EC9B0"/>
                </a:solidFill>
                <a:latin typeface="Courier New"/>
              </a:rPr>
              <a:t>expandPath</a:t>
            </a:r>
            <a:r>
              <a:rPr sz="1100">
                <a:solidFill>
                  <a:srgbClr val="D4D4D4"/>
                </a:solidFill>
                <a:latin typeface="Courier New"/>
              </a:rPr>
              <a:t>(</a:t>
            </a:r>
            <a:r>
              <a:rPr sz="1100">
                <a:solidFill>
                  <a:srgbClr val="CE9178"/>
                </a:solidFill>
                <a:latin typeface="Courier New"/>
              </a:rPr>
              <a:t>"docs/"</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chunkSize</a:t>
            </a:r>
            <a:r>
              <a:rPr sz="1100">
                <a:solidFill>
                  <a:srgbClr val="D4D4D4"/>
                </a:solidFill>
                <a:latin typeface="Courier New"/>
              </a:rPr>
              <a:t>:    </a:t>
            </a:r>
            <a:r>
              <a:rPr sz="1100">
                <a:solidFill>
                  <a:srgbClr val="B5CEA8"/>
                </a:solidFill>
                <a:latin typeface="Courier New"/>
              </a:rPr>
              <a:t>500</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chunkOverlap</a:t>
            </a:r>
            <a:r>
              <a:rPr sz="1100">
                <a:solidFill>
                  <a:srgbClr val="D4D4D4"/>
                </a:solidFill>
                <a:latin typeface="Courier New"/>
              </a:rPr>
              <a:t>: </a:t>
            </a:r>
            <a:r>
              <a:rPr sz="1100">
                <a:solidFill>
                  <a:srgbClr val="B5CEA8"/>
                </a:solidFill>
                <a:latin typeface="Courier New"/>
              </a:rPr>
              <a:t>100</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embeddingModel</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provider</a:t>
            </a:r>
            <a:r>
              <a:rPr sz="1100">
                <a:solidFill>
                  <a:srgbClr val="D4D4D4"/>
                </a:solidFill>
                <a:latin typeface="Courier New"/>
              </a:rPr>
              <a:t>:  </a:t>
            </a:r>
            <a:r>
              <a:rPr sz="1100">
                <a:solidFill>
                  <a:srgbClr val="CE9178"/>
                </a:solidFill>
                <a:latin typeface="Courier New"/>
              </a:rPr>
              <a:t>"openai"</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modelName</a:t>
            </a:r>
            <a:r>
              <a:rPr sz="1100">
                <a:solidFill>
                  <a:srgbClr val="D4D4D4"/>
                </a:solidFill>
                <a:latin typeface="Courier New"/>
              </a:rPr>
              <a:t>: </a:t>
            </a:r>
            <a:r>
              <a:rPr sz="1100">
                <a:solidFill>
                  <a:srgbClr val="CE9178"/>
                </a:solidFill>
                <a:latin typeface="Courier New"/>
              </a:rPr>
              <a:t>"text-embedding-3-small"</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apiKey</a:t>
            </a:r>
            <a:r>
              <a:rPr sz="1100">
                <a:solidFill>
                  <a:srgbClr val="D4D4D4"/>
                </a:solidFill>
                <a:latin typeface="Courier New"/>
              </a:rPr>
              <a:t>:    </a:t>
            </a:r>
            <a:r>
              <a:rPr sz="1100">
                <a:solidFill>
                  <a:srgbClr val="9CDCFE"/>
                </a:solidFill>
                <a:latin typeface="Courier New"/>
              </a:rPr>
              <a:t>application</a:t>
            </a:r>
            <a:r>
              <a:rPr sz="1100">
                <a:solidFill>
                  <a:srgbClr val="D4D4D4"/>
                </a:solidFill>
                <a:latin typeface="Courier New"/>
              </a:rPr>
              <a:t>.</a:t>
            </a:r>
            <a:r>
              <a:rPr sz="1100">
                <a:solidFill>
                  <a:srgbClr val="9CDCFE"/>
                </a:solidFill>
                <a:latin typeface="Courier New"/>
              </a:rPr>
              <a:t>openaiKey</a:t>
            </a:r>
          </a:p>
          <a:p>
            <a:pPr>
              <a:lnSpc>
                <a:spcPct val="115000"/>
              </a:lnSpc>
            </a:pP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vectorStoreIngestor</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vectorStore</a:t>
            </a:r>
            <a:r>
              <a:rPr sz="1100">
                <a:solidFill>
                  <a:srgbClr val="D4D4D4"/>
                </a:solidFill>
                <a:latin typeface="Courier New"/>
              </a:rPr>
              <a:t>: { </a:t>
            </a:r>
            <a:r>
              <a:rPr sz="1100">
                <a:solidFill>
                  <a:srgbClr val="9CDCFE"/>
                </a:solidFill>
                <a:latin typeface="Courier New"/>
              </a:rPr>
              <a:t>provider</a:t>
            </a:r>
            <a:r>
              <a:rPr sz="1100">
                <a:solidFill>
                  <a:srgbClr val="D4D4D4"/>
                </a:solidFill>
                <a:latin typeface="Courier New"/>
              </a:rPr>
              <a:t>: </a:t>
            </a:r>
            <a:r>
              <a:rPr sz="1100">
                <a:solidFill>
                  <a:srgbClr val="CE9178"/>
                </a:solidFill>
                <a:latin typeface="Courier New"/>
              </a:rPr>
              <a:t>"INMEMORY"</a:t>
            </a:r>
            <a:r>
              <a:rPr sz="1100">
                <a:solidFill>
                  <a:srgbClr val="D4D4D4"/>
                </a:solidFill>
                <a:latin typeface="Courier New"/>
              </a:rPr>
              <a:t> }</a:t>
            </a:r>
          </a:p>
          <a:p>
            <a:pPr>
              <a:lnSpc>
                <a:spcPct val="115000"/>
              </a:lnSpc>
            </a:pPr>
            <a:r>
              <a:rPr sz="1100">
                <a:solidFill>
                  <a:srgbClr val="D4D4D4"/>
                </a:solidFill>
                <a:latin typeface="Courier New"/>
              </a:rPr>
              <a:t>        }</a:t>
            </a:r>
          </a:p>
          <a:p>
            <a:pPr>
              <a:lnSpc>
                <a:spcPct val="115000"/>
              </a:lnSpc>
            </a:pP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retrievalAugmentor</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queryTransformer</a:t>
            </a:r>
            <a:r>
              <a:rPr sz="1100">
                <a:solidFill>
                  <a:srgbClr val="D4D4D4"/>
                </a:solidFill>
                <a:latin typeface="Courier New"/>
              </a:rPr>
              <a:t>: { </a:t>
            </a:r>
            <a:r>
              <a:rPr sz="1100">
                <a:solidFill>
                  <a:srgbClr val="9CDCFE"/>
                </a:solidFill>
                <a:latin typeface="Courier New"/>
              </a:rPr>
              <a:t>type</a:t>
            </a:r>
            <a:r>
              <a:rPr sz="1100">
                <a:solidFill>
                  <a:srgbClr val="D4D4D4"/>
                </a:solidFill>
                <a:latin typeface="Courier New"/>
              </a:rPr>
              <a:t>: </a:t>
            </a:r>
            <a:r>
              <a:rPr sz="1100">
                <a:solidFill>
                  <a:srgbClr val="CE9178"/>
                </a:solidFill>
                <a:latin typeface="Courier New"/>
              </a:rPr>
              <a:t>"compressing"</a:t>
            </a:r>
            <a:r>
              <a:rPr sz="1100">
                <a:solidFill>
                  <a:srgbClr val="D4D4D4"/>
                </a:solidFill>
                <a:latin typeface="Courier New"/>
              </a:rPr>
              <a:t> }</a:t>
            </a:r>
          </a:p>
          <a:p>
            <a:pPr>
              <a:lnSpc>
                <a:spcPct val="115000"/>
              </a:lnSpc>
            </a:pPr>
            <a:r>
              <a:rPr sz="1100">
                <a:solidFill>
                  <a:srgbClr val="D4D4D4"/>
                </a:solidFill>
                <a:latin typeface="Courier New"/>
              </a:rPr>
              <a:t>    }</a:t>
            </a:r>
          </a:p>
          <a:p>
            <a:pPr>
              <a:lnSpc>
                <a:spcPct val="115000"/>
              </a:lnSpc>
            </a:pPr>
            <a:r>
              <a:rPr sz="1100">
                <a:solidFill>
                  <a:srgbClr val="D4D4D4"/>
                </a:solidFill>
                <a:latin typeface="Courier New"/>
              </a:rPr>
              <a:t>});</a:t>
            </a:r>
          </a:p>
        </p:txBody>
      </p:sp>
      <p:sp>
        <p:nvSpPr>
          <p:cNvPr id="6" name="TextBox 5"/>
          <p:cNvSpPr txBox="1"/>
          <p:nvPr/>
        </p:nvSpPr>
        <p:spPr>
          <a:xfrm>
            <a:off x="458789" y="4474971"/>
            <a:ext cx="5768759" cy="2210798"/>
          </a:xfrm>
          <a:prstGeom prst="rect">
            <a:avLst/>
          </a:prstGeom>
          <a:solidFill>
            <a:srgbClr val="000000"/>
          </a:solidFill>
        </p:spPr>
        <p:txBody>
          <a:bodyPr wrap="none" lIns="109728" tIns="82296" bIns="64008">
            <a:spAutoFit/>
          </a:bodyPr>
          <a:lstStyle/>
          <a:p>
            <a:pPr>
              <a:lnSpc>
                <a:spcPct val="115000"/>
              </a:lnSpc>
            </a:pPr>
            <a:r>
              <a:rPr sz="1300">
                <a:solidFill>
                  <a:srgbClr val="9CDCFE"/>
                </a:solidFill>
                <a:latin typeface="Courier New"/>
              </a:rPr>
              <a:t>ragAgent</a:t>
            </a:r>
            <a:r>
              <a:rPr sz="1300">
                <a:solidFill>
                  <a:srgbClr val="D4D4D4"/>
                </a:solidFill>
                <a:latin typeface="Courier New"/>
              </a:rPr>
              <a:t>.</a:t>
            </a:r>
            <a:r>
              <a:rPr sz="1300">
                <a:solidFill>
                  <a:srgbClr val="4EC9B0"/>
                </a:solidFill>
                <a:latin typeface="Courier New"/>
              </a:rPr>
              <a:t>ingest</a:t>
            </a:r>
            <a:r>
              <a:rPr sz="1300">
                <a:solidFill>
                  <a:srgbClr val="D4D4D4"/>
                </a:solidFill>
                <a:latin typeface="Courier New"/>
              </a:rPr>
              <a:t>();   </a:t>
            </a:r>
            <a:r>
              <a:rPr sz="1300">
                <a:solidFill>
                  <a:srgbClr val="6A9955"/>
                </a:solidFill>
                <a:latin typeface="Courier New"/>
              </a:rPr>
              <a:t>// chunks → embeds → stores</a:t>
            </a:r>
          </a:p>
          <a:p>
            <a:pPr>
              <a:lnSpc>
                <a:spcPct val="115000"/>
              </a:lnSpc>
            </a:pPr>
            <a:endParaRPr sz="1300">
              <a:solidFill>
                <a:srgbClr val="6A9955"/>
              </a:solidFill>
              <a:latin typeface="Courier New"/>
            </a:endParaRPr>
          </a:p>
          <a:p>
            <a:pPr>
              <a:lnSpc>
                <a:spcPct val="115000"/>
              </a:lnSpc>
            </a:pPr>
            <a:r>
              <a:rPr sz="1300">
                <a:solidFill>
                  <a:srgbClr val="9CDCFE"/>
                </a:solidFill>
                <a:latin typeface="Courier New"/>
              </a:rPr>
              <a:t>response</a:t>
            </a:r>
            <a:r>
              <a:rPr sz="1300">
                <a:solidFill>
                  <a:srgbClr val="D4D4D4"/>
                </a:solidFill>
                <a:latin typeface="Courier New"/>
              </a:rPr>
              <a:t> = </a:t>
            </a:r>
            <a:r>
              <a:rPr sz="1300">
                <a:solidFill>
                  <a:srgbClr val="9CDCFE"/>
                </a:solidFill>
                <a:latin typeface="Courier New"/>
              </a:rPr>
              <a:t>ragAgent</a:t>
            </a:r>
            <a:r>
              <a:rPr sz="1300">
                <a:solidFill>
                  <a:srgbClr val="D4D4D4"/>
                </a:solidFill>
                <a:latin typeface="Courier New"/>
              </a:rPr>
              <a:t>.</a:t>
            </a:r>
            <a:r>
              <a:rPr sz="1300">
                <a:solidFill>
                  <a:srgbClr val="4EC9B0"/>
                </a:solidFill>
                <a:latin typeface="Courier New"/>
              </a:rPr>
              <a:t>chat</a:t>
            </a:r>
            <a:r>
              <a:rPr sz="1300">
                <a:solidFill>
                  <a:srgbClr val="D4D4D4"/>
                </a:solidFill>
                <a:latin typeface="Courier New"/>
              </a:rPr>
              <a:t>(</a:t>
            </a:r>
            <a:r>
              <a:rPr sz="1300">
                <a:solidFill>
                  <a:srgbClr val="CE9178"/>
                </a:solidFill>
                <a:latin typeface="Courier New"/>
              </a:rPr>
              <a:t>"What is your return policy?"</a:t>
            </a:r>
            <a:r>
              <a:rPr sz="1300">
                <a:solidFill>
                  <a:srgbClr val="D4D4D4"/>
                </a:solidFill>
                <a:latin typeface="Courier New"/>
              </a:rPr>
              <a:t>);</a:t>
            </a:r>
          </a:p>
          <a:p>
            <a:pPr>
              <a:lnSpc>
                <a:spcPct val="115000"/>
              </a:lnSpc>
            </a:pPr>
            <a:r>
              <a:rPr sz="1300">
                <a:solidFill>
                  <a:srgbClr val="4EC9B0"/>
                </a:solidFill>
                <a:latin typeface="Courier New"/>
              </a:rPr>
              <a:t>writeOutput</a:t>
            </a:r>
            <a:r>
              <a:rPr sz="1300">
                <a:solidFill>
                  <a:srgbClr val="D4D4D4"/>
                </a:solidFill>
                <a:latin typeface="Courier New"/>
              </a:rPr>
              <a:t>(</a:t>
            </a:r>
            <a:r>
              <a:rPr sz="1300">
                <a:solidFill>
                  <a:srgbClr val="9CDCFE"/>
                </a:solidFill>
                <a:latin typeface="Courier New"/>
              </a:rPr>
              <a:t>response</a:t>
            </a:r>
            <a:r>
              <a:rPr sz="1300">
                <a:solidFill>
                  <a:srgbClr val="D4D4D4"/>
                </a:solidFill>
                <a:latin typeface="Courier New"/>
              </a:rPr>
              <a:t>.</a:t>
            </a:r>
            <a:r>
              <a:rPr sz="1300">
                <a:solidFill>
                  <a:srgbClr val="9CDCFE"/>
                </a:solidFill>
                <a:latin typeface="Courier New"/>
              </a:rPr>
              <a:t>message</a:t>
            </a:r>
            <a:r>
              <a:rPr sz="1300">
                <a:solidFill>
                  <a:srgbClr val="D4D4D4"/>
                </a:solidFill>
                <a:latin typeface="Courier New"/>
              </a:rPr>
              <a:t>);</a:t>
            </a:r>
          </a:p>
          <a:p>
            <a:pPr>
              <a:lnSpc>
                <a:spcPct val="115000"/>
              </a:lnSpc>
            </a:pPr>
            <a:endParaRPr sz="1300">
              <a:solidFill>
                <a:srgbClr val="D4D4D4"/>
              </a:solidFill>
              <a:latin typeface="Courier New"/>
            </a:endParaRPr>
          </a:p>
          <a:p>
            <a:pPr>
              <a:lnSpc>
                <a:spcPct val="115000"/>
              </a:lnSpc>
            </a:pPr>
            <a:r>
              <a:rPr sz="1300">
                <a:solidFill>
                  <a:srgbClr val="6A9955"/>
                </a:solidFill>
                <a:latin typeface="Courier New"/>
              </a:rPr>
              <a:t>// queryTransformer rewrites vague follow-ups:</a:t>
            </a:r>
          </a:p>
          <a:p>
            <a:pPr>
              <a:lnSpc>
                <a:spcPct val="115000"/>
              </a:lnSpc>
            </a:pPr>
            <a:r>
              <a:rPr sz="1300">
                <a:solidFill>
                  <a:srgbClr val="6A9955"/>
                </a:solidFill>
                <a:latin typeface="Courier New"/>
              </a:rPr>
              <a:t>// "What about digital downloads?"</a:t>
            </a:r>
          </a:p>
          <a:p>
            <a:pPr>
              <a:lnSpc>
                <a:spcPct val="115000"/>
              </a:lnSpc>
            </a:pPr>
            <a:r>
              <a:rPr sz="1300">
                <a:solidFill>
                  <a:srgbClr val="6A9955"/>
                </a:solidFill>
                <a:latin typeface="Courier New"/>
              </a:rPr>
              <a:t>// → "What is the return policy for digital downloads</a:t>
            </a:r>
          </a:p>
          <a:p>
            <a:pPr>
              <a:lnSpc>
                <a:spcPct val="115000"/>
              </a:lnSpc>
            </a:pPr>
            <a:r>
              <a:rPr sz="1300">
                <a:solidFill>
                  <a:srgbClr val="6A9955"/>
                </a:solidFill>
                <a:latin typeface="Courier New"/>
              </a:rPr>
              <a:t>//    compared to physical products?" before search</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588" y="658368"/>
            <a:ext cx="12188952" cy="164592"/>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7348" y="73152"/>
            <a:ext cx="11430000" cy="584968"/>
          </a:xfrm>
          <a:prstGeom prst="rect">
            <a:avLst/>
          </a:prstGeom>
          <a:noFill/>
        </p:spPr>
        <p:txBody>
          <a:bodyPr wrap="square" lIns="118872" tIns="91440" rIns="100584" bIns="73152">
            <a:spAutoFit/>
          </a:bodyPr>
          <a:lstStyle/>
          <a:p>
            <a:pPr>
              <a:lnSpc>
                <a:spcPct val="120000"/>
              </a:lnSpc>
            </a:pPr>
            <a:r>
              <a:rPr sz="2400" b="1">
                <a:solidFill>
                  <a:srgbClr val="FFFFFF"/>
                </a:solidFill>
                <a:latin typeface="Calibri"/>
              </a:rPr>
              <a:t>🔴  LIVE DEMO</a:t>
            </a:r>
          </a:p>
        </p:txBody>
      </p:sp>
      <p:sp>
        <p:nvSpPr>
          <p:cNvPr id="5" name="TextBox 4"/>
          <p:cNvSpPr txBox="1"/>
          <p:nvPr/>
        </p:nvSpPr>
        <p:spPr>
          <a:xfrm>
            <a:off x="367348" y="914400"/>
            <a:ext cx="11457432" cy="457200"/>
          </a:xfrm>
          <a:prstGeom prst="rect">
            <a:avLst/>
          </a:prstGeom>
          <a:noFill/>
        </p:spPr>
        <p:txBody>
          <a:bodyPr wrap="square" lIns="118872" tIns="91440" rIns="100584" bIns="73152">
            <a:spAutoFit/>
          </a:bodyPr>
          <a:lstStyle/>
          <a:p>
            <a:pPr>
              <a:lnSpc>
                <a:spcPct val="120000"/>
              </a:lnSpc>
            </a:pPr>
            <a:r>
              <a:rPr sz="1600" b="1">
                <a:solidFill>
                  <a:srgbClr val="1A1A1A"/>
                </a:solidFill>
                <a:latin typeface="Calibri"/>
              </a:rPr>
              <a:t>RAG Demo  ·  localhost:8501/aiTesting/nexora/  ·  Problem 8 tab</a:t>
            </a:r>
          </a:p>
        </p:txBody>
      </p:sp>
      <p:sp>
        <p:nvSpPr>
          <p:cNvPr id="6" name="TextBox 5"/>
          <p:cNvSpPr txBox="1"/>
          <p:nvPr/>
        </p:nvSpPr>
        <p:spPr>
          <a:xfrm>
            <a:off x="458788" y="1481329"/>
            <a:ext cx="5394960" cy="373051"/>
          </a:xfrm>
          <a:prstGeom prst="rect">
            <a:avLst/>
          </a:prstGeom>
          <a:solidFill>
            <a:srgbClr val="1D4ED8"/>
          </a:solidFill>
        </p:spPr>
        <p:txBody>
          <a:bodyPr wrap="square" lIns="118872" tIns="91440" rIns="100584" bIns="73152">
            <a:spAutoFit/>
          </a:bodyPr>
          <a:lstStyle/>
          <a:p>
            <a:pPr>
              <a:lnSpc>
                <a:spcPct val="120000"/>
              </a:lnSpc>
            </a:pPr>
            <a:r>
              <a:rPr sz="1200" b="1">
                <a:solidFill>
                  <a:srgbClr val="FFFFFF"/>
                </a:solidFill>
                <a:latin typeface="Calibri"/>
              </a:rPr>
              <a:t>Simple RAG — simpleRAG()</a:t>
            </a:r>
          </a:p>
        </p:txBody>
      </p:sp>
      <p:sp>
        <p:nvSpPr>
          <p:cNvPr id="7" name="TextBox 6"/>
          <p:cNvSpPr txBox="1"/>
          <p:nvPr/>
        </p:nvSpPr>
        <p:spPr>
          <a:xfrm>
            <a:off x="458788" y="1938529"/>
            <a:ext cx="5394960" cy="2534861"/>
          </a:xfrm>
          <a:prstGeom prst="rect">
            <a:avLst/>
          </a:prstGeom>
          <a:solidFill>
            <a:srgbClr val="EFF6FF"/>
          </a:solidFill>
        </p:spPr>
        <p:txBody>
          <a:bodyPr wrap="square" lIns="118872" tIns="91440" rIns="100584" bIns="73152">
            <a:spAutoFit/>
          </a:bodyPr>
          <a:lstStyle/>
          <a:p>
            <a:pPr>
              <a:lnSpc>
                <a:spcPct val="120000"/>
              </a:lnSpc>
            </a:pPr>
            <a:r>
              <a:rPr sz="1200">
                <a:solidFill>
                  <a:srgbClr val="1A1A1A"/>
                </a:solidFill>
                <a:latin typeface="Calibri"/>
              </a:rPr>
              <a:t>1.  Click Check Docs — lists 3 knowledge base documents</a:t>
            </a:r>
          </a:p>
          <a:p>
            <a:pPr>
              <a:lnSpc>
                <a:spcPct val="120000"/>
              </a:lnSpc>
            </a:pPr>
            <a:endParaRPr sz="1200">
              <a:solidFill>
                <a:srgbClr val="1A1A1A"/>
              </a:solidFill>
              <a:latin typeface="Calibri"/>
            </a:endParaRPr>
          </a:p>
          <a:p>
            <a:pPr>
              <a:lnSpc>
                <a:spcPct val="120000"/>
              </a:lnSpc>
            </a:pPr>
            <a:r>
              <a:rPr sz="1200">
                <a:solidFill>
                  <a:srgbClr val="1A1A1A"/>
                </a:solidFill>
                <a:latin typeface="Calibri"/>
              </a:rPr>
              <a:t>2.  Click Ingest Docs — watch: docs loaded, chunks created</a:t>
            </a:r>
          </a:p>
          <a:p>
            <a:pPr>
              <a:lnSpc>
                <a:spcPct val="120000"/>
              </a:lnSpc>
            </a:pPr>
            <a:r>
              <a:rPr sz="1100">
                <a:solidFill>
                  <a:srgbClr val="444444"/>
                </a:solidFill>
                <a:latin typeface="Calibri"/>
              </a:rPr>
              <a:t>     Cached in application scope</a:t>
            </a:r>
          </a:p>
          <a:p>
            <a:pPr>
              <a:lnSpc>
                <a:spcPct val="120000"/>
              </a:lnSpc>
            </a:pPr>
            <a:endParaRPr sz="1100">
              <a:solidFill>
                <a:srgbClr val="444444"/>
              </a:solidFill>
              <a:latin typeface="Calibri"/>
            </a:endParaRPr>
          </a:p>
          <a:p>
            <a:pPr>
              <a:lnSpc>
                <a:spcPct val="120000"/>
              </a:lnSpc>
            </a:pPr>
            <a:r>
              <a:rPr sz="1200">
                <a:solidFill>
                  <a:srgbClr val="1A1A1A"/>
                </a:solidFill>
                <a:latin typeface="Calibri"/>
              </a:rPr>
              <a:t>3.  Ask: 'What is the price of ColdFusion 2025?'</a:t>
            </a:r>
          </a:p>
          <a:p>
            <a:pPr>
              <a:lnSpc>
                <a:spcPct val="120000"/>
              </a:lnSpc>
            </a:pPr>
            <a:r>
              <a:rPr sz="1200">
                <a:solidFill>
                  <a:srgbClr val="1A1A1A"/>
                </a:solidFill>
                <a:latin typeface="Calibri"/>
              </a:rPr>
              <a:t>     Grounded answer pulled from YOUR docs,</a:t>
            </a:r>
          </a:p>
          <a:p>
            <a:pPr>
              <a:lnSpc>
                <a:spcPct val="120000"/>
              </a:lnSpc>
            </a:pPr>
            <a:r>
              <a:rPr sz="1200">
                <a:solidFill>
                  <a:srgbClr val="1A1A1A"/>
                </a:solidFill>
                <a:latin typeface="Calibri"/>
              </a:rPr>
              <a:t>     not from LLM training data</a:t>
            </a:r>
          </a:p>
          <a:p>
            <a:pPr>
              <a:lnSpc>
                <a:spcPct val="120000"/>
              </a:lnSpc>
            </a:pPr>
            <a:endParaRPr sz="1200">
              <a:solidFill>
                <a:srgbClr val="1A1A1A"/>
              </a:solidFill>
              <a:latin typeface="Calibri"/>
            </a:endParaRPr>
          </a:p>
          <a:p>
            <a:pPr>
              <a:lnSpc>
                <a:spcPct val="120000"/>
              </a:lnSpc>
            </a:pPr>
            <a:r>
              <a:rPr sz="1200" b="1">
                <a:solidFill>
                  <a:srgbClr val="1A1A1A"/>
                </a:solidFill>
                <a:latin typeface="Calibri"/>
              </a:rPr>
              <a:t>Pipeline steps panel:</a:t>
            </a:r>
          </a:p>
          <a:p>
            <a:pPr>
              <a:lnSpc>
                <a:spcPct val="120000"/>
              </a:lnSpc>
            </a:pPr>
            <a:r>
              <a:rPr sz="1100">
                <a:solidFill>
                  <a:srgbClr val="444444"/>
                </a:solidFill>
                <a:latin typeface="Calibri"/>
              </a:rPr>
              <a:t>Load → Split → Embed → Store → Retrieve → Generate</a:t>
            </a:r>
          </a:p>
        </p:txBody>
      </p:sp>
      <p:sp>
        <p:nvSpPr>
          <p:cNvPr id="8" name="TextBox 7"/>
          <p:cNvSpPr txBox="1"/>
          <p:nvPr/>
        </p:nvSpPr>
        <p:spPr>
          <a:xfrm>
            <a:off x="6338380" y="1481329"/>
            <a:ext cx="5394960" cy="373051"/>
          </a:xfrm>
          <a:prstGeom prst="rect">
            <a:avLst/>
          </a:prstGeom>
          <a:solidFill>
            <a:srgbClr val="059669"/>
          </a:solidFill>
        </p:spPr>
        <p:txBody>
          <a:bodyPr wrap="square" lIns="118872" tIns="91440" rIns="100584" bIns="73152">
            <a:spAutoFit/>
          </a:bodyPr>
          <a:lstStyle/>
          <a:p>
            <a:pPr>
              <a:lnSpc>
                <a:spcPct val="120000"/>
              </a:lnSpc>
            </a:pPr>
            <a:r>
              <a:rPr sz="1200" b="1">
                <a:solidFill>
                  <a:srgbClr val="FFFFFF"/>
                </a:solidFill>
                <a:latin typeface="Calibri"/>
              </a:rPr>
              <a:t>Advanced RAG — query transformer ON</a:t>
            </a:r>
          </a:p>
        </p:txBody>
      </p:sp>
      <p:sp>
        <p:nvSpPr>
          <p:cNvPr id="9" name="TextBox 8"/>
          <p:cNvSpPr txBox="1"/>
          <p:nvPr/>
        </p:nvSpPr>
        <p:spPr>
          <a:xfrm>
            <a:off x="6338380" y="1938528"/>
            <a:ext cx="5394960" cy="2717090"/>
          </a:xfrm>
          <a:prstGeom prst="rect">
            <a:avLst/>
          </a:prstGeom>
          <a:solidFill>
            <a:srgbClr val="ECFDF5"/>
          </a:solidFill>
        </p:spPr>
        <p:txBody>
          <a:bodyPr wrap="square" lIns="118872" tIns="91440" rIns="100584" bIns="73152">
            <a:spAutoFit/>
          </a:bodyPr>
          <a:lstStyle/>
          <a:p>
            <a:pPr>
              <a:lnSpc>
                <a:spcPct val="120000"/>
              </a:lnSpc>
            </a:pPr>
            <a:r>
              <a:rPr sz="1200">
                <a:solidFill>
                  <a:srgbClr val="1A1A1A"/>
                </a:solidFill>
                <a:latin typeface="Calibri"/>
              </a:rPr>
              <a:t>Status resets — each mode has its own knowledge base</a:t>
            </a:r>
          </a:p>
          <a:p>
            <a:pPr>
              <a:lnSpc>
                <a:spcPct val="120000"/>
              </a:lnSpc>
            </a:pPr>
            <a:r>
              <a:rPr sz="1200">
                <a:solidFill>
                  <a:srgbClr val="1A1A1A"/>
                </a:solidFill>
                <a:latin typeface="Calibri"/>
              </a:rPr>
              <a:t>Ingest shows: docs: 3, chunks: 14, query transformer: ON</a:t>
            </a:r>
          </a:p>
          <a:p>
            <a:pPr>
              <a:lnSpc>
                <a:spcPct val="120000"/>
              </a:lnSpc>
            </a:pPr>
            <a:endParaRPr sz="1200">
              <a:solidFill>
                <a:srgbClr val="1A1A1A"/>
              </a:solidFill>
              <a:latin typeface="Calibri"/>
            </a:endParaRPr>
          </a:p>
          <a:p>
            <a:pPr>
              <a:lnSpc>
                <a:spcPct val="120000"/>
              </a:lnSpc>
            </a:pPr>
            <a:r>
              <a:rPr sz="1200">
                <a:solidFill>
                  <a:srgbClr val="1A1A1A"/>
                </a:solidFill>
                <a:latin typeface="Calibri"/>
              </a:rPr>
              <a:t>Step 1:  'What is the return policy for physical products?'</a:t>
            </a:r>
          </a:p>
          <a:p>
            <a:pPr>
              <a:lnSpc>
                <a:spcPct val="120000"/>
              </a:lnSpc>
            </a:pPr>
            <a:r>
              <a:rPr sz="1100">
                <a:solidFill>
                  <a:srgbClr val="444444"/>
                </a:solidFill>
                <a:latin typeface="Calibri"/>
              </a:rPr>
              <a:t>          Token count: ~252 in  (fresh question)</a:t>
            </a:r>
          </a:p>
          <a:p>
            <a:pPr>
              <a:lnSpc>
                <a:spcPct val="120000"/>
              </a:lnSpc>
            </a:pPr>
            <a:endParaRPr sz="1100">
              <a:solidFill>
                <a:srgbClr val="444444"/>
              </a:solidFill>
              <a:latin typeface="Calibri"/>
            </a:endParaRPr>
          </a:p>
          <a:p>
            <a:pPr>
              <a:lnSpc>
                <a:spcPct val="120000"/>
              </a:lnSpc>
            </a:pPr>
            <a:r>
              <a:rPr sz="1200">
                <a:solidFill>
                  <a:srgbClr val="1A1A1A"/>
                </a:solidFill>
                <a:latin typeface="Calibri"/>
              </a:rPr>
              <a:t>Step 2:  'What about digital downloads — is it the same?'</a:t>
            </a:r>
          </a:p>
          <a:p>
            <a:pPr>
              <a:lnSpc>
                <a:spcPct val="120000"/>
              </a:lnSpc>
            </a:pPr>
            <a:r>
              <a:rPr sz="1100">
                <a:solidFill>
                  <a:srgbClr val="059669"/>
                </a:solidFill>
                <a:latin typeface="Calibri"/>
              </a:rPr>
              <a:t>          Token count: ~670 in  ← +418 tokens = transformer</a:t>
            </a:r>
          </a:p>
          <a:p>
            <a:pPr>
              <a:lnSpc>
                <a:spcPct val="120000"/>
              </a:lnSpc>
            </a:pPr>
            <a:r>
              <a:rPr sz="1100">
                <a:solidFill>
                  <a:srgbClr val="444444"/>
                </a:solidFill>
                <a:latin typeface="Calibri"/>
              </a:rPr>
              <a:t>          Rewrote to precise question before search</a:t>
            </a:r>
          </a:p>
          <a:p>
            <a:pPr>
              <a:lnSpc>
                <a:spcPct val="120000"/>
              </a:lnSpc>
            </a:pPr>
            <a:endParaRPr sz="1100">
              <a:solidFill>
                <a:srgbClr val="444444"/>
              </a:solidFill>
              <a:latin typeface="Calibri"/>
            </a:endParaRPr>
          </a:p>
          <a:p>
            <a:pPr>
              <a:lnSpc>
                <a:spcPct val="120000"/>
              </a:lnSpc>
            </a:pPr>
            <a:r>
              <a:rPr sz="1200">
                <a:solidFill>
                  <a:srgbClr val="1A1A1A"/>
                </a:solidFill>
                <a:latin typeface="Calibri"/>
              </a:rPr>
              <a:t>Step 3:  'Summarize both policies in one sentence each.'</a:t>
            </a:r>
          </a:p>
          <a:p>
            <a:pPr>
              <a:lnSpc>
                <a:spcPct val="120000"/>
              </a:lnSpc>
            </a:pPr>
            <a:r>
              <a:rPr sz="1200">
                <a:solidFill>
                  <a:srgbClr val="1A1A1A"/>
                </a:solidFill>
                <a:latin typeface="Calibri"/>
              </a:rPr>
              <a:t>          Agent knows 'both' because of CHATMEMORY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4008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7348" y="73153"/>
            <a:ext cx="11430000" cy="510909"/>
          </a:xfrm>
          <a:prstGeom prst="rect">
            <a:avLst/>
          </a:prstGeom>
          <a:noFill/>
        </p:spPr>
        <p:txBody>
          <a:bodyPr wrap="square" lIns="118872" tIns="91440" rIns="100584" bIns="73152">
            <a:spAutoFit/>
          </a:bodyPr>
          <a:lstStyle/>
          <a:p>
            <a:pPr>
              <a:lnSpc>
                <a:spcPct val="120000"/>
              </a:lnSpc>
            </a:pPr>
            <a:r>
              <a:rPr sz="2000" b="1">
                <a:solidFill>
                  <a:srgbClr val="FFFFFF"/>
                </a:solidFill>
                <a:latin typeface="Calibri"/>
              </a:rPr>
              <a:t>Problem 8: Policy Confusion &amp; Hallucination</a:t>
            </a:r>
          </a:p>
        </p:txBody>
      </p:sp>
      <p:sp>
        <p:nvSpPr>
          <p:cNvPr id="4" name="TextBox 3"/>
          <p:cNvSpPr txBox="1"/>
          <p:nvPr/>
        </p:nvSpPr>
        <p:spPr>
          <a:xfrm>
            <a:off x="367348" y="804672"/>
            <a:ext cx="11457432" cy="1776512"/>
          </a:xfrm>
          <a:prstGeom prst="rect">
            <a:avLst/>
          </a:prstGeom>
          <a:solidFill>
            <a:srgbClr val="FFF1F0"/>
          </a:solidFill>
        </p:spPr>
        <p:txBody>
          <a:bodyPr wrap="square" lIns="118872" tIns="91440" rIns="100584" bIns="73152">
            <a:spAutoFit/>
          </a:bodyPr>
          <a:lstStyle/>
          <a:p>
            <a:pPr>
              <a:lnSpc>
                <a:spcPct val="120000"/>
              </a:lnSpc>
            </a:pPr>
            <a:r>
              <a:rPr sz="1300">
                <a:solidFill>
                  <a:srgbClr val="1A1A1A"/>
                </a:solidFill>
                <a:latin typeface="Calibri"/>
              </a:rPr>
              <a:t>Nexora support AI keeps giving wrong or inconsistent policy answers:</a:t>
            </a:r>
          </a:p>
          <a:p>
            <a:pPr>
              <a:lnSpc>
                <a:spcPct val="120000"/>
              </a:lnSpc>
            </a:pPr>
            <a:endParaRPr sz="1300">
              <a:solidFill>
                <a:srgbClr val="1A1A1A"/>
              </a:solidFill>
              <a:latin typeface="Calibri"/>
            </a:endParaRPr>
          </a:p>
          <a:p>
            <a:pPr>
              <a:lnSpc>
                <a:spcPct val="120000"/>
              </a:lnSpc>
            </a:pPr>
            <a:r>
              <a:rPr sz="1300">
                <a:solidFill>
                  <a:srgbClr val="1A1A1A"/>
                </a:solidFill>
                <a:latin typeface="Calibri"/>
              </a:rPr>
              <a:t>  Customer:   "Can I return this blender after 45 days?"</a:t>
            </a:r>
          </a:p>
          <a:p>
            <a:pPr>
              <a:lnSpc>
                <a:spcPct val="120000"/>
              </a:lnSpc>
            </a:pPr>
            <a:r>
              <a:rPr sz="1200">
                <a:solidFill>
                  <a:srgbClr val="EB1000"/>
                </a:solidFill>
                <a:latin typeface="Calibri"/>
              </a:rPr>
              <a:t>  AI (no RAG): "Most return windows are 30–90 days..."  ← made up, not Nexora's policy</a:t>
            </a:r>
          </a:p>
          <a:p>
            <a:pPr>
              <a:lnSpc>
                <a:spcPct val="120000"/>
              </a:lnSpc>
            </a:pPr>
            <a:endParaRPr sz="1200">
              <a:solidFill>
                <a:srgbClr val="EB1000"/>
              </a:solidFill>
              <a:latin typeface="Calibri"/>
            </a:endParaRPr>
          </a:p>
          <a:p>
            <a:pPr>
              <a:lnSpc>
                <a:spcPct val="120000"/>
              </a:lnSpc>
            </a:pPr>
            <a:r>
              <a:rPr sz="1300">
                <a:solidFill>
                  <a:srgbClr val="1A1A1A"/>
                </a:solidFill>
                <a:latin typeface="Calibri"/>
              </a:rPr>
              <a:t>  Customer:   "Is my software purchase refundable?"</a:t>
            </a:r>
          </a:p>
          <a:p>
            <a:pPr>
              <a:lnSpc>
                <a:spcPct val="120000"/>
              </a:lnSpc>
            </a:pPr>
            <a:r>
              <a:rPr sz="1200">
                <a:solidFill>
                  <a:srgbClr val="EB1000"/>
                </a:solidFill>
                <a:latin typeface="Calibri"/>
              </a:rPr>
              <a:t>  AI (no RAG): "Digital goods are typically non-refundable..."  ← generic, hallucinated</a:t>
            </a:r>
          </a:p>
        </p:txBody>
      </p:sp>
      <p:sp>
        <p:nvSpPr>
          <p:cNvPr id="5" name="TextBox 4"/>
          <p:cNvSpPr txBox="1"/>
          <p:nvPr/>
        </p:nvSpPr>
        <p:spPr>
          <a:xfrm>
            <a:off x="367348" y="3108960"/>
            <a:ext cx="5394960" cy="914400"/>
          </a:xfrm>
          <a:prstGeom prst="rect">
            <a:avLst/>
          </a:prstGeom>
          <a:noFill/>
        </p:spPr>
        <p:txBody>
          <a:bodyPr wrap="square" lIns="118872" tIns="91440" rIns="100584" bIns="73152">
            <a:spAutoFit/>
          </a:bodyPr>
          <a:lstStyle/>
          <a:p>
            <a:pPr>
              <a:lnSpc>
                <a:spcPct val="120000"/>
              </a:lnSpc>
            </a:pPr>
            <a:r>
              <a:rPr sz="1400" b="1">
                <a:solidFill>
                  <a:srgbClr val="1A1A1A"/>
                </a:solidFill>
                <a:latin typeface="Calibri"/>
              </a:rPr>
              <a:t>Root cause:</a:t>
            </a:r>
          </a:p>
          <a:p>
            <a:pPr>
              <a:lnSpc>
                <a:spcPct val="120000"/>
              </a:lnSpc>
            </a:pPr>
            <a:r>
              <a:rPr sz="1300">
                <a:solidFill>
                  <a:srgbClr val="1A1A1A"/>
                </a:solidFill>
                <a:latin typeface="Calibri"/>
              </a:rPr>
              <a:t>systemMessage() pasting all docs doesn't scale.</a:t>
            </a:r>
          </a:p>
          <a:p>
            <a:pPr>
              <a:lnSpc>
                <a:spcPct val="120000"/>
              </a:lnSpc>
            </a:pPr>
            <a:r>
              <a:rPr sz="1300">
                <a:solidFill>
                  <a:srgbClr val="1A1A1A"/>
                </a:solidFill>
                <a:latin typeface="Calibri"/>
              </a:rPr>
              <a:t>LLM guesses when context is ambiguous.</a:t>
            </a:r>
          </a:p>
        </p:txBody>
      </p:sp>
      <p:sp>
        <p:nvSpPr>
          <p:cNvPr id="6" name="TextBox 5"/>
          <p:cNvSpPr txBox="1"/>
          <p:nvPr/>
        </p:nvSpPr>
        <p:spPr>
          <a:xfrm>
            <a:off x="6338380" y="3108960"/>
            <a:ext cx="5486400" cy="914400"/>
          </a:xfrm>
          <a:prstGeom prst="rect">
            <a:avLst/>
          </a:prstGeom>
          <a:noFill/>
        </p:spPr>
        <p:txBody>
          <a:bodyPr wrap="square" lIns="118872" tIns="91440" rIns="100584" bIns="73152">
            <a:spAutoFit/>
          </a:bodyPr>
          <a:lstStyle/>
          <a:p>
            <a:pPr>
              <a:lnSpc>
                <a:spcPct val="120000"/>
              </a:lnSpc>
            </a:pPr>
            <a:r>
              <a:rPr sz="1400" b="1">
                <a:solidFill>
                  <a:srgbClr val="059669"/>
                </a:solidFill>
                <a:latin typeface="Calibri"/>
              </a:rPr>
              <a:t>Solution:</a:t>
            </a:r>
          </a:p>
          <a:p>
            <a:pPr>
              <a:lnSpc>
                <a:spcPct val="120000"/>
              </a:lnSpc>
            </a:pPr>
            <a:r>
              <a:rPr sz="1300">
                <a:solidFill>
                  <a:srgbClr val="1A1A1A"/>
                </a:solidFill>
                <a:latin typeface="Calibri"/>
              </a:rPr>
              <a:t>RAG — retrieve ONLY the relevant policy section per question.</a:t>
            </a:r>
          </a:p>
          <a:p>
            <a:pPr>
              <a:lnSpc>
                <a:spcPct val="120000"/>
              </a:lnSpc>
            </a:pPr>
            <a:r>
              <a:rPr sz="1300">
                <a:solidFill>
                  <a:srgbClr val="1A1A1A"/>
                </a:solidFill>
                <a:latin typeface="Calibri"/>
              </a:rPr>
              <a:t>Grounded answers from actual documents.</a:t>
            </a:r>
          </a:p>
        </p:txBody>
      </p:sp>
      <p:sp>
        <p:nvSpPr>
          <p:cNvPr id="7" name="TextBox 6"/>
          <p:cNvSpPr txBox="1"/>
          <p:nvPr/>
        </p:nvSpPr>
        <p:spPr>
          <a:xfrm>
            <a:off x="367348" y="4160521"/>
            <a:ext cx="11457432" cy="613117"/>
          </a:xfrm>
          <a:prstGeom prst="rect">
            <a:avLst/>
          </a:prstGeom>
          <a:solidFill>
            <a:srgbClr val="065F46"/>
          </a:solidFill>
        </p:spPr>
        <p:txBody>
          <a:bodyPr wrap="square" lIns="118872" tIns="91440" rIns="100584" bIns="73152">
            <a:spAutoFit/>
          </a:bodyPr>
          <a:lstStyle/>
          <a:p>
            <a:pPr>
              <a:lnSpc>
                <a:spcPct val="120000"/>
              </a:lnSpc>
            </a:pPr>
            <a:r>
              <a:rPr sz="1300" b="1">
                <a:solidFill>
                  <a:srgbClr val="FFFFFF"/>
                </a:solidFill>
                <a:latin typeface="Calibri"/>
              </a:rPr>
              <a:t>Solves:</a:t>
            </a:r>
          </a:p>
          <a:p>
            <a:pPr>
              <a:lnSpc>
                <a:spcPct val="120000"/>
              </a:lnSpc>
            </a:pPr>
            <a:r>
              <a:rPr sz="1200">
                <a:solidFill>
                  <a:srgbClr val="FFFFFF"/>
                </a:solidFill>
                <a:latin typeface="Calibri"/>
              </a:rPr>
              <a:t>4 policy docs chunked &amp; embedded once  ·  only the relevant chunk retrieved per question  ·  no hallucination  ·  scales to any size knowledge base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0"/>
            <a:ext cx="11274552" cy="621792"/>
          </a:xfrm>
          <a:prstGeom prst="rect">
            <a:avLst/>
          </a:prstGeom>
          <a:noFill/>
        </p:spPr>
        <p:txBody>
          <a:bodyPr wrap="square" lIns="118872" tIns="91440" rIns="100584" bIns="73152">
            <a:spAutoFit/>
          </a:bodyPr>
          <a:lstStyle/>
          <a:p>
            <a:pPr>
              <a:lnSpc>
                <a:spcPct val="120000"/>
              </a:lnSpc>
            </a:pPr>
            <a:r>
              <a:rPr sz="2600" b="1">
                <a:solidFill>
                  <a:srgbClr val="1A1A1A"/>
                </a:solidFill>
                <a:latin typeface="Calibri"/>
              </a:rPr>
              <a:t>Problem 8 Solution — simpleRAG() (Nexora)</a:t>
            </a:r>
          </a:p>
        </p:txBody>
      </p:sp>
      <p:sp>
        <p:nvSpPr>
          <p:cNvPr id="3" name="Rectangle 2"/>
          <p:cNvSpPr/>
          <p:nvPr/>
        </p:nvSpPr>
        <p:spPr>
          <a:xfrm>
            <a:off x="458788" y="749808"/>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78076" y="914401"/>
            <a:ext cx="3886200" cy="4972451"/>
          </a:xfrm>
          <a:prstGeom prst="rect">
            <a:avLst/>
          </a:prstGeom>
          <a:noFill/>
        </p:spPr>
        <p:txBody>
          <a:bodyPr wrap="square" lIns="118872" tIns="91440" rIns="100584" bIns="73152">
            <a:spAutoFit/>
          </a:bodyPr>
          <a:lstStyle/>
          <a:p>
            <a:pPr>
              <a:lnSpc>
                <a:spcPct val="120000"/>
              </a:lnSpc>
            </a:pPr>
            <a:r>
              <a:rPr sz="1300" b="1">
                <a:solidFill>
                  <a:srgbClr val="1A1A1A"/>
                </a:solidFill>
                <a:latin typeface="Calibri"/>
              </a:rPr>
              <a:t>Why simpleRAG()?</a:t>
            </a:r>
          </a:p>
          <a:p>
            <a:pPr>
              <a:lnSpc>
                <a:spcPct val="120000"/>
              </a:lnSpc>
            </a:pPr>
            <a:endParaRPr sz="1300" b="1">
              <a:solidFill>
                <a:srgbClr val="1A1A1A"/>
              </a:solidFill>
              <a:latin typeface="Calibri"/>
            </a:endParaRPr>
          </a:p>
          <a:p>
            <a:pPr>
              <a:lnSpc>
                <a:spcPct val="120000"/>
              </a:lnSpc>
            </a:pPr>
            <a:r>
              <a:rPr sz="1200">
                <a:solidFill>
                  <a:srgbClr val="1A1A1A"/>
                </a:solidFill>
                <a:latin typeface="Calibri"/>
              </a:rPr>
              <a:t>Each chip question is</a:t>
            </a:r>
          </a:p>
          <a:p>
            <a:pPr>
              <a:lnSpc>
                <a:spcPct val="120000"/>
              </a:lnSpc>
            </a:pPr>
            <a:r>
              <a:rPr sz="1200">
                <a:solidFill>
                  <a:srgbClr val="1A1A1A"/>
                </a:solidFill>
                <a:latin typeface="Calibri"/>
              </a:rPr>
              <a:t>self-contained — no need</a:t>
            </a:r>
          </a:p>
          <a:p>
            <a:pPr>
              <a:lnSpc>
                <a:spcPct val="120000"/>
              </a:lnSpc>
            </a:pPr>
            <a:r>
              <a:rPr sz="1200">
                <a:solidFill>
                  <a:srgbClr val="1A1A1A"/>
                </a:solidFill>
                <a:latin typeface="Calibri"/>
              </a:rPr>
              <a:t>for query transformer.</a:t>
            </a:r>
          </a:p>
          <a:p>
            <a:pPr>
              <a:lnSpc>
                <a:spcPct val="120000"/>
              </a:lnSpc>
            </a:pPr>
            <a:r>
              <a:rPr sz="1200">
                <a:solidFill>
                  <a:srgbClr val="1A1A1A"/>
                </a:solidFill>
                <a:latin typeface="Calibri"/>
              </a:rPr>
              <a:t>No token metrics needed</a:t>
            </a:r>
          </a:p>
          <a:p>
            <a:pPr>
              <a:lnSpc>
                <a:spcPct val="120000"/>
              </a:lnSpc>
            </a:pPr>
            <a:r>
              <a:rPr sz="1200">
                <a:solidFill>
                  <a:srgbClr val="1A1A1A"/>
                </a:solidFill>
                <a:latin typeface="Calibri"/>
              </a:rPr>
              <a:t>for a customer chatbot.</a:t>
            </a:r>
          </a:p>
          <a:p>
            <a:pPr>
              <a:lnSpc>
                <a:spcPct val="120000"/>
              </a:lnSpc>
            </a:pPr>
            <a:r>
              <a:rPr sz="1200" b="1">
                <a:solidFill>
                  <a:srgbClr val="059669"/>
                </a:solidFill>
                <a:latin typeface="Calibri"/>
              </a:rPr>
              <a:t>Simple wins.</a:t>
            </a:r>
          </a:p>
          <a:p>
            <a:pPr>
              <a:lnSpc>
                <a:spcPct val="120000"/>
              </a:lnSpc>
            </a:pPr>
            <a:endParaRPr sz="1200" b="1">
              <a:solidFill>
                <a:srgbClr val="059669"/>
              </a:solidFill>
              <a:latin typeface="Calibri"/>
            </a:endParaRPr>
          </a:p>
          <a:p>
            <a:pPr>
              <a:lnSpc>
                <a:spcPct val="120000"/>
              </a:lnSpc>
            </a:pPr>
            <a:r>
              <a:rPr sz="1200" b="1">
                <a:solidFill>
                  <a:srgbClr val="1A1A1A"/>
                </a:solidFill>
                <a:latin typeface="Calibri"/>
              </a:rPr>
              <a:t>Result:</a:t>
            </a:r>
          </a:p>
          <a:p>
            <a:pPr>
              <a:lnSpc>
                <a:spcPct val="120000"/>
              </a:lnSpc>
            </a:pPr>
            <a:r>
              <a:rPr sz="1100">
                <a:solidFill>
                  <a:srgbClr val="059669"/>
                </a:solidFill>
                <a:latin typeface="Calibri"/>
              </a:rPr>
              <a:t>  ✓ Warranty: from</a:t>
            </a:r>
          </a:p>
          <a:p>
            <a:pPr>
              <a:lnSpc>
                <a:spcPct val="120000"/>
              </a:lnSpc>
            </a:pPr>
            <a:r>
              <a:rPr sz="1000">
                <a:solidFill>
                  <a:srgbClr val="444444"/>
                </a:solidFill>
                <a:latin typeface="Calibri"/>
              </a:rPr>
              <a:t>    warranty-terms.txt</a:t>
            </a:r>
          </a:p>
          <a:p>
            <a:pPr>
              <a:lnSpc>
                <a:spcPct val="120000"/>
              </a:lnSpc>
            </a:pPr>
            <a:r>
              <a:rPr sz="1100">
                <a:solidFill>
                  <a:srgbClr val="059669"/>
                </a:solidFill>
                <a:latin typeface="Calibri"/>
              </a:rPr>
              <a:t>  ✓ Digital: from</a:t>
            </a:r>
          </a:p>
          <a:p>
            <a:pPr>
              <a:lnSpc>
                <a:spcPct val="120000"/>
              </a:lnSpc>
            </a:pPr>
            <a:r>
              <a:rPr sz="1000">
                <a:solidFill>
                  <a:srgbClr val="444444"/>
                </a:solidFill>
                <a:latin typeface="Calibri"/>
              </a:rPr>
              <a:t>    digital-products.txt</a:t>
            </a:r>
          </a:p>
          <a:p>
            <a:pPr>
              <a:lnSpc>
                <a:spcPct val="120000"/>
              </a:lnSpc>
            </a:pPr>
            <a:r>
              <a:rPr sz="1100">
                <a:solidFill>
                  <a:srgbClr val="059669"/>
                </a:solidFill>
                <a:latin typeface="Calibri"/>
              </a:rPr>
              <a:t>  ✓ Return policy:</a:t>
            </a:r>
          </a:p>
          <a:p>
            <a:pPr>
              <a:lnSpc>
                <a:spcPct val="120000"/>
              </a:lnSpc>
            </a:pPr>
            <a:r>
              <a:rPr sz="1000">
                <a:solidFill>
                  <a:srgbClr val="444444"/>
                </a:solidFill>
                <a:latin typeface="Calibri"/>
              </a:rPr>
              <a:t>    return-policy.txt</a:t>
            </a:r>
          </a:p>
          <a:p>
            <a:pPr>
              <a:lnSpc>
                <a:spcPct val="120000"/>
              </a:lnSpc>
            </a:pPr>
            <a:r>
              <a:rPr sz="1100">
                <a:solidFill>
                  <a:srgbClr val="059669"/>
                </a:solidFill>
                <a:latin typeface="Calibri"/>
              </a:rPr>
              <a:t>  ✓ Order status: 'I can't</a:t>
            </a:r>
          </a:p>
          <a:p>
            <a:pPr>
              <a:lnSpc>
                <a:spcPct val="120000"/>
              </a:lnSpc>
            </a:pPr>
            <a:r>
              <a:rPr sz="1000">
                <a:solidFill>
                  <a:srgbClr val="444444"/>
                </a:solidFill>
                <a:latin typeface="Calibri"/>
              </a:rPr>
              <a:t>    help' — not in docs</a:t>
            </a:r>
          </a:p>
          <a:p>
            <a:pPr>
              <a:lnSpc>
                <a:spcPct val="120000"/>
              </a:lnSpc>
            </a:pPr>
            <a:r>
              <a:rPr sz="1100" b="1">
                <a:solidFill>
                  <a:srgbClr val="059669"/>
                </a:solidFill>
                <a:latin typeface="Calibri"/>
              </a:rPr>
              <a:t>    No hallucination.</a:t>
            </a:r>
          </a:p>
          <a:p>
            <a:pPr>
              <a:lnSpc>
                <a:spcPct val="120000"/>
              </a:lnSpc>
            </a:pPr>
            <a:endParaRPr sz="1100" b="1">
              <a:solidFill>
                <a:srgbClr val="059669"/>
              </a:solidFill>
              <a:latin typeface="Calibri"/>
            </a:endParaRPr>
          </a:p>
          <a:p>
            <a:pPr>
              <a:lnSpc>
                <a:spcPct val="120000"/>
              </a:lnSpc>
            </a:pPr>
            <a:r>
              <a:rPr sz="1100">
                <a:solidFill>
                  <a:srgbClr val="D97706"/>
                </a:solidFill>
                <a:latin typeface="Calibri"/>
              </a:rPr>
              <a:t>P2 → 2,000 tokens/request</a:t>
            </a:r>
          </a:p>
          <a:p>
            <a:pPr>
              <a:lnSpc>
                <a:spcPct val="120000"/>
              </a:lnSpc>
            </a:pPr>
            <a:r>
              <a:rPr sz="1100">
                <a:solidFill>
                  <a:srgbClr val="059669"/>
                </a:solidFill>
                <a:latin typeface="Calibri"/>
              </a:rPr>
              <a:t>P8 → 500–800 tokens/request</a:t>
            </a:r>
          </a:p>
          <a:p>
            <a:pPr>
              <a:lnSpc>
                <a:spcPct val="120000"/>
              </a:lnSpc>
            </a:pPr>
            <a:r>
              <a:rPr sz="1100" b="1">
                <a:solidFill>
                  <a:srgbClr val="059669"/>
                </a:solidFill>
                <a:latin typeface="Calibri"/>
              </a:rPr>
              <a:t>Same accuracy. Less cost.</a:t>
            </a:r>
          </a:p>
        </p:txBody>
      </p:sp>
      <p:sp>
        <p:nvSpPr>
          <p:cNvPr id="5" name="TextBox 4"/>
          <p:cNvSpPr txBox="1"/>
          <p:nvPr/>
        </p:nvSpPr>
        <p:spPr>
          <a:xfrm>
            <a:off x="458788" y="914400"/>
            <a:ext cx="4281172" cy="4229428"/>
          </a:xfrm>
          <a:prstGeom prst="rect">
            <a:avLst/>
          </a:prstGeom>
          <a:solidFill>
            <a:srgbClr val="000000"/>
          </a:solidFill>
        </p:spPr>
        <p:txBody>
          <a:bodyPr wrap="none" lIns="109728" tIns="82296" bIns="64008">
            <a:spAutoFit/>
          </a:bodyPr>
          <a:lstStyle/>
          <a:p>
            <a:pPr>
              <a:lnSpc>
                <a:spcPct val="115000"/>
              </a:lnSpc>
            </a:pPr>
            <a:r>
              <a:rPr sz="1100">
                <a:solidFill>
                  <a:srgbClr val="9CDCFE"/>
                </a:solidFill>
                <a:latin typeface="Courier New"/>
              </a:rPr>
              <a:t>chatModel</a:t>
            </a:r>
            <a:r>
              <a:rPr sz="1100">
                <a:solidFill>
                  <a:srgbClr val="D4D4D4"/>
                </a:solidFill>
                <a:latin typeface="Courier New"/>
              </a:rPr>
              <a:t> = </a:t>
            </a:r>
            <a:r>
              <a:rPr sz="1100">
                <a:solidFill>
                  <a:srgbClr val="4EC9B0"/>
                </a:solidFill>
                <a:latin typeface="Courier New"/>
              </a:rPr>
              <a:t>ChatModel</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PROVIDER</a:t>
            </a:r>
            <a:r>
              <a:rPr sz="1100">
                <a:solidFill>
                  <a:srgbClr val="D4D4D4"/>
                </a:solidFill>
                <a:latin typeface="Courier New"/>
              </a:rPr>
              <a:t>:  </a:t>
            </a:r>
            <a:r>
              <a:rPr sz="1100">
                <a:solidFill>
                  <a:srgbClr val="CE9178"/>
                </a:solidFill>
                <a:latin typeface="Courier New"/>
              </a:rPr>
              <a:t>"openai"</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APIKEY</a:t>
            </a:r>
            <a:r>
              <a:rPr sz="1100">
                <a:solidFill>
                  <a:srgbClr val="D4D4D4"/>
                </a:solidFill>
                <a:latin typeface="Courier New"/>
              </a:rPr>
              <a:t>:    </a:t>
            </a:r>
            <a:r>
              <a:rPr sz="1100">
                <a:solidFill>
                  <a:srgbClr val="9CDCFE"/>
                </a:solidFill>
                <a:latin typeface="Courier New"/>
              </a:rPr>
              <a:t>application</a:t>
            </a:r>
            <a:r>
              <a:rPr sz="1100">
                <a:solidFill>
                  <a:srgbClr val="D4D4D4"/>
                </a:solidFill>
                <a:latin typeface="Courier New"/>
              </a:rPr>
              <a:t>.</a:t>
            </a:r>
            <a:r>
              <a:rPr sz="1100">
                <a:solidFill>
                  <a:srgbClr val="9CDCFE"/>
                </a:solidFill>
                <a:latin typeface="Courier New"/>
              </a:rPr>
              <a:t>openaiKey</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MODELNAME</a:t>
            </a:r>
            <a:r>
              <a:rPr sz="1100">
                <a:solidFill>
                  <a:srgbClr val="D4D4D4"/>
                </a:solidFill>
                <a:latin typeface="Courier New"/>
              </a:rPr>
              <a:t>: </a:t>
            </a:r>
            <a:r>
              <a:rPr sz="1100">
                <a:solidFill>
                  <a:srgbClr val="CE9178"/>
                </a:solidFill>
                <a:latin typeface="Courier New"/>
              </a:rPr>
              <a:t>"gpt-4o-mini"</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MAXTOKENS</a:t>
            </a:r>
            <a:r>
              <a:rPr sz="1100">
                <a:solidFill>
                  <a:srgbClr val="D4D4D4"/>
                </a:solidFill>
                <a:latin typeface="Courier New"/>
              </a:rPr>
              <a:t>: </a:t>
            </a:r>
            <a:r>
              <a:rPr sz="1100">
                <a:solidFill>
                  <a:srgbClr val="B5CEA8"/>
                </a:solidFill>
                <a:latin typeface="Courier New"/>
              </a:rPr>
              <a:t>500</a:t>
            </a:r>
          </a:p>
          <a:p>
            <a:pPr>
              <a:lnSpc>
                <a:spcPct val="115000"/>
              </a:lnSpc>
            </a:pPr>
            <a:r>
              <a:rPr sz="1100">
                <a:solidFill>
                  <a:srgbClr val="D4D4D4"/>
                </a:solidFill>
                <a:latin typeface="Courier New"/>
              </a:rPr>
              <a:t>});</a:t>
            </a:r>
          </a:p>
          <a:p>
            <a:pPr>
              <a:lnSpc>
                <a:spcPct val="115000"/>
              </a:lnSpc>
            </a:pPr>
            <a:endParaRPr sz="1100">
              <a:solidFill>
                <a:srgbClr val="D4D4D4"/>
              </a:solidFill>
              <a:latin typeface="Courier New"/>
            </a:endParaRPr>
          </a:p>
          <a:p>
            <a:pPr>
              <a:lnSpc>
                <a:spcPct val="115000"/>
              </a:lnSpc>
            </a:pPr>
            <a:r>
              <a:rPr sz="1100">
                <a:solidFill>
                  <a:srgbClr val="9CDCFE"/>
                </a:solidFill>
                <a:latin typeface="Courier New"/>
              </a:rPr>
              <a:t>docsPath</a:t>
            </a:r>
            <a:r>
              <a:rPr sz="1100">
                <a:solidFill>
                  <a:srgbClr val="D4D4D4"/>
                </a:solidFill>
                <a:latin typeface="Courier New"/>
              </a:rPr>
              <a:t> = </a:t>
            </a:r>
            <a:r>
              <a:rPr sz="1100">
                <a:solidFill>
                  <a:srgbClr val="4EC9B0"/>
                </a:solidFill>
                <a:latin typeface="Courier New"/>
              </a:rPr>
              <a:t>expandPath</a:t>
            </a:r>
            <a:r>
              <a:rPr sz="1100">
                <a:solidFill>
                  <a:srgbClr val="D4D4D4"/>
                </a:solidFill>
                <a:latin typeface="Courier New"/>
              </a:rPr>
              <a:t>(</a:t>
            </a:r>
            <a:r>
              <a:rPr sz="1100">
                <a:solidFill>
                  <a:srgbClr val="CE9178"/>
                </a:solidFill>
                <a:latin typeface="Courier New"/>
              </a:rPr>
              <a:t>"docs/policies/"</a:t>
            </a:r>
            <a:r>
              <a:rPr sz="1100">
                <a:solidFill>
                  <a:srgbClr val="D4D4D4"/>
                </a:solidFill>
                <a:latin typeface="Courier New"/>
              </a:rPr>
              <a:t>);</a:t>
            </a:r>
          </a:p>
          <a:p>
            <a:pPr>
              <a:lnSpc>
                <a:spcPct val="115000"/>
              </a:lnSpc>
            </a:pPr>
            <a:endParaRPr sz="1100">
              <a:solidFill>
                <a:srgbClr val="D4D4D4"/>
              </a:solidFill>
              <a:latin typeface="Courier New"/>
            </a:endParaRPr>
          </a:p>
          <a:p>
            <a:pPr>
              <a:lnSpc>
                <a:spcPct val="115000"/>
              </a:lnSpc>
            </a:pPr>
            <a:r>
              <a:rPr sz="1100">
                <a:solidFill>
                  <a:srgbClr val="9CDCFE"/>
                </a:solidFill>
                <a:latin typeface="Courier New"/>
              </a:rPr>
              <a:t>ragBot</a:t>
            </a:r>
            <a:r>
              <a:rPr sz="1100">
                <a:solidFill>
                  <a:srgbClr val="D4D4D4"/>
                </a:solidFill>
                <a:latin typeface="Courier New"/>
              </a:rPr>
              <a:t> = </a:t>
            </a:r>
            <a:r>
              <a:rPr sz="1100">
                <a:solidFill>
                  <a:srgbClr val="4EC9B0"/>
                </a:solidFill>
                <a:latin typeface="Courier New"/>
              </a:rPr>
              <a:t>simpleRAG</a:t>
            </a:r>
            <a:r>
              <a:rPr sz="1100">
                <a:solidFill>
                  <a:srgbClr val="D4D4D4"/>
                </a:solidFill>
                <a:latin typeface="Courier New"/>
              </a:rPr>
              <a:t>(</a:t>
            </a:r>
            <a:r>
              <a:rPr sz="1100">
                <a:solidFill>
                  <a:srgbClr val="9CDCFE"/>
                </a:solidFill>
                <a:latin typeface="Courier New"/>
              </a:rPr>
              <a:t>docsPath</a:t>
            </a:r>
            <a:r>
              <a:rPr sz="1100">
                <a:solidFill>
                  <a:srgbClr val="D4D4D4"/>
                </a:solidFill>
                <a:latin typeface="Courier New"/>
              </a:rPr>
              <a:t>, </a:t>
            </a:r>
            <a:r>
              <a:rPr sz="1100">
                <a:solidFill>
                  <a:srgbClr val="9CDCFE"/>
                </a:solidFill>
                <a:latin typeface="Courier New"/>
              </a:rPr>
              <a:t>chatModel</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chunkSize</a:t>
            </a:r>
            <a:r>
              <a:rPr sz="1100">
                <a:solidFill>
                  <a:srgbClr val="D4D4D4"/>
                </a:solidFill>
                <a:latin typeface="Courier New"/>
              </a:rPr>
              <a:t>:    </a:t>
            </a:r>
            <a:r>
              <a:rPr sz="1100">
                <a:solidFill>
                  <a:srgbClr val="B5CEA8"/>
                </a:solidFill>
                <a:latin typeface="Courier New"/>
              </a:rPr>
              <a:t>800</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chunkOverlap</a:t>
            </a:r>
            <a:r>
              <a:rPr sz="1100">
                <a:solidFill>
                  <a:srgbClr val="D4D4D4"/>
                </a:solidFill>
                <a:latin typeface="Courier New"/>
              </a:rPr>
              <a:t>: </a:t>
            </a:r>
            <a:r>
              <a:rPr sz="1100">
                <a:solidFill>
                  <a:srgbClr val="B5CEA8"/>
                </a:solidFill>
                <a:latin typeface="Courier New"/>
              </a:rPr>
              <a:t>150</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vectorStore</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provider</a:t>
            </a:r>
            <a:r>
              <a:rPr sz="1100">
                <a:solidFill>
                  <a:srgbClr val="D4D4D4"/>
                </a:solidFill>
                <a:latin typeface="Courier New"/>
              </a:rPr>
              <a:t>:       </a:t>
            </a:r>
            <a:r>
              <a:rPr sz="1100">
                <a:solidFill>
                  <a:srgbClr val="CE9178"/>
                </a:solidFill>
                <a:latin typeface="Courier New"/>
              </a:rPr>
              <a:t>"INMEMORY"</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embeddingModel</a:t>
            </a:r>
            <a:r>
              <a:rPr sz="1100">
                <a:solidFill>
                  <a:srgbClr val="D4D4D4"/>
                </a:solidFill>
                <a:latin typeface="Courier New"/>
              </a:rPr>
              <a:t>: {</a:t>
            </a:r>
          </a:p>
          <a:p>
            <a:pPr>
              <a:lnSpc>
                <a:spcPct val="115000"/>
              </a:lnSpc>
            </a:pPr>
            <a:r>
              <a:rPr sz="1100">
                <a:solidFill>
                  <a:srgbClr val="D4D4D4"/>
                </a:solidFill>
                <a:latin typeface="Courier New"/>
              </a:rPr>
              <a:t>            </a:t>
            </a:r>
            <a:r>
              <a:rPr sz="1100">
                <a:solidFill>
                  <a:srgbClr val="9CDCFE"/>
                </a:solidFill>
                <a:latin typeface="Courier New"/>
              </a:rPr>
              <a:t>provider</a:t>
            </a:r>
            <a:r>
              <a:rPr sz="1100">
                <a:solidFill>
                  <a:srgbClr val="D4D4D4"/>
                </a:solidFill>
                <a:latin typeface="Courier New"/>
              </a:rPr>
              <a:t>:  </a:t>
            </a:r>
            <a:r>
              <a:rPr sz="1100">
                <a:solidFill>
                  <a:srgbClr val="CE9178"/>
                </a:solidFill>
                <a:latin typeface="Courier New"/>
              </a:rPr>
              <a:t>"openai"</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modelName</a:t>
            </a:r>
            <a:r>
              <a:rPr sz="1100">
                <a:solidFill>
                  <a:srgbClr val="D4D4D4"/>
                </a:solidFill>
                <a:latin typeface="Courier New"/>
              </a:rPr>
              <a:t>: </a:t>
            </a:r>
            <a:r>
              <a:rPr sz="1100">
                <a:solidFill>
                  <a:srgbClr val="CE9178"/>
                </a:solidFill>
                <a:latin typeface="Courier New"/>
              </a:rPr>
              <a:t>"text-embedding-3-small"</a:t>
            </a:r>
            <a:r>
              <a:rPr sz="1100">
                <a:solidFill>
                  <a:srgbClr val="D4D4D4"/>
                </a:solidFill>
                <a:latin typeface="Courier New"/>
              </a:rPr>
              <a:t>,</a:t>
            </a:r>
          </a:p>
          <a:p>
            <a:pPr>
              <a:lnSpc>
                <a:spcPct val="115000"/>
              </a:lnSpc>
            </a:pPr>
            <a:r>
              <a:rPr sz="1100">
                <a:solidFill>
                  <a:srgbClr val="D4D4D4"/>
                </a:solidFill>
                <a:latin typeface="Courier New"/>
              </a:rPr>
              <a:t>            </a:t>
            </a:r>
            <a:r>
              <a:rPr sz="1100">
                <a:solidFill>
                  <a:srgbClr val="9CDCFE"/>
                </a:solidFill>
                <a:latin typeface="Courier New"/>
              </a:rPr>
              <a:t>apiKey</a:t>
            </a:r>
            <a:r>
              <a:rPr sz="1100">
                <a:solidFill>
                  <a:srgbClr val="D4D4D4"/>
                </a:solidFill>
                <a:latin typeface="Courier New"/>
              </a:rPr>
              <a:t>:    </a:t>
            </a:r>
            <a:r>
              <a:rPr sz="1100">
                <a:solidFill>
                  <a:srgbClr val="9CDCFE"/>
                </a:solidFill>
                <a:latin typeface="Courier New"/>
              </a:rPr>
              <a:t>application</a:t>
            </a:r>
            <a:r>
              <a:rPr sz="1100">
                <a:solidFill>
                  <a:srgbClr val="D4D4D4"/>
                </a:solidFill>
                <a:latin typeface="Courier New"/>
              </a:rPr>
              <a:t>.</a:t>
            </a:r>
            <a:r>
              <a:rPr sz="1100">
                <a:solidFill>
                  <a:srgbClr val="9CDCFE"/>
                </a:solidFill>
                <a:latin typeface="Courier New"/>
              </a:rPr>
              <a:t>openaiKey</a:t>
            </a:r>
          </a:p>
          <a:p>
            <a:pPr>
              <a:lnSpc>
                <a:spcPct val="115000"/>
              </a:lnSpc>
            </a:pPr>
            <a:r>
              <a:rPr sz="1100">
                <a:solidFill>
                  <a:srgbClr val="D4D4D4"/>
                </a:solidFill>
                <a:latin typeface="Courier New"/>
              </a:rPr>
              <a:t>        }</a:t>
            </a:r>
          </a:p>
          <a:p>
            <a:pPr>
              <a:lnSpc>
                <a:spcPct val="115000"/>
              </a:lnSpc>
            </a:pPr>
            <a:r>
              <a:rPr sz="1100">
                <a:solidFill>
                  <a:srgbClr val="D4D4D4"/>
                </a:solidFill>
                <a:latin typeface="Courier New"/>
              </a:rPr>
              <a:t>    }</a:t>
            </a:r>
          </a:p>
          <a:p>
            <a:pPr>
              <a:lnSpc>
                <a:spcPct val="115000"/>
              </a:lnSpc>
            </a:pPr>
            <a:r>
              <a:rPr sz="1100">
                <a:solidFill>
                  <a:srgbClr val="D4D4D4"/>
                </a:solidFill>
                <a:latin typeface="Courier New"/>
              </a:rPr>
              <a:t>});</a:t>
            </a:r>
          </a:p>
        </p:txBody>
      </p:sp>
      <p:sp>
        <p:nvSpPr>
          <p:cNvPr id="6" name="TextBox 5"/>
          <p:cNvSpPr txBox="1"/>
          <p:nvPr/>
        </p:nvSpPr>
        <p:spPr>
          <a:xfrm>
            <a:off x="458789" y="4635628"/>
            <a:ext cx="6166303" cy="2440861"/>
          </a:xfrm>
          <a:prstGeom prst="rect">
            <a:avLst/>
          </a:prstGeom>
          <a:solidFill>
            <a:srgbClr val="000000"/>
          </a:solidFill>
        </p:spPr>
        <p:txBody>
          <a:bodyPr wrap="none" lIns="109728" tIns="82296" bIns="64008">
            <a:spAutoFit/>
          </a:bodyPr>
          <a:lstStyle/>
          <a:p>
            <a:pPr>
              <a:lnSpc>
                <a:spcPct val="115000"/>
              </a:lnSpc>
            </a:pPr>
            <a:r>
              <a:rPr sz="1300">
                <a:solidFill>
                  <a:srgbClr val="9CDCFE"/>
                </a:solidFill>
                <a:latin typeface="Courier New"/>
              </a:rPr>
              <a:t>ragBot</a:t>
            </a:r>
            <a:r>
              <a:rPr sz="1300">
                <a:solidFill>
                  <a:srgbClr val="D4D4D4"/>
                </a:solidFill>
                <a:latin typeface="Courier New"/>
              </a:rPr>
              <a:t>.</a:t>
            </a:r>
            <a:r>
              <a:rPr sz="1300">
                <a:solidFill>
                  <a:srgbClr val="4EC9B0"/>
                </a:solidFill>
                <a:latin typeface="Courier New"/>
              </a:rPr>
              <a:t>ingest</a:t>
            </a:r>
            <a:r>
              <a:rPr sz="1300">
                <a:solidFill>
                  <a:srgbClr val="D4D4D4"/>
                </a:solidFill>
                <a:latin typeface="Courier New"/>
              </a:rPr>
              <a:t>();               </a:t>
            </a:r>
            <a:r>
              <a:rPr sz="1300">
                <a:solidFill>
                  <a:srgbClr val="6A9955"/>
                </a:solidFill>
                <a:latin typeface="Courier New"/>
              </a:rPr>
              <a:t>// runs once at session start</a:t>
            </a:r>
          </a:p>
          <a:p>
            <a:pPr>
              <a:lnSpc>
                <a:spcPct val="115000"/>
              </a:lnSpc>
            </a:pPr>
            <a:r>
              <a:rPr sz="1300">
                <a:solidFill>
                  <a:srgbClr val="9CDCFE"/>
                </a:solidFill>
                <a:latin typeface="Courier New"/>
              </a:rPr>
              <a:t>session</a:t>
            </a:r>
            <a:r>
              <a:rPr sz="1300">
                <a:solidFill>
                  <a:srgbClr val="D4D4D4"/>
                </a:solidFill>
                <a:latin typeface="Courier New"/>
              </a:rPr>
              <a:t>.</a:t>
            </a:r>
            <a:r>
              <a:rPr sz="1300">
                <a:solidFill>
                  <a:srgbClr val="9CDCFE"/>
                </a:solidFill>
                <a:latin typeface="Courier New"/>
              </a:rPr>
              <a:t>nexoraRagAI</a:t>
            </a:r>
            <a:r>
              <a:rPr sz="1300">
                <a:solidFill>
                  <a:srgbClr val="D4D4D4"/>
                </a:solidFill>
                <a:latin typeface="Courier New"/>
              </a:rPr>
              <a:t> = </a:t>
            </a:r>
            <a:r>
              <a:rPr sz="1300">
                <a:solidFill>
                  <a:srgbClr val="9CDCFE"/>
                </a:solidFill>
                <a:latin typeface="Courier New"/>
              </a:rPr>
              <a:t>ragBot</a:t>
            </a:r>
            <a:r>
              <a:rPr sz="1300">
                <a:solidFill>
                  <a:srgbClr val="D4D4D4"/>
                </a:solidFill>
                <a:latin typeface="Courier New"/>
              </a:rPr>
              <a:t>;  </a:t>
            </a:r>
            <a:r>
              <a:rPr sz="1300">
                <a:solidFill>
                  <a:srgbClr val="6A9955"/>
                </a:solidFill>
                <a:latin typeface="Courier New"/>
              </a:rPr>
              <a:t>// cache per user</a:t>
            </a:r>
          </a:p>
          <a:p>
            <a:pPr>
              <a:lnSpc>
                <a:spcPct val="115000"/>
              </a:lnSpc>
            </a:pPr>
            <a:endParaRPr sz="1300">
              <a:solidFill>
                <a:srgbClr val="6A9955"/>
              </a:solidFill>
              <a:latin typeface="Courier New"/>
            </a:endParaRPr>
          </a:p>
          <a:p>
            <a:pPr>
              <a:lnSpc>
                <a:spcPct val="115000"/>
              </a:lnSpc>
            </a:pPr>
            <a:r>
              <a:rPr sz="1300">
                <a:solidFill>
                  <a:srgbClr val="6A9955"/>
                </a:solidFill>
                <a:latin typeface="Courier New"/>
              </a:rPr>
              <a:t>// On every customer question:</a:t>
            </a:r>
          </a:p>
          <a:p>
            <a:pPr>
              <a:lnSpc>
                <a:spcPct val="115000"/>
              </a:lnSpc>
            </a:pPr>
            <a:r>
              <a:rPr sz="1300">
                <a:solidFill>
                  <a:srgbClr val="9CDCFE"/>
                </a:solidFill>
                <a:latin typeface="Courier New"/>
              </a:rPr>
              <a:t>response</a:t>
            </a:r>
            <a:r>
              <a:rPr sz="1300">
                <a:solidFill>
                  <a:srgbClr val="D4D4D4"/>
                </a:solidFill>
                <a:latin typeface="Courier New"/>
              </a:rPr>
              <a:t> = </a:t>
            </a:r>
            <a:r>
              <a:rPr sz="1300">
                <a:solidFill>
                  <a:srgbClr val="9CDCFE"/>
                </a:solidFill>
                <a:latin typeface="Courier New"/>
              </a:rPr>
              <a:t>session</a:t>
            </a:r>
            <a:r>
              <a:rPr sz="1300">
                <a:solidFill>
                  <a:srgbClr val="D4D4D4"/>
                </a:solidFill>
                <a:latin typeface="Courier New"/>
              </a:rPr>
              <a:t>.</a:t>
            </a:r>
            <a:r>
              <a:rPr sz="1300">
                <a:solidFill>
                  <a:srgbClr val="9CDCFE"/>
                </a:solidFill>
                <a:latin typeface="Courier New"/>
              </a:rPr>
              <a:t>nexoraRagAI</a:t>
            </a:r>
            <a:r>
              <a:rPr sz="1300">
                <a:solidFill>
                  <a:srgbClr val="D4D4D4"/>
                </a:solidFill>
                <a:latin typeface="Courier New"/>
              </a:rPr>
              <a:t>.</a:t>
            </a:r>
            <a:r>
              <a:rPr sz="1300">
                <a:solidFill>
                  <a:srgbClr val="4EC9B0"/>
                </a:solidFill>
                <a:latin typeface="Courier New"/>
              </a:rPr>
              <a:t>ask</a:t>
            </a:r>
            <a:r>
              <a:rPr sz="1300">
                <a:solidFill>
                  <a:srgbClr val="D4D4D4"/>
                </a:solidFill>
                <a:latin typeface="Courier New"/>
              </a:rPr>
              <a:t>(</a:t>
            </a:r>
            <a:r>
              <a:rPr sz="1300">
                <a:solidFill>
                  <a:srgbClr val="9CDCFE"/>
                </a:solidFill>
                <a:latin typeface="Courier New"/>
              </a:rPr>
              <a:t>form</a:t>
            </a:r>
            <a:r>
              <a:rPr sz="1300">
                <a:solidFill>
                  <a:srgbClr val="D4D4D4"/>
                </a:solidFill>
                <a:latin typeface="Courier New"/>
              </a:rPr>
              <a:t>.</a:t>
            </a:r>
            <a:r>
              <a:rPr sz="1300">
                <a:solidFill>
                  <a:srgbClr val="9CDCFE"/>
                </a:solidFill>
                <a:latin typeface="Courier New"/>
              </a:rPr>
              <a:t>question</a:t>
            </a:r>
            <a:r>
              <a:rPr sz="1300">
                <a:solidFill>
                  <a:srgbClr val="D4D4D4"/>
                </a:solidFill>
                <a:latin typeface="Courier New"/>
              </a:rPr>
              <a:t>);</a:t>
            </a:r>
          </a:p>
          <a:p>
            <a:pPr>
              <a:lnSpc>
                <a:spcPct val="115000"/>
              </a:lnSpc>
            </a:pPr>
            <a:r>
              <a:rPr sz="1300">
                <a:solidFill>
                  <a:srgbClr val="4EC9B0"/>
                </a:solidFill>
                <a:latin typeface="Courier New"/>
              </a:rPr>
              <a:t>writeOutput</a:t>
            </a:r>
            <a:r>
              <a:rPr sz="1300">
                <a:solidFill>
                  <a:srgbClr val="D4D4D4"/>
                </a:solidFill>
                <a:latin typeface="Courier New"/>
              </a:rPr>
              <a:t>(</a:t>
            </a:r>
            <a:r>
              <a:rPr sz="1300">
                <a:solidFill>
                  <a:srgbClr val="9CDCFE"/>
                </a:solidFill>
                <a:latin typeface="Courier New"/>
              </a:rPr>
              <a:t>response</a:t>
            </a:r>
            <a:r>
              <a:rPr sz="1300">
                <a:solidFill>
                  <a:srgbClr val="D4D4D4"/>
                </a:solidFill>
                <a:latin typeface="Courier New"/>
              </a:rPr>
              <a:t>.</a:t>
            </a:r>
            <a:r>
              <a:rPr sz="1300">
                <a:solidFill>
                  <a:srgbClr val="9CDCFE"/>
                </a:solidFill>
                <a:latin typeface="Courier New"/>
              </a:rPr>
              <a:t>message</a:t>
            </a:r>
            <a:r>
              <a:rPr sz="1300">
                <a:solidFill>
                  <a:srgbClr val="D4D4D4"/>
                </a:solidFill>
                <a:latin typeface="Courier New"/>
              </a:rPr>
              <a:t>);</a:t>
            </a:r>
          </a:p>
          <a:p>
            <a:pPr>
              <a:lnSpc>
                <a:spcPct val="115000"/>
              </a:lnSpc>
            </a:pPr>
            <a:endParaRPr sz="1300">
              <a:solidFill>
                <a:srgbClr val="D4D4D4"/>
              </a:solidFill>
              <a:latin typeface="Courier New"/>
            </a:endParaRPr>
          </a:p>
          <a:p>
            <a:pPr>
              <a:lnSpc>
                <a:spcPct val="115000"/>
              </a:lnSpc>
            </a:pPr>
            <a:r>
              <a:rPr sz="1300">
                <a:solidFill>
                  <a:srgbClr val="6A9955"/>
                </a:solidFill>
                <a:latin typeface="Courier New"/>
              </a:rPr>
              <a:t>// No agent config, no INGESTION block,</a:t>
            </a:r>
          </a:p>
          <a:p>
            <a:pPr>
              <a:lnSpc>
                <a:spcPct val="115000"/>
              </a:lnSpc>
            </a:pPr>
            <a:r>
              <a:rPr sz="1300">
                <a:solidFill>
                  <a:srgbClr val="6A9955"/>
                </a:solidFill>
                <a:latin typeface="Courier New"/>
              </a:rPr>
              <a:t>// no retrievalAugmentor — 3 lines of setup,</a:t>
            </a:r>
          </a:p>
          <a:p>
            <a:pPr>
              <a:lnSpc>
                <a:spcPct val="115000"/>
              </a:lnSpc>
            </a:pPr>
            <a:r>
              <a:rPr sz="1300">
                <a:solidFill>
                  <a:srgbClr val="6A9955"/>
                </a:solidFill>
                <a:latin typeface="Courier New"/>
              </a:rPr>
              <a:t>// full RAG pipeline.</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0"/>
            <a:ext cx="11274552" cy="621792"/>
          </a:xfrm>
          <a:prstGeom prst="rect">
            <a:avLst/>
          </a:prstGeom>
          <a:noFill/>
        </p:spPr>
        <p:txBody>
          <a:bodyPr wrap="square" lIns="118872" tIns="91440" rIns="100584" bIns="73152">
            <a:spAutoFit/>
          </a:bodyPr>
          <a:lstStyle/>
          <a:p>
            <a:pPr>
              <a:lnSpc>
                <a:spcPct val="120000"/>
              </a:lnSpc>
            </a:pPr>
            <a:r>
              <a:rPr sz="2600" b="1">
                <a:solidFill>
                  <a:srgbClr val="1A1A1A"/>
                </a:solidFill>
                <a:latin typeface="Calibri"/>
              </a:rPr>
              <a:t>The Query Transformer — What It Actually Does</a:t>
            </a:r>
          </a:p>
        </p:txBody>
      </p:sp>
      <p:sp>
        <p:nvSpPr>
          <p:cNvPr id="3" name="Rectangle 2"/>
          <p:cNvSpPr/>
          <p:nvPr/>
        </p:nvSpPr>
        <p:spPr>
          <a:xfrm>
            <a:off x="458788" y="749808"/>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841249"/>
            <a:ext cx="11274552" cy="373051"/>
          </a:xfrm>
          <a:prstGeom prst="rect">
            <a:avLst/>
          </a:prstGeom>
          <a:noFill/>
        </p:spPr>
        <p:txBody>
          <a:bodyPr wrap="square" lIns="118872" tIns="91440" rIns="100584" bIns="73152">
            <a:spAutoFit/>
          </a:bodyPr>
          <a:lstStyle/>
          <a:p>
            <a:pPr>
              <a:lnSpc>
                <a:spcPct val="120000"/>
              </a:lnSpc>
            </a:pPr>
            <a:r>
              <a:rPr sz="1200">
                <a:solidFill>
                  <a:srgbClr val="444444"/>
                </a:solidFill>
                <a:latin typeface="Calibri"/>
              </a:rPr>
              <a:t>Only relevant in Advanced RAG (agent() with INGESTION).  simpleRAG() and Nexora Problem 8 don't need it — their questions are self-contained.</a:t>
            </a:r>
          </a:p>
        </p:txBody>
      </p:sp>
      <p:sp>
        <p:nvSpPr>
          <p:cNvPr id="5" name="TextBox 4"/>
          <p:cNvSpPr txBox="1"/>
          <p:nvPr/>
        </p:nvSpPr>
        <p:spPr>
          <a:xfrm>
            <a:off x="458788" y="1353313"/>
            <a:ext cx="5394960" cy="390235"/>
          </a:xfrm>
          <a:prstGeom prst="rect">
            <a:avLst/>
          </a:prstGeom>
          <a:solidFill>
            <a:srgbClr val="9B1C1C"/>
          </a:solidFill>
        </p:spPr>
        <p:txBody>
          <a:bodyPr wrap="square" lIns="118872" tIns="91440" rIns="100584" bIns="73152">
            <a:spAutoFit/>
          </a:bodyPr>
          <a:lstStyle/>
          <a:p>
            <a:pPr>
              <a:lnSpc>
                <a:spcPct val="120000"/>
              </a:lnSpc>
            </a:pPr>
            <a:r>
              <a:rPr sz="1300" b="1">
                <a:solidFill>
                  <a:srgbClr val="FFFFFF"/>
                </a:solidFill>
                <a:latin typeface="Calibri"/>
              </a:rPr>
              <a:t>The problem without it</a:t>
            </a:r>
          </a:p>
        </p:txBody>
      </p:sp>
      <p:sp>
        <p:nvSpPr>
          <p:cNvPr id="6" name="TextBox 5"/>
          <p:cNvSpPr txBox="1"/>
          <p:nvPr/>
        </p:nvSpPr>
        <p:spPr>
          <a:xfrm>
            <a:off x="458788" y="1810512"/>
            <a:ext cx="5394960" cy="1961178"/>
          </a:xfrm>
          <a:prstGeom prst="rect">
            <a:avLst/>
          </a:prstGeom>
          <a:solidFill>
            <a:srgbClr val="FFF1F0"/>
          </a:solidFill>
        </p:spPr>
        <p:txBody>
          <a:bodyPr wrap="square" lIns="118872" tIns="91440" rIns="100584" bIns="73152">
            <a:spAutoFit/>
          </a:bodyPr>
          <a:lstStyle/>
          <a:p>
            <a:pPr>
              <a:lnSpc>
                <a:spcPct val="120000"/>
              </a:lnSpc>
            </a:pPr>
            <a:r>
              <a:rPr sz="1200" b="1">
                <a:solidFill>
                  <a:srgbClr val="1A1A1A"/>
                </a:solidFill>
                <a:latin typeface="Calibri"/>
              </a:rPr>
              <a:t>User asks vague follow-up:</a:t>
            </a:r>
          </a:p>
          <a:p>
            <a:pPr>
              <a:lnSpc>
                <a:spcPct val="120000"/>
              </a:lnSpc>
            </a:pPr>
            <a:endParaRPr sz="1200" b="1">
              <a:solidFill>
                <a:srgbClr val="1A1A1A"/>
              </a:solidFill>
              <a:latin typeface="Calibri"/>
            </a:endParaRPr>
          </a:p>
          <a:p>
            <a:pPr>
              <a:lnSpc>
                <a:spcPct val="120000"/>
              </a:lnSpc>
            </a:pPr>
            <a:r>
              <a:rPr sz="1300">
                <a:solidFill>
                  <a:srgbClr val="9B1C1C"/>
                </a:solidFill>
                <a:latin typeface="Calibri"/>
              </a:rPr>
              <a:t>"What about digital downloads — is it the same?"</a:t>
            </a:r>
          </a:p>
          <a:p>
            <a:pPr>
              <a:lnSpc>
                <a:spcPct val="120000"/>
              </a:lnSpc>
            </a:pPr>
            <a:endParaRPr sz="1300">
              <a:solidFill>
                <a:srgbClr val="9B1C1C"/>
              </a:solidFill>
              <a:latin typeface="Calibri"/>
            </a:endParaRPr>
          </a:p>
          <a:p>
            <a:pPr>
              <a:lnSpc>
                <a:spcPct val="120000"/>
              </a:lnSpc>
            </a:pPr>
            <a:r>
              <a:rPr sz="1200">
                <a:solidFill>
                  <a:srgbClr val="1A1A1A"/>
                </a:solidFill>
                <a:latin typeface="Calibri"/>
              </a:rPr>
              <a:t>That sentence means nothing in isolation.</a:t>
            </a:r>
          </a:p>
          <a:p>
            <a:pPr>
              <a:lnSpc>
                <a:spcPct val="120000"/>
              </a:lnSpc>
            </a:pPr>
            <a:r>
              <a:rPr sz="1200">
                <a:solidFill>
                  <a:srgbClr val="1A1A1A"/>
                </a:solidFill>
                <a:latin typeface="Calibri"/>
              </a:rPr>
              <a:t>The same as what? Vector search has no idea the</a:t>
            </a:r>
          </a:p>
          <a:p>
            <a:pPr>
              <a:lnSpc>
                <a:spcPct val="120000"/>
              </a:lnSpc>
            </a:pPr>
            <a:r>
              <a:rPr sz="1200">
                <a:solidFill>
                  <a:srgbClr val="1A1A1A"/>
                </a:solidFill>
                <a:latin typeface="Calibri"/>
              </a:rPr>
              <a:t>user just asked about the return policy.</a:t>
            </a:r>
          </a:p>
          <a:p>
            <a:pPr>
              <a:lnSpc>
                <a:spcPct val="120000"/>
              </a:lnSpc>
            </a:pPr>
            <a:r>
              <a:rPr sz="1200">
                <a:solidFill>
                  <a:srgbClr val="EB1000"/>
                </a:solidFill>
                <a:latin typeface="Calibri"/>
              </a:rPr>
              <a:t>Finds irrelevant chunks. Wrong answer.</a:t>
            </a:r>
          </a:p>
        </p:txBody>
      </p:sp>
      <p:sp>
        <p:nvSpPr>
          <p:cNvPr id="7" name="TextBox 6"/>
          <p:cNvSpPr txBox="1"/>
          <p:nvPr/>
        </p:nvSpPr>
        <p:spPr>
          <a:xfrm>
            <a:off x="6338380" y="1353313"/>
            <a:ext cx="5394960" cy="390235"/>
          </a:xfrm>
          <a:prstGeom prst="rect">
            <a:avLst/>
          </a:prstGeom>
          <a:solidFill>
            <a:srgbClr val="065F46"/>
          </a:solidFill>
        </p:spPr>
        <p:txBody>
          <a:bodyPr wrap="square" lIns="118872" tIns="91440" rIns="100584" bIns="73152">
            <a:spAutoFit/>
          </a:bodyPr>
          <a:lstStyle/>
          <a:p>
            <a:pPr>
              <a:lnSpc>
                <a:spcPct val="120000"/>
              </a:lnSpc>
            </a:pPr>
            <a:r>
              <a:rPr sz="1300" b="1">
                <a:solidFill>
                  <a:srgbClr val="FFFFFF"/>
                </a:solidFill>
                <a:latin typeface="Calibri"/>
              </a:rPr>
              <a:t>What the transformer does</a:t>
            </a:r>
          </a:p>
        </p:txBody>
      </p:sp>
      <p:sp>
        <p:nvSpPr>
          <p:cNvPr id="8" name="TextBox 7"/>
          <p:cNvSpPr txBox="1"/>
          <p:nvPr/>
        </p:nvSpPr>
        <p:spPr>
          <a:xfrm>
            <a:off x="6338380" y="1810512"/>
            <a:ext cx="5394960" cy="1920240"/>
          </a:xfrm>
          <a:prstGeom prst="rect">
            <a:avLst/>
          </a:prstGeom>
          <a:solidFill>
            <a:srgbClr val="ECFDF5"/>
          </a:solidFill>
        </p:spPr>
        <p:txBody>
          <a:bodyPr wrap="square" lIns="118872" tIns="91440" rIns="100584" bIns="73152">
            <a:spAutoFit/>
          </a:bodyPr>
          <a:lstStyle/>
          <a:p>
            <a:pPr>
              <a:lnSpc>
                <a:spcPct val="120000"/>
              </a:lnSpc>
            </a:pPr>
            <a:r>
              <a:rPr sz="1200">
                <a:solidFill>
                  <a:srgbClr val="1A1A1A"/>
                </a:solidFill>
                <a:latin typeface="Calibri"/>
              </a:rPr>
              <a:t>Sends vague question + conversation history</a:t>
            </a:r>
          </a:p>
          <a:p>
            <a:pPr>
              <a:lnSpc>
                <a:spcPct val="120000"/>
              </a:lnSpc>
            </a:pPr>
            <a:r>
              <a:rPr sz="1200">
                <a:solidFill>
                  <a:srgbClr val="1A1A1A"/>
                </a:solidFill>
                <a:latin typeface="Calibri"/>
              </a:rPr>
              <a:t>to the LLM and says:</a:t>
            </a:r>
          </a:p>
          <a:p>
            <a:pPr>
              <a:lnSpc>
                <a:spcPct val="120000"/>
              </a:lnSpc>
            </a:pPr>
            <a:r>
              <a:rPr sz="1200">
                <a:solidFill>
                  <a:srgbClr val="065F46"/>
                </a:solidFill>
                <a:latin typeface="Calibri"/>
              </a:rPr>
              <a:t>"Rewrite this as a precise, self-contained question."</a:t>
            </a:r>
          </a:p>
          <a:p>
            <a:pPr>
              <a:lnSpc>
                <a:spcPct val="120000"/>
              </a:lnSpc>
            </a:pPr>
            <a:endParaRPr sz="1200">
              <a:solidFill>
                <a:srgbClr val="065F46"/>
              </a:solidFill>
              <a:latin typeface="Calibri"/>
            </a:endParaRPr>
          </a:p>
          <a:p>
            <a:pPr>
              <a:lnSpc>
                <a:spcPct val="120000"/>
              </a:lnSpc>
            </a:pPr>
            <a:r>
              <a:rPr sz="1100">
                <a:solidFill>
                  <a:srgbClr val="444444"/>
                </a:solidFill>
                <a:latin typeface="Calibri"/>
              </a:rPr>
              <a:t>"What about digital downloads — is it the same?"</a:t>
            </a:r>
          </a:p>
          <a:p>
            <a:pPr>
              <a:lnSpc>
                <a:spcPct val="120000"/>
              </a:lnSpc>
            </a:pPr>
            <a:r>
              <a:rPr sz="1100">
                <a:solidFill>
                  <a:srgbClr val="444444"/>
                </a:solidFill>
                <a:latin typeface="Calibri"/>
              </a:rPr>
              <a:t>                  becomes</a:t>
            </a:r>
          </a:p>
          <a:p>
            <a:pPr>
              <a:lnSpc>
                <a:spcPct val="120000"/>
              </a:lnSpc>
            </a:pPr>
            <a:r>
              <a:rPr sz="1200">
                <a:solidFill>
                  <a:srgbClr val="059669"/>
                </a:solidFill>
                <a:latin typeface="Calibri"/>
              </a:rPr>
              <a:t>"What is the return policy for digital downloads</a:t>
            </a:r>
          </a:p>
          <a:p>
            <a:pPr>
              <a:lnSpc>
                <a:spcPct val="120000"/>
              </a:lnSpc>
            </a:pPr>
            <a:r>
              <a:rPr sz="1200">
                <a:solidFill>
                  <a:srgbClr val="059669"/>
                </a:solidFill>
                <a:latin typeface="Calibri"/>
              </a:rPr>
              <a:t> compared to physical products?"</a:t>
            </a:r>
          </a:p>
        </p:txBody>
      </p:sp>
      <p:sp>
        <p:nvSpPr>
          <p:cNvPr id="9" name="TextBox 8"/>
          <p:cNvSpPr txBox="1"/>
          <p:nvPr/>
        </p:nvSpPr>
        <p:spPr>
          <a:xfrm>
            <a:off x="458788" y="3822192"/>
            <a:ext cx="11274552" cy="390235"/>
          </a:xfrm>
          <a:prstGeom prst="rect">
            <a:avLst/>
          </a:prstGeom>
          <a:solidFill>
            <a:srgbClr val="1D4ED8"/>
          </a:solidFill>
        </p:spPr>
        <p:txBody>
          <a:bodyPr wrap="square" lIns="118872" tIns="91440" rIns="100584" bIns="73152">
            <a:spAutoFit/>
          </a:bodyPr>
          <a:lstStyle/>
          <a:p>
            <a:pPr>
              <a:lnSpc>
                <a:spcPct val="120000"/>
              </a:lnSpc>
            </a:pPr>
            <a:r>
              <a:rPr sz="1300" b="1">
                <a:solidFill>
                  <a:srgbClr val="FFFFFF"/>
                </a:solidFill>
                <a:latin typeface="Calibri"/>
              </a:rPr>
              <a:t>The token count is proof</a:t>
            </a:r>
          </a:p>
        </p:txBody>
      </p:sp>
      <p:sp>
        <p:nvSpPr>
          <p:cNvPr id="10" name="TextBox 9"/>
          <p:cNvSpPr txBox="1"/>
          <p:nvPr/>
        </p:nvSpPr>
        <p:spPr>
          <a:xfrm>
            <a:off x="458788" y="4279392"/>
            <a:ext cx="3566160" cy="835934"/>
          </a:xfrm>
          <a:prstGeom prst="rect">
            <a:avLst/>
          </a:prstGeom>
          <a:solidFill>
            <a:srgbClr val="EFF6FF"/>
          </a:solidFill>
        </p:spPr>
        <p:txBody>
          <a:bodyPr wrap="square" lIns="118872" tIns="91440" rIns="100584" bIns="73152">
            <a:spAutoFit/>
          </a:bodyPr>
          <a:lstStyle/>
          <a:p>
            <a:pPr>
              <a:lnSpc>
                <a:spcPct val="120000"/>
              </a:lnSpc>
            </a:pPr>
            <a:r>
              <a:rPr sz="1200" b="1">
                <a:solidFill>
                  <a:srgbClr val="1D4ED8"/>
                </a:solidFill>
                <a:latin typeface="Calibri"/>
              </a:rPr>
              <a:t>Step 1 — fresh question</a:t>
            </a:r>
          </a:p>
          <a:p>
            <a:pPr>
              <a:lnSpc>
                <a:spcPct val="120000"/>
              </a:lnSpc>
            </a:pPr>
            <a:r>
              <a:rPr sz="1400" b="1">
                <a:solidFill>
                  <a:srgbClr val="1A1A1A"/>
                </a:solidFill>
                <a:latin typeface="Calibri"/>
              </a:rPr>
              <a:t>in: 252 tokens</a:t>
            </a:r>
          </a:p>
          <a:p>
            <a:pPr>
              <a:lnSpc>
                <a:spcPct val="120000"/>
              </a:lnSpc>
            </a:pPr>
            <a:r>
              <a:rPr sz="1100">
                <a:solidFill>
                  <a:srgbClr val="444444"/>
                </a:solidFill>
                <a:latin typeface="Calibri"/>
              </a:rPr>
              <a:t>question + context</a:t>
            </a:r>
          </a:p>
        </p:txBody>
      </p:sp>
      <p:sp>
        <p:nvSpPr>
          <p:cNvPr id="11" name="TextBox 10"/>
          <p:cNvSpPr txBox="1"/>
          <p:nvPr/>
        </p:nvSpPr>
        <p:spPr>
          <a:xfrm>
            <a:off x="4162108" y="4279392"/>
            <a:ext cx="3566160" cy="835934"/>
          </a:xfrm>
          <a:prstGeom prst="rect">
            <a:avLst/>
          </a:prstGeom>
          <a:solidFill>
            <a:srgbClr val="EFF6FF"/>
          </a:solidFill>
        </p:spPr>
        <p:txBody>
          <a:bodyPr wrap="square" lIns="118872" tIns="91440" rIns="100584" bIns="73152">
            <a:spAutoFit/>
          </a:bodyPr>
          <a:lstStyle/>
          <a:p>
            <a:pPr>
              <a:lnSpc>
                <a:spcPct val="120000"/>
              </a:lnSpc>
            </a:pPr>
            <a:r>
              <a:rPr sz="1200" b="1">
                <a:solidFill>
                  <a:srgbClr val="1D4ED8"/>
                </a:solidFill>
                <a:latin typeface="Calibri"/>
              </a:rPr>
              <a:t>Step 2 — vague follow-up</a:t>
            </a:r>
          </a:p>
          <a:p>
            <a:pPr>
              <a:lnSpc>
                <a:spcPct val="120000"/>
              </a:lnSpc>
            </a:pPr>
            <a:r>
              <a:rPr sz="1400" b="1">
                <a:solidFill>
                  <a:srgbClr val="1A1A1A"/>
                </a:solidFill>
                <a:latin typeface="Calibri"/>
              </a:rPr>
              <a:t>in: 670 tokens</a:t>
            </a:r>
          </a:p>
          <a:p>
            <a:pPr>
              <a:lnSpc>
                <a:spcPct val="120000"/>
              </a:lnSpc>
            </a:pPr>
            <a:r>
              <a:rPr sz="1100">
                <a:solidFill>
                  <a:srgbClr val="444444"/>
                </a:solidFill>
                <a:latin typeface="Calibri"/>
              </a:rPr>
              <a:t>question + conversation history</a:t>
            </a:r>
          </a:p>
        </p:txBody>
      </p:sp>
      <p:sp>
        <p:nvSpPr>
          <p:cNvPr id="12" name="TextBox 11"/>
          <p:cNvSpPr txBox="1"/>
          <p:nvPr/>
        </p:nvSpPr>
        <p:spPr>
          <a:xfrm>
            <a:off x="7865428" y="4279392"/>
            <a:ext cx="3867912" cy="835934"/>
          </a:xfrm>
          <a:prstGeom prst="rect">
            <a:avLst/>
          </a:prstGeom>
          <a:solidFill>
            <a:srgbClr val="ECFDF5"/>
          </a:solidFill>
        </p:spPr>
        <p:txBody>
          <a:bodyPr wrap="square" lIns="118872" tIns="91440" rIns="100584" bIns="73152">
            <a:spAutoFit/>
          </a:bodyPr>
          <a:lstStyle/>
          <a:p>
            <a:pPr>
              <a:lnSpc>
                <a:spcPct val="120000"/>
              </a:lnSpc>
            </a:pPr>
            <a:r>
              <a:rPr sz="1200" b="1">
                <a:solidFill>
                  <a:srgbClr val="059669"/>
                </a:solidFill>
                <a:latin typeface="Calibri"/>
              </a:rPr>
              <a:t>Difference</a:t>
            </a:r>
          </a:p>
          <a:p>
            <a:pPr>
              <a:lnSpc>
                <a:spcPct val="120000"/>
              </a:lnSpc>
            </a:pPr>
            <a:r>
              <a:rPr sz="1400" b="1">
                <a:solidFill>
                  <a:srgbClr val="059669"/>
                </a:solidFill>
                <a:latin typeface="Calibri"/>
              </a:rPr>
              <a:t>+418 tokens = transformer working</a:t>
            </a:r>
          </a:p>
          <a:p>
            <a:pPr>
              <a:lnSpc>
                <a:spcPct val="120000"/>
              </a:lnSpc>
            </a:pPr>
            <a:r>
              <a:rPr sz="1100">
                <a:solidFill>
                  <a:srgbClr val="444444"/>
                </a:solidFill>
                <a:latin typeface="Calibri"/>
              </a:rPr>
              <a:t>rewrote &amp; searched precisely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8788" y="91440"/>
            <a:ext cx="11274552" cy="621792"/>
          </a:xfrm>
          <a:prstGeom prst="rect">
            <a:avLst/>
          </a:prstGeom>
          <a:noFill/>
        </p:spPr>
        <p:txBody>
          <a:bodyPr wrap="square" lIns="118872" tIns="91440" rIns="100584" bIns="73152">
            <a:spAutoFit/>
          </a:bodyPr>
          <a:lstStyle/>
          <a:p>
            <a:pPr>
              <a:lnSpc>
                <a:spcPct val="120000"/>
              </a:lnSpc>
            </a:pPr>
            <a:r>
              <a:rPr sz="2600" b="1">
                <a:solidFill>
                  <a:srgbClr val="1A1A1A"/>
                </a:solidFill>
                <a:latin typeface="Calibri"/>
              </a:rPr>
              <a:t>When to Use Which — simpleRAG() vs agent() with INGESTION</a:t>
            </a:r>
          </a:p>
        </p:txBody>
      </p:sp>
      <p:sp>
        <p:nvSpPr>
          <p:cNvPr id="3" name="Rectangle 2"/>
          <p:cNvSpPr/>
          <p:nvPr/>
        </p:nvSpPr>
        <p:spPr>
          <a:xfrm>
            <a:off x="458788" y="749808"/>
            <a:ext cx="11274552" cy="32004"/>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841248"/>
            <a:ext cx="5394960" cy="424732"/>
          </a:xfrm>
          <a:prstGeom prst="rect">
            <a:avLst/>
          </a:prstGeom>
          <a:solidFill>
            <a:srgbClr val="1D4ED8"/>
          </a:solidFill>
        </p:spPr>
        <p:txBody>
          <a:bodyPr wrap="square" lIns="118872" tIns="91440" rIns="100584" bIns="73152">
            <a:spAutoFit/>
          </a:bodyPr>
          <a:lstStyle/>
          <a:p>
            <a:pPr>
              <a:lnSpc>
                <a:spcPct val="120000"/>
              </a:lnSpc>
            </a:pPr>
            <a:r>
              <a:rPr sz="1500" b="1">
                <a:solidFill>
                  <a:srgbClr val="FFFFFF"/>
                </a:solidFill>
                <a:latin typeface="Calibri"/>
              </a:rPr>
              <a:t>Use simpleRAG()</a:t>
            </a:r>
          </a:p>
        </p:txBody>
      </p:sp>
      <p:sp>
        <p:nvSpPr>
          <p:cNvPr id="5" name="TextBox 4"/>
          <p:cNvSpPr txBox="1"/>
          <p:nvPr/>
        </p:nvSpPr>
        <p:spPr>
          <a:xfrm>
            <a:off x="458788" y="1408176"/>
            <a:ext cx="5394960" cy="3344890"/>
          </a:xfrm>
          <a:prstGeom prst="rect">
            <a:avLst/>
          </a:prstGeom>
          <a:solidFill>
            <a:srgbClr val="EFF6FF"/>
          </a:solidFill>
        </p:spPr>
        <p:txBody>
          <a:bodyPr wrap="square" lIns="118872" tIns="91440" rIns="100584" bIns="73152">
            <a:spAutoFit/>
          </a:bodyPr>
          <a:lstStyle/>
          <a:p>
            <a:pPr>
              <a:lnSpc>
                <a:spcPct val="120000"/>
              </a:lnSpc>
            </a:pPr>
            <a:r>
              <a:rPr sz="1300" b="1">
                <a:solidFill>
                  <a:srgbClr val="1D4ED8"/>
                </a:solidFill>
                <a:latin typeface="Calibri"/>
              </a:rPr>
              <a:t>RAG in minutes, minimal code</a:t>
            </a:r>
          </a:p>
          <a:p>
            <a:pPr>
              <a:lnSpc>
                <a:spcPct val="120000"/>
              </a:lnSpc>
            </a:pPr>
            <a:r>
              <a:rPr sz="1200">
                <a:solidFill>
                  <a:srgbClr val="1A1A1A"/>
                </a:solidFill>
                <a:latin typeface="Calibri"/>
              </a:rPr>
              <a:t>Three arguments: path, model, options.</a:t>
            </a:r>
          </a:p>
          <a:p>
            <a:pPr>
              <a:lnSpc>
                <a:spcPct val="120000"/>
              </a:lnSpc>
            </a:pPr>
            <a:endParaRPr sz="1200">
              <a:solidFill>
                <a:srgbClr val="1A1A1A"/>
              </a:solidFill>
              <a:latin typeface="Calibri"/>
            </a:endParaRPr>
          </a:p>
          <a:p>
            <a:pPr>
              <a:lnSpc>
                <a:spcPct val="120000"/>
              </a:lnSpc>
            </a:pPr>
            <a:r>
              <a:rPr sz="1300" b="1">
                <a:solidFill>
                  <a:srgbClr val="1D4ED8"/>
                </a:solidFill>
                <a:latin typeface="Calibri"/>
              </a:rPr>
              <a:t>Single document source, standard Q&amp;A</a:t>
            </a:r>
          </a:p>
          <a:p>
            <a:pPr>
              <a:lnSpc>
                <a:spcPct val="120000"/>
              </a:lnSpc>
            </a:pPr>
            <a:r>
              <a:rPr sz="1200">
                <a:solidFill>
                  <a:srgbClr val="1A1A1A"/>
                </a:solidFill>
                <a:latin typeface="Calibri"/>
              </a:rPr>
              <a:t>One folder, one knowledge base, straightforward.</a:t>
            </a:r>
          </a:p>
          <a:p>
            <a:pPr>
              <a:lnSpc>
                <a:spcPct val="120000"/>
              </a:lnSpc>
            </a:pPr>
            <a:endParaRPr sz="1200">
              <a:solidFill>
                <a:srgbClr val="1A1A1A"/>
              </a:solidFill>
              <a:latin typeface="Calibri"/>
            </a:endParaRPr>
          </a:p>
          <a:p>
            <a:pPr>
              <a:lnSpc>
                <a:spcPct val="120000"/>
              </a:lnSpc>
            </a:pPr>
            <a:r>
              <a:rPr sz="1300" b="1">
                <a:solidFill>
                  <a:srgbClr val="1D4ED8"/>
                </a:solidFill>
                <a:latin typeface="Calibri"/>
              </a:rPr>
              <a:t>Self-contained questions</a:t>
            </a:r>
          </a:p>
          <a:p>
            <a:pPr>
              <a:lnSpc>
                <a:spcPct val="120000"/>
              </a:lnSpc>
            </a:pPr>
            <a:r>
              <a:rPr sz="1200">
                <a:solidFill>
                  <a:srgbClr val="1A1A1A"/>
                </a:solidFill>
                <a:latin typeface="Calibri"/>
              </a:rPr>
              <a:t>Each question stands alone — no follow-up context needed.</a:t>
            </a:r>
          </a:p>
          <a:p>
            <a:pPr>
              <a:lnSpc>
                <a:spcPct val="120000"/>
              </a:lnSpc>
            </a:pPr>
            <a:r>
              <a:rPr sz="1200">
                <a:solidFill>
                  <a:srgbClr val="1A1A1A"/>
                </a:solidFill>
                <a:latin typeface="Calibri"/>
              </a:rPr>
              <a:t>Chip-based UIs, single-turn lookups.</a:t>
            </a:r>
          </a:p>
          <a:p>
            <a:pPr>
              <a:lnSpc>
                <a:spcPct val="120000"/>
              </a:lnSpc>
            </a:pPr>
            <a:endParaRPr sz="1200">
              <a:solidFill>
                <a:srgbClr val="1A1A1A"/>
              </a:solidFill>
              <a:latin typeface="Calibri"/>
            </a:endParaRPr>
          </a:p>
          <a:p>
            <a:pPr>
              <a:lnSpc>
                <a:spcPct val="120000"/>
              </a:lnSpc>
            </a:pPr>
            <a:r>
              <a:rPr sz="1300" b="1">
                <a:solidFill>
                  <a:srgbClr val="1D4ED8"/>
                </a:solidFill>
                <a:latin typeface="Calibri"/>
              </a:rPr>
              <a:t>Debug helpers built in</a:t>
            </a:r>
          </a:p>
          <a:p>
            <a:pPr>
              <a:lnSpc>
                <a:spcPct val="120000"/>
              </a:lnSpc>
            </a:pPr>
            <a:r>
              <a:rPr sz="1200">
                <a:solidFill>
                  <a:srgbClr val="1A1A1A"/>
                </a:solidFill>
                <a:latin typeface="Calibri"/>
              </a:rPr>
              <a:t>getStatistics() and getConfiguration().</a:t>
            </a:r>
          </a:p>
          <a:p>
            <a:pPr>
              <a:lnSpc>
                <a:spcPct val="120000"/>
              </a:lnSpc>
            </a:pPr>
            <a:endParaRPr sz="1200">
              <a:solidFill>
                <a:srgbClr val="1A1A1A"/>
              </a:solidFill>
              <a:latin typeface="Calibri"/>
            </a:endParaRPr>
          </a:p>
          <a:p>
            <a:pPr>
              <a:lnSpc>
                <a:spcPct val="120000"/>
              </a:lnSpc>
            </a:pPr>
            <a:r>
              <a:rPr sz="1300" b="1">
                <a:solidFill>
                  <a:srgbClr val="059669"/>
                </a:solidFill>
                <a:latin typeface="Calibri"/>
              </a:rPr>
              <a:t>→ Nexora Problem 8 uses simpleRAG()</a:t>
            </a:r>
          </a:p>
        </p:txBody>
      </p:sp>
      <p:sp>
        <p:nvSpPr>
          <p:cNvPr id="6" name="TextBox 5"/>
          <p:cNvSpPr txBox="1"/>
          <p:nvPr/>
        </p:nvSpPr>
        <p:spPr>
          <a:xfrm>
            <a:off x="6338380" y="841248"/>
            <a:ext cx="5394960" cy="424732"/>
          </a:xfrm>
          <a:prstGeom prst="rect">
            <a:avLst/>
          </a:prstGeom>
          <a:solidFill>
            <a:srgbClr val="059669"/>
          </a:solidFill>
        </p:spPr>
        <p:txBody>
          <a:bodyPr wrap="square" lIns="118872" tIns="91440" rIns="100584" bIns="73152">
            <a:spAutoFit/>
          </a:bodyPr>
          <a:lstStyle/>
          <a:p>
            <a:pPr>
              <a:lnSpc>
                <a:spcPct val="120000"/>
              </a:lnSpc>
            </a:pPr>
            <a:r>
              <a:rPr sz="1500" b="1">
                <a:solidFill>
                  <a:srgbClr val="FFFFFF"/>
                </a:solidFill>
                <a:latin typeface="Calibri"/>
              </a:rPr>
              <a:t>Use agent() with INGESTION</a:t>
            </a:r>
          </a:p>
        </p:txBody>
      </p:sp>
      <p:sp>
        <p:nvSpPr>
          <p:cNvPr id="7" name="TextBox 6"/>
          <p:cNvSpPr txBox="1"/>
          <p:nvPr/>
        </p:nvSpPr>
        <p:spPr>
          <a:xfrm>
            <a:off x="6338380" y="1408176"/>
            <a:ext cx="5394960" cy="3567772"/>
          </a:xfrm>
          <a:prstGeom prst="rect">
            <a:avLst/>
          </a:prstGeom>
          <a:solidFill>
            <a:srgbClr val="ECFDF5"/>
          </a:solidFill>
        </p:spPr>
        <p:txBody>
          <a:bodyPr wrap="square" lIns="118872" tIns="91440" rIns="100584" bIns="73152">
            <a:spAutoFit/>
          </a:bodyPr>
          <a:lstStyle/>
          <a:p>
            <a:pPr>
              <a:lnSpc>
                <a:spcPct val="120000"/>
              </a:lnSpc>
            </a:pPr>
            <a:r>
              <a:rPr sz="1300" b="1">
                <a:solidFill>
                  <a:srgbClr val="059669"/>
                </a:solidFill>
                <a:latin typeface="Calibri"/>
              </a:rPr>
              <a:t>Natural multi-turn conversations</a:t>
            </a:r>
          </a:p>
          <a:p>
            <a:pPr>
              <a:lnSpc>
                <a:spcPct val="120000"/>
              </a:lnSpc>
            </a:pPr>
            <a:r>
              <a:rPr sz="1200">
                <a:solidFill>
                  <a:srgbClr val="1A1A1A"/>
                </a:solidFill>
                <a:latin typeface="Calibri"/>
              </a:rPr>
              <a:t>Compressing query transformer rewrites vague</a:t>
            </a:r>
          </a:p>
          <a:p>
            <a:pPr>
              <a:lnSpc>
                <a:spcPct val="120000"/>
              </a:lnSpc>
            </a:pPr>
            <a:r>
              <a:rPr sz="1200">
                <a:solidFill>
                  <a:srgbClr val="1A1A1A"/>
                </a:solidFill>
                <a:latin typeface="Calibri"/>
              </a:rPr>
              <a:t>follow-ups before searching. "Same as?" → precise.</a:t>
            </a:r>
          </a:p>
          <a:p>
            <a:pPr>
              <a:lnSpc>
                <a:spcPct val="120000"/>
              </a:lnSpc>
            </a:pPr>
            <a:endParaRPr sz="1200">
              <a:solidFill>
                <a:srgbClr val="1A1A1A"/>
              </a:solidFill>
              <a:latin typeface="Calibri"/>
            </a:endParaRPr>
          </a:p>
          <a:p>
            <a:pPr>
              <a:lnSpc>
                <a:spcPct val="120000"/>
              </a:lnSpc>
            </a:pPr>
            <a:r>
              <a:rPr sz="1300" b="1">
                <a:solidFill>
                  <a:srgbClr val="059669"/>
                </a:solidFill>
                <a:latin typeface="Calibri"/>
              </a:rPr>
              <a:t>Input/output guardrails</a:t>
            </a:r>
          </a:p>
          <a:p>
            <a:pPr>
              <a:lnSpc>
                <a:spcPct val="120000"/>
              </a:lnSpc>
            </a:pPr>
            <a:r>
              <a:rPr sz="1200">
                <a:solidFill>
                  <a:srgbClr val="1A1A1A"/>
                </a:solidFill>
                <a:latin typeface="Calibri"/>
              </a:rPr>
              <a:t>Filter unsafe queries or responses.</a:t>
            </a:r>
          </a:p>
          <a:p>
            <a:pPr>
              <a:lnSpc>
                <a:spcPct val="120000"/>
              </a:lnSpc>
            </a:pPr>
            <a:endParaRPr sz="1200">
              <a:solidFill>
                <a:srgbClr val="1A1A1A"/>
              </a:solidFill>
              <a:latin typeface="Calibri"/>
            </a:endParaRPr>
          </a:p>
          <a:p>
            <a:pPr>
              <a:lnSpc>
                <a:spcPct val="120000"/>
              </a:lnSpc>
            </a:pPr>
            <a:r>
              <a:rPr sz="1300" b="1">
                <a:solidFill>
                  <a:srgbClr val="059669"/>
                </a:solidFill>
                <a:latin typeface="Calibri"/>
              </a:rPr>
              <a:t>Multiple knowledge bases</a:t>
            </a:r>
          </a:p>
          <a:p>
            <a:pPr>
              <a:lnSpc>
                <a:spcPct val="120000"/>
              </a:lnSpc>
            </a:pPr>
            <a:r>
              <a:rPr sz="1200">
                <a:solidFill>
                  <a:srgbClr val="1A1A1A"/>
                </a:solidFill>
                <a:latin typeface="Calibri"/>
              </a:rPr>
              <a:t>Multiple content retrievers, different sources.</a:t>
            </a:r>
          </a:p>
          <a:p>
            <a:pPr>
              <a:lnSpc>
                <a:spcPct val="120000"/>
              </a:lnSpc>
            </a:pPr>
            <a:endParaRPr sz="1200">
              <a:solidFill>
                <a:srgbClr val="1A1A1A"/>
              </a:solidFill>
              <a:latin typeface="Calibri"/>
            </a:endParaRPr>
          </a:p>
          <a:p>
            <a:pPr>
              <a:lnSpc>
                <a:spcPct val="120000"/>
              </a:lnSpc>
            </a:pPr>
            <a:r>
              <a:rPr sz="1300" b="1">
                <a:solidFill>
                  <a:srgbClr val="059669"/>
                </a:solidFill>
                <a:latin typeface="Calibri"/>
              </a:rPr>
              <a:t>Custom doc loading</a:t>
            </a:r>
          </a:p>
          <a:p>
            <a:pPr>
              <a:lnSpc>
                <a:spcPct val="120000"/>
              </a:lnSpc>
            </a:pPr>
            <a:r>
              <a:rPr sz="1200">
                <a:solidFill>
                  <a:srgbClr val="1A1A1A"/>
                </a:solidFill>
                <a:latin typeface="Calibri"/>
              </a:rPr>
              <a:t>URLs, databases, your own UDF — not just filesystem.</a:t>
            </a:r>
          </a:p>
          <a:p>
            <a:pPr>
              <a:lnSpc>
                <a:spcPct val="120000"/>
              </a:lnSpc>
            </a:pPr>
            <a:endParaRPr sz="1200">
              <a:solidFill>
                <a:srgbClr val="1A1A1A"/>
              </a:solidFill>
              <a:latin typeface="Calibri"/>
            </a:endParaRPr>
          </a:p>
          <a:p>
            <a:pPr>
              <a:lnSpc>
                <a:spcPct val="120000"/>
              </a:lnSpc>
            </a:pPr>
            <a:r>
              <a:rPr sz="1300" b="1">
                <a:solidFill>
                  <a:srgbClr val="059669"/>
                </a:solidFill>
                <a:latin typeface="Calibri"/>
              </a:rPr>
              <a:t>Token usage metrics per response</a:t>
            </a:r>
          </a:p>
          <a:p>
            <a:pPr>
              <a:lnSpc>
                <a:spcPct val="120000"/>
              </a:lnSpc>
            </a:pPr>
            <a:r>
              <a:rPr sz="1200">
                <a:solidFill>
                  <a:srgbClr val="1A1A1A"/>
                </a:solidFill>
                <a:latin typeface="Calibri"/>
              </a:rPr>
              <a:t>Input and output counts — visibility into cost.</a:t>
            </a:r>
          </a:p>
        </p:txBody>
      </p:sp>
    </p:spTree>
  </p:cSld>
  <p:clrMapOvr>
    <a:masterClrMapping/>
  </p:clrMapOvr>
</p:sld>
</file>

<file path=ppt/theme/theme1.xml><?xml version="1.0" encoding="utf-8"?>
<a:theme xmlns:a="http://schemas.openxmlformats.org/drawingml/2006/main" name="Adobe Template 2026">
  <a:themeElements>
    <a:clrScheme name="Adobe 2024">
      <a:dk1>
        <a:srgbClr val="000000"/>
      </a:dk1>
      <a:lt1>
        <a:srgbClr val="FFFFFF"/>
      </a:lt1>
      <a:dk2>
        <a:srgbClr val="2C2C2C"/>
      </a:dk2>
      <a:lt2>
        <a:srgbClr val="F5F5F5"/>
      </a:lt2>
      <a:accent1>
        <a:srgbClr val="0AA35B"/>
      </a:accent1>
      <a:accent2>
        <a:srgbClr val="3A63F9"/>
      </a:accent2>
      <a:accent3>
        <a:srgbClr val="FF66CC"/>
      </a:accent3>
      <a:accent4>
        <a:srgbClr val="FFA311"/>
      </a:accent4>
      <a:accent5>
        <a:srgbClr val="F3C600"/>
      </a:accent5>
      <a:accent6>
        <a:srgbClr val="EB1000"/>
      </a:accent6>
      <a:hlink>
        <a:srgbClr val="5F5F5F"/>
      </a:hlink>
      <a:folHlink>
        <a:srgbClr val="919191"/>
      </a:folHlink>
    </a:clrScheme>
    <a:fontScheme name="Adobe Corporate Fonts">
      <a:majorFont>
        <a:latin typeface="Adobe Clean Display Black"/>
        <a:ea typeface=""/>
        <a:cs typeface=""/>
      </a:majorFont>
      <a:minorFont>
        <a:latin typeface="Adobe Cle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4C4C4"/>
        </a:solidFill>
        <a:ln>
          <a:noFill/>
        </a:ln>
      </a:spPr>
      <a:bodyPr rtlCol="0" anchor="ctr"/>
      <a:lstStyle>
        <a:defPPr algn="ctr">
          <a:defRPr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0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10000"/>
          </a:lnSpc>
          <a:spcBef>
            <a:spcPts val="9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23c0962-ae79-4d63-8876-4026a85e02da}" enabled="1" method="Standard" siteId="{fa7b1b5a-7b34-4387-94ae-d2c178decee1}" removed="0"/>
</clbl:labelList>
</file>

<file path=docProps/app.xml><?xml version="1.0" encoding="utf-8"?>
<Properties xmlns="http://schemas.openxmlformats.org/officeDocument/2006/extended-properties" xmlns:vt="http://schemas.openxmlformats.org/officeDocument/2006/docPropsVTypes">
  <Template/>
  <TotalTime>2330</TotalTime>
  <Words>16234</Words>
  <Application>Microsoft Macintosh PowerPoint</Application>
  <PresentationFormat>Widescreen</PresentationFormat>
  <Paragraphs>1789</Paragraphs>
  <Slides>69</Slides>
  <Notes>56</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Adobe Clean</vt:lpstr>
      <vt:lpstr>Adobe Clean Display Black</vt:lpstr>
      <vt:lpstr>Aptos</vt:lpstr>
      <vt:lpstr>Arial</vt:lpstr>
      <vt:lpstr>Calibri</vt:lpstr>
      <vt:lpstr>Courier New</vt:lpstr>
      <vt:lpstr>Helvetica Neue</vt:lpstr>
      <vt:lpstr>System Font Regular</vt:lpstr>
      <vt:lpstr>Wingdings</vt:lpstr>
      <vt:lpstr>Adobe Template 2026</vt:lpstr>
      <vt:lpstr>AI Models in ColdFusion</vt:lpstr>
      <vt:lpstr>Agenda</vt:lpstr>
      <vt:lpstr>PowerPoint Presentation</vt:lpstr>
      <vt:lpstr>What is a Large Language Model?</vt:lpstr>
      <vt:lpstr>What Shapes an LLM's Output — The Knobs You'll Configure</vt:lpstr>
      <vt:lpstr>PowerPoint Presentation</vt:lpstr>
      <vt:lpstr>AI Provider Landscape — CF 2025</vt:lpstr>
      <vt:lpstr>ChatModel() — Syntax</vt:lpstr>
      <vt:lpstr>PowerPoint Presentation</vt:lpstr>
      <vt:lpstr>Provider-Specific Parameters</vt:lpstr>
      <vt:lpstr>Provider-Specific Parameters</vt:lpstr>
      <vt:lpstr>TEMPERATURE — A Critical Provider Difference</vt:lpstr>
      <vt:lpstr>RESPONSEFORMAT — JSON Mode</vt:lpstr>
      <vt:lpstr>PowerPoint Presentation</vt:lpstr>
      <vt:lpstr>CF Administrator — AI Model Configuration</vt:lpstr>
      <vt:lpstr>Admin API — cfide.adminapi.llm</vt:lpstr>
      <vt:lpstr>Meet Nexora — Our Demo Application</vt:lpstr>
      <vt:lpstr>Problem 1 — 50 Lines of Brittle if/else</vt:lpstr>
      <vt:lpstr>Problem 1 — Basic Chat with ChatModel</vt:lpstr>
      <vt:lpstr>PowerPoint Presentation</vt:lpstr>
      <vt:lpstr>PowerPoint Presentation</vt:lpstr>
      <vt:lpstr>agent() — The Intelligent Wrapper</vt:lpstr>
      <vt:lpstr>System Message &amp; User Message</vt:lpstr>
      <vt:lpstr>Problem 2 — The AI Has No Identity</vt:lpstr>
      <vt:lpstr>Problem 2 — Solution: Add a System Message</vt:lpstr>
      <vt:lpstr>PowerPoint Presentation</vt:lpstr>
      <vt:lpstr>PowerPoint Presentation</vt:lpstr>
      <vt:lpstr>CHATMEMORY — Syntax &amp; Configuration</vt:lpstr>
      <vt:lpstr>Chat Memory Backends</vt:lpstr>
      <vt:lpstr>Problem 3 — The AI Has No Memory</vt:lpstr>
      <vt:lpstr>Problem 3 — Solution: Add Chat Memory</vt:lpstr>
      <vt:lpstr>PowerPoint Presentation</vt:lpstr>
      <vt:lpstr>PowerPoint Presentation</vt:lpstr>
      <vt:lpstr>How Function Tools Work</vt:lpstr>
      <vt:lpstr>Writing a Tool CFC — SupportTool.cfc</vt:lpstr>
      <vt:lpstr>Problem 4 — The AI Can't Access Real Data</vt:lpstr>
      <vt:lpstr>Problem 4 — Solution: Add Function Tools</vt:lpstr>
      <vt:lpstr>PowerPoint Presentation</vt:lpstr>
      <vt:lpstr>PowerPoint Presentation</vt:lpstr>
      <vt:lpstr>GuardRails — Syntax &amp; PiiGuardrail.cfc</vt:lpstr>
      <vt:lpstr>Output GuardRails — How It Works</vt:lpstr>
      <vt:lpstr>Problem 5 — The AI Can Leak Sensitive Data</vt:lpstr>
      <vt:lpstr>Problem 5 — Solution: Add OUTPUTGUARDRAIL</vt:lpstr>
      <vt:lpstr>PowerPoint Presentation</vt:lpstr>
      <vt:lpstr>PowerPoint Presentation</vt:lpstr>
      <vt:lpstr>STREAMINGHANDLER — Three Callbacks</vt:lpstr>
      <vt:lpstr>STREAMINGHANDLER — Syntax &amp; StreamingHandler.cfc</vt:lpstr>
      <vt:lpstr>Problem 6 — No Visibility Into the LLM</vt:lpstr>
      <vt:lpstr>Problem 6 — Solution: Add STREAMINGHANDLER</vt:lpstr>
      <vt:lpstr>PowerPoint Presentation</vt:lpstr>
      <vt:lpstr>PowerPoint Presentation</vt:lpstr>
      <vt:lpstr>MCP — Model Context Protocol</vt:lpstr>
      <vt:lpstr>Writing an MCP Tool — TicketTool.cfc</vt:lpstr>
      <vt:lpstr>Problem 7 — Ticket Filing Is Just Mock Code</vt:lpstr>
      <vt:lpstr>Problem 7 — Solution: Escalation via MCP + Email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Adobe Overview</dc:title>
  <dc:subject/>
  <dc:creator>Adobe</dc:creator>
  <cp:keywords/>
  <dc:description/>
  <cp:lastModifiedBy>Suchika Singh</cp:lastModifiedBy>
  <cp:revision>23</cp:revision>
  <dcterms:created xsi:type="dcterms:W3CDTF">2024-01-24T22:04:21Z</dcterms:created>
  <dcterms:modified xsi:type="dcterms:W3CDTF">2026-04-16T11:02:22Z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3c0962-ae79-4d63-8876-4026a85e02da_Enabled">
    <vt:lpwstr>true</vt:lpwstr>
  </property>
  <property fmtid="{D5CDD505-2E9C-101B-9397-08002B2CF9AE}" pid="3" name="MSIP_Label_923c0962-ae79-4d63-8876-4026a85e02da_SetDate">
    <vt:lpwstr>2026-02-13T19:31:05Z</vt:lpwstr>
  </property>
  <property fmtid="{D5CDD505-2E9C-101B-9397-08002B2CF9AE}" pid="4" name="MSIP_Label_923c0962-ae79-4d63-8876-4026a85e02da_Name">
    <vt:lpwstr>Confidential</vt:lpwstr>
  </property>
  <property fmtid="{D5CDD505-2E9C-101B-9397-08002B2CF9AE}" pid="5" name="MSIP_Label_923c0962-ae79-4d63-8876-4026a85e02da_SiteId">
    <vt:lpwstr>fa7b1b5a-7b34-4387-94ae-d2c178decee1</vt:lpwstr>
  </property>
  <property fmtid="{D5CDD505-2E9C-101B-9397-08002B2CF9AE}" pid="6" name="MSIP_Label_923c0962-ae79-4d63-8876-4026a85e02da_ActionId">
    <vt:lpwstr>d22c0700-da90-4187-8b2c-a01359c35aef</vt:lpwstr>
  </property>
  <property fmtid="{D5CDD505-2E9C-101B-9397-08002B2CF9AE}" pid="7" name="MSIP_Label_923c0962-ae79-4d63-8876-4026a85e02da_Tag">
    <vt:lpwstr>10, 3, 0, 2</vt:lpwstr>
  </property>
  <property fmtid="{D5CDD505-2E9C-101B-9397-08002B2CF9AE}" pid="8" name="MSIP_Label_923c0962-ae79-4d63-8876-4026a85e02da_Method">
    <vt:lpwstr>Standard</vt:lpwstr>
  </property>
  <property fmtid="{D5CDD505-2E9C-101B-9397-08002B2CF9AE}" pid="9" name="MSIP_Label_923c0962-ae79-4d63-8876-4026a85e02da_ContentBits">
    <vt:lpwstr>0</vt:lpwstr>
  </property>
</Properties>
</file>